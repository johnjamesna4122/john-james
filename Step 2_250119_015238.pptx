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9" Type="http://schemas.openxmlformats.org/officeDocument/2006/relationships/image" Target="../media/image9.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11" Type="http://schemas.openxmlformats.org/officeDocument/2006/relationships/image" Target="../media/image1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13" Type="http://schemas.openxmlformats.org/officeDocument/2006/relationships/image" Target="../media/image1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5" Type="http://schemas.openxmlformats.org/officeDocument/2006/relationships/image" Target="../media/image1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7" Type="http://schemas.openxmlformats.org/officeDocument/2006/relationships/image" Target="../media/image1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9" Type="http://schemas.openxmlformats.org/officeDocument/2006/relationships/image" Target="../media/image19.png"/><Relationship Id="rId21" Type="http://schemas.openxmlformats.org/officeDocument/2006/relationships/image" Target="../media/image2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 Id="rId24" Type="http://schemas.openxmlformats.org/officeDocument/2006/relationships/image" Target="../media/image24.png"/><Relationship Id="rId25" Type="http://schemas.openxmlformats.org/officeDocument/2006/relationships/image" Target="../media/image2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 Id="rId28" Type="http://schemas.openxmlformats.org/officeDocument/2006/relationships/image" Target="../media/image28.png"/><Relationship Id="rId29" Type="http://schemas.openxmlformats.org/officeDocument/2006/relationships/image" Target="../media/image29.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32" Type="http://schemas.openxmlformats.org/officeDocument/2006/relationships/image" Target="../media/image3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36" Type="http://schemas.openxmlformats.org/officeDocument/2006/relationships/image" Target="../media/image3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38" Type="http://schemas.openxmlformats.org/officeDocument/2006/relationships/image" Target="../media/image3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40" Type="http://schemas.openxmlformats.org/officeDocument/2006/relationships/image" Target="../media/image4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 Id="rId46" Type="http://schemas.openxmlformats.org/officeDocument/2006/relationships/image" Target="../media/image4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9933FF"/>
                </a:solidFill>
              </a:rPr>
              <a:t/>
            </a:r>
            <a:r>
              <a:rPr lang="en-US" sz="3700">
                <a:solidFill>
                  <a:srgbClr val="9933FF"/>
                </a:solidFill>
              </a:rPr>
              <a:t/>
            </a:r>
            <a:r>
              <a:rPr lang="en-US" sz="3700">
                <a:solidFill>
                  <a:srgbClr val="9933FF"/>
                </a:solidFill>
              </a:rPr>
              <a:t/>
            </a:r>
            <a:r>
              <a:rPr lang="en-US" sz="3700">
                <a:solidFill>
                  <a:srgbClr val="9933FF"/>
                </a:solidFill>
              </a:rPr>
              <a:t/>
            </a:r>
            <a:r>
              <a:rPr lang="en-US" sz="3700">
                <a:solidFill>
                  <a:srgbClr val="9933FF"/>
                </a:solidFill>
              </a:rPr>
              <a:t/>
            </a:r>
            <a:r>
              <a:rPr lang="en-US" sz="3700">
                <a:solidFill>
                  <a:srgbClr val="252525"/>
                </a:solidFill>
              </a:rPr>
              <a:t>           STEP TWO:[</a:t>
            </a:r>
            <a:r>
              <a:rPr lang="en-US" sz="3700">
                <a:solidFill>
                  <a:srgbClr val="FF3636"/>
                </a:solidFill>
              </a:rPr>
              <a:t>RENEW MY MIND WITH       </a:t>
            </a:r>
            <a:r>
              <a:rPr lang="en-US" sz="3700">
                <a:solidFill>
                  <a:srgbClr val="FF3636"/>
                </a:solidFill>
              </a:rPr>
              <a:t>                                WORD OF GOD</a:t>
            </a:r>
            <a:r>
              <a:rPr lang="en-US" sz="3700">
                <a:solidFill>
                  <a:srgbClr val="252525"/>
                </a:solidFill>
              </a:rPr>
              <a:t>]</a:t>
            </a:r>
          </a:p>
          <a:p>
            <a:r>
              <a:rPr lang="en-US" sz="3700">
                <a:solidFill>
                  <a:srgbClr val="252525"/>
                </a:solidFill>
              </a:rPr>
              <a:t> </a:t>
            </a:r>
          </a:p>
          <a:p>
            <a:r>
              <a:rPr lang="en-US" sz="5000"/>
              <a:t>  </a:t>
            </a:r>
          </a:p>
          <a:p>
            <a:r>
              <a:rPr lang="en-US" sz="5000"/>
              <a:t>  </a:t>
            </a:r>
          </a:p>
          <a:p>
            <a:r>
              <a:rPr lang="en-US" sz="3700">
                <a:solidFill>
                  <a:srgbClr val="252525"/>
                </a:solidFill>
              </a:rPr>
              <a:t>           </a:t>
            </a:r>
            <a:r>
              <a:rPr lang="en-US" sz="3700">
                <a:solidFill>
                  <a:srgbClr val="FFCB30"/>
                </a:solidFill>
              </a:rPr>
              <a:t>Ephesians </a:t>
            </a:r>
            <a:r>
              <a:rPr lang="en-US" sz="3700">
                <a:solidFill>
                  <a:srgbClr val="FFCB30"/>
                </a:solidFill>
              </a:rPr>
              <a:t>4:23</a:t>
            </a:r>
          </a:p>
          <a:p>
            <a:r>
              <a:rPr lang="en-US" sz="3700">
                <a:solidFill>
                  <a:srgbClr val="FFCB30"/>
                </a:solidFill>
              </a:rPr>
              <a:t>                               </a:t>
            </a:r>
            <a:r>
              <a:rPr lang="en-US" sz="3700">
                <a:solidFill>
                  <a:srgbClr val="252525"/>
                </a:solidFill>
              </a:rPr>
              <a:t>(</a:t>
            </a:r>
            <a:r>
              <a:rPr lang="en-US" sz="3700">
                <a:solidFill>
                  <a:srgbClr val="FFCB30"/>
                </a:solidFill>
              </a:rPr>
              <a:t>And be renewed in the                                        spirit of your mind</a:t>
            </a:r>
            <a:r>
              <a:rPr lang="en-US" sz="3700">
                <a:solidFill>
                  <a:srgbClr val="252525"/>
                </a:solidFill>
              </a:rPr>
              <a:t>)</a:t>
            </a:r>
            <a:r>
              <a:rPr lang="en-US" sz="3700">
                <a:solidFill>
                  <a:srgbClr val="FFCB30"/>
                </a:solidFill>
              </a:rPr>
              <a:t> </a:t>
            </a:r>
          </a:p>
        </p:txBody>
      </p:sp>
      <p:pic>
        <p:nvPicPr>
          <p:cNvPr name="Picture 4" id="4"/>
          <p:cNvPicPr>
            <a:picLocks noChangeAspect="true"/>
          </p:cNvPicPr>
          <p:nvPr/>
        </p:nvPicPr>
        <p:blipFill>
          <a:blip r:embed="rId4"/>
          <a:stretch>
            <a:fillRect/>
          </a:stretch>
        </p:blipFill>
        <p:spPr>
          <a:xfrm>
            <a:off x="6451600" y="317500"/>
            <a:ext cx="6210300" cy="2209800"/>
          </a:xfrm>
          <a:prstGeom prst="rect">
            <a:avLst/>
          </a:prstGeom>
        </p:spPr>
      </p:pic>
      <p:pic>
        <p:nvPicPr>
          <p:cNvPr name="Picture 5" id="5"/>
          <p:cNvPicPr>
            <a:picLocks noChangeAspect="true"/>
          </p:cNvPicPr>
          <p:nvPr/>
        </p:nvPicPr>
        <p:blipFill>
          <a:blip r:embed="rId5"/>
          <a:stretch>
            <a:fillRect/>
          </a:stretch>
        </p:blipFill>
        <p:spPr>
          <a:xfrm>
            <a:off x="6451600" y="2743200"/>
            <a:ext cx="6921500" cy="3340100"/>
          </a:xfrm>
          <a:prstGeom prst="rect">
            <a:avLst/>
          </a:prstGeom>
        </p:spPr>
      </p:pic>
      <p:pic>
        <p:nvPicPr>
          <p:cNvPr name="Picture 6" id="6"/>
          <p:cNvPicPr>
            <a:picLocks noChangeAspect="true"/>
          </p:cNvPicPr>
          <p:nvPr/>
        </p:nvPicPr>
        <p:blipFill>
          <a:blip r:embed="rId6"/>
          <a:stretch>
            <a:fillRect/>
          </a:stretch>
        </p:blipFill>
        <p:spPr>
          <a:xfrm>
            <a:off x="6451600" y="6286500"/>
            <a:ext cx="1460500" cy="1460500"/>
          </a:xfrm>
          <a:prstGeom prst="rect">
            <a:avLst/>
          </a:prstGeom>
        </p:spPr>
      </p:pic>
      <p:pic>
        <p:nvPicPr>
          <p:cNvPr name="Picture 7" id="7"/>
          <p:cNvPicPr>
            <a:picLocks noChangeAspect="true"/>
          </p:cNvPicPr>
          <p:nvPr/>
        </p:nvPicPr>
        <p:blipFill>
          <a:blip r:embed="rId7"/>
          <a:stretch>
            <a:fillRect/>
          </a:stretch>
        </p:blipFill>
        <p:spPr>
          <a:xfrm>
            <a:off x="6451600" y="7950200"/>
            <a:ext cx="812800" cy="977900"/>
          </a:xfrm>
          <a:prstGeom prst="rect">
            <a:avLst/>
          </a:prstGeom>
        </p:spPr>
      </p:pic>
      <p:pic>
        <p:nvPicPr>
          <p:cNvPr name="Picture 8" id="8"/>
          <p:cNvPicPr>
            <a:picLocks noChangeAspect="true"/>
          </p:cNvPicPr>
          <p:nvPr/>
        </p:nvPicPr>
        <p:blipFill>
          <a:blip r:embed="rId8"/>
          <a:stretch>
            <a:fillRect/>
          </a:stretch>
        </p:blipFill>
        <p:spPr>
          <a:xfrm>
            <a:off x="6451600" y="9131300"/>
            <a:ext cx="6172200" cy="7366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 id="9"/>
          <p:cNvPicPr>
            <a:picLocks noChangeAspect="true"/>
          </p:cNvPicPr>
          <p:nvPr/>
        </p:nvPicPr>
        <p:blipFill>
          <a:blip r:embed="rId9"/>
          <a:stretch>
            <a:fillRect/>
          </a:stretch>
        </p:blipFill>
        <p:spPr>
          <a:xfrm>
            <a:off x="0" y="127000"/>
            <a:ext cx="23749000" cy="16548100"/>
          </a:xfrm>
          <a:prstGeom prst="rect">
            <a:avLst/>
          </a:prstGeom>
        </p:spPr>
      </p:pic>
      <p:sp>
        <p:nvSpPr>
          <p:cNvPr name="TextBox 9" id="10"/>
          <p:cNvSpPr txBox="true"/>
          <p:nvPr/>
        </p:nvSpPr>
        <p:spPr>
          <a:xfrm>
            <a:off x="5930900" y="2082800"/>
            <a:ext cx="11887200" cy="14973300"/>
          </a:xfrm>
          <a:prstGeom prst="rect">
            <a:avLst/>
          </a:prstGeom>
        </p:spPr>
        <p:txBody>
          <a:bodyPr anchor="t" rtlCol="false"/>
          <a:lstStyle/>
          <a:p>
            <a:pPr algn="l"/>
            <a:r>
              <a:t/>
            </a:r>
            <a:endParaRPr lang="en-US" sz="1100"/>
          </a:p>
          <a:p>
            <a:r>
              <a:rPr lang="en-US" sz="3700">
                <a:solidFill>
                  <a:srgbClr val="FF3636"/>
                </a:solidFill>
              </a:rPr>
              <a:t>           </a:t>
            </a:r>
            <a:r>
              <a:rPr lang="en-US" sz="3700">
                <a:solidFill>
                  <a:srgbClr val="F7EB00"/>
                </a:solidFill>
              </a:rPr>
              <a:t>Romans 12:2a</a:t>
            </a:r>
          </a:p>
          <a:p>
            <a:r>
              <a:rPr lang="en-US" sz="3700">
                <a:solidFill>
                  <a:srgbClr val="F7EB00"/>
                </a:solidFill>
              </a:rPr>
              <a:t>                             </a:t>
            </a:r>
            <a:r>
              <a:rPr lang="en-US" sz="3700">
                <a:solidFill>
                  <a:srgbClr val="252525"/>
                </a:solidFill>
              </a:rPr>
              <a:t>(</a:t>
            </a:r>
            <a:r>
              <a:rPr lang="en-US" sz="3700">
                <a:solidFill>
                  <a:srgbClr val="F7EB00"/>
                </a:solidFill>
              </a:rPr>
              <a:t>And do not be conformed                                   to this world, but be                                            transformed by the                                            renewing of your mind...</a:t>
            </a:r>
            <a:r>
              <a:rPr lang="en-US" sz="3700">
                <a:solidFill>
                  <a:srgbClr val="252525"/>
                </a:solidFill>
              </a:rPr>
              <a:t>)</a:t>
            </a:r>
          </a:p>
          <a:p>
            <a:r>
              <a:rPr lang="en-US" sz="5000"/>
              <a:t>  </a:t>
            </a:r>
          </a:p>
          <a:p>
            <a:r>
              <a:rPr lang="en-US" sz="5000"/>
              <a:t>  </a:t>
            </a:r>
          </a:p>
          <a:p>
            <a:r>
              <a:rPr lang="en-US" sz="5000"/>
              <a:t>  </a:t>
            </a:r>
          </a:p>
          <a:p>
            <a:r>
              <a:rPr lang="en-US" sz="3700">
                <a:solidFill>
                  <a:srgbClr val="2FEBD2"/>
                </a:solidFill>
              </a:rPr>
              <a:t>        This step is the most important to my Christian growth, survival and experience.  While I were not born-again my mind had collected and developed a formidable amount of wrong information that was responsible for my wrong thoughts patterns. Wrong thoughts patterns then led to wrong life patterns. </a:t>
            </a:r>
          </a:p>
          <a:p>
            <a:r>
              <a:rPr lang="en-US" sz="5000"/>
              <a:t>  </a:t>
            </a:r>
          </a:p>
          <a:p>
            <a:r>
              <a:rPr lang="en-US" sz="3700">
                <a:solidFill>
                  <a:srgbClr val="2FEBD2"/>
                </a:solidFill>
              </a:rPr>
              <a:t>   That is why the BIBLE  say in Isaiah 55:7" </a:t>
            </a:r>
            <a:r>
              <a:rPr lang="en-US" sz="3700" b="true">
                <a:solidFill>
                  <a:srgbClr val="2FEBD2"/>
                </a:solidFill>
              </a:rPr>
              <a:t>let the wicked forsake his way, and the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 id="11"/>
          <p:cNvPicPr>
            <a:picLocks noChangeAspect="true"/>
          </p:cNvPicPr>
          <p:nvPr/>
        </p:nvPicPr>
        <p:blipFill>
          <a:blip r:embed="rId11"/>
          <a:stretch>
            <a:fillRect/>
          </a:stretch>
        </p:blipFill>
        <p:spPr>
          <a:xfrm>
            <a:off x="0" y="127000"/>
            <a:ext cx="23749000" cy="16548100"/>
          </a:xfrm>
          <a:prstGeom prst="rect">
            <a:avLst/>
          </a:prstGeom>
        </p:spPr>
      </p:pic>
      <p:sp>
        <p:nvSpPr>
          <p:cNvPr name="TextBox 11" id="12"/>
          <p:cNvSpPr txBox="true"/>
          <p:nvPr/>
        </p:nvSpPr>
        <p:spPr>
          <a:xfrm>
            <a:off x="5930900" y="571500"/>
            <a:ext cx="11887200" cy="16484600"/>
          </a:xfrm>
          <a:prstGeom prst="rect">
            <a:avLst/>
          </a:prstGeom>
        </p:spPr>
        <p:txBody>
          <a:bodyPr anchor="t" rtlCol="false"/>
          <a:lstStyle/>
          <a:p>
            <a:pPr algn="l"/>
            <a:r>
              <a:t/>
            </a:r>
            <a:endParaRPr lang="en-US" sz="1100"/>
          </a:p>
          <a:p>
            <a:r>
              <a:rPr lang="en-US" sz="3700" b="true">
                <a:solidFill>
                  <a:srgbClr val="2FEBD2"/>
                </a:solidFill>
              </a:rPr>
              <a:t>unrighteous men his thoughts..."</a:t>
            </a:r>
          </a:p>
          <a:p>
            <a:r>
              <a:rPr lang="en-US" sz="5000"/>
              <a:t>  </a:t>
            </a:r>
          </a:p>
          <a:p>
            <a:r>
              <a:rPr lang="en-US" sz="3700">
                <a:solidFill>
                  <a:srgbClr val="2FEBD2"/>
                </a:solidFill>
              </a:rPr>
              <a:t>The only way I are going to forsake thoughts is by the renewing of my mind.</a:t>
            </a:r>
          </a:p>
          <a:p>
            <a:r>
              <a:rPr lang="en-US" sz="3700">
                <a:solidFill>
                  <a:srgbClr val="2FEBD2"/>
                </a:solidFill>
              </a:rPr>
              <a:t> </a:t>
            </a:r>
          </a:p>
          <a:p>
            <a:r>
              <a:rPr lang="en-US" sz="5000"/>
              <a:t>  </a:t>
            </a:r>
          </a:p>
          <a:p>
            <a:r>
              <a:rPr lang="en-US" sz="3700">
                <a:solidFill>
                  <a:srgbClr val="3396FF"/>
                </a:solidFill>
              </a:rPr>
              <a:t>I see 'the way' of a man is made up of the following:</a:t>
            </a:r>
          </a:p>
          <a:p>
            <a:r>
              <a:rPr lang="en-US" sz="5000"/>
              <a:t>  </a:t>
            </a:r>
          </a:p>
          <a:p>
            <a:r>
              <a:rPr lang="en-US" sz="3700">
                <a:solidFill>
                  <a:srgbClr val="3396FF"/>
                </a:solidFill>
              </a:rPr>
              <a:t> </a:t>
            </a:r>
          </a:p>
          <a:p>
            <a:r>
              <a:rPr lang="en-US" sz="3700">
                <a:solidFill>
                  <a:srgbClr val="252525"/>
                </a:solidFill>
              </a:rPr>
              <a:t>(</a:t>
            </a:r>
            <a:r>
              <a:rPr lang="en-US" sz="3700">
                <a:solidFill>
                  <a:srgbClr val="3396FF"/>
                </a:solidFill>
              </a:rPr>
              <a:t>i</a:t>
            </a:r>
            <a:r>
              <a:rPr lang="en-US" sz="3700">
                <a:solidFill>
                  <a:srgbClr val="252525"/>
                </a:solidFill>
              </a:rPr>
              <a:t>)   </a:t>
            </a:r>
            <a:r>
              <a:rPr lang="en-US" sz="3700">
                <a:solidFill>
                  <a:srgbClr val="3396FF"/>
                </a:solidFill>
              </a:rPr>
              <a:t>HIS  THOUGHTS </a:t>
            </a:r>
            <a:r>
              <a:rPr lang="en-US" sz="3700">
                <a:solidFill>
                  <a:srgbClr val="252525"/>
                </a:solidFill>
              </a:rPr>
              <a:t>(</a:t>
            </a:r>
            <a:r>
              <a:rPr lang="en-US" sz="3700">
                <a:solidFill>
                  <a:srgbClr val="3396FF"/>
                </a:solidFill>
              </a:rPr>
              <a:t>ii</a:t>
            </a:r>
            <a:r>
              <a:rPr lang="en-US" sz="3700">
                <a:solidFill>
                  <a:srgbClr val="252525"/>
                </a:solidFill>
              </a:rPr>
              <a:t>)   </a:t>
            </a:r>
            <a:r>
              <a:rPr lang="en-US" sz="3700">
                <a:solidFill>
                  <a:srgbClr val="3396FF"/>
                </a:solidFill>
              </a:rPr>
              <a:t>HIS WORDS  </a:t>
            </a:r>
            <a:r>
              <a:rPr lang="en-US" sz="3700">
                <a:solidFill>
                  <a:srgbClr val="252525"/>
                </a:solidFill>
              </a:rPr>
              <a:t>(</a:t>
            </a:r>
            <a:r>
              <a:rPr lang="en-US" sz="3700">
                <a:solidFill>
                  <a:srgbClr val="3396FF"/>
                </a:solidFill>
              </a:rPr>
              <a:t>iii</a:t>
            </a:r>
            <a:r>
              <a:rPr lang="en-US" sz="3700">
                <a:solidFill>
                  <a:srgbClr val="252525"/>
                </a:solidFill>
              </a:rPr>
              <a:t>)</a:t>
            </a:r>
            <a:r>
              <a:rPr lang="en-US" sz="3700">
                <a:solidFill>
                  <a:srgbClr val="3396FF"/>
                </a:solidFill>
              </a:rPr>
              <a:t> HIS ACTIONS </a:t>
            </a:r>
          </a:p>
          <a:p>
            <a:r>
              <a:rPr lang="en-US" sz="3700">
                <a:solidFill>
                  <a:srgbClr val="3396FF"/>
                </a:solidFill>
              </a:rPr>
              <a:t>    For  a man  to develop and maintain a godly way of life it then follows that his thought life must change, his speech  must become godly and his actions most be godly.</a:t>
            </a:r>
          </a:p>
          <a:p>
            <a:r>
              <a:rPr lang="en-US" sz="5000"/>
              <a:t>  </a:t>
            </a:r>
          </a:p>
          <a:p>
            <a:r>
              <a:rPr lang="en-US" sz="3700">
                <a:solidFill>
                  <a:srgbClr val="3396FF"/>
                </a:solidFill>
              </a:rPr>
              <a:t>  Psalm 119:9</a:t>
            </a:r>
          </a:p>
          <a:p>
            <a:r>
              <a:rPr lang="en-US" sz="3700">
                <a:solidFill>
                  <a:srgbClr val="3396FF"/>
                </a:solidFill>
              </a:rPr>
              <a:t>                     </a:t>
            </a:r>
            <a:r>
              <a:rPr lang="en-US" sz="3700">
                <a:solidFill>
                  <a:srgbClr val="252525"/>
                </a:solidFill>
              </a:rPr>
              <a:t>(</a:t>
            </a:r>
            <a:r>
              <a:rPr lang="en-US" sz="3700">
                <a:solidFill>
                  <a:srgbClr val="3396FF"/>
                </a:solidFill>
              </a:rPr>
              <a:t>How can a youngman cleanse his                         way?  BY TAKING  HEED                                   ACCORDING  TO YOUR WORD!</a:t>
            </a:r>
            <a:r>
              <a:rPr lang="en-US" sz="3700">
                <a:solidFill>
                  <a:srgbClr val="252525"/>
                </a:solidFill>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 id="13"/>
          <p:cNvPicPr>
            <a:picLocks noChangeAspect="true"/>
          </p:cNvPicPr>
          <p:nvPr/>
        </p:nvPicPr>
        <p:blipFill>
          <a:blip r:embed="rId13"/>
          <a:stretch>
            <a:fillRect/>
          </a:stretch>
        </p:blipFill>
        <p:spPr>
          <a:xfrm>
            <a:off x="0" y="127000"/>
            <a:ext cx="23749000" cy="16548100"/>
          </a:xfrm>
          <a:prstGeom prst="rect">
            <a:avLst/>
          </a:prstGeom>
        </p:spPr>
      </p:pic>
      <p:sp>
        <p:nvSpPr>
          <p:cNvPr name="TextBox 13" id="14"/>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r>
              <a:rPr lang="en-US" sz="3700">
                <a:solidFill>
                  <a:srgbClr val="3396FF"/>
                </a:solidFill>
              </a:rPr>
              <a:t>That is the key. The word of GOD must first be applied to my thought patterns. I need to acquire new thinking patterns that are in line with the word of GOD.</a:t>
            </a:r>
          </a:p>
          <a:p>
            <a:r>
              <a:rPr lang="en-US" sz="3700">
                <a:solidFill>
                  <a:srgbClr val="3396FF"/>
                </a:solidFill>
              </a:rPr>
              <a:t> </a:t>
            </a:r>
          </a:p>
          <a:p>
            <a:r>
              <a:rPr lang="en-US" sz="3700">
                <a:solidFill>
                  <a:srgbClr val="3396FF"/>
                </a:solidFill>
              </a:rPr>
              <a:t> Then my language must correspond to the word of GOD.  Only  then can my actions be godly. That is the same messages GOD gave Joshua.</a:t>
            </a:r>
          </a:p>
          <a:p>
            <a:r>
              <a:rPr lang="en-US" sz="5000"/>
              <a:t>  </a:t>
            </a:r>
          </a:p>
          <a:p>
            <a:r>
              <a:rPr lang="en-US" sz="3700">
                <a:solidFill>
                  <a:srgbClr val="3396FF"/>
                </a:solidFill>
              </a:rPr>
              <a:t>         Joshua 1:8</a:t>
            </a:r>
          </a:p>
          <a:p>
            <a:r>
              <a:rPr lang="en-US" sz="3700">
                <a:solidFill>
                  <a:srgbClr val="3396FF"/>
                </a:solidFill>
              </a:rPr>
              <a:t>                        </a:t>
            </a:r>
            <a:r>
              <a:rPr lang="en-US" sz="3700">
                <a:solidFill>
                  <a:srgbClr val="252525"/>
                </a:solidFill>
              </a:rPr>
              <a:t>(</a:t>
            </a:r>
            <a:r>
              <a:rPr lang="en-US" sz="3700" b="true">
                <a:solidFill>
                  <a:srgbClr val="3396FF"/>
                </a:solidFill>
              </a:rPr>
              <a:t>This book of the law shall not                              depart out of thy mouth; but                             thou shalt meditate therein                              day and night, that thou                                    mayest observe to do                                       according to all that is                                    written therein: for then                                   thou shalt make thy way                                    prosperous, and then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 id="15"/>
          <p:cNvPicPr>
            <a:picLocks noChangeAspect="true"/>
          </p:cNvPicPr>
          <p:nvPr/>
        </p:nvPicPr>
        <p:blipFill>
          <a:blip r:embed="rId15"/>
          <a:stretch>
            <a:fillRect/>
          </a:stretch>
        </p:blipFill>
        <p:spPr>
          <a:xfrm>
            <a:off x="0" y="127000"/>
            <a:ext cx="23749000" cy="16548100"/>
          </a:xfrm>
          <a:prstGeom prst="rect">
            <a:avLst/>
          </a:prstGeom>
        </p:spPr>
      </p:pic>
      <p:sp>
        <p:nvSpPr>
          <p:cNvPr name="TextBox 15" id="16"/>
          <p:cNvSpPr txBox="true"/>
          <p:nvPr/>
        </p:nvSpPr>
        <p:spPr>
          <a:xfrm>
            <a:off x="5930900" y="571500"/>
            <a:ext cx="11887200" cy="16484600"/>
          </a:xfrm>
          <a:prstGeom prst="rect">
            <a:avLst/>
          </a:prstGeom>
        </p:spPr>
        <p:txBody>
          <a:bodyPr anchor="t" rtlCol="false"/>
          <a:lstStyle/>
          <a:p>
            <a:pPr algn="l"/>
            <a:r>
              <a:t/>
            </a:r>
            <a:endParaRPr lang="en-US" sz="1100"/>
          </a:p>
          <a:p>
            <a:r>
              <a:rPr lang="en-US" sz="3700" b="true">
                <a:solidFill>
                  <a:srgbClr val="3396FF"/>
                </a:solidFill>
              </a:rPr>
              <a:t>                     thou shalt have good                                           success.</a:t>
            </a:r>
            <a:r>
              <a:rPr lang="en-US" sz="3700">
                <a:solidFill>
                  <a:srgbClr val="252525"/>
                </a:solidFill>
              </a:rPr>
              <a:t>)</a:t>
            </a:r>
          </a:p>
          <a:p>
            <a:r>
              <a:rPr lang="en-US" sz="3700">
                <a:solidFill>
                  <a:srgbClr val="252525"/>
                </a:solidFill>
              </a:rPr>
              <a:t>    </a:t>
            </a:r>
          </a:p>
          <a:p>
            <a:r>
              <a:rPr lang="en-US" sz="5000"/>
              <a:t>  </a:t>
            </a:r>
          </a:p>
          <a:p>
            <a:r>
              <a:rPr lang="en-US" sz="3700">
                <a:solidFill>
                  <a:srgbClr val="252525"/>
                </a:solidFill>
              </a:rPr>
              <a:t>     </a:t>
            </a:r>
            <a:r>
              <a:rPr lang="en-US" sz="3700">
                <a:solidFill>
                  <a:srgbClr val="1447FF"/>
                </a:solidFill>
              </a:rPr>
              <a:t>GOD  was basically telling Joshua to                    CHANGE!</a:t>
            </a:r>
          </a:p>
          <a:p>
            <a:r>
              <a:rPr lang="en-US" sz="3700">
                <a:solidFill>
                  <a:srgbClr val="1447FF"/>
                </a:solidFill>
              </a:rPr>
              <a:t>    </a:t>
            </a:r>
          </a:p>
          <a:p>
            <a:r>
              <a:rPr lang="en-US" sz="3700">
                <a:solidFill>
                  <a:srgbClr val="1447FF"/>
                </a:solidFill>
              </a:rPr>
              <a:t>     Change my thoughts meditate on the word day and night.  Change my language let the word in my mouth Change my actions do according to the  word    of   GOD.  See   the  process again THOUGHT give birth to WORDS, WORDS give birth ACTIONS!</a:t>
            </a:r>
          </a:p>
          <a:p>
            <a:r>
              <a:rPr lang="en-US" sz="3700">
                <a:solidFill>
                  <a:srgbClr val="1447FF"/>
                </a:solidFill>
              </a:rPr>
              <a:t>I need  to now begin a process of reduction of myself according to the BIBLE.</a:t>
            </a:r>
          </a:p>
          <a:p>
            <a:r>
              <a:rPr lang="en-US" sz="3700">
                <a:solidFill>
                  <a:srgbClr val="1447FF"/>
                </a:solidFill>
              </a:rPr>
              <a:t>For too long I have believe and  thought wrongly about GOD, the devil, myself, sin, sickness, infact life itself. That led to wrong  talking about these which in turn has led to wrong actions  relating to these.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 id="17"/>
          <p:cNvPicPr>
            <a:picLocks noChangeAspect="true"/>
          </p:cNvPicPr>
          <p:nvPr/>
        </p:nvPicPr>
        <p:blipFill>
          <a:blip r:embed="rId17"/>
          <a:stretch>
            <a:fillRect/>
          </a:stretch>
        </p:blipFill>
        <p:spPr>
          <a:xfrm>
            <a:off x="0" y="127000"/>
            <a:ext cx="23749000" cy="16548100"/>
          </a:xfrm>
          <a:prstGeom prst="rect">
            <a:avLst/>
          </a:prstGeom>
        </p:spPr>
      </p:pic>
      <p:sp>
        <p:nvSpPr>
          <p:cNvPr name="TextBox 17" id="18"/>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1447FF"/>
                </a:solidFill>
              </a:rPr>
              <a:t> The solution is to renew my mind.  The agent of that renewal is the word of GOD  especially those  IN-CHRIST SCRIPTURES. Change my thought patterns to correspond to those scriptures and very soon those scriptures will become my language and I will begin to act like them.</a:t>
            </a:r>
          </a:p>
          <a:p>
            <a:r>
              <a:rPr lang="en-US" sz="5000"/>
              <a:t>  </a:t>
            </a:r>
          </a:p>
          <a:p>
            <a:r>
              <a:rPr lang="en-US" sz="3700">
                <a:solidFill>
                  <a:srgbClr val="1447FF"/>
                </a:solidFill>
              </a:rPr>
              <a:t>I will notice that this step is link between putting off the old man and putting on the new man!</a:t>
            </a:r>
          </a:p>
          <a:p>
            <a:r>
              <a:rPr lang="en-US" sz="5000"/>
              <a:t>  </a:t>
            </a:r>
          </a:p>
          <a:p>
            <a:r>
              <a:rPr lang="en-US" sz="3700">
                <a:solidFill>
                  <a:srgbClr val="1447FF"/>
                </a:solidFill>
              </a:rPr>
              <a:t>I can never successfully put off the old man nor can I effectively put on the new man without renewing my mind with the word of GOD. </a:t>
            </a:r>
          </a:p>
          <a:p>
            <a:r>
              <a:rPr lang="en-US" sz="5000"/>
              <a:t>  </a:t>
            </a:r>
          </a:p>
          <a:p>
            <a:r>
              <a:rPr lang="en-US" sz="5000"/>
              <a:t>  </a:t>
            </a:r>
          </a:p>
          <a:p>
            <a:r>
              <a:rPr lang="en-US" sz="3700">
                <a:solidFill>
                  <a:srgbClr val="9933FF"/>
                </a:solidFill>
              </a:rPr>
              <a:t>STEP THREE:PUT ON THE NEW MAN</a:t>
            </a:r>
          </a:p>
          <a:p>
            <a:r>
              <a:rPr lang="en-US" sz="3700">
                <a:solidFill>
                  <a:srgbClr val="9933FF"/>
                </a:solidFill>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 id="19"/>
          <p:cNvPicPr>
            <a:picLocks noChangeAspect="true"/>
          </p:cNvPicPr>
          <p:nvPr/>
        </p:nvPicPr>
        <p:blipFill>
          <a:blip r:embed="rId19"/>
          <a:stretch>
            <a:fillRect/>
          </a:stretch>
        </p:blipFill>
        <p:spPr>
          <a:xfrm>
            <a:off x="0" y="127000"/>
            <a:ext cx="23749000" cy="16548100"/>
          </a:xfrm>
          <a:prstGeom prst="rect">
            <a:avLst/>
          </a:prstGeom>
        </p:spPr>
      </p:pic>
      <p:sp>
        <p:nvSpPr>
          <p:cNvPr name="TextBox 19" id="20"/>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9933FF"/>
                </a:solidFill>
              </a:rPr>
              <a:t>    Ephesians </a:t>
            </a:r>
            <a:r>
              <a:rPr lang="en-US" sz="3700">
                <a:solidFill>
                  <a:srgbClr val="9933FF"/>
                </a:solidFill>
              </a:rPr>
              <a:t>4:24</a:t>
            </a:r>
          </a:p>
          <a:p>
            <a:r>
              <a:rPr lang="en-US" sz="3700">
                <a:solidFill>
                  <a:srgbClr val="9933FF"/>
                </a:solidFill>
              </a:rPr>
              <a:t>                            </a:t>
            </a:r>
            <a:r>
              <a:rPr lang="en-US" sz="3700">
                <a:solidFill>
                  <a:srgbClr val="252525"/>
                </a:solidFill>
              </a:rPr>
              <a:t>(</a:t>
            </a:r>
            <a:r>
              <a:rPr lang="en-US" sz="3700">
                <a:solidFill>
                  <a:srgbClr val="9933FF"/>
                </a:solidFill>
              </a:rPr>
              <a:t>And that ye put on the new                                 man, which after God is                                       created in                                                         righteousness and true                                      holiness.</a:t>
            </a:r>
            <a:r>
              <a:rPr lang="en-US" sz="3700">
                <a:solidFill>
                  <a:srgbClr val="252525"/>
                </a:solidFill>
              </a:rPr>
              <a:t>)</a:t>
            </a:r>
          </a:p>
          <a:p>
            <a:r>
              <a:rPr lang="en-US" sz="5000"/>
              <a:t>  </a:t>
            </a:r>
          </a:p>
          <a:p>
            <a:r>
              <a:rPr lang="en-US" sz="3700">
                <a:solidFill>
                  <a:srgbClr val="252525"/>
                </a:solidFill>
              </a:rPr>
              <a:t>   </a:t>
            </a:r>
            <a:r>
              <a:rPr lang="en-US" sz="3700">
                <a:solidFill>
                  <a:srgbClr val="9933FF"/>
                </a:solidFill>
              </a:rPr>
              <a:t>Colossians </a:t>
            </a:r>
            <a:r>
              <a:rPr lang="en-US" sz="3700">
                <a:solidFill>
                  <a:srgbClr val="9933FF"/>
                </a:solidFill>
              </a:rPr>
              <a:t>3:10</a:t>
            </a:r>
          </a:p>
          <a:p>
            <a:r>
              <a:rPr lang="en-US" sz="3700">
                <a:solidFill>
                  <a:srgbClr val="9933FF"/>
                </a:solidFill>
              </a:rPr>
              <a:t>                           </a:t>
            </a:r>
            <a:r>
              <a:rPr lang="en-US" sz="3700">
                <a:solidFill>
                  <a:srgbClr val="252525"/>
                </a:solidFill>
              </a:rPr>
              <a:t>(</a:t>
            </a:r>
            <a:r>
              <a:rPr lang="en-US" sz="3700">
                <a:solidFill>
                  <a:srgbClr val="9933FF"/>
                </a:solidFill>
              </a:rPr>
              <a:t>And have put on the new                                   man, which is renewed in         </a:t>
            </a:r>
            <a:r>
              <a:rPr lang="en-US" sz="3700">
                <a:solidFill>
                  <a:srgbClr val="9933FF"/>
                </a:solidFill>
              </a:rPr>
              <a:t>                          knowledge after the                                            image of him that                                               created him:</a:t>
            </a:r>
            <a:r>
              <a:rPr lang="en-US" sz="3700">
                <a:solidFill>
                  <a:srgbClr val="252525"/>
                </a:solidFill>
              </a:rPr>
              <a:t>)</a:t>
            </a:r>
          </a:p>
          <a:p>
            <a:r>
              <a:rPr lang="en-US" sz="5000"/>
              <a:t>  </a:t>
            </a:r>
          </a:p>
          <a:p>
            <a:r>
              <a:rPr lang="en-US" sz="5000"/>
              <a:t>  </a:t>
            </a:r>
          </a:p>
          <a:p>
            <a:r>
              <a:rPr lang="en-US" sz="3700">
                <a:solidFill>
                  <a:srgbClr val="9933FF"/>
                </a:solidFill>
              </a:rPr>
              <a:t/>
            </a:r>
          </a:p>
        </p:txBody>
      </p:sp>
      <p:pic>
        <p:nvPicPr>
          <p:cNvPr name="Picture 21" id="21"/>
          <p:cNvPicPr>
            <a:picLocks noChangeAspect="true"/>
          </p:cNvPicPr>
          <p:nvPr/>
        </p:nvPicPr>
        <p:blipFill>
          <a:blip r:embed="rId21"/>
          <a:stretch>
            <a:fillRect/>
          </a:stretch>
        </p:blipFill>
        <p:spPr>
          <a:xfrm>
            <a:off x="6451600" y="12446000"/>
            <a:ext cx="2133600" cy="21336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9933FF"/>
                </a:solidFill>
              </a:rPr>
              <a:t/>
            </a:r>
            <a:r>
              <a:rPr lang="en-US" sz="3700">
                <a:solidFill>
                  <a:srgbClr val="9933FF"/>
                </a:solidFill>
              </a:rPr>
              <a:t/>
            </a:r>
          </a:p>
        </p:txBody>
      </p:sp>
      <p:pic>
        <p:nvPicPr>
          <p:cNvPr name="Picture 24" id="24"/>
          <p:cNvPicPr>
            <a:picLocks noChangeAspect="true"/>
          </p:cNvPicPr>
          <p:nvPr/>
        </p:nvPicPr>
        <p:blipFill>
          <a:blip r:embed="rId24"/>
          <a:stretch>
            <a:fillRect/>
          </a:stretch>
        </p:blipFill>
        <p:spPr>
          <a:xfrm>
            <a:off x="6451600" y="317500"/>
            <a:ext cx="3835400" cy="6921500"/>
          </a:xfrm>
          <a:prstGeom prst="rect">
            <a:avLst/>
          </a:prstGeom>
        </p:spPr>
      </p:pic>
      <p:pic>
        <p:nvPicPr>
          <p:cNvPr name="Picture 25" id="25"/>
          <p:cNvPicPr>
            <a:picLocks noChangeAspect="true"/>
          </p:cNvPicPr>
          <p:nvPr/>
        </p:nvPicPr>
        <p:blipFill>
          <a:blip r:embed="rId25"/>
          <a:stretch>
            <a:fillRect/>
          </a:stretch>
        </p:blipFill>
        <p:spPr>
          <a:xfrm>
            <a:off x="6451600" y="7454900"/>
            <a:ext cx="2552700" cy="55499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9933FF"/>
                </a:solidFill>
              </a:rPr>
              <a:t/>
            </a:r>
            <a:r>
              <a:rPr lang="en-US" sz="3700">
                <a:solidFill>
                  <a:srgbClr val="9933FF"/>
                </a:solidFill>
              </a:rPr>
              <a:t>This  step  is only possible as I faithfully practice step two.</a:t>
            </a:r>
          </a:p>
          <a:p>
            <a:r>
              <a:rPr lang="en-US" sz="5000"/>
              <a:t>  </a:t>
            </a:r>
          </a:p>
          <a:p>
            <a:r>
              <a:rPr lang="en-US" sz="3700">
                <a:solidFill>
                  <a:srgbClr val="9933FF"/>
                </a:solidFill>
              </a:rPr>
              <a:t>To put on means to allow the new man to show up on the outside.</a:t>
            </a:r>
          </a:p>
        </p:txBody>
      </p:sp>
      <p:pic>
        <p:nvPicPr>
          <p:cNvPr name="Picture 28" id="28"/>
          <p:cNvPicPr>
            <a:picLocks noChangeAspect="true"/>
          </p:cNvPicPr>
          <p:nvPr/>
        </p:nvPicPr>
        <p:blipFill>
          <a:blip r:embed="rId28"/>
          <a:stretch>
            <a:fillRect/>
          </a:stretch>
        </p:blipFill>
        <p:spPr>
          <a:xfrm>
            <a:off x="6451600" y="317500"/>
            <a:ext cx="3898900" cy="6921500"/>
          </a:xfrm>
          <a:prstGeom prst="rect">
            <a:avLst/>
          </a:prstGeom>
        </p:spPr>
      </p:pic>
      <p:pic>
        <p:nvPicPr>
          <p:cNvPr name="Picture 29" id="29"/>
          <p:cNvPicPr>
            <a:picLocks noChangeAspect="true"/>
          </p:cNvPicPr>
          <p:nvPr/>
        </p:nvPicPr>
        <p:blipFill>
          <a:blip r:embed="rId29"/>
          <a:stretch>
            <a:fillRect/>
          </a:stretch>
        </p:blipFill>
        <p:spPr>
          <a:xfrm>
            <a:off x="6451600" y="7454900"/>
            <a:ext cx="4457700" cy="48260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9933FF"/>
                </a:solidFill>
              </a:rPr>
              <a:t>The new man in the BIBLE is exactly like GOD, acts like GOD, talks like GOD etc. He will come to the surface on the measure that my mind is renewed with the word of GOD.</a:t>
            </a:r>
          </a:p>
          <a:p>
            <a:r>
              <a:rPr lang="en-US" sz="5000"/>
              <a:t>  </a:t>
            </a:r>
          </a:p>
          <a:p>
            <a:r>
              <a:rPr lang="en-US" sz="3700">
                <a:solidFill>
                  <a:srgbClr val="9933FF"/>
                </a:solidFill>
              </a:rPr>
              <a:t>The new man has all the attributes of GOD in him and as I allow the word of GOD to grow in I and renew my mind, he also grows in these attributes and people begin to see a transformation taking place in I. I begin to think more,and act more like CHRIST.</a:t>
            </a:r>
          </a:p>
          <a:p>
            <a:r>
              <a:rPr lang="en-US" sz="5000"/>
              <a:t>  </a:t>
            </a:r>
          </a:p>
          <a:p>
            <a:r>
              <a:rPr lang="en-US" sz="3700">
                <a:solidFill>
                  <a:srgbClr val="9933FF"/>
                </a:solidFill>
              </a:rPr>
              <a:t>              </a:t>
            </a:r>
            <a:r>
              <a:rPr lang="en-US" sz="3700">
                <a:solidFill>
                  <a:srgbClr val="252525"/>
                </a:solidFill>
              </a:rPr>
              <a:t>Godly Counsels</a:t>
            </a:r>
          </a:p>
          <a:p>
            <a:r>
              <a:rPr lang="en-US" sz="3700">
                <a:solidFill>
                  <a:srgbClr val="252525"/>
                </a:solidFill>
              </a:rPr>
              <a:t> </a:t>
            </a:r>
          </a:p>
          <a:p>
            <a:r>
              <a:rPr lang="en-US" sz="3700">
                <a:solidFill>
                  <a:srgbClr val="252525"/>
                </a:solidFill>
              </a:rPr>
              <a:t>Let OLUSOLA   A. AREOGUN  share with me  Godly counsel that will keep me moving forward and upward in JESUS. BUILD  NOT AGAIN THINGS I HAVE DESTROYED.</a:t>
            </a:r>
          </a:p>
          <a:p>
            <a:r>
              <a:rPr lang="en-US" sz="3700">
                <a:solidFill>
                  <a:srgbClr val="252525"/>
                </a:solidFill>
              </a:rPr>
              <a:t> </a:t>
            </a:r>
          </a:p>
          <a:p>
            <a:r>
              <a:rPr lang="en-US" sz="3700">
                <a:solidFill>
                  <a:srgbClr val="252525"/>
                </a:solidFill>
              </a:rPr>
              <a:t>   Galatians </a:t>
            </a:r>
            <a:r>
              <a:rPr lang="en-US" sz="3700">
                <a:solidFill>
                  <a:srgbClr val="252525"/>
                </a:solidFill>
              </a:rPr>
              <a:t>2:18</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 id="32"/>
          <p:cNvPicPr>
            <a:picLocks noChangeAspect="true"/>
          </p:cNvPicPr>
          <p:nvPr/>
        </p:nvPicPr>
        <p:blipFill>
          <a:blip r:embed="rId32"/>
          <a:stretch>
            <a:fillRect/>
          </a:stretch>
        </p:blipFill>
        <p:spPr>
          <a:xfrm>
            <a:off x="0" y="127000"/>
            <a:ext cx="23749000" cy="16548100"/>
          </a:xfrm>
          <a:prstGeom prst="rect">
            <a:avLst/>
          </a:prstGeom>
        </p:spPr>
      </p:pic>
      <p:sp>
        <p:nvSpPr>
          <p:cNvPr name="TextBox 32" id="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r>
              <a:rPr lang="en-US" sz="3700">
                <a:solidFill>
                  <a:srgbClr val="FF3636"/>
                </a:solidFill>
              </a:rPr>
              <a:t>(</a:t>
            </a:r>
            <a:r>
              <a:rPr lang="en-US" sz="3700">
                <a:solidFill>
                  <a:srgbClr val="252525"/>
                </a:solidFill>
              </a:rPr>
              <a:t>For if I build again the things                            which I destroyed, I make                                  myself a transgressor.</a:t>
            </a:r>
            <a:r>
              <a:rPr lang="en-US" sz="3700">
                <a:solidFill>
                  <a:srgbClr val="FF3636"/>
                </a:solidFill>
              </a:rPr>
              <a:t>)</a:t>
            </a:r>
          </a:p>
          <a:p>
            <a:r>
              <a:rPr lang="en-US" sz="5000"/>
              <a:t>  </a:t>
            </a:r>
          </a:p>
          <a:p>
            <a:r>
              <a:rPr lang="en-US" sz="5000"/>
              <a:t>  </a:t>
            </a:r>
          </a:p>
          <a:p>
            <a:r>
              <a:rPr lang="en-US" sz="3700">
                <a:solidFill>
                  <a:srgbClr val="252525"/>
                </a:solidFill>
              </a:rPr>
              <a:t> I have  confessed JESUS as my LORD and Savior. I have renounced my former ways. </a:t>
            </a:r>
          </a:p>
          <a:p>
            <a:r>
              <a:rPr lang="en-US" sz="3700">
                <a:solidFill>
                  <a:srgbClr val="252525"/>
                </a:solidFill>
              </a:rPr>
              <a:t>I should not let situations and circumstance  force me to build those things again. Be not like the proverbial dog that always returns to eat its vomit. BURN  THE  BRIDGE ONCE AND FOR ALL TIME. Make it impossible for  my former ways to find expressions again.</a:t>
            </a:r>
          </a:p>
          <a:p>
            <a:r>
              <a:rPr lang="en-US" sz="3700">
                <a:solidFill>
                  <a:srgbClr val="252525"/>
                </a:solidFill>
              </a:rPr>
              <a:t> To achieve this, immediately cut off all associations and situations that have the potentials of talking you back into those former things.</a:t>
            </a:r>
          </a:p>
          <a:p>
            <a:r>
              <a:rPr lang="en-US" sz="3700">
                <a:solidFill>
                  <a:srgbClr val="252525"/>
                </a:solidFill>
              </a:rPr>
              <a:t> </a:t>
            </a:r>
          </a:p>
          <a:p>
            <a:r>
              <a:rPr lang="en-US" sz="5000"/>
              <a:t>  </a:t>
            </a:r>
          </a:p>
          <a:p>
            <a:r>
              <a:rPr lang="en-US" sz="3700">
                <a:solidFill>
                  <a:srgbClr val="252525"/>
                </a:solidFill>
              </a:rPr>
              <a:t>Remember, for we have spent enough of our past life doing the will of the Gentiles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when we walked in  licentiousness, lusts, drunkenness, reversies, drinking parties, abd abominable idolatrius.</a:t>
            </a:r>
          </a:p>
          <a:p>
            <a:r>
              <a:rPr lang="en-US" sz="5000"/>
              <a:t>  </a:t>
            </a:r>
          </a:p>
          <a:p>
            <a:r>
              <a:rPr lang="en-US" sz="3700">
                <a:solidFill>
                  <a:srgbClr val="252525"/>
                </a:solidFill>
              </a:rPr>
              <a:t>In regards to these, they( those former associates in sin) think it strange that I ( now a child of GOD) I should not run with them in same flood of dissipation, speaking evil of I (that is a form of persecution) 1pet.4:3-4.</a:t>
            </a:r>
          </a:p>
          <a:p>
            <a:r>
              <a:rPr lang="en-US" sz="3700">
                <a:solidFill>
                  <a:srgbClr val="252525"/>
                </a:solidFill>
              </a:rPr>
              <a:t>  </a:t>
            </a:r>
          </a:p>
          <a:p>
            <a:r>
              <a:rPr lang="en-US" sz="3700">
                <a:solidFill>
                  <a:srgbClr val="252525"/>
                </a:solidFill>
              </a:rPr>
              <a:t>The BIBLE warns further on the possibility of going back and its danger.</a:t>
            </a:r>
          </a:p>
          <a:p>
            <a:r>
              <a:rPr lang="en-US" sz="3700">
                <a:solidFill>
                  <a:srgbClr val="252525"/>
                </a:solidFill>
              </a:rPr>
              <a:t>    2 Peter </a:t>
            </a:r>
            <a:r>
              <a:rPr lang="en-US" sz="3700">
                <a:solidFill>
                  <a:srgbClr val="252525"/>
                </a:solidFill>
              </a:rPr>
              <a:t>2:20</a:t>
            </a:r>
          </a:p>
          <a:p>
            <a:r>
              <a:rPr lang="en-US" sz="3700">
                <a:solidFill>
                  <a:srgbClr val="252525"/>
                </a:solidFill>
              </a:rPr>
              <a:t>                       </a:t>
            </a:r>
            <a:r>
              <a:rPr lang="en-US" sz="3700">
                <a:solidFill>
                  <a:srgbClr val="FF3636"/>
                </a:solidFill>
              </a:rPr>
              <a:t>(</a:t>
            </a:r>
            <a:r>
              <a:rPr lang="en-US" sz="3700" b="true">
                <a:solidFill>
                  <a:srgbClr val="252525"/>
                </a:solidFill>
              </a:rPr>
              <a:t>For if after they have                                       escaped the pollutions of the                             world through the knowledge                              of the Lord and Saviour                                      Jesus Christ, they are                                        again entangled therein,                                     and overcome, the latter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6" id="36"/>
          <p:cNvPicPr>
            <a:picLocks noChangeAspect="true"/>
          </p:cNvPicPr>
          <p:nvPr/>
        </p:nvPicPr>
        <p:blipFill>
          <a:blip r:embed="rId36"/>
          <a:stretch>
            <a:fillRect/>
          </a:stretch>
        </p:blipFill>
        <p:spPr>
          <a:xfrm>
            <a:off x="0" y="127000"/>
            <a:ext cx="23749000" cy="16548100"/>
          </a:xfrm>
          <a:prstGeom prst="rect">
            <a:avLst/>
          </a:prstGeom>
        </p:spPr>
      </p:pic>
      <p:sp>
        <p:nvSpPr>
          <p:cNvPr name="TextBox 36" id="37"/>
          <p:cNvSpPr txBox="true"/>
          <p:nvPr/>
        </p:nvSpPr>
        <p:spPr>
          <a:xfrm>
            <a:off x="5930900" y="571500"/>
            <a:ext cx="11887200" cy="16484600"/>
          </a:xfrm>
          <a:prstGeom prst="rect">
            <a:avLst/>
          </a:prstGeom>
        </p:spPr>
        <p:txBody>
          <a:bodyPr anchor="t" rtlCol="false"/>
          <a:lstStyle/>
          <a:p>
            <a:pPr algn="l"/>
            <a:r>
              <a:t/>
            </a:r>
            <a:endParaRPr lang="en-US" sz="1100"/>
          </a:p>
          <a:p>
            <a:r>
              <a:rPr lang="en-US" sz="3700" b="true">
                <a:solidFill>
                  <a:srgbClr val="252525"/>
                </a:solidFill>
              </a:rPr>
              <a:t>                            end is worse with them                                        than the beginning.</a:t>
            </a:r>
            <a:r>
              <a:rPr lang="en-US" sz="3700">
                <a:solidFill>
                  <a:srgbClr val="FF3636"/>
                </a:solidFill>
              </a:rPr>
              <a:t>)</a:t>
            </a:r>
          </a:p>
          <a:p>
            <a:r>
              <a:rPr lang="en-US" sz="5000"/>
              <a:t>  </a:t>
            </a:r>
          </a:p>
          <a:p>
            <a:r>
              <a:rPr lang="en-US" sz="3700">
                <a:solidFill>
                  <a:srgbClr val="252525"/>
                </a:solidFill>
              </a:rPr>
              <a:t> Look also at Hebrew 3:12-4</a:t>
            </a:r>
          </a:p>
          <a:p>
            <a:r>
              <a:rPr lang="en-US" sz="3700">
                <a:solidFill>
                  <a:srgbClr val="252525"/>
                </a:solidFill>
              </a:rPr>
              <a:t>( </a:t>
            </a:r>
            <a:r>
              <a:rPr lang="en-US" sz="3700">
                <a:solidFill>
                  <a:srgbClr val="FFCB30"/>
                </a:solidFill>
              </a:rPr>
              <a:t>Take heed, brethren, lest there be in any of you an evil heart of unbelief, in departing from the living God.</a:t>
            </a:r>
          </a:p>
          <a:p>
            <a:r>
              <a:rPr lang="en-US" sz="5000"/>
              <a:t>  </a:t>
            </a:r>
          </a:p>
          <a:p>
            <a:r>
              <a:rPr lang="en-US" sz="3700">
                <a:solidFill>
                  <a:srgbClr val="FFCB30"/>
                </a:solidFill>
              </a:rPr>
              <a:t>But exhort one another daily, while it is called To day; lest any of you be hardened through the deceitfulness of sin.</a:t>
            </a:r>
          </a:p>
          <a:p>
            <a:r>
              <a:rPr lang="en-US" sz="5000"/>
              <a:t>  </a:t>
            </a:r>
          </a:p>
          <a:p>
            <a:r>
              <a:rPr lang="en-US" sz="3700">
                <a:solidFill>
                  <a:srgbClr val="FFCB30"/>
                </a:solidFill>
              </a:rPr>
              <a:t>For we are made partakers of Christ, if we hold the beginning of our confidence stedfast unto the end;</a:t>
            </a:r>
            <a:r>
              <a:rPr lang="en-US" sz="3700">
                <a:solidFill>
                  <a:srgbClr val="252525"/>
                </a:solidFill>
              </a:rPr>
              <a:t>)</a:t>
            </a:r>
          </a:p>
          <a:p>
            <a:r>
              <a:rPr lang="en-US" sz="5000"/>
              <a:t>  </a:t>
            </a:r>
          </a:p>
          <a:p>
            <a:r>
              <a:rPr lang="en-US" sz="5000"/>
              <a:t>  </a:t>
            </a:r>
          </a:p>
          <a:p>
            <a:r>
              <a:rPr lang="en-US" sz="5000"/>
              <a:t>  </a:t>
            </a:r>
          </a:p>
          <a:p>
            <a:r>
              <a:rPr lang="en-US" sz="3700">
                <a:solidFill>
                  <a:srgbClr val="F7EB00"/>
                </a:solidFill>
              </a:rPr>
              <a:t>There  are three main reasons highlighted that can lead to a believer building those things he once destroyed again.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8" id="38"/>
          <p:cNvPicPr>
            <a:picLocks noChangeAspect="true"/>
          </p:cNvPicPr>
          <p:nvPr/>
        </p:nvPicPr>
        <p:blipFill>
          <a:blip r:embed="rId38"/>
          <a:stretch>
            <a:fillRect/>
          </a:stretch>
        </p:blipFill>
        <p:spPr>
          <a:xfrm>
            <a:off x="0" y="127000"/>
            <a:ext cx="23749000" cy="16548100"/>
          </a:xfrm>
          <a:prstGeom prst="rect">
            <a:avLst/>
          </a:prstGeom>
        </p:spPr>
      </p:pic>
      <p:sp>
        <p:nvSpPr>
          <p:cNvPr name="TextBox 38" id="3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FEBD2"/>
                </a:solidFill>
              </a:rPr>
              <a:t>(</a:t>
            </a:r>
            <a:r>
              <a:rPr lang="en-US" sz="3700">
                <a:solidFill>
                  <a:srgbClr val="F7EB00"/>
                </a:solidFill>
              </a:rPr>
              <a:t>a</a:t>
            </a:r>
            <a:r>
              <a:rPr lang="en-US" sz="3700">
                <a:solidFill>
                  <a:srgbClr val="2FEBD2"/>
                </a:solidFill>
              </a:rPr>
              <a:t>)      wrong associations </a:t>
            </a:r>
          </a:p>
          <a:p>
            <a:r>
              <a:rPr lang="en-US" sz="3700">
                <a:solidFill>
                  <a:srgbClr val="2FEBD2"/>
                </a:solidFill>
              </a:rPr>
              <a:t>(</a:t>
            </a:r>
            <a:r>
              <a:rPr lang="en-US" sz="3700">
                <a:solidFill>
                  <a:srgbClr val="F7EB00"/>
                </a:solidFill>
              </a:rPr>
              <a:t>b</a:t>
            </a:r>
            <a:r>
              <a:rPr lang="en-US" sz="3700">
                <a:solidFill>
                  <a:srgbClr val="2FEBD2"/>
                </a:solidFill>
              </a:rPr>
              <a:t>)      secret sin</a:t>
            </a:r>
          </a:p>
          <a:p>
            <a:r>
              <a:rPr lang="en-US" sz="3700">
                <a:solidFill>
                  <a:srgbClr val="2FEBD2"/>
                </a:solidFill>
              </a:rPr>
              <a:t>(</a:t>
            </a:r>
            <a:r>
              <a:rPr lang="en-US" sz="3700">
                <a:solidFill>
                  <a:srgbClr val="F7EB00"/>
                </a:solidFill>
              </a:rPr>
              <a:t>c</a:t>
            </a:r>
            <a:r>
              <a:rPr lang="en-US" sz="3700">
                <a:solidFill>
                  <a:srgbClr val="2FEBD2"/>
                </a:solidFill>
              </a:rPr>
              <a:t>)       lack of fellowship </a:t>
            </a:r>
          </a:p>
          <a:p>
            <a:r>
              <a:rPr lang="en-US" sz="5000"/>
              <a:t>  </a:t>
            </a:r>
          </a:p>
          <a:p>
            <a:r>
              <a:rPr lang="en-US" sz="3700">
                <a:solidFill>
                  <a:srgbClr val="2FEBD2"/>
                </a:solidFill>
              </a:rPr>
              <a:t>The solution is also highlighted in Heb. </a:t>
            </a:r>
            <a:r>
              <a:rPr lang="en-US" sz="3700">
                <a:solidFill>
                  <a:srgbClr val="2FEBD2"/>
                </a:solidFill>
              </a:rPr>
              <a:t>3:13</a:t>
            </a:r>
            <a:r>
              <a:rPr lang="en-US" sz="3700">
                <a:solidFill>
                  <a:srgbClr val="2FEBD2"/>
                </a:solidFill>
              </a:rPr>
              <a:t>,"...exhort one another daily ".Make new grounds in faith daily.</a:t>
            </a:r>
          </a:p>
          <a:p>
            <a:r>
              <a:rPr lang="en-US" sz="5000"/>
              <a:t>  </a:t>
            </a:r>
          </a:p>
          <a:p>
            <a:r>
              <a:rPr lang="en-US" sz="3700">
                <a:solidFill>
                  <a:srgbClr val="2FEBD2"/>
                </a:solidFill>
              </a:rPr>
              <a:t>Christian growth is a daily  affair. It is a continuous affair too.</a:t>
            </a:r>
          </a:p>
          <a:p>
            <a:r>
              <a:rPr lang="en-US" sz="5000"/>
              <a:t>  </a:t>
            </a:r>
          </a:p>
          <a:p>
            <a:r>
              <a:rPr lang="en-US" sz="3700">
                <a:solidFill>
                  <a:srgbClr val="2FEBD2"/>
                </a:solidFill>
              </a:rPr>
              <a:t>You as a believe have got to resolutely determine  that I will only move if it is a step FORWARD AND UPWARD. </a:t>
            </a:r>
          </a:p>
          <a:p>
            <a:r>
              <a:rPr lang="en-US" sz="5000"/>
              <a:t>  </a:t>
            </a:r>
          </a:p>
          <a:p>
            <a:r>
              <a:rPr lang="en-US" sz="5000"/>
              <a:t>  </a:t>
            </a:r>
          </a:p>
          <a:p>
            <a:r>
              <a:rPr lang="en-US" sz="5000"/>
              <a:t>  </a:t>
            </a:r>
          </a:p>
          <a:p>
            <a:r>
              <a:rPr lang="en-US" sz="5000"/>
              <a:t>  </a:t>
            </a:r>
          </a:p>
          <a:p>
            <a:r>
              <a:rPr lang="en-US" sz="3700">
                <a:solidFill>
                  <a:srgbClr val="2FEBD2"/>
                </a:solidFill>
              </a:rPr>
              <a:t>That is, daily I  are making progress in my Christian experience and I are getting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0" id="40"/>
          <p:cNvPicPr>
            <a:picLocks noChangeAspect="true"/>
          </p:cNvPicPr>
          <p:nvPr/>
        </p:nvPicPr>
        <p:blipFill>
          <a:blip r:embed="rId40"/>
          <a:stretch>
            <a:fillRect/>
          </a:stretch>
        </p:blipFill>
        <p:spPr>
          <a:xfrm>
            <a:off x="0" y="127000"/>
            <a:ext cx="23749000" cy="16548100"/>
          </a:xfrm>
          <a:prstGeom prst="rect">
            <a:avLst/>
          </a:prstGeom>
        </p:spPr>
      </p:pic>
      <p:sp>
        <p:nvSpPr>
          <p:cNvPr name="TextBox 40" id="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FEBD2"/>
                </a:solidFill>
              </a:rPr>
              <a:t>heaven-ready or rapture-fit. I have got to take away my gaze for every other thing and fix them  resolutely on JESUS.  Never look sideways or backwards. 'Remember lot'wife.</a:t>
            </a:r>
          </a:p>
          <a:p>
            <a:r>
              <a:rPr lang="en-US" sz="5000"/>
              <a:t>  </a:t>
            </a:r>
          </a:p>
          <a:p>
            <a:r>
              <a:rPr lang="en-US" sz="5000"/>
              <a:t>  </a:t>
            </a:r>
          </a:p>
          <a:p>
            <a:r>
              <a:rPr lang="en-US" sz="5000"/>
              <a:t>  </a:t>
            </a:r>
          </a:p>
          <a:p>
            <a:r>
              <a:rPr lang="en-US" sz="3700">
                <a:solidFill>
                  <a:srgbClr val="2FEBD2"/>
                </a:solidFill>
              </a:rPr>
              <a:t>         Therefore  we  also,  since   we   are</a:t>
            </a:r>
          </a:p>
          <a:p>
            <a:r>
              <a:rPr lang="en-US" sz="3700">
                <a:solidFill>
                  <a:srgbClr val="2FEBD2"/>
                </a:solidFill>
              </a:rPr>
              <a:t>          Surrounded by so great a cloud  of</a:t>
            </a:r>
          </a:p>
          <a:p>
            <a:r>
              <a:rPr lang="en-US" sz="3700">
                <a:solidFill>
                  <a:srgbClr val="2FEBD2"/>
                </a:solidFill>
              </a:rPr>
              <a:t>          Witness     let   us     aside      every</a:t>
            </a:r>
          </a:p>
          <a:p>
            <a:r>
              <a:rPr lang="en-US" sz="3700">
                <a:solidFill>
                  <a:srgbClr val="2FEBD2"/>
                </a:solidFill>
              </a:rPr>
              <a:t>          Weight    and    the   sin    which  so</a:t>
            </a:r>
          </a:p>
          <a:p>
            <a:r>
              <a:rPr lang="en-US" sz="3700">
                <a:solidFill>
                  <a:srgbClr val="2FEBD2"/>
                </a:solidFill>
              </a:rPr>
              <a:t>          easily ensnares us, and let    us run</a:t>
            </a:r>
          </a:p>
          <a:p>
            <a:r>
              <a:rPr lang="en-US" sz="3700">
                <a:solidFill>
                  <a:srgbClr val="2FEBD2"/>
                </a:solidFill>
              </a:rPr>
              <a:t>          With endurance the race that is set</a:t>
            </a:r>
          </a:p>
          <a:p>
            <a:r>
              <a:rPr lang="en-US" sz="3700">
                <a:solidFill>
                  <a:srgbClr val="2FEBD2"/>
                </a:solidFill>
              </a:rPr>
              <a:t>           before  us,        LOOKING        OUTO</a:t>
            </a:r>
          </a:p>
          <a:p>
            <a:r>
              <a:rPr lang="en-US" sz="3700">
                <a:solidFill>
                  <a:srgbClr val="2FEBD2"/>
                </a:solidFill>
              </a:rPr>
              <a:t>           JESUS,  the author and  finisher of</a:t>
            </a:r>
          </a:p>
          <a:p>
            <a:r>
              <a:rPr lang="en-US" sz="3700">
                <a:solidFill>
                  <a:srgbClr val="2FEBD2"/>
                </a:solidFill>
              </a:rPr>
              <a:t>           Our faith,  who.  for   the   joy  that</a:t>
            </a:r>
          </a:p>
          <a:p>
            <a:r>
              <a:rPr lang="en-US" sz="3700">
                <a:solidFill>
                  <a:srgbClr val="2FEBD2"/>
                </a:solidFill>
              </a:rPr>
              <a:t>           was set  before HIM,    endured the</a:t>
            </a:r>
          </a:p>
          <a:p>
            <a:r>
              <a:rPr lang="en-US" sz="3700">
                <a:solidFill>
                  <a:srgbClr val="2FEBD2"/>
                </a:solidFill>
              </a:rPr>
              <a:t>            cross,   disposing   the   shame  and</a:t>
            </a:r>
          </a:p>
          <a:p>
            <a:r>
              <a:rPr lang="en-US" sz="3700">
                <a:solidFill>
                  <a:srgbClr val="2FEBD2"/>
                </a:solidFill>
              </a:rPr>
              <a:t>             has sat  down at the right hand of</a:t>
            </a:r>
          </a:p>
          <a:p>
            <a:r>
              <a:rPr lang="en-US" sz="3700">
                <a:solidFill>
                  <a:srgbClr val="2FEBD2"/>
                </a:solidFill>
              </a:rPr>
              <a:t>             the throne of GOD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FEBD2"/>
                </a:solidFill>
              </a:rPr>
              <a:t>                                           -Hebrew. 12:1-3.</a:t>
            </a:r>
          </a:p>
          <a:p>
            <a:r>
              <a:rPr lang="en-US" sz="5000"/>
              <a:t>  </a:t>
            </a:r>
          </a:p>
          <a:p>
            <a:r>
              <a:rPr lang="en-US" sz="5000"/>
              <a:t>  </a:t>
            </a:r>
          </a:p>
          <a:p>
            <a:r>
              <a:rPr lang="en-US" sz="3700">
                <a:solidFill>
                  <a:srgbClr val="2FEBD2"/>
                </a:solidFill>
              </a:rPr>
              <a:t>      Hosea 6:3a</a:t>
            </a:r>
          </a:p>
          <a:p>
            <a:r>
              <a:rPr lang="en-US" sz="3700">
                <a:solidFill>
                  <a:srgbClr val="2FEBD2"/>
                </a:solidFill>
              </a:rPr>
              <a:t>                     </a:t>
            </a:r>
            <a:r>
              <a:rPr lang="en-US" sz="3700">
                <a:solidFill>
                  <a:srgbClr val="3396FF"/>
                </a:solidFill>
              </a:rPr>
              <a:t>(</a:t>
            </a:r>
            <a:r>
              <a:rPr lang="en-US" sz="3700">
                <a:solidFill>
                  <a:srgbClr val="2FEBD2"/>
                </a:solidFill>
              </a:rPr>
              <a:t> Then we     shall know IF WE</a:t>
            </a:r>
          </a:p>
          <a:p>
            <a:r>
              <a:rPr lang="en-US" sz="3700">
                <a:solidFill>
                  <a:srgbClr val="2FEBD2"/>
                </a:solidFill>
              </a:rPr>
              <a:t>                        FOLLOW ON TO KNOW THE</a:t>
            </a:r>
          </a:p>
          <a:p>
            <a:r>
              <a:rPr lang="en-US" sz="3700">
                <a:solidFill>
                  <a:srgbClr val="2FEBD2"/>
                </a:solidFill>
              </a:rPr>
              <a:t>                           LORD</a:t>
            </a:r>
            <a:r>
              <a:rPr lang="en-US" sz="3700">
                <a:solidFill>
                  <a:srgbClr val="3396FF"/>
                </a:solidFill>
              </a:rPr>
              <a:t>)</a:t>
            </a:r>
          </a:p>
          <a:p>
            <a:r>
              <a:rPr lang="en-US" sz="5000"/>
              <a:t>  </a:t>
            </a:r>
          </a:p>
          <a:p>
            <a:r>
              <a:rPr lang="en-US" sz="5000"/>
              <a:t>  </a:t>
            </a:r>
          </a:p>
          <a:p>
            <a:r>
              <a:rPr lang="en-US" sz="3700">
                <a:solidFill>
                  <a:srgbClr val="3396FF"/>
                </a:solidFill>
              </a:rPr>
              <a:t>    JOHN:</a:t>
            </a:r>
            <a:r>
              <a:rPr lang="en-US" sz="3700">
                <a:solidFill>
                  <a:srgbClr val="3396FF"/>
                </a:solidFill>
              </a:rPr>
              <a:t>8:31</a:t>
            </a:r>
          </a:p>
          <a:p>
            <a:r>
              <a:rPr lang="en-US" sz="3700">
                <a:solidFill>
                  <a:srgbClr val="3396FF"/>
                </a:solidFill>
              </a:rPr>
              <a:t>                    </a:t>
            </a:r>
            <a:r>
              <a:rPr lang="en-US" sz="3700">
                <a:solidFill>
                  <a:srgbClr val="1447FF"/>
                </a:solidFill>
              </a:rPr>
              <a:t>(</a:t>
            </a:r>
            <a:r>
              <a:rPr lang="en-US" sz="3700">
                <a:solidFill>
                  <a:srgbClr val="3396FF"/>
                </a:solidFill>
              </a:rPr>
              <a:t>Then said Jesus to those Jews                            which believed on him, If ye                              continue in my word, then are                             ye my disciples indeed;</a:t>
            </a:r>
            <a:r>
              <a:rPr lang="en-US" sz="3700">
                <a:solidFill>
                  <a:srgbClr val="1447FF"/>
                </a:solidFill>
              </a:rPr>
              <a:t>)</a:t>
            </a:r>
          </a:p>
          <a:p>
            <a:r>
              <a:rPr lang="en-US" sz="3700">
                <a:solidFill>
                  <a:srgbClr val="1447FF"/>
                </a:solidFill>
              </a:rPr>
              <a:t>  </a:t>
            </a:r>
          </a:p>
          <a:p>
            <a:r>
              <a:rPr lang="en-US" sz="5000"/>
              <a:t>  </a:t>
            </a:r>
          </a:p>
          <a:p>
            <a:r>
              <a:rPr lang="en-US" sz="3700">
                <a:solidFill>
                  <a:srgbClr val="1447FF"/>
                </a:solidFill>
              </a:rPr>
              <a:t>     </a:t>
            </a:r>
            <a:r>
              <a:rPr lang="en-US" sz="3700">
                <a:solidFill>
                  <a:srgbClr val="9933FF"/>
                </a:solidFill>
              </a:rPr>
              <a:t>Hebrew 6:1(Williams)</a:t>
            </a:r>
          </a:p>
          <a:p>
            <a:r>
              <a:rPr lang="en-US" sz="3700">
                <a:solidFill>
                  <a:srgbClr val="9933FF"/>
                </a:solidFill>
              </a:rPr>
              <a:t>               </a:t>
            </a:r>
            <a:r>
              <a:rPr lang="en-US" sz="3700">
                <a:solidFill>
                  <a:srgbClr val="252525"/>
                </a:solidFill>
              </a:rPr>
              <a:t>(</a:t>
            </a:r>
            <a:r>
              <a:rPr lang="en-US" sz="3700">
                <a:solidFill>
                  <a:srgbClr val="9933FF"/>
                </a:solidFill>
              </a:rPr>
              <a:t>So then let us oncefor all quit the</a:t>
            </a:r>
          </a:p>
          <a:p>
            <a:r>
              <a:rPr lang="en-US" sz="3700">
                <a:solidFill>
                  <a:srgbClr val="9933FF"/>
                </a:solidFill>
              </a:rPr>
              <a:t>                elementary teaching about CHRIST</a:t>
            </a:r>
          </a:p>
          <a:p>
            <a:r>
              <a:rPr lang="en-US" sz="3700">
                <a:solidFill>
                  <a:srgbClr val="9933FF"/>
                </a:solidFill>
              </a:rPr>
              <a:t>                 and  CONTINUE    PROGRESSING</a:t>
            </a:r>
          </a:p>
          <a:p>
            <a:r>
              <a:rPr lang="en-US" sz="3700">
                <a:solidFill>
                  <a:srgbClr val="9933FF"/>
                </a:solidFill>
              </a:rPr>
              <a:t>                  TOWARD MATURITY</a:t>
            </a:r>
            <a:r>
              <a:rPr lang="en-US" sz="3700">
                <a:solidFill>
                  <a:srgbClr val="252525"/>
                </a:solidFill>
              </a:rPr>
              <a: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2844800"/>
            <a:ext cx="11887200" cy="14211300"/>
          </a:xfrm>
          <a:prstGeom prst="rect">
            <a:avLst/>
          </a:prstGeom>
        </p:spPr>
        <p:txBody>
          <a:bodyPr anchor="t" rtlCol="false"/>
          <a:lstStyle/>
          <a:p>
            <a:pPr algn="l"/>
            <a:r>
              <a:t/>
            </a:r>
            <a:endParaRPr lang="en-US" sz="1100"/>
          </a:p>
          <a:p>
            <a:r>
              <a:rPr lang="en-US" sz="3700">
                <a:solidFill>
                  <a:srgbClr val="9933FF"/>
                </a:solidFill>
              </a:rPr>
              <a:t>I must determine to grow in grace. I must follow after the LORD to know HIM the more. </a:t>
            </a:r>
          </a:p>
          <a:p>
            <a:r>
              <a:rPr lang="en-US" sz="3700">
                <a:solidFill>
                  <a:srgbClr val="9933FF"/>
                </a:solidFill>
              </a:rPr>
              <a:t>Determine that my today shall be better than  my yesterday in CHRIST. </a:t>
            </a:r>
          </a:p>
          <a:p>
            <a:r>
              <a:rPr lang="en-US" sz="3700">
                <a:solidFill>
                  <a:srgbClr val="9933FF"/>
                </a:solidFill>
              </a:rPr>
              <a:t>    </a:t>
            </a:r>
          </a:p>
          <a:p>
            <a:r>
              <a:rPr lang="en-US" sz="5000"/>
              <a:t>  </a:t>
            </a:r>
          </a:p>
          <a:p>
            <a:r>
              <a:rPr lang="en-US" sz="5000"/>
              <a:t>  </a:t>
            </a:r>
          </a:p>
          <a:p>
            <a:r>
              <a:rPr lang="en-US" sz="5000"/>
              <a:t>  </a:t>
            </a:r>
          </a:p>
          <a:p>
            <a:r>
              <a:rPr lang="en-US" sz="5000"/>
              <a:t>  </a:t>
            </a:r>
          </a:p>
          <a:p>
            <a:r>
              <a:rPr lang="en-US" sz="3700">
                <a:solidFill>
                  <a:srgbClr val="252525"/>
                </a:solidFill>
              </a:rPr>
              <a:t>  </a:t>
            </a:r>
          </a:p>
          <a:p>
            <a:r>
              <a:rPr lang="en-US" sz="3700">
                <a:solidFill>
                  <a:srgbClr val="2FEBD2"/>
                </a:solidFill>
              </a:rPr>
              <a:t>            </a:t>
            </a:r>
          </a:p>
        </p:txBody>
      </p:sp>
      <p:pic>
        <p:nvPicPr>
          <p:cNvPr name="Picture 46" id="46"/>
          <p:cNvPicPr>
            <a:picLocks noChangeAspect="true"/>
          </p:cNvPicPr>
          <p:nvPr/>
        </p:nvPicPr>
        <p:blipFill>
          <a:blip r:embed="rId46"/>
          <a:stretch>
            <a:fillRect/>
          </a:stretch>
        </p:blipFill>
        <p:spPr>
          <a:xfrm>
            <a:off x="5930900" y="0"/>
            <a:ext cx="11887200" cy="168021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