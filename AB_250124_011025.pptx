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 Type="http://schemas.openxmlformats.org/officeDocument/2006/relationships/slide" Target="slides/slide2.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 Type="http://schemas.openxmlformats.org/officeDocument/2006/relationships/slide" Target="slides/slide3.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hyperlink" TargetMode="External" Target="https://dn720001.ca.archive.org/0/items/google_privacy_policy_en_eu/google_privacy_policy_en_eu_hocr.html#:~:text=GOOGLE%20PRIVACY%20POLICY,related%20to%20our%20services."/></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02" Type="http://schemas.openxmlformats.org/officeDocument/2006/relationships/image" Target="../media/image102.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08" Type="http://schemas.openxmlformats.org/officeDocument/2006/relationships/image" Target="../media/image108.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114" Type="http://schemas.openxmlformats.org/officeDocument/2006/relationships/image" Target="../media/image114.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116" Type="http://schemas.openxmlformats.org/officeDocument/2006/relationships/image" Target="../media/image116.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120" Type="http://schemas.openxmlformats.org/officeDocument/2006/relationships/image" Target="../media/image120.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122" Type="http://schemas.openxmlformats.org/officeDocument/2006/relationships/image" Target="../media/image122.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124" Type="http://schemas.openxmlformats.org/officeDocument/2006/relationships/image" Target="../media/image124.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128" Type="http://schemas.openxmlformats.org/officeDocument/2006/relationships/image" Target="../media/image128.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132" Type="http://schemas.openxmlformats.org/officeDocument/2006/relationships/image" Target="../media/image132.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136" Type="http://schemas.openxmlformats.org/officeDocument/2006/relationships/image" Target="../media/image136.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138" Type="http://schemas.openxmlformats.org/officeDocument/2006/relationships/image" Target="../media/image138.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142" Type="http://schemas.openxmlformats.org/officeDocument/2006/relationships/image" Target="../media/image142.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144" Type="http://schemas.openxmlformats.org/officeDocument/2006/relationships/image" Target="../media/image144.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150" Type="http://schemas.openxmlformats.org/officeDocument/2006/relationships/image" Target="../media/image150.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152" Type="http://schemas.openxmlformats.org/officeDocument/2006/relationships/image" Target="../media/image152.pn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158" Type="http://schemas.openxmlformats.org/officeDocument/2006/relationships/image" Target="../media/image158.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160" Type="http://schemas.openxmlformats.org/officeDocument/2006/relationships/image" Target="../media/image160.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164" Type="http://schemas.openxmlformats.org/officeDocument/2006/relationships/image" Target="../media/image164.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166" Type="http://schemas.openxmlformats.org/officeDocument/2006/relationships/image" Target="../media/image166.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168" Type="http://schemas.openxmlformats.org/officeDocument/2006/relationships/image" Target="../media/image168.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GOOGLE PRIVACY POLICY</a:t>
            </a:r>
          </a:p>
          <a:p>
            <a:r>
              <a:rPr lang="en-US" sz="5000"/>
              <a:t>  </a:t>
            </a:r>
          </a:p>
          <a:p>
            <a:r>
              <a:rPr lang="en-US" sz="3700">
                <a:solidFill>
                  <a:srgbClr val="252525"/>
                </a:solidFill>
              </a:rPr>
              <a:t>When you use our services, you're trusting us with your information. We understand this is a big responsibility and work hard to protect your information and put you in control.</a:t>
            </a:r>
          </a:p>
          <a:p>
            <a:r>
              <a:rPr lang="en-US" sz="5000"/>
              <a:t>  </a:t>
            </a:r>
          </a:p>
          <a:p>
            <a:r>
              <a:rPr lang="en-US" sz="3700">
                <a:solidFill>
                  <a:srgbClr val="252525"/>
                </a:solidFill>
              </a:rPr>
              <a:t>This Privacy Policy is meant to help you understand what information we collect, why we collect it, and</a:t>
            </a:r>
          </a:p>
          <a:p>
            <a:r>
              <a:rPr lang="en-US" sz="5000"/>
              <a:t>  </a:t>
            </a:r>
          </a:p>
          <a:p>
            <a:r>
              <a:rPr lang="en-US" sz="3700">
                <a:solidFill>
                  <a:srgbClr val="252525"/>
                </a:solidFill>
              </a:rPr>
              <a:t>how you can update, manage, export, and delete your information.</a:t>
            </a:r>
          </a:p>
          <a:p>
            <a:r>
              <a:rPr lang="en-US" sz="5000"/>
              <a:t>  </a:t>
            </a:r>
          </a:p>
          <a:p>
            <a:r>
              <a:rPr lang="en-US" sz="3700">
                <a:solidFill>
                  <a:srgbClr val="252525"/>
                </a:solidFill>
              </a:rPr>
              <a:t>Effective May 25, 2018</a:t>
            </a:r>
          </a:p>
          <a:p>
            <a:r>
              <a:rPr lang="en-US" sz="5000"/>
              <a:t>  </a:t>
            </a:r>
          </a:p>
          <a:p>
            <a:r>
              <a:rPr lang="en-US" sz="3700">
                <a:solidFill>
                  <a:srgbClr val="252525"/>
                </a:solidFill>
              </a:rPr>
              <a:t>Archived versions</a:t>
            </a:r>
          </a:p>
        </p:txBody>
      </p:sp>
      <p:pic>
        <p:nvPicPr>
          <p:cNvPr name="Picture 4" id="4">
            <a:hlinkClick r:id="rId5"/>
          </p:cNvPr>
          <p:cNvPicPr>
            <a:picLocks noChangeAspect="true"/>
          </p:cNvPicPr>
          <p:nvPr/>
        </p:nvPicPr>
        <p:blipFill>
          <a:blip r:embed="rId4"/>
          <a:stretch>
            <a:fillRect/>
          </a:stretch>
        </p:blipFill>
        <p:spPr>
          <a:xfrm>
            <a:off x="6451600" y="317500"/>
            <a:ext cx="10820400" cy="17145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 build a range of services that help millions of people daily to explore and interact with the world in new</a:t>
            </a:r>
          </a:p>
          <a:p>
            <a:r>
              <a:rPr lang="en-US" sz="5000"/>
              <a:t>  </a:t>
            </a:r>
          </a:p>
          <a:p>
            <a:r>
              <a:rPr lang="en-US" sz="3700">
                <a:solidFill>
                  <a:srgbClr val="252525"/>
                </a:solidFill>
              </a:rPr>
              <a:t>ways. Our services include:</a:t>
            </a:r>
          </a:p>
          <a:p>
            <a:r>
              <a:rPr lang="en-US" sz="5000"/>
              <a:t>  </a:t>
            </a:r>
          </a:p>
          <a:p>
            <a:r>
              <a:rPr lang="en-US" sz="3700">
                <a:solidFill>
                  <a:srgbClr val="252525"/>
                </a:solidFill>
              </a:rPr>
              <a:t>° Google apps, sites, and devices, like Search, YouTube, and Google Home ° Platforms like the Chrome browser and Android operating system</a:t>
            </a:r>
          </a:p>
          <a:p>
            <a:r>
              <a:rPr lang="en-US" sz="5000"/>
              <a:t>  </a:t>
            </a:r>
          </a:p>
          <a:p>
            <a:r>
              <a:rPr lang="en-US" sz="3700">
                <a:solidFill>
                  <a:srgbClr val="252525"/>
                </a:solidFill>
              </a:rPr>
              <a:t>° Products that are integrated into third-party apps and sites, like ads and embedded Google Maps</a:t>
            </a:r>
          </a:p>
          <a:p>
            <a:r>
              <a:rPr lang="en-US" sz="5000"/>
              <a:t>  </a:t>
            </a:r>
          </a:p>
          <a:p>
            <a:r>
              <a:rPr lang="en-US" sz="3700">
                <a:solidFill>
                  <a:srgbClr val="252525"/>
                </a:solidFill>
              </a:rPr>
              <a:t>You can use our services in a variety of ways to manage your privacy. For example, you can sign up for a Google Account if you want to create and manage content like emails and photos, or see more relevant search results. And you can use many Google services when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you're signed out or without creating an account at all, like searching on Google or watching YouTube videos. You can also choose to browse the web privately using Chrome in Incognito mode. And across our services, you can adjust your privacy</a:t>
            </a:r>
          </a:p>
          <a:p>
            <a:r>
              <a:rPr lang="en-US" sz="5000"/>
              <a:t>  </a:t>
            </a:r>
          </a:p>
          <a:p>
            <a:r>
              <a:rPr lang="en-US" sz="3700">
                <a:solidFill>
                  <a:srgbClr val="252525"/>
                </a:solidFill>
              </a:rPr>
              <a:t>settings to control what we collect and how your information is used.</a:t>
            </a:r>
          </a:p>
          <a:p>
            <a:r>
              <a:rPr lang="en-US" sz="5000"/>
              <a:t>  </a:t>
            </a:r>
          </a:p>
          <a:p>
            <a:r>
              <a:rPr lang="en-US" sz="3700">
                <a:solidFill>
                  <a:srgbClr val="252525"/>
                </a:solidFill>
              </a:rPr>
              <a:t>To help explain things as clearly as possible, we've added examples, explanatory videos, and definitions</a:t>
            </a:r>
          </a:p>
          <a:p>
            <a:r>
              <a:rPr lang="en-US" sz="5000"/>
              <a:t>  </a:t>
            </a:r>
          </a:p>
          <a:p>
            <a:r>
              <a:rPr lang="en-US" sz="3700">
                <a:solidFill>
                  <a:srgbClr val="252525"/>
                </a:solidFill>
              </a:rPr>
              <a:t>for key terms. And if you have any questions about this Privacy Policy, you can contact us.</a:t>
            </a:r>
          </a:p>
          <a:p>
            <a:r>
              <a:rPr lang="en-US" sz="5000"/>
              <a:t>  </a:t>
            </a:r>
          </a:p>
          <a:p>
            <a:r>
              <a:rPr lang="en-US" sz="3700">
                <a:solidFill>
                  <a:srgbClr val="252525"/>
                </a:solidFill>
              </a:rPr>
              <a:t>INFORMATION GOOGLE COLLECTS</a:t>
            </a:r>
          </a:p>
          <a:p>
            <a:r>
              <a:rPr lang="en-US" sz="5000"/>
              <a:t>  </a:t>
            </a:r>
          </a:p>
          <a:p>
            <a:r>
              <a:rPr lang="en-US" sz="3700">
                <a:solidFill>
                  <a:srgbClr val="252525"/>
                </a:solidFill>
              </a:rPr>
              <a:t>We want you to understand the types of information we collect as you use our services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We collect information to provide better services to all our users — from figuring out basic stuff like which language you speak, to more complex things like which ads you'll find most useful, the people who matter most to you online, or which YouTube videos you might like. The information Google collects, and how that information is used, depends on how you use our services and how you manage your privacy controls.</a:t>
            </a:r>
          </a:p>
          <a:p>
            <a:r>
              <a:rPr lang="en-US" sz="5000"/>
              <a:t>  </a:t>
            </a:r>
          </a:p>
          <a:p>
            <a:r>
              <a:rPr lang="en-US" sz="3700">
                <a:solidFill>
                  <a:srgbClr val="252525"/>
                </a:solidFill>
              </a:rPr>
              <a:t>When you're not signed in to a Google Account, we store the information we collect with unique identifiers tied to the browser, application, or device you’re using. This helps us do things like maintain your language</a:t>
            </a:r>
          </a:p>
          <a:p>
            <a:r>
              <a:rPr lang="en-US" sz="5000"/>
              <a:t>  </a:t>
            </a:r>
          </a:p>
          <a:p>
            <a:r>
              <a:rPr lang="en-US" sz="3700">
                <a:solidFill>
                  <a:srgbClr val="252525"/>
                </a:solidFill>
              </a:rPr>
              <a:t>preferences across browsing sessions.</a:t>
            </a:r>
          </a:p>
          <a:p>
            <a:r>
              <a:rPr lang="en-US" sz="5000"/>
              <a:t>  </a:t>
            </a:r>
          </a:p>
          <a:p>
            <a:r>
              <a:rPr lang="en-US" sz="3700">
                <a:solidFill>
                  <a:srgbClr val="252525"/>
                </a:solidFill>
              </a:rPr>
              <a:t>When you're signed in, we also collect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that we store with your Google Account, which we treat</a:t>
            </a:r>
          </a:p>
          <a:p>
            <a:r>
              <a:rPr lang="en-US" sz="5000"/>
              <a:t>  </a:t>
            </a:r>
          </a:p>
          <a:p>
            <a:r>
              <a:rPr lang="en-US" sz="3700">
                <a:solidFill>
                  <a:srgbClr val="252525"/>
                </a:solidFill>
              </a:rPr>
              <a:t>as personal information.</a:t>
            </a:r>
          </a:p>
          <a:p>
            <a:r>
              <a:rPr lang="en-US" sz="5000"/>
              <a:t>  </a:t>
            </a:r>
          </a:p>
          <a:p>
            <a:r>
              <a:rPr lang="en-US" sz="3700">
                <a:solidFill>
                  <a:srgbClr val="252525"/>
                </a:solidFill>
              </a:rPr>
              <a:t>Things you create or provide to us</a:t>
            </a:r>
          </a:p>
          <a:p>
            <a:r>
              <a:rPr lang="en-US" sz="5000"/>
              <a:t>  </a:t>
            </a:r>
          </a:p>
          <a:p>
            <a:r>
              <a:rPr lang="en-US" sz="3700">
                <a:solidFill>
                  <a:srgbClr val="252525"/>
                </a:solidFill>
              </a:rPr>
              <a:t>When you create a Google Account, you provide us with personal information that includes your name and a password. You can also choose to add a phone number or payment information to your account. Even if you aren't signed in to a Google Account, you might choose to provide us with information — like</a:t>
            </a:r>
          </a:p>
          <a:p>
            <a:r>
              <a:rPr lang="en-US" sz="5000"/>
              <a:t>  </a:t>
            </a:r>
          </a:p>
          <a:p>
            <a:r>
              <a:rPr lang="en-US" sz="3700">
                <a:solidFill>
                  <a:srgbClr val="252525"/>
                </a:solidFill>
              </a:rPr>
              <a:t>an email address to receive updates about our services.</a:t>
            </a:r>
          </a:p>
          <a:p>
            <a:r>
              <a:rPr lang="en-US" sz="5000"/>
              <a:t>  </a:t>
            </a:r>
          </a:p>
          <a:p>
            <a:r>
              <a:rPr lang="en-US" sz="3700">
                <a:solidFill>
                  <a:srgbClr val="252525"/>
                </a:solidFill>
              </a:rPr>
              <a:t>We also collect the content you create, upload, or receive from others when using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our services. This includes things like email you write and receive, photos and videos you save, docs and spreadsheets you</a:t>
            </a:r>
          </a:p>
          <a:p>
            <a:r>
              <a:rPr lang="en-US" sz="5000"/>
              <a:t>  </a:t>
            </a:r>
          </a:p>
          <a:p>
            <a:r>
              <a:rPr lang="en-US" sz="3700">
                <a:solidFill>
                  <a:srgbClr val="252525"/>
                </a:solidFill>
              </a:rPr>
              <a:t>create, and comments you make on YouTube videos.</a:t>
            </a:r>
          </a:p>
          <a:p>
            <a:r>
              <a:rPr lang="en-US" sz="5000"/>
              <a:t>  </a:t>
            </a:r>
          </a:p>
          <a:p>
            <a:r>
              <a:rPr lang="en-US" sz="3700">
                <a:solidFill>
                  <a:srgbClr val="252525"/>
                </a:solidFill>
              </a:rPr>
              <a:t>Information we collect as you use our services</a:t>
            </a:r>
          </a:p>
          <a:p>
            <a:r>
              <a:rPr lang="en-US" sz="5000"/>
              <a:t>  </a:t>
            </a:r>
          </a:p>
          <a:p>
            <a:r>
              <a:rPr lang="en-US" sz="3700">
                <a:solidFill>
                  <a:srgbClr val="252525"/>
                </a:solidFill>
              </a:rPr>
              <a:t>Your apps, browsers &amp; devices</a:t>
            </a:r>
          </a:p>
          <a:p>
            <a:r>
              <a:rPr lang="en-US" sz="5000"/>
              <a:t>  </a:t>
            </a:r>
          </a:p>
          <a:p>
            <a:r>
              <a:rPr lang="en-US" sz="3700">
                <a:solidFill>
                  <a:srgbClr val="252525"/>
                </a:solidFill>
              </a:rPr>
              <a:t>We collect information about the apps, browsers, and devices you use to access Google services, which helps us provide features like automatic product updates and dimming your screen if your battery runs</a:t>
            </a:r>
          </a:p>
          <a:p>
            <a:r>
              <a:rPr lang="en-US" sz="5000"/>
              <a:t>  </a:t>
            </a:r>
          </a:p>
          <a:p>
            <a:r>
              <a:rPr lang="en-US" sz="3700">
                <a:solidFill>
                  <a:srgbClr val="252525"/>
                </a:solidFill>
              </a:rPr>
              <a:t>low.</a:t>
            </a:r>
          </a:p>
          <a:p>
            <a:r>
              <a:rPr lang="en-US" sz="5000"/>
              <a:t>  </a:t>
            </a:r>
          </a:p>
          <a:p>
            <a:r>
              <a:rPr lang="en-US" sz="3700">
                <a:solidFill>
                  <a:srgbClr val="252525"/>
                </a:solidFill>
              </a:rPr>
              <a:t>The information we collect includes unique identifiers, browser type and settings,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device type and settings, operating system, mobile network information including carrier name and phone number, and application version number. We also collect information about the interaction of your apps, browsers, and devices with our services, including IP address, crash reports, system activity, and the date, time, and referrer URL of your request.</a:t>
            </a:r>
          </a:p>
          <a:p>
            <a:r>
              <a:rPr lang="en-US" sz="5000"/>
              <a:t>  </a:t>
            </a:r>
          </a:p>
          <a:p>
            <a:r>
              <a:rPr lang="en-US" sz="3700">
                <a:solidFill>
                  <a:srgbClr val="252525"/>
                </a:solidFill>
              </a:rPr>
              <a:t>We collect this information when a Google service on your device contacts our servers — for example, when you install an app from the Play Store or when a service checks for automatic updates. If you're using an Android device with Google apps, your device periodically contacts Google servers to provide information about your device and connection to our services. This information includes things like your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device type, carrier name, crash reports, and which apps you've installed.</a:t>
            </a:r>
          </a:p>
          <a:p>
            <a:r>
              <a:rPr lang="en-US" sz="5000"/>
              <a:t>  </a:t>
            </a:r>
          </a:p>
          <a:p>
            <a:r>
              <a:rPr lang="en-US" sz="3700">
                <a:solidFill>
                  <a:srgbClr val="252525"/>
                </a:solidFill>
              </a:rPr>
              <a:t>Your activity</a:t>
            </a:r>
          </a:p>
          <a:p>
            <a:r>
              <a:rPr lang="en-US" sz="5000"/>
              <a:t>  </a:t>
            </a:r>
          </a:p>
          <a:p>
            <a:r>
              <a:rPr lang="en-US" sz="3700">
                <a:solidFill>
                  <a:srgbClr val="252525"/>
                </a:solidFill>
              </a:rPr>
              <a:t>We collect information about your activity in our services, which we use to do things like recommend a</a:t>
            </a:r>
          </a:p>
          <a:p>
            <a:r>
              <a:rPr lang="en-US" sz="5000"/>
              <a:t>  </a:t>
            </a:r>
          </a:p>
          <a:p>
            <a:r>
              <a:rPr lang="en-US" sz="3700">
                <a:solidFill>
                  <a:srgbClr val="252525"/>
                </a:solidFill>
              </a:rPr>
              <a:t>YouTube video you might like. The activity information we collect may include:</a:t>
            </a:r>
          </a:p>
          <a:p>
            <a:r>
              <a:rPr lang="en-US" sz="5000"/>
              <a:t>  </a:t>
            </a:r>
          </a:p>
          <a:p>
            <a:r>
              <a:rPr lang="en-US" sz="3700">
                <a:solidFill>
                  <a:srgbClr val="252525"/>
                </a:solidFill>
              </a:rPr>
              <a:t>° Terms you search for</a:t>
            </a:r>
          </a:p>
          <a:p>
            <a:r>
              <a:rPr lang="en-US" sz="5000"/>
              <a:t>  </a:t>
            </a:r>
          </a:p>
          <a:p>
            <a:r>
              <a:rPr lang="en-US" sz="3700">
                <a:solidFill>
                  <a:srgbClr val="252525"/>
                </a:solidFill>
              </a:rPr>
              <a:t>° Videos you watch</a:t>
            </a:r>
          </a:p>
          <a:p>
            <a:r>
              <a:rPr lang="en-US" sz="5000"/>
              <a:t>  </a:t>
            </a:r>
          </a:p>
          <a:p>
            <a:r>
              <a:rPr lang="en-US" sz="3700">
                <a:solidFill>
                  <a:srgbClr val="252525"/>
                </a:solidFill>
              </a:rPr>
              <a:t>° Views and interactions with content and ads</a:t>
            </a:r>
          </a:p>
          <a:p>
            <a:r>
              <a:rPr lang="en-US" sz="5000"/>
              <a:t>  </a:t>
            </a:r>
          </a:p>
          <a:p>
            <a:r>
              <a:rPr lang="en-US" sz="3700">
                <a:solidFill>
                  <a:srgbClr val="252525"/>
                </a:solidFill>
              </a:rPr>
              <a:t>° Voice and audio information when you use audio features ° Purchase activity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People with whom you communicate or share content</a:t>
            </a:r>
          </a:p>
          <a:p>
            <a:r>
              <a:rPr lang="en-US" sz="5000"/>
              <a:t>  </a:t>
            </a:r>
          </a:p>
          <a:p>
            <a:r>
              <a:rPr lang="en-US" sz="3700">
                <a:solidFill>
                  <a:srgbClr val="252525"/>
                </a:solidFill>
              </a:rPr>
              <a:t>° Activity on third-party sites and apps that use our services ° Chrome browsing history you've synced with your Google Account If you use our services to make and receive calls or send and receive messages, we may collect telephony</a:t>
            </a:r>
          </a:p>
          <a:p>
            <a:r>
              <a:rPr lang="en-US" sz="5000"/>
              <a:t>  </a:t>
            </a:r>
          </a:p>
          <a:p>
            <a:r>
              <a:rPr lang="en-US" sz="3700">
                <a:solidFill>
                  <a:srgbClr val="252525"/>
                </a:solidFill>
              </a:rPr>
              <a:t>log information like your phone number, calling-party number, receiving-party number, forwarding</a:t>
            </a:r>
          </a:p>
          <a:p>
            <a:r>
              <a:rPr lang="en-US" sz="5000"/>
              <a:t>  </a:t>
            </a:r>
          </a:p>
          <a:p>
            <a:r>
              <a:rPr lang="en-US" sz="3700">
                <a:solidFill>
                  <a:srgbClr val="252525"/>
                </a:solidFill>
              </a:rPr>
              <a:t>numbers, time and date of calls and messages, duration of calls, routing information, and types of calls.</a:t>
            </a:r>
          </a:p>
          <a:p>
            <a:r>
              <a:rPr lang="en-US" sz="5000"/>
              <a:t>  </a:t>
            </a:r>
          </a:p>
          <a:p>
            <a:r>
              <a:rPr lang="en-US" sz="3700">
                <a:solidFill>
                  <a:srgbClr val="252525"/>
                </a:solidFill>
              </a:rPr>
              <a:t>You can visit your Google Account to find and manage activity information that’s saved in your account.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a Go to Google Account</a:t>
            </a:r>
          </a:p>
          <a:p>
            <a:r>
              <a:rPr lang="en-US" sz="5000"/>
              <a:t>  </a:t>
            </a:r>
          </a:p>
          <a:p>
            <a:r>
              <a:rPr lang="en-US" sz="3700">
                <a:solidFill>
                  <a:srgbClr val="252525"/>
                </a:solidFill>
              </a:rPr>
              <a:t>Your location information</a:t>
            </a:r>
          </a:p>
          <a:p>
            <a:r>
              <a:rPr lang="en-US" sz="5000"/>
              <a:t>  </a:t>
            </a:r>
          </a:p>
          <a:p>
            <a:r>
              <a:rPr lang="en-US" sz="3700">
                <a:solidFill>
                  <a:srgbClr val="252525"/>
                </a:solidFill>
              </a:rPr>
              <a:t>We collect information about your location when you use our services, which helps us offer features like</a:t>
            </a:r>
          </a:p>
          <a:p>
            <a:r>
              <a:rPr lang="en-US" sz="5000"/>
              <a:t>  </a:t>
            </a:r>
          </a:p>
          <a:p>
            <a:r>
              <a:rPr lang="en-US" sz="3700">
                <a:solidFill>
                  <a:srgbClr val="252525"/>
                </a:solidFill>
              </a:rPr>
              <a:t>driving directions for your weekend getaway or showtimes for movies playing near you. Your location can be determined with varying degrees of accuracy by:</a:t>
            </a:r>
          </a:p>
          <a:p>
            <a:r>
              <a:rPr lang="en-US" sz="5000"/>
              <a:t>  </a:t>
            </a:r>
          </a:p>
          <a:p>
            <a:r>
              <a:rPr lang="en-US" sz="3700">
                <a:solidFill>
                  <a:srgbClr val="252525"/>
                </a:solidFill>
              </a:rPr>
              <a:t>° GPS ° IP address ° Sensor data from your device</a:t>
            </a:r>
          </a:p>
          <a:p>
            <a:r>
              <a:rPr lang="en-US" sz="5000"/>
              <a:t>  </a:t>
            </a:r>
          </a:p>
          <a:p>
            <a:r>
              <a:rPr lang="en-US" sz="3700">
                <a:solidFill>
                  <a:srgbClr val="252525"/>
                </a:solidFill>
              </a:rPr>
              <a:t>° Information about things near your device, such as Wi-Fi access points, cell towers, and Bluetooth-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enabled devices</a:t>
            </a:r>
          </a:p>
          <a:p>
            <a:r>
              <a:rPr lang="en-US" sz="5000"/>
              <a:t>  </a:t>
            </a:r>
          </a:p>
          <a:p>
            <a:r>
              <a:rPr lang="en-US" sz="3700">
                <a:solidFill>
                  <a:srgbClr val="252525"/>
                </a:solidFill>
              </a:rPr>
              <a:t>The types of location data we collect depend in part on your device and account settings. For example, you can turn your Android device's location on or off using the device's settings app. You can also turn on</a:t>
            </a:r>
          </a:p>
          <a:p>
            <a:r>
              <a:rPr lang="en-US" sz="5000"/>
              <a:t>  </a:t>
            </a:r>
          </a:p>
          <a:p>
            <a:r>
              <a:rPr lang="en-US" sz="3700">
                <a:solidFill>
                  <a:srgbClr val="252525"/>
                </a:solidFill>
              </a:rPr>
              <a:t>Location History if you want to save and manage your location information in your account.</a:t>
            </a:r>
          </a:p>
          <a:p>
            <a:r>
              <a:rPr lang="en-US" sz="5000"/>
              <a:t>  </a:t>
            </a:r>
          </a:p>
          <a:p>
            <a:r>
              <a:rPr lang="en-US" sz="3700">
                <a:solidFill>
                  <a:srgbClr val="252525"/>
                </a:solidFill>
              </a:rPr>
              <a:t>In some circumstances, Google also collects information about you from publicly accessible sources. For example, if your name appears in your local newspaper, Google's Search engine may index that article and display it to other people if they search for your name. We may also collect information about you from trusted partners, including marketing partners who provide us with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about potential customers of our business services, and security partners who provide us with information to protect against abuse. We also receive information from advertisers to provide advertising and research services on their behalf.</a:t>
            </a:r>
          </a:p>
          <a:p>
            <a:r>
              <a:rPr lang="en-US" sz="5000"/>
              <a:t>  </a:t>
            </a:r>
          </a:p>
          <a:p>
            <a:r>
              <a:rPr lang="en-US" sz="3700">
                <a:solidFill>
                  <a:srgbClr val="252525"/>
                </a:solidFill>
              </a:rPr>
              <a:t>We use various technologies to collect and store information, including cookies, pixel tags, local storage,</a:t>
            </a:r>
          </a:p>
          <a:p>
            <a:r>
              <a:rPr lang="en-US" sz="5000"/>
              <a:t>  </a:t>
            </a:r>
          </a:p>
          <a:p>
            <a:r>
              <a:rPr lang="en-US" sz="3700">
                <a:solidFill>
                  <a:srgbClr val="252525"/>
                </a:solidFill>
              </a:rPr>
              <a:t>such as browser web storage or application data caches, databases, and server logs.</a:t>
            </a:r>
          </a:p>
          <a:p>
            <a:r>
              <a:rPr lang="en-US" sz="5000"/>
              <a:t>  </a:t>
            </a:r>
          </a:p>
          <a:p>
            <a:r>
              <a:rPr lang="en-US" sz="3700">
                <a:solidFill>
                  <a:srgbClr val="252525"/>
                </a:solidFill>
              </a:rPr>
              <a:t>WHY GOOGLE COLLECTS DATA</a:t>
            </a:r>
          </a:p>
          <a:p>
            <a:r>
              <a:rPr lang="en-US" sz="5000"/>
              <a:t>  </a:t>
            </a:r>
          </a:p>
          <a:p>
            <a:r>
              <a:rPr lang="en-US" sz="3700">
                <a:solidFill>
                  <a:srgbClr val="252525"/>
                </a:solidFill>
              </a:rPr>
              <a:t>We use data to build better services</a:t>
            </a:r>
          </a:p>
          <a:p>
            <a:r>
              <a:rPr lang="en-US" sz="5000"/>
              <a:t>  </a:t>
            </a:r>
          </a:p>
          <a:p>
            <a:r>
              <a:rPr lang="en-US" sz="3700">
                <a:solidFill>
                  <a:srgbClr val="252525"/>
                </a:solidFill>
              </a:rPr>
              <a:t>We use the information we collect from all our services for the following purposes: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Provide our services</a:t>
            </a:r>
          </a:p>
          <a:p>
            <a:r>
              <a:rPr lang="en-US" sz="5000"/>
              <a:t>  </a:t>
            </a:r>
          </a:p>
          <a:p>
            <a:r>
              <a:rPr lang="en-US" sz="3700">
                <a:solidFill>
                  <a:srgbClr val="252525"/>
                </a:solidFill>
              </a:rPr>
              <a:t>We use your information to deliver our services, like processing the terms you search for in order to return</a:t>
            </a:r>
          </a:p>
          <a:p>
            <a:r>
              <a:rPr lang="en-US" sz="5000"/>
              <a:t>  </a:t>
            </a:r>
          </a:p>
          <a:p>
            <a:r>
              <a:rPr lang="en-US" sz="3700">
                <a:solidFill>
                  <a:srgbClr val="252525"/>
                </a:solidFill>
              </a:rPr>
              <a:t>results or helping you share content by suggesting recipients from your contacts.</a:t>
            </a:r>
          </a:p>
          <a:p>
            <a:r>
              <a:rPr lang="en-US" sz="5000"/>
              <a:t>  </a:t>
            </a:r>
          </a:p>
          <a:p>
            <a:r>
              <a:rPr lang="en-US" sz="3700">
                <a:solidFill>
                  <a:srgbClr val="252525"/>
                </a:solidFill>
              </a:rPr>
              <a:t>Maintain &amp; improve our services</a:t>
            </a:r>
          </a:p>
          <a:p>
            <a:r>
              <a:rPr lang="en-US" sz="5000"/>
              <a:t>  </a:t>
            </a:r>
          </a:p>
          <a:p>
            <a:r>
              <a:rPr lang="en-US" sz="3700">
                <a:solidFill>
                  <a:srgbClr val="252525"/>
                </a:solidFill>
              </a:rPr>
              <a:t>We also use your information to ensure our services are working as intended, such as tracking outages or troubleshooting issues that you report to us. And we use your information to make improvements to our</a:t>
            </a:r>
          </a:p>
          <a:p>
            <a:r>
              <a:rPr lang="en-US" sz="5000"/>
              <a:t>  </a:t>
            </a:r>
          </a:p>
          <a:p>
            <a:r>
              <a:rPr lang="en-US" sz="3700">
                <a:solidFill>
                  <a:srgbClr val="252525"/>
                </a:solidFill>
              </a:rPr>
              <a:t>services — for example, understanding which search terms are most frequently misspelled helps us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improve spell-check features used across our services.</a:t>
            </a:r>
          </a:p>
          <a:p>
            <a:r>
              <a:rPr lang="en-US" sz="5000"/>
              <a:t>  </a:t>
            </a:r>
          </a:p>
          <a:p>
            <a:r>
              <a:rPr lang="en-US" sz="3700">
                <a:solidFill>
                  <a:srgbClr val="252525"/>
                </a:solidFill>
              </a:rPr>
              <a:t>Develop new services</a:t>
            </a:r>
          </a:p>
          <a:p>
            <a:r>
              <a:rPr lang="en-US" sz="5000"/>
              <a:t>  </a:t>
            </a:r>
          </a:p>
          <a:p>
            <a:r>
              <a:rPr lang="en-US" sz="3700">
                <a:solidFill>
                  <a:srgbClr val="252525"/>
                </a:solidFill>
              </a:rPr>
              <a:t>We use the information we collect in existing services to help us develop new ones. For example, understanding how people organized their photos in Picasa, Google's first photos app, helped us design</a:t>
            </a:r>
          </a:p>
          <a:p>
            <a:r>
              <a:rPr lang="en-US" sz="5000"/>
              <a:t>  </a:t>
            </a:r>
          </a:p>
          <a:p>
            <a:r>
              <a:rPr lang="en-US" sz="3700">
                <a:solidFill>
                  <a:srgbClr val="252525"/>
                </a:solidFill>
              </a:rPr>
              <a:t>and launch Google Photos.</a:t>
            </a:r>
          </a:p>
          <a:p>
            <a:r>
              <a:rPr lang="en-US" sz="5000"/>
              <a:t>  </a:t>
            </a:r>
          </a:p>
          <a:p>
            <a:r>
              <a:rPr lang="en-US" sz="3700">
                <a:solidFill>
                  <a:srgbClr val="252525"/>
                </a:solidFill>
              </a:rPr>
              <a:t>Provide personalized services, including content and ads</a:t>
            </a:r>
          </a:p>
          <a:p>
            <a:r>
              <a:rPr lang="en-US" sz="5000"/>
              <a:t>  </a:t>
            </a:r>
          </a:p>
          <a:p>
            <a:r>
              <a:rPr lang="en-US" sz="3700">
                <a:solidFill>
                  <a:srgbClr val="252525"/>
                </a:solidFill>
              </a:rPr>
              <a:t>We use the information we collect to customize our services for you, including providing recommendations, personalized content, and customized search results. For example, Security Checkup provides security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tips adapted to how you use Google products. And Google Play uses information like</a:t>
            </a:r>
          </a:p>
          <a:p>
            <a:r>
              <a:rPr lang="en-US" sz="5000"/>
              <a:t>  </a:t>
            </a:r>
          </a:p>
          <a:p>
            <a:r>
              <a:rPr lang="en-US" sz="3700">
                <a:solidFill>
                  <a:srgbClr val="252525"/>
                </a:solidFill>
              </a:rPr>
              <a:t>apps you've already installed and videos you've watched on YouTube to suggest new apps you might like.</a:t>
            </a:r>
          </a:p>
          <a:p>
            <a:r>
              <a:rPr lang="en-US" sz="5000"/>
              <a:t>  </a:t>
            </a:r>
          </a:p>
          <a:p>
            <a:r>
              <a:rPr lang="en-US" sz="3700">
                <a:solidFill>
                  <a:srgbClr val="252525"/>
                </a:solidFill>
              </a:rPr>
              <a:t>Depending on your settings, we may also show you personalized ads based on your interests. For example, if you search for “mountain bikes,” you may see an ad for sports equipment when you're browsing a site that shows ads served by Google. You can control what information we use to show you</a:t>
            </a:r>
          </a:p>
          <a:p>
            <a:r>
              <a:rPr lang="en-US" sz="5000"/>
              <a:t>  </a:t>
            </a:r>
          </a:p>
          <a:p>
            <a:r>
              <a:rPr lang="en-US" sz="3700">
                <a:solidFill>
                  <a:srgbClr val="252525"/>
                </a:solidFill>
              </a:rPr>
              <a:t>ads by visiting your ad settings.</a:t>
            </a:r>
          </a:p>
          <a:p>
            <a:r>
              <a:rPr lang="en-US" sz="5000"/>
              <a:t>  </a:t>
            </a:r>
          </a:p>
          <a:p>
            <a:r>
              <a:rPr lang="en-US" sz="3700">
                <a:solidFill>
                  <a:srgbClr val="252525"/>
                </a:solidFill>
              </a:rPr>
              <a:t>° We don’t show you personalized ads based on sensitive categories, such as race, religion, sexual orientation, or health.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We don’t share information that personally identifies you with advertisers, such as your name or email, unless you ask us to. For example, if you see an ad for a nearby flower shop and select the</a:t>
            </a:r>
          </a:p>
          <a:p>
            <a:r>
              <a:rPr lang="en-US" sz="5000"/>
              <a:t>  </a:t>
            </a:r>
          </a:p>
          <a:p>
            <a:r>
              <a:rPr lang="en-US" sz="3700">
                <a:solidFill>
                  <a:srgbClr val="252525"/>
                </a:solidFill>
              </a:rPr>
              <a:t>“tap to call” button, well connect your call and may share your phone number with the flower shop.</a:t>
            </a:r>
          </a:p>
          <a:p>
            <a:r>
              <a:rPr lang="en-US" sz="5000"/>
              <a:t>  </a:t>
            </a:r>
          </a:p>
          <a:p>
            <a:r>
              <a:rPr lang="en-US" sz="3700">
                <a:solidFill>
                  <a:srgbClr val="252525"/>
                </a:solidFill>
              </a:rPr>
              <a:t>&gt;l Go to Ad Settings</a:t>
            </a:r>
          </a:p>
          <a:p>
            <a:r>
              <a:rPr lang="en-US" sz="5000"/>
              <a:t>  </a:t>
            </a:r>
          </a:p>
          <a:p>
            <a:r>
              <a:rPr lang="en-US" sz="3700">
                <a:solidFill>
                  <a:srgbClr val="252525"/>
                </a:solidFill>
              </a:rPr>
              <a:t>Measure performance</a:t>
            </a:r>
          </a:p>
          <a:p>
            <a:r>
              <a:rPr lang="en-US" sz="5000"/>
              <a:t>  </a:t>
            </a:r>
          </a:p>
          <a:p>
            <a:r>
              <a:rPr lang="en-US" sz="3700">
                <a:solidFill>
                  <a:srgbClr val="252525"/>
                </a:solidFill>
              </a:rPr>
              <a:t>We use data for analytics and measurement to understand how our services are used. For example, we analyze data about your visits to our sites to do things like optimize product design. And we also use data about the ads you interact with to help advertisers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understand the performance of their ad campaigns. We use a variety of tools to do this, including Google Analytics. When you visit sites that use Google Analytics, Google and a Google Analytics customer may link information about your activity from that site with activity from other sites that use our ad services.</a:t>
            </a:r>
          </a:p>
          <a:p>
            <a:r>
              <a:rPr lang="en-US" sz="5000"/>
              <a:t>  </a:t>
            </a:r>
          </a:p>
          <a:p>
            <a:r>
              <a:rPr lang="en-US" sz="3700">
                <a:solidFill>
                  <a:srgbClr val="252525"/>
                </a:solidFill>
              </a:rPr>
              <a:t>Communicate with you</a:t>
            </a:r>
          </a:p>
          <a:p>
            <a:r>
              <a:rPr lang="en-US" sz="5000"/>
              <a:t>  </a:t>
            </a:r>
          </a:p>
          <a:p>
            <a:r>
              <a:rPr lang="en-US" sz="3700">
                <a:solidFill>
                  <a:srgbClr val="252525"/>
                </a:solidFill>
              </a:rPr>
              <a:t>We use information we collect, like your email address, to interact with you directly. For example, we may send you a notification if we detect suspicious activity, like an attempt to sign in to your Google Account from an unusual location. Or we may let you know about upcoming changes or improvements to our services. And if you contact Google, we'll keep a record of your request in order to help solve any issues you might be facing.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Protect Google, our users, and the public</a:t>
            </a:r>
          </a:p>
          <a:p>
            <a:r>
              <a:rPr lang="en-US" sz="5000"/>
              <a:t>  </a:t>
            </a:r>
          </a:p>
          <a:p>
            <a:r>
              <a:rPr lang="en-US" sz="3700">
                <a:solidFill>
                  <a:srgbClr val="252525"/>
                </a:solidFill>
              </a:rPr>
              <a:t>We use information to help improve the safety and reliability of our services. This includes detecting, preventing, and responding to fraud, abuse, security risks, and technical issues that could harm Google, our users, or the public.</a:t>
            </a:r>
          </a:p>
          <a:p>
            <a:r>
              <a:rPr lang="en-US" sz="5000"/>
              <a:t>  </a:t>
            </a:r>
          </a:p>
          <a:p>
            <a:r>
              <a:rPr lang="en-US" sz="3700">
                <a:solidFill>
                  <a:srgbClr val="252525"/>
                </a:solidFill>
              </a:rPr>
              <a:t>We use different technologies to process your information for these purposes. We use automated systems that analyze your content to provide you with things like customized search results, personalized ads, or other features tailored to how you use our services. And we analyze your content to help us detect abuse such as spam, malware, and illegal content. We also use algorithms to recognize patterns in data. For example, Google Translate helps people communicate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across languages by detecting common language patterns in phrases you ask it to translate.</a:t>
            </a:r>
          </a:p>
          <a:p>
            <a:r>
              <a:rPr lang="en-US" sz="5000"/>
              <a:t>  </a:t>
            </a:r>
          </a:p>
          <a:p>
            <a:r>
              <a:rPr lang="en-US" sz="3700">
                <a:solidFill>
                  <a:srgbClr val="252525"/>
                </a:solidFill>
              </a:rPr>
              <a:t>We may combine the information we collect among our services and across your devices for the purposes described above. For example, if you watch videos of guitar players on YouTube, you might see an ad for guitar lessons on a site that uses our ad products. Depending on your account settings, your activity on other sites and apps may be associated with your personal information in order to improve Google's services and the ads delivered by Google.</a:t>
            </a:r>
          </a:p>
          <a:p>
            <a:r>
              <a:rPr lang="en-US" sz="5000"/>
              <a:t>  </a:t>
            </a:r>
          </a:p>
          <a:p>
            <a:r>
              <a:rPr lang="en-US" sz="3700">
                <a:solidFill>
                  <a:srgbClr val="252525"/>
                </a:solidFill>
              </a:rPr>
              <a:t>If other users already have your email address or other information that identifies you, we may show them your publicly visible Google Account information, such as your name and photo. This helps people identify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 email coming from you, for example.</a:t>
            </a:r>
          </a:p>
          <a:p>
            <a:r>
              <a:rPr lang="en-US" sz="5000"/>
              <a:t>  </a:t>
            </a:r>
          </a:p>
          <a:p>
            <a:r>
              <a:rPr lang="en-US" sz="3700">
                <a:solidFill>
                  <a:srgbClr val="252525"/>
                </a:solidFill>
              </a:rPr>
              <a:t>We'll ask for your consent before using your information for a purpose that isn’t covered in this Privacy Policy.</a:t>
            </a:r>
          </a:p>
          <a:p>
            <a:r>
              <a:rPr lang="en-US" sz="5000"/>
              <a:t>  </a:t>
            </a:r>
          </a:p>
          <a:p>
            <a:r>
              <a:rPr lang="en-US" sz="3700">
                <a:solidFill>
                  <a:srgbClr val="252525"/>
                </a:solidFill>
              </a:rPr>
              <a:t>YOUR PRIVACY CONTROLS</a:t>
            </a:r>
          </a:p>
          <a:p>
            <a:r>
              <a:rPr lang="en-US" sz="5000"/>
              <a:t>  </a:t>
            </a:r>
          </a:p>
          <a:p>
            <a:r>
              <a:rPr lang="en-US" sz="3700">
                <a:solidFill>
                  <a:srgbClr val="252525"/>
                </a:solidFill>
              </a:rPr>
              <a:t>You have choices regarding the information we collect and how it's used</a:t>
            </a:r>
          </a:p>
          <a:p>
            <a:r>
              <a:rPr lang="en-US" sz="5000"/>
              <a:t>  </a:t>
            </a:r>
          </a:p>
          <a:p>
            <a:r>
              <a:rPr lang="en-US" sz="3700">
                <a:solidFill>
                  <a:srgbClr val="252525"/>
                </a:solidFill>
              </a:rPr>
              <a:t>This section describes key controls for managing your privacy across our services. You can also visit the Privacy Checkup, which provides an opportunity to review and adjust important privacy settings. In addition to these tools, we also offer specific privacy settings in our products — you can learn more in our Product Privacy Guide.</a:t>
            </a:r>
          </a:p>
          <a:p>
            <a:r>
              <a:rPr lang="en-US" sz="5000"/>
              <a:t>  </a:t>
            </a:r>
          </a:p>
          <a:p>
            <a:r>
              <a:rPr lang="en-US" sz="3700">
                <a:solidFill>
                  <a:srgbClr val="252525"/>
                </a:solidFill>
              </a:rPr>
              <a:t>= 5 Go to Privacy Checkup</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Managing, reviewing, and updating your information</a:t>
            </a:r>
          </a:p>
          <a:p>
            <a:r>
              <a:rPr lang="en-US" sz="5000"/>
              <a:t>  </a:t>
            </a:r>
          </a:p>
          <a:p>
            <a:r>
              <a:rPr lang="en-US" sz="3700">
                <a:solidFill>
                  <a:srgbClr val="252525"/>
                </a:solidFill>
              </a:rPr>
              <a:t>When you're signed in, you can always review and update information by visiting the services you use. For example, Photos and Drive are both designed to help you manage specific types of content you've saved with Google.</a:t>
            </a:r>
          </a:p>
          <a:p>
            <a:r>
              <a:rPr lang="en-US" sz="5000"/>
              <a:t>  </a:t>
            </a:r>
          </a:p>
          <a:p>
            <a:r>
              <a:rPr lang="en-US" sz="3700">
                <a:solidFill>
                  <a:srgbClr val="252525"/>
                </a:solidFill>
              </a:rPr>
              <a:t>We also built a place for you to review and control information saved in your Google Account. Your Google Account includes:</a:t>
            </a:r>
          </a:p>
          <a:p>
            <a:r>
              <a:rPr lang="en-US" sz="5000"/>
              <a:t>  </a:t>
            </a:r>
          </a:p>
          <a:p>
            <a:r>
              <a:rPr lang="en-US" sz="3700">
                <a:solidFill>
                  <a:srgbClr val="252525"/>
                </a:solidFill>
              </a:rPr>
              <a:t>Privacy controls</a:t>
            </a:r>
          </a:p>
          <a:p>
            <a:r>
              <a:rPr lang="en-US" sz="5000"/>
              <a:t>  </a:t>
            </a:r>
          </a:p>
          <a:p>
            <a:r>
              <a:rPr lang="en-US" sz="3700">
                <a:solidFill>
                  <a:srgbClr val="252525"/>
                </a:solidFill>
              </a:rPr>
              <a:t>e f Activity Controls</a:t>
            </a:r>
          </a:p>
          <a:p>
            <a:r>
              <a:rPr lang="en-US" sz="5000"/>
              <a:t>  </a:t>
            </a:r>
          </a:p>
          <a:p>
            <a:r>
              <a:rPr lang="en-US" sz="3700">
                <a:solidFill>
                  <a:srgbClr val="252525"/>
                </a:solidFill>
              </a:rPr>
              <a:t>Decide what types of activity you’d like saved in your account. For example, you can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turn on Location History if you want traffic predictions for your daily commute, or you can save your YouTube Watch History to get better video suggestions.</a:t>
            </a:r>
          </a:p>
          <a:p>
            <a:r>
              <a:rPr lang="en-US" sz="5000"/>
              <a:t>  </a:t>
            </a:r>
          </a:p>
          <a:p>
            <a:r>
              <a:rPr lang="en-US" sz="3700">
                <a:solidFill>
                  <a:srgbClr val="252525"/>
                </a:solidFill>
              </a:rPr>
              <a:t>Go to Activity Controls</a:t>
            </a:r>
          </a:p>
          <a:p>
            <a:r>
              <a:rPr lang="en-US" sz="5000"/>
              <a:t>  </a:t>
            </a:r>
          </a:p>
          <a:p>
            <a:r>
              <a:rPr lang="en-US" sz="3700">
                <a:solidFill>
                  <a:srgbClr val="252525"/>
                </a:solidFill>
              </a:rPr>
              <a:t>&gt;l Ad settings</a:t>
            </a:r>
          </a:p>
          <a:p>
            <a:r>
              <a:rPr lang="en-US" sz="5000"/>
              <a:t>  </a:t>
            </a:r>
          </a:p>
          <a:p>
            <a:r>
              <a:rPr lang="en-US" sz="3700">
                <a:solidFill>
                  <a:srgbClr val="252525"/>
                </a:solidFill>
              </a:rPr>
              <a:t>Manage your preferences about the ads shown to you on Google and on sites and apps that partner with Google to show ads. You can modify your interests, choose whether your personal information is used to make ads more relevant to you, and turn on or off certain</a:t>
            </a:r>
          </a:p>
          <a:p>
            <a:r>
              <a:rPr lang="en-US" sz="5000"/>
              <a:t>  </a:t>
            </a:r>
          </a:p>
          <a:p>
            <a:r>
              <a:rPr lang="en-US" sz="3700">
                <a:solidFill>
                  <a:srgbClr val="252525"/>
                </a:solidFill>
              </a:rPr>
              <a:t>advertising services.</a:t>
            </a:r>
          </a:p>
          <a:p>
            <a:r>
              <a:rPr lang="en-US" sz="5000"/>
              <a:t>  </a:t>
            </a:r>
          </a:p>
          <a:p>
            <a:r>
              <a:rPr lang="en-US" sz="3700">
                <a:solidFill>
                  <a:srgbClr val="252525"/>
                </a:solidFill>
              </a:rPr>
              <a:t>Go to Ad Settings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About you e Q d Control what others see about you across Google services.</a:t>
            </a:r>
          </a:p>
          <a:p>
            <a:r>
              <a:rPr lang="en-US" sz="5000"/>
              <a:t>  </a:t>
            </a:r>
          </a:p>
          <a:p>
            <a:r>
              <a:rPr lang="en-US" sz="3700">
                <a:solidFill>
                  <a:srgbClr val="252525"/>
                </a:solidFill>
              </a:rPr>
              <a:t>Go to About You</a:t>
            </a:r>
          </a:p>
          <a:p>
            <a:r>
              <a:rPr lang="en-US" sz="5000"/>
              <a:t>  </a:t>
            </a:r>
          </a:p>
          <a:p>
            <a:r>
              <a:rPr lang="en-US" sz="3700">
                <a:solidFill>
                  <a:srgbClr val="252525"/>
                </a:solidFill>
              </a:rPr>
              <a:t>Terere Shared endorsements</a:t>
            </a:r>
          </a:p>
          <a:p>
            <a:r>
              <a:rPr lang="en-US" sz="5000"/>
              <a:t>  </a:t>
            </a:r>
          </a:p>
          <a:p>
            <a:r>
              <a:rPr lang="en-US" sz="3700">
                <a:solidFill>
                  <a:srgbClr val="252525"/>
                </a:solidFill>
              </a:rPr>
              <a:t>Choose whether your name and photo appear next to your activity, like reviews and</a:t>
            </a:r>
          </a:p>
          <a:p>
            <a:r>
              <a:rPr lang="en-US" sz="5000"/>
              <a:t>  </a:t>
            </a:r>
          </a:p>
          <a:p>
            <a:r>
              <a:rPr lang="en-US" sz="3700">
                <a:solidFill>
                  <a:srgbClr val="252525"/>
                </a:solidFill>
              </a:rPr>
              <a:t>recommendations, that appear in ads.</a:t>
            </a:r>
          </a:p>
          <a:p>
            <a:r>
              <a:rPr lang="en-US" sz="5000"/>
              <a:t>  </a:t>
            </a:r>
          </a:p>
          <a:p>
            <a:r>
              <a:rPr lang="en-US" sz="3700">
                <a:solidFill>
                  <a:srgbClr val="252525"/>
                </a:solidFill>
              </a:rPr>
              <a:t>Go to Shared Endorsements</a:t>
            </a:r>
          </a:p>
          <a:p>
            <a:r>
              <a:rPr lang="en-US" sz="5000"/>
              <a:t>  </a:t>
            </a:r>
          </a:p>
          <a:p>
            <a:r>
              <a:rPr lang="en-US" sz="3700">
                <a:solidFill>
                  <a:srgbClr val="252525"/>
                </a:solidFill>
              </a:rPr>
              <a:t>Information you share</a:t>
            </a:r>
          </a:p>
          <a:p>
            <a:r>
              <a:rPr lang="en-US" sz="5000"/>
              <a:t>  </a:t>
            </a:r>
          </a:p>
          <a:p>
            <a:r>
              <a:rPr lang="en-US" sz="3700">
                <a:solidFill>
                  <a:srgbClr val="252525"/>
                </a:solidFill>
              </a:rPr>
              <a:t>Control whom you share information with through your account on Google+.</a:t>
            </a:r>
          </a:p>
          <a:p>
            <a:r>
              <a:rPr lang="en-US" sz="5000"/>
              <a:t>  </a:t>
            </a:r>
          </a:p>
          <a:p>
            <a:r>
              <a:rPr lang="en-US" sz="3700">
                <a:solidFill>
                  <a:srgbClr val="252525"/>
                </a:solidFill>
              </a:rPr>
              <a:t>Go to Information You Share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Ways to review &amp; update your information</a:t>
            </a:r>
          </a:p>
          <a:p>
            <a:r>
              <a:rPr lang="en-US" sz="5000"/>
              <a:t>  </a:t>
            </a:r>
          </a:p>
          <a:p>
            <a:r>
              <a:rPr lang="en-US" sz="3700">
                <a:solidFill>
                  <a:srgbClr val="252525"/>
                </a:solidFill>
              </a:rPr>
              <a:t>anf My Activity</a:t>
            </a:r>
          </a:p>
          <a:p>
            <a:r>
              <a:rPr lang="en-US" sz="5000"/>
              <a:t>  </a:t>
            </a:r>
          </a:p>
          <a:p>
            <a:r>
              <a:rPr lang="en-US" sz="3700">
                <a:solidFill>
                  <a:srgbClr val="252525"/>
                </a:solidFill>
              </a:rPr>
              <a:t>My Activity allows you to review and control data that’s created when you use Google services, like searches you've done or your visits to Google Play. You can browse by date and</a:t>
            </a:r>
          </a:p>
          <a:p>
            <a:r>
              <a:rPr lang="en-US" sz="5000"/>
              <a:t>  </a:t>
            </a:r>
          </a:p>
          <a:p>
            <a:r>
              <a:rPr lang="en-US" sz="3700">
                <a:solidFill>
                  <a:srgbClr val="252525"/>
                </a:solidFill>
              </a:rPr>
              <a:t>by topic, and delete part or all of your activity.</a:t>
            </a:r>
          </a:p>
          <a:p>
            <a:r>
              <a:rPr lang="en-US" sz="5000"/>
              <a:t>  </a:t>
            </a:r>
          </a:p>
          <a:p>
            <a:r>
              <a:rPr lang="en-US" sz="3700">
                <a:solidFill>
                  <a:srgbClr val="252525"/>
                </a:solidFill>
              </a:rPr>
              <a:t>Go to My Activity</a:t>
            </a:r>
          </a:p>
          <a:p>
            <a:r>
              <a:rPr lang="en-US" sz="5000"/>
              <a:t>  </a:t>
            </a:r>
          </a:p>
          <a:p>
            <a:r>
              <a:rPr lang="en-US" sz="3700">
                <a:solidFill>
                  <a:srgbClr val="252525"/>
                </a:solidFill>
              </a:rPr>
              <a:t>J Google Dashboard</a:t>
            </a:r>
          </a:p>
          <a:p>
            <a:r>
              <a:rPr lang="en-US" sz="5000"/>
              <a:t>  </a:t>
            </a:r>
          </a:p>
          <a:p>
            <a:r>
              <a:rPr lang="en-US" sz="3700">
                <a:solidFill>
                  <a:srgbClr val="252525"/>
                </a:solidFill>
              </a:rPr>
              <a:t>Google Dashboard allows you to manage information associated with specific products.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 to Dashboard</a:t>
            </a:r>
          </a:p>
          <a:p>
            <a:r>
              <a:rPr lang="en-US" sz="5000"/>
              <a:t>  </a:t>
            </a:r>
          </a:p>
          <a:p>
            <a:r>
              <a:rPr lang="en-US" sz="3700">
                <a:solidFill>
                  <a:srgbClr val="252525"/>
                </a:solidFill>
              </a:rPr>
              <a:t>==== Your personal information</a:t>
            </a:r>
          </a:p>
          <a:p>
            <a:r>
              <a:rPr lang="en-US" sz="5000"/>
              <a:t>  </a:t>
            </a:r>
          </a:p>
          <a:p>
            <a:r>
              <a:rPr lang="en-US" sz="3700">
                <a:solidFill>
                  <a:srgbClr val="252525"/>
                </a:solidFill>
              </a:rPr>
              <a:t>Manage your contact information, such as your name, email, and phone number.</a:t>
            </a:r>
          </a:p>
          <a:p>
            <a:r>
              <a:rPr lang="en-US" sz="5000"/>
              <a:t>  </a:t>
            </a:r>
          </a:p>
          <a:p>
            <a:r>
              <a:rPr lang="en-US" sz="3700">
                <a:solidFill>
                  <a:srgbClr val="252525"/>
                </a:solidFill>
              </a:rPr>
              <a:t>Go to Personal Info</a:t>
            </a:r>
          </a:p>
          <a:p>
            <a:r>
              <a:rPr lang="en-US" sz="5000"/>
              <a:t>  </a:t>
            </a:r>
          </a:p>
          <a:p>
            <a:r>
              <a:rPr lang="en-US" sz="3700">
                <a:solidFill>
                  <a:srgbClr val="252525"/>
                </a:solidFill>
              </a:rPr>
              <a:t>When you're signed out, you can manage information associated with your browser or device, including:</a:t>
            </a:r>
          </a:p>
          <a:p>
            <a:r>
              <a:rPr lang="en-US" sz="5000"/>
              <a:t>  </a:t>
            </a:r>
          </a:p>
          <a:p>
            <a:r>
              <a:rPr lang="en-US" sz="3700">
                <a:solidFill>
                  <a:srgbClr val="252525"/>
                </a:solidFill>
              </a:rPr>
              <a:t>° Signed-out search personalization: Choose whether your search activity is used to offer you more</a:t>
            </a:r>
          </a:p>
          <a:p>
            <a:r>
              <a:rPr lang="en-US" sz="5000"/>
              <a:t>  </a:t>
            </a:r>
          </a:p>
          <a:p>
            <a:r>
              <a:rPr lang="en-US" sz="3700">
                <a:solidFill>
                  <a:srgbClr val="252525"/>
                </a:solidFill>
              </a:rPr>
              <a:t>relevant results and recommendations. ° YouTube settings: Pause and delete your You Tube Search History and your YouTube Watch History.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Ad Settings: Manage your preferences about the ads shown to you on Google and on sites and apps</a:t>
            </a:r>
          </a:p>
          <a:p>
            <a:r>
              <a:rPr lang="en-US" sz="5000"/>
              <a:t>  </a:t>
            </a:r>
          </a:p>
          <a:p>
            <a:r>
              <a:rPr lang="en-US" sz="3700">
                <a:solidFill>
                  <a:srgbClr val="252525"/>
                </a:solidFill>
              </a:rPr>
              <a:t>that partner with Google to show ads.</a:t>
            </a:r>
          </a:p>
          <a:p>
            <a:r>
              <a:rPr lang="en-US" sz="5000"/>
              <a:t>  </a:t>
            </a:r>
          </a:p>
          <a:p>
            <a:r>
              <a:rPr lang="en-US" sz="3700">
                <a:solidFill>
                  <a:srgbClr val="252525"/>
                </a:solidFill>
              </a:rPr>
              <a:t>Exporting, removing &amp; deleting your information</a:t>
            </a:r>
          </a:p>
          <a:p>
            <a:r>
              <a:rPr lang="en-US" sz="5000"/>
              <a:t>  </a:t>
            </a:r>
          </a:p>
          <a:p>
            <a:r>
              <a:rPr lang="en-US" sz="3700">
                <a:solidFill>
                  <a:srgbClr val="252525"/>
                </a:solidFill>
              </a:rPr>
              <a:t>You can export a copy of content in your Google Account if you want to back it up or use it with a service outside of Google.</a:t>
            </a:r>
          </a:p>
          <a:p>
            <a:r>
              <a:rPr lang="en-US" sz="5000"/>
              <a:t>  </a:t>
            </a:r>
          </a:p>
          <a:p>
            <a:r>
              <a:rPr lang="en-US" sz="3700">
                <a:solidFill>
                  <a:srgbClr val="252525"/>
                </a:solidFill>
              </a:rPr>
              <a:t>&amp; Export your data</a:t>
            </a:r>
          </a:p>
          <a:p>
            <a:r>
              <a:rPr lang="en-US" sz="5000"/>
              <a:t>  </a:t>
            </a:r>
          </a:p>
          <a:p>
            <a:r>
              <a:rPr lang="en-US" sz="3700">
                <a:solidFill>
                  <a:srgbClr val="252525"/>
                </a:solidFill>
              </a:rPr>
              <a:t>You can also request to remove content from specific Google services based on applicable law. To delete your information, you can:</a:t>
            </a:r>
          </a:p>
          <a:p>
            <a:r>
              <a:rPr lang="en-US" sz="5000"/>
              <a:t>  </a:t>
            </a:r>
          </a:p>
          <a:p>
            <a:r>
              <a:rPr lang="en-US" sz="3700">
                <a:solidFill>
                  <a:srgbClr val="252525"/>
                </a:solidFill>
              </a:rPr>
              <a:t>° Delete your content from specific Google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services ° Search for and then delete specific items from your account using My Activity ° Delete specific Google products, including your information associated with those products</a:t>
            </a:r>
          </a:p>
          <a:p>
            <a:r>
              <a:rPr lang="en-US" sz="5000"/>
              <a:t>  </a:t>
            </a:r>
          </a:p>
          <a:p>
            <a:r>
              <a:rPr lang="en-US" sz="3700">
                <a:solidFill>
                  <a:srgbClr val="252525"/>
                </a:solidFill>
              </a:rPr>
              <a:t>° Delete your entire Google Account</a:t>
            </a:r>
          </a:p>
          <a:p>
            <a:r>
              <a:rPr lang="en-US" sz="5000"/>
              <a:t>  </a:t>
            </a:r>
          </a:p>
          <a:p>
            <a:r>
              <a:rPr lang="en-US" sz="3700">
                <a:solidFill>
                  <a:srgbClr val="252525"/>
                </a:solidFill>
              </a:rPr>
              <a:t>R Delete your information</a:t>
            </a:r>
          </a:p>
          <a:p>
            <a:r>
              <a:rPr lang="en-US" sz="5000"/>
              <a:t>  </a:t>
            </a:r>
          </a:p>
          <a:p>
            <a:r>
              <a:rPr lang="en-US" sz="3700">
                <a:solidFill>
                  <a:srgbClr val="252525"/>
                </a:solidFill>
              </a:rPr>
              <a:t>And finally, Inactive Account Manager allows you to give someone else access to parts of your Google Account in case you’re unexpectedly unable to use your account.</a:t>
            </a:r>
          </a:p>
          <a:p>
            <a:r>
              <a:rPr lang="en-US" sz="5000"/>
              <a:t>  </a:t>
            </a:r>
          </a:p>
          <a:p>
            <a:r>
              <a:rPr lang="en-US" sz="3700">
                <a:solidFill>
                  <a:srgbClr val="252525"/>
                </a:solidFill>
              </a:rPr>
              <a:t>There are other ways to control the information Google collects whether or not you're signed in to a Google Account, including:</a:t>
            </a:r>
          </a:p>
          <a:p>
            <a:r>
              <a:rPr lang="en-US" sz="5000"/>
              <a:t>  </a:t>
            </a:r>
          </a:p>
          <a:p>
            <a:r>
              <a:rPr lang="en-US" sz="3700">
                <a:solidFill>
                  <a:srgbClr val="252525"/>
                </a:solidFill>
              </a:rPr>
              <a:t>° Browser settings: For example, you can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configure your browser to indicate when Google has set a cookie in your browser. You can also configure your browser to block all cookies from a specific domain or all domains. But remember that our services rely on cookies to function properly, for</a:t>
            </a:r>
          </a:p>
          <a:p>
            <a:r>
              <a:rPr lang="en-US" sz="5000"/>
              <a:t>  </a:t>
            </a:r>
          </a:p>
          <a:p>
            <a:r>
              <a:rPr lang="en-US" sz="3700">
                <a:solidFill>
                  <a:srgbClr val="252525"/>
                </a:solidFill>
              </a:rPr>
              <a:t>things like remembering your language preferences.</a:t>
            </a:r>
          </a:p>
          <a:p>
            <a:r>
              <a:rPr lang="en-US" sz="5000"/>
              <a:t>  </a:t>
            </a:r>
          </a:p>
          <a:p>
            <a:r>
              <a:rPr lang="en-US" sz="3700">
                <a:solidFill>
                  <a:srgbClr val="252525"/>
                </a:solidFill>
              </a:rPr>
              <a:t>° Device-level settings: Your device may have controls that determine what information we collect. For example, you can modify location settings on your Android device.</a:t>
            </a:r>
          </a:p>
          <a:p>
            <a:r>
              <a:rPr lang="en-US" sz="5000"/>
              <a:t>  </a:t>
            </a:r>
          </a:p>
          <a:p>
            <a:r>
              <a:rPr lang="en-US" sz="3700">
                <a:solidFill>
                  <a:srgbClr val="252525"/>
                </a:solidFill>
              </a:rPr>
              <a:t>SHARING YOUR INFORMATION</a:t>
            </a:r>
          </a:p>
          <a:p>
            <a:r>
              <a:rPr lang="en-US" sz="5000"/>
              <a:t>  </a:t>
            </a:r>
          </a:p>
          <a:p>
            <a:r>
              <a:rPr lang="en-US" sz="3700">
                <a:solidFill>
                  <a:srgbClr val="252525"/>
                </a:solidFill>
              </a:rPr>
              <a:t>When you share your information</a:t>
            </a:r>
          </a:p>
          <a:p>
            <a:r>
              <a:rPr lang="en-US" sz="5000"/>
              <a:t>  </a:t>
            </a:r>
          </a:p>
          <a:p>
            <a:r>
              <a:rPr lang="en-US" sz="3700">
                <a:solidFill>
                  <a:srgbClr val="252525"/>
                </a:solidFill>
              </a:rPr>
              <a:t>Many of our services let you share information with other people, and you have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control over how you share. For example, you can share videos on YouTube publicly or you can decide to keep your videos private. Remember, when you share information publicly, your content may become accessible through search engines, including Google Search.</a:t>
            </a:r>
          </a:p>
          <a:p>
            <a:r>
              <a:rPr lang="en-US" sz="5000"/>
              <a:t>  </a:t>
            </a:r>
          </a:p>
          <a:p>
            <a:r>
              <a:rPr lang="en-US" sz="3700">
                <a:solidFill>
                  <a:srgbClr val="252525"/>
                </a:solidFill>
              </a:rPr>
              <a:t>When you're signed in and interact with some Google services, like leaving comments on a YouTube video or reviewing a song in Play, your name and photo appear next to your activity. We may also display this information in ads depending on your Shared endorsements setting.</a:t>
            </a:r>
          </a:p>
          <a:p>
            <a:r>
              <a:rPr lang="en-US" sz="5000"/>
              <a:t>  </a:t>
            </a:r>
          </a:p>
          <a:p>
            <a:r>
              <a:rPr lang="en-US" sz="3700">
                <a:solidFill>
                  <a:srgbClr val="252525"/>
                </a:solidFill>
              </a:rPr>
              <a:t>When Google shares your information</a:t>
            </a:r>
          </a:p>
          <a:p>
            <a:r>
              <a:rPr lang="en-US" sz="5000"/>
              <a:t>  </a:t>
            </a:r>
          </a:p>
          <a:p>
            <a:r>
              <a:rPr lang="en-US" sz="3700">
                <a:solidFill>
                  <a:srgbClr val="252525"/>
                </a:solidFill>
              </a:rPr>
              <a:t>We do not share your personal information with companies, organizations, or individuals outside of</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Google except in the following cases:</a:t>
            </a:r>
          </a:p>
          <a:p>
            <a:r>
              <a:rPr lang="en-US" sz="5000"/>
              <a:t>  </a:t>
            </a:r>
          </a:p>
          <a:p>
            <a:r>
              <a:rPr lang="en-US" sz="3700">
                <a:solidFill>
                  <a:srgbClr val="252525"/>
                </a:solidFill>
              </a:rPr>
              <a:t>With your consent</a:t>
            </a:r>
          </a:p>
          <a:p>
            <a:r>
              <a:rPr lang="en-US" sz="5000"/>
              <a:t>  </a:t>
            </a:r>
          </a:p>
          <a:p>
            <a:r>
              <a:rPr lang="en-US" sz="3700">
                <a:solidFill>
                  <a:srgbClr val="252525"/>
                </a:solidFill>
              </a:rPr>
              <a:t>We'll share personal information outside of Google when we have your consent. For example, if you use Google Home to request a ride from a ride-sharing service, well get your permission before sharing your</a:t>
            </a:r>
          </a:p>
          <a:p>
            <a:r>
              <a:rPr lang="en-US" sz="5000"/>
              <a:t>  </a:t>
            </a:r>
          </a:p>
          <a:p>
            <a:r>
              <a:rPr lang="en-US" sz="3700">
                <a:solidFill>
                  <a:srgbClr val="252525"/>
                </a:solidFill>
              </a:rPr>
              <a:t>address with that service. We'll ask for your explicit consent to share any sensitive personal information.</a:t>
            </a:r>
          </a:p>
          <a:p>
            <a:r>
              <a:rPr lang="en-US" sz="5000"/>
              <a:t>  </a:t>
            </a:r>
          </a:p>
          <a:p>
            <a:r>
              <a:rPr lang="en-US" sz="3700">
                <a:solidFill>
                  <a:srgbClr val="252525"/>
                </a:solidFill>
              </a:rPr>
              <a:t>With domain administrators</a:t>
            </a:r>
          </a:p>
          <a:p>
            <a:r>
              <a:rPr lang="en-US" sz="5000"/>
              <a:t>  </a:t>
            </a:r>
          </a:p>
          <a:p>
            <a:r>
              <a:rPr lang="en-US" sz="3700">
                <a:solidFill>
                  <a:srgbClr val="252525"/>
                </a:solidFill>
              </a:rPr>
              <a:t>If you're a student or work for an organization that uses Google services (like G Suite), your domain administrator and resellers who manage your account will have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access to your Google Account. They may be able to:</a:t>
            </a:r>
          </a:p>
          <a:p>
            <a:r>
              <a:rPr lang="en-US" sz="5000"/>
              <a:t>  </a:t>
            </a:r>
          </a:p>
          <a:p>
            <a:r>
              <a:rPr lang="en-US" sz="3700">
                <a:solidFill>
                  <a:srgbClr val="252525"/>
                </a:solidFill>
              </a:rPr>
              <a:t>° Access and retain information stored in your account, like your email ° View statistics regarding your account, like how many apps you install ° Change your account password</a:t>
            </a:r>
          </a:p>
          <a:p>
            <a:r>
              <a:rPr lang="en-US" sz="5000"/>
              <a:t>  </a:t>
            </a:r>
          </a:p>
          <a:p>
            <a:r>
              <a:rPr lang="en-US" sz="3700">
                <a:solidFill>
                  <a:srgbClr val="252525"/>
                </a:solidFill>
              </a:rPr>
              <a:t>° Suspend or terminate your account access</a:t>
            </a:r>
          </a:p>
          <a:p>
            <a:r>
              <a:rPr lang="en-US" sz="5000"/>
              <a:t>  </a:t>
            </a:r>
          </a:p>
          <a:p>
            <a:r>
              <a:rPr lang="en-US" sz="3700">
                <a:solidFill>
                  <a:srgbClr val="252525"/>
                </a:solidFill>
              </a:rPr>
              <a:t>° Receive your account information in order to satisfy applicable law, regulation, legal process, or</a:t>
            </a:r>
          </a:p>
          <a:p>
            <a:r>
              <a:rPr lang="en-US" sz="5000"/>
              <a:t>  </a:t>
            </a:r>
          </a:p>
          <a:p>
            <a:r>
              <a:rPr lang="en-US" sz="3700">
                <a:solidFill>
                  <a:srgbClr val="252525"/>
                </a:solidFill>
              </a:rPr>
              <a:t>enforceable governmental request</a:t>
            </a:r>
          </a:p>
          <a:p>
            <a:r>
              <a:rPr lang="en-US" sz="5000"/>
              <a:t>  </a:t>
            </a:r>
          </a:p>
          <a:p>
            <a:r>
              <a:rPr lang="en-US" sz="3700">
                <a:solidFill>
                  <a:srgbClr val="252525"/>
                </a:solidFill>
              </a:rPr>
              <a:t>° Restrict your ability to delete or edit your information or your privacy settings</a:t>
            </a:r>
          </a:p>
          <a:p>
            <a:r>
              <a:rPr lang="en-US" sz="5000"/>
              <a:t>  </a:t>
            </a:r>
          </a:p>
          <a:p>
            <a:r>
              <a:rPr lang="en-US" sz="3700">
                <a:solidFill>
                  <a:srgbClr val="252525"/>
                </a:solidFill>
              </a:rPr>
              <a:t>For external processing</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 provide personal information to our affiliates and other trusted businesses or persons to process it for us, based on our instructions and in compliance with our Privacy Policy and any other appropriate confidentiality and security measures. For example, we use service providers to help us with customer</a:t>
            </a:r>
          </a:p>
          <a:p>
            <a:r>
              <a:rPr lang="en-US" sz="5000"/>
              <a:t>  </a:t>
            </a:r>
          </a:p>
          <a:p>
            <a:r>
              <a:rPr lang="en-US" sz="3700">
                <a:solidFill>
                  <a:srgbClr val="252525"/>
                </a:solidFill>
              </a:rPr>
              <a:t>support.</a:t>
            </a:r>
          </a:p>
          <a:p>
            <a:r>
              <a:rPr lang="en-US" sz="5000"/>
              <a:t>  </a:t>
            </a:r>
          </a:p>
          <a:p>
            <a:r>
              <a:rPr lang="en-US" sz="3700">
                <a:solidFill>
                  <a:srgbClr val="252525"/>
                </a:solidFill>
              </a:rPr>
              <a:t>For legal reasons</a:t>
            </a:r>
          </a:p>
          <a:p>
            <a:r>
              <a:rPr lang="en-US" sz="5000"/>
              <a:t>  </a:t>
            </a:r>
          </a:p>
          <a:p>
            <a:r>
              <a:rPr lang="en-US" sz="3700">
                <a:solidFill>
                  <a:srgbClr val="252525"/>
                </a:solidFill>
              </a:rPr>
              <a:t>We will share personal information outside of Google if we have a good-faith belief that access, use,</a:t>
            </a:r>
          </a:p>
          <a:p>
            <a:r>
              <a:rPr lang="en-US" sz="5000"/>
              <a:t>  </a:t>
            </a:r>
          </a:p>
          <a:p>
            <a:r>
              <a:rPr lang="en-US" sz="3700">
                <a:solidFill>
                  <a:srgbClr val="252525"/>
                </a:solidFill>
              </a:rPr>
              <a:t>preservation, or disclosure of the information is reasonably necessary to:</a:t>
            </a:r>
          </a:p>
          <a:p>
            <a:r>
              <a:rPr lang="en-US" sz="5000"/>
              <a:t>  </a:t>
            </a:r>
          </a:p>
          <a:p>
            <a:r>
              <a:rPr lang="en-US" sz="3700">
                <a:solidFill>
                  <a:srgbClr val="252525"/>
                </a:solidFill>
              </a:rPr>
              <a:t>° Meet any applicable law, regulation, legal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process, or enforceable governmental request. We share information about the number and type of requests we receive from governments in our</a:t>
            </a:r>
          </a:p>
          <a:p>
            <a:r>
              <a:rPr lang="en-US" sz="5000"/>
              <a:t>  </a:t>
            </a:r>
          </a:p>
          <a:p>
            <a:r>
              <a:rPr lang="en-US" sz="3700">
                <a:solidFill>
                  <a:srgbClr val="252525"/>
                </a:solidFill>
              </a:rPr>
              <a:t>Transparency Report. ° Enforce applicable Terms of Service, including investigation of potential violations. ° Detect, prevent, or otherwise address fraud, security, or technical issues.</a:t>
            </a:r>
          </a:p>
          <a:p>
            <a:r>
              <a:rPr lang="en-US" sz="5000"/>
              <a:t>  </a:t>
            </a:r>
          </a:p>
          <a:p>
            <a:r>
              <a:rPr lang="en-US" sz="3700">
                <a:solidFill>
                  <a:srgbClr val="252525"/>
                </a:solidFill>
              </a:rPr>
              <a:t>° Protect against harm to the rights, property or safety of Google, our users, or the public as required</a:t>
            </a:r>
          </a:p>
          <a:p>
            <a:r>
              <a:rPr lang="en-US" sz="5000"/>
              <a:t>  </a:t>
            </a:r>
          </a:p>
          <a:p>
            <a:r>
              <a:rPr lang="en-US" sz="3700">
                <a:solidFill>
                  <a:srgbClr val="252525"/>
                </a:solidFill>
              </a:rPr>
              <a:t>or permitted by law.</a:t>
            </a:r>
          </a:p>
          <a:p>
            <a:r>
              <a:rPr lang="en-US" sz="5000"/>
              <a:t>  </a:t>
            </a:r>
          </a:p>
          <a:p>
            <a:r>
              <a:rPr lang="en-US" sz="3700">
                <a:solidFill>
                  <a:srgbClr val="252525"/>
                </a:solidFill>
              </a:rPr>
              <a:t>We may share non-personally identifiable information publicly and with our partners — like publishers, advertisers, developers, or rights holders. For example, we share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publicly to show trends about the general use of our services. We also allow specific partners to collect information from your browser or device for advertising and measurement purposes using their own cookies or similar</a:t>
            </a:r>
          </a:p>
          <a:p>
            <a:r>
              <a:rPr lang="en-US" sz="5000"/>
              <a:t>  </a:t>
            </a:r>
          </a:p>
          <a:p>
            <a:r>
              <a:rPr lang="en-US" sz="3700">
                <a:solidFill>
                  <a:srgbClr val="252525"/>
                </a:solidFill>
              </a:rPr>
              <a:t>technologies.</a:t>
            </a:r>
          </a:p>
          <a:p>
            <a:r>
              <a:rPr lang="en-US" sz="5000"/>
              <a:t>  </a:t>
            </a:r>
          </a:p>
          <a:p>
            <a:r>
              <a:rPr lang="en-US" sz="3700">
                <a:solidFill>
                  <a:srgbClr val="252525"/>
                </a:solidFill>
              </a:rPr>
              <a:t>If Google is involved in a merger, acquisition, or sale of assets, we'll continue to ensure the confidentiality of your personal information and give affected users notice before personal information is transferred or</a:t>
            </a:r>
          </a:p>
          <a:p>
            <a:r>
              <a:rPr lang="en-US" sz="5000"/>
              <a:t>  </a:t>
            </a:r>
          </a:p>
          <a:p>
            <a:r>
              <a:rPr lang="en-US" sz="3700">
                <a:solidFill>
                  <a:srgbClr val="252525"/>
                </a:solidFill>
              </a:rPr>
              <a:t>becomes subject to a different privacy policy.</a:t>
            </a:r>
          </a:p>
          <a:p>
            <a:r>
              <a:rPr lang="en-US" sz="5000"/>
              <a:t>  </a:t>
            </a:r>
          </a:p>
          <a:p>
            <a:r>
              <a:rPr lang="en-US" sz="3700">
                <a:solidFill>
                  <a:srgbClr val="252525"/>
                </a:solidFill>
              </a:rPr>
              <a:t>KEEPING YOUR INFORMATION SECURE</a:t>
            </a:r>
          </a:p>
          <a:p>
            <a:r>
              <a:rPr lang="en-US" sz="5000"/>
              <a:t>  </a:t>
            </a:r>
          </a:p>
          <a:p>
            <a:r>
              <a:rPr lang="en-US" sz="3700">
                <a:solidFill>
                  <a:srgbClr val="252525"/>
                </a:solidFill>
              </a:rPr>
              <a:t>We build security into our services to protect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your information</a:t>
            </a:r>
          </a:p>
          <a:p>
            <a:r>
              <a:rPr lang="en-US" sz="5000"/>
              <a:t>  </a:t>
            </a:r>
          </a:p>
          <a:p>
            <a:r>
              <a:rPr lang="en-US" sz="3700">
                <a:solidFill>
                  <a:srgbClr val="252525"/>
                </a:solidFill>
              </a:rPr>
              <a:t>All Google products are built with strong security features that continuously protect your information. The insights we gain from maintaining our services help us detect and automatically block security threats from ever reaching you. And if we do detect something risky that we think you should know about,</a:t>
            </a:r>
          </a:p>
          <a:p>
            <a:r>
              <a:rPr lang="en-US" sz="5000"/>
              <a:t>  </a:t>
            </a:r>
          </a:p>
          <a:p>
            <a:r>
              <a:rPr lang="en-US" sz="3700">
                <a:solidFill>
                  <a:srgbClr val="252525"/>
                </a:solidFill>
              </a:rPr>
              <a:t>well notify you and help guide you through steps to stay better protected.</a:t>
            </a:r>
          </a:p>
          <a:p>
            <a:r>
              <a:rPr lang="en-US" sz="5000"/>
              <a:t>  </a:t>
            </a:r>
          </a:p>
          <a:p>
            <a:r>
              <a:rPr lang="en-US" sz="3700">
                <a:solidFill>
                  <a:srgbClr val="252525"/>
                </a:solidFill>
              </a:rPr>
              <a:t>We work hard to protect you and Google from unauthorized access, alteration, disclosure, or destruction</a:t>
            </a:r>
          </a:p>
          <a:p>
            <a:r>
              <a:rPr lang="en-US" sz="5000"/>
              <a:t>  </a:t>
            </a:r>
          </a:p>
          <a:p>
            <a:r>
              <a:rPr lang="en-US" sz="3700">
                <a:solidFill>
                  <a:srgbClr val="252525"/>
                </a:solidFill>
              </a:rPr>
              <a:t>of information we hold, including:</a:t>
            </a:r>
          </a:p>
          <a:p>
            <a:r>
              <a:rPr lang="en-US" sz="5000"/>
              <a:t>  </a:t>
            </a:r>
          </a:p>
          <a:p>
            <a:r>
              <a:rPr lang="en-US" sz="3700">
                <a:solidFill>
                  <a:srgbClr val="252525"/>
                </a:solidFill>
              </a:rPr>
              <a:t>° We use encryption to keep your data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private while in transit</a:t>
            </a:r>
          </a:p>
          <a:p>
            <a:r>
              <a:rPr lang="en-US" sz="5000"/>
              <a:t>  </a:t>
            </a:r>
          </a:p>
          <a:p>
            <a:r>
              <a:rPr lang="en-US" sz="3700">
                <a:solidFill>
                  <a:srgbClr val="252525"/>
                </a:solidFill>
              </a:rPr>
              <a:t>° We offer a range of security features, like Safe Browsing, Security Checkup, and 2 Step Verification to</a:t>
            </a:r>
          </a:p>
          <a:p>
            <a:r>
              <a:rPr lang="en-US" sz="5000"/>
              <a:t>  </a:t>
            </a:r>
          </a:p>
          <a:p>
            <a:r>
              <a:rPr lang="en-US" sz="3700">
                <a:solidFill>
                  <a:srgbClr val="252525"/>
                </a:solidFill>
              </a:rPr>
              <a:t>help you protect your account</a:t>
            </a:r>
          </a:p>
          <a:p>
            <a:r>
              <a:rPr lang="en-US" sz="5000"/>
              <a:t>  </a:t>
            </a:r>
          </a:p>
          <a:p>
            <a:r>
              <a:rPr lang="en-US" sz="3700">
                <a:solidFill>
                  <a:srgbClr val="252525"/>
                </a:solidFill>
              </a:rPr>
              <a:t>° We review our information collection, storage, and processing practices, including physical security</a:t>
            </a:r>
          </a:p>
          <a:p>
            <a:r>
              <a:rPr lang="en-US" sz="5000"/>
              <a:t>  </a:t>
            </a:r>
          </a:p>
          <a:p>
            <a:r>
              <a:rPr lang="en-US" sz="3700">
                <a:solidFill>
                  <a:srgbClr val="252525"/>
                </a:solidFill>
              </a:rPr>
              <a:t>measures, to prevent unauthorized access to our systems</a:t>
            </a:r>
          </a:p>
          <a:p>
            <a:r>
              <a:rPr lang="en-US" sz="5000"/>
              <a:t>  </a:t>
            </a:r>
          </a:p>
          <a:p>
            <a:r>
              <a:rPr lang="en-US" sz="3700">
                <a:solidFill>
                  <a:srgbClr val="252525"/>
                </a:solidFill>
              </a:rPr>
              <a:t>° We restrict access to personal information to Google employees, contractors, and agents who need that information in order to process it. Anyone with this access is subject to strict contractual</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confidentiality obligations and may be disciplined or terminated if they fail to meet these obligations.</a:t>
            </a:r>
          </a:p>
          <a:p>
            <a:r>
              <a:rPr lang="en-US" sz="5000"/>
              <a:t>  </a:t>
            </a:r>
          </a:p>
          <a:p>
            <a:r>
              <a:rPr lang="en-US" sz="3700">
                <a:solidFill>
                  <a:srgbClr val="252525"/>
                </a:solidFill>
              </a:rPr>
              <a:t>EXPORTING &amp; DELETING YOUR INFORMATION</a:t>
            </a:r>
          </a:p>
          <a:p>
            <a:r>
              <a:rPr lang="en-US" sz="5000"/>
              <a:t>  </a:t>
            </a:r>
          </a:p>
          <a:p>
            <a:r>
              <a:rPr lang="en-US" sz="3700">
                <a:solidFill>
                  <a:srgbClr val="252525"/>
                </a:solidFill>
              </a:rPr>
              <a:t>You can export a copy of your information or delete it from your Google Account at any time</a:t>
            </a:r>
          </a:p>
          <a:p>
            <a:r>
              <a:rPr lang="en-US" sz="5000"/>
              <a:t>  </a:t>
            </a:r>
          </a:p>
          <a:p>
            <a:r>
              <a:rPr lang="en-US" sz="3700">
                <a:solidFill>
                  <a:srgbClr val="252525"/>
                </a:solidFill>
              </a:rPr>
              <a:t>You can export a copy of content in your Google Account if you want to back it up or use it with a service</a:t>
            </a:r>
          </a:p>
          <a:p>
            <a:r>
              <a:rPr lang="en-US" sz="5000"/>
              <a:t>  </a:t>
            </a:r>
          </a:p>
          <a:p>
            <a:r>
              <a:rPr lang="en-US" sz="3700">
                <a:solidFill>
                  <a:srgbClr val="252525"/>
                </a:solidFill>
              </a:rPr>
              <a:t>outside of Google.</a:t>
            </a:r>
          </a:p>
          <a:p>
            <a:r>
              <a:rPr lang="en-US" sz="5000"/>
              <a:t>  </a:t>
            </a:r>
          </a:p>
          <a:p>
            <a:r>
              <a:rPr lang="en-US" sz="3700">
                <a:solidFill>
                  <a:srgbClr val="252525"/>
                </a:solidFill>
              </a:rPr>
              <a:t>a Export your data</a:t>
            </a:r>
          </a:p>
          <a:p>
            <a:r>
              <a:rPr lang="en-US" sz="5000"/>
              <a:t>  </a:t>
            </a:r>
          </a:p>
          <a:p>
            <a:r>
              <a:rPr lang="en-US" sz="3700">
                <a:solidFill>
                  <a:srgbClr val="252525"/>
                </a:solidFill>
              </a:rPr>
              <a:t>To delete your information, you can: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Delete your content from specific Google services ° Search for and then delete specific items from your account using My Activity ° Delete specific Google products, including your information associated with those products</a:t>
            </a:r>
          </a:p>
          <a:p>
            <a:r>
              <a:rPr lang="en-US" sz="5000"/>
              <a:t>  </a:t>
            </a:r>
          </a:p>
          <a:p>
            <a:r>
              <a:rPr lang="en-US" sz="3700">
                <a:solidFill>
                  <a:srgbClr val="252525"/>
                </a:solidFill>
              </a:rPr>
              <a:t>° Delete your entire Google Account</a:t>
            </a:r>
          </a:p>
          <a:p>
            <a:r>
              <a:rPr lang="en-US" sz="5000"/>
              <a:t>  </a:t>
            </a:r>
          </a:p>
          <a:p>
            <a:r>
              <a:rPr lang="en-US" sz="3700">
                <a:solidFill>
                  <a:srgbClr val="252525"/>
                </a:solidFill>
              </a:rPr>
              <a:t>i Delete your information</a:t>
            </a:r>
          </a:p>
          <a:p>
            <a:r>
              <a:rPr lang="en-US" sz="5000"/>
              <a:t>  </a:t>
            </a:r>
          </a:p>
          <a:p>
            <a:r>
              <a:rPr lang="en-US" sz="3700">
                <a:solidFill>
                  <a:srgbClr val="252525"/>
                </a:solidFill>
              </a:rPr>
              <a:t>In some cases, we retain data for limited periods when it needs to be kept for legitimate business or legal purposes. You can read about Google's data retention periods, including how long it takes us to delete</a:t>
            </a:r>
          </a:p>
          <a:p>
            <a:r>
              <a:rPr lang="en-US" sz="5000"/>
              <a:t>  </a:t>
            </a:r>
          </a:p>
          <a:p>
            <a:r>
              <a:rPr lang="en-US" sz="3700">
                <a:solidFill>
                  <a:srgbClr val="252525"/>
                </a:solidFill>
              </a:rPr>
              <a:t>your information.</a:t>
            </a:r>
          </a:p>
          <a:p>
            <a:r>
              <a:rPr lang="en-US" sz="5000"/>
              <a:t>  </a:t>
            </a:r>
          </a:p>
          <a:p>
            <a:r>
              <a:rPr lang="en-US" sz="3700">
                <a:solidFill>
                  <a:srgbClr val="252525"/>
                </a:solidFill>
              </a:rPr>
              <a:t>We try to ensure that our services protect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from accidental or malicious deletion. Because of this, there may be delays between when you delete something and when copies are deleted from our</a:t>
            </a:r>
          </a:p>
          <a:p>
            <a:r>
              <a:rPr lang="en-US" sz="5000"/>
              <a:t>  </a:t>
            </a:r>
          </a:p>
          <a:p>
            <a:r>
              <a:rPr lang="en-US" sz="3700">
                <a:solidFill>
                  <a:srgbClr val="252525"/>
                </a:solidFill>
              </a:rPr>
              <a:t>active and backup systems.</a:t>
            </a:r>
          </a:p>
          <a:p>
            <a:r>
              <a:rPr lang="en-US" sz="5000"/>
              <a:t>  </a:t>
            </a:r>
          </a:p>
          <a:p>
            <a:r>
              <a:rPr lang="en-US" sz="3700">
                <a:solidFill>
                  <a:srgbClr val="252525"/>
                </a:solidFill>
              </a:rPr>
              <a:t>COMPLIANCE &amp; COOPERATION WITH REGULATORS</a:t>
            </a:r>
          </a:p>
          <a:p>
            <a:r>
              <a:rPr lang="en-US" sz="5000"/>
              <a:t>  </a:t>
            </a:r>
          </a:p>
          <a:p>
            <a:r>
              <a:rPr lang="en-US" sz="3700">
                <a:solidFill>
                  <a:srgbClr val="252525"/>
                </a:solidFill>
              </a:rPr>
              <a:t>We regularly review this Privacy Policy and make sure that we process your information in ways that</a:t>
            </a:r>
          </a:p>
          <a:p>
            <a:r>
              <a:rPr lang="en-US" sz="5000"/>
              <a:t>  </a:t>
            </a:r>
          </a:p>
          <a:p>
            <a:r>
              <a:rPr lang="en-US" sz="3700">
                <a:solidFill>
                  <a:srgbClr val="252525"/>
                </a:solidFill>
              </a:rPr>
              <a:t>comply with it.</a:t>
            </a:r>
          </a:p>
          <a:p>
            <a:r>
              <a:rPr lang="en-US" sz="5000"/>
              <a:t>  </a:t>
            </a:r>
          </a:p>
          <a:p>
            <a:r>
              <a:rPr lang="en-US" sz="3700">
                <a:solidFill>
                  <a:srgbClr val="252525"/>
                </a:solidFill>
              </a:rPr>
              <a:t>Data transfers</a:t>
            </a:r>
          </a:p>
          <a:p>
            <a:r>
              <a:rPr lang="en-US" sz="5000"/>
              <a:t>  </a:t>
            </a:r>
          </a:p>
          <a:p>
            <a:r>
              <a:rPr lang="en-US" sz="3700">
                <a:solidFill>
                  <a:srgbClr val="252525"/>
                </a:solidFill>
              </a:rPr>
              <a:t>We maintain servers around the world and your information may be processed on servers located outside of the country where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 live. Data protection laws vary among countries, with some providing more protection than others. Regardless of where your information is processed, we apply the same protections described in this policy. We also comply with certain legal frameworks relating to the transfer of data, such as the EU-US and Swiss-US Privacy Shield Frameworks.</a:t>
            </a:r>
          </a:p>
          <a:p>
            <a:r>
              <a:rPr lang="en-US" sz="5000"/>
              <a:t>  </a:t>
            </a:r>
          </a:p>
          <a:p>
            <a:r>
              <a:rPr lang="en-US" sz="3700">
                <a:solidFill>
                  <a:srgbClr val="252525"/>
                </a:solidFill>
              </a:rPr>
              <a:t>When we receive formal written complaints, we respond by contacting the person who made the complaint. We work with the appropriate regulatory authorities, including local data protection authorities, to resolve any complaints regarding the transfer of your data that we cannot resolve with you</a:t>
            </a:r>
          </a:p>
          <a:p>
            <a:r>
              <a:rPr lang="en-US" sz="5000"/>
              <a:t>  </a:t>
            </a:r>
          </a:p>
          <a:p>
            <a:r>
              <a:rPr lang="en-US" sz="3700">
                <a:solidFill>
                  <a:srgbClr val="252525"/>
                </a:solidFill>
              </a:rPr>
              <a:t>directly.</a:t>
            </a:r>
          </a:p>
          <a:p>
            <a:r>
              <a:rPr lang="en-US" sz="5000"/>
              <a:t>  </a:t>
            </a:r>
          </a:p>
          <a:p>
            <a:r>
              <a:rPr lang="en-US" sz="3700">
                <a:solidFill>
                  <a:srgbClr val="252525"/>
                </a:solidFill>
              </a:rPr>
              <a:t>European requirements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If European Union (EU) data protection law applies to the processing of your information, we provide the controls described in this policy so you can exercise your right to request access to, update, remove, and restrict the processing of your information. You also have the right to object to the processing of your</a:t>
            </a:r>
          </a:p>
          <a:p>
            <a:r>
              <a:rPr lang="en-US" sz="5000"/>
              <a:t>  </a:t>
            </a:r>
          </a:p>
          <a:p>
            <a:r>
              <a:rPr lang="en-US" sz="3700">
                <a:solidFill>
                  <a:srgbClr val="252525"/>
                </a:solidFill>
              </a:rPr>
              <a:t>information or export your information to another service.</a:t>
            </a:r>
          </a:p>
          <a:p>
            <a:r>
              <a:rPr lang="en-US" sz="5000"/>
              <a:t>  </a:t>
            </a:r>
          </a:p>
          <a:p>
            <a:r>
              <a:rPr lang="en-US" sz="3700">
                <a:solidFill>
                  <a:srgbClr val="252525"/>
                </a:solidFill>
              </a:rPr>
              <a:t>We process your information for the purposes described in this policy, based on the following legal</a:t>
            </a:r>
          </a:p>
          <a:p>
            <a:r>
              <a:rPr lang="en-US" sz="5000"/>
              <a:t>  </a:t>
            </a:r>
          </a:p>
          <a:p>
            <a:r>
              <a:rPr lang="en-US" sz="3700">
                <a:solidFill>
                  <a:srgbClr val="252525"/>
                </a:solidFill>
              </a:rPr>
              <a:t>grounds:</a:t>
            </a:r>
          </a:p>
          <a:p>
            <a:r>
              <a:rPr lang="en-US" sz="5000"/>
              <a:t>  </a:t>
            </a:r>
          </a:p>
          <a:p>
            <a:r>
              <a:rPr lang="en-US" sz="3700">
                <a:solidFill>
                  <a:srgbClr val="252525"/>
                </a:solidFill>
              </a:rPr>
              <a:t>With your consent</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 ask for your agreement to process your information for specific purposes and you have the right to withdraw your consent at any time. For example, we ask for your consent to provide you with personalized services like ads. We also ask for your consent to collect your voice and audio activity for</a:t>
            </a:r>
          </a:p>
          <a:p>
            <a:r>
              <a:rPr lang="en-US" sz="5000"/>
              <a:t>  </a:t>
            </a:r>
          </a:p>
          <a:p>
            <a:r>
              <a:rPr lang="en-US" sz="3700">
                <a:solidFill>
                  <a:srgbClr val="252525"/>
                </a:solidFill>
              </a:rPr>
              <a:t>speech recognition. You can manage these settings in your Google Account.</a:t>
            </a:r>
          </a:p>
          <a:p>
            <a:r>
              <a:rPr lang="en-US" sz="5000"/>
              <a:t>  </a:t>
            </a:r>
          </a:p>
          <a:p>
            <a:r>
              <a:rPr lang="en-US" sz="3700">
                <a:solidFill>
                  <a:srgbClr val="252525"/>
                </a:solidFill>
              </a:rPr>
              <a:t>When were pursuing legitimate interests</a:t>
            </a:r>
          </a:p>
          <a:p>
            <a:r>
              <a:rPr lang="en-US" sz="5000"/>
              <a:t>  </a:t>
            </a:r>
          </a:p>
          <a:p>
            <a:r>
              <a:rPr lang="en-US" sz="3700">
                <a:solidFill>
                  <a:srgbClr val="252525"/>
                </a:solidFill>
              </a:rPr>
              <a:t>We process your information for our legitimate interests and those of third parties while applying appropriate safeguards that protect your privacy. This means that we process your information for things like: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Providing, maintaining, and improving our services to meet the needs of our users</a:t>
            </a:r>
          </a:p>
          <a:p>
            <a:r>
              <a:rPr lang="en-US" sz="5000"/>
              <a:t>  </a:t>
            </a:r>
          </a:p>
          <a:p>
            <a:r>
              <a:rPr lang="en-US" sz="3700">
                <a:solidFill>
                  <a:srgbClr val="252525"/>
                </a:solidFill>
              </a:rPr>
              <a:t>° Developing new products and features that are useful for our users</a:t>
            </a:r>
          </a:p>
          <a:p>
            <a:r>
              <a:rPr lang="en-US" sz="5000"/>
              <a:t>  </a:t>
            </a:r>
          </a:p>
          <a:p>
            <a:r>
              <a:rPr lang="en-US" sz="3700">
                <a:solidFill>
                  <a:srgbClr val="252525"/>
                </a:solidFill>
              </a:rPr>
              <a:t>° Understanding how people use our services to ensure and improve the performance of our services ° Customizing our services to provide you with a better user experience</a:t>
            </a:r>
          </a:p>
          <a:p>
            <a:r>
              <a:rPr lang="en-US" sz="5000"/>
              <a:t>  </a:t>
            </a:r>
          </a:p>
          <a:p>
            <a:r>
              <a:rPr lang="en-US" sz="3700">
                <a:solidFill>
                  <a:srgbClr val="252525"/>
                </a:solidFill>
              </a:rPr>
              <a:t>° Marketing to inform users about our services</a:t>
            </a:r>
          </a:p>
          <a:p>
            <a:r>
              <a:rPr lang="en-US" sz="5000"/>
              <a:t>  </a:t>
            </a:r>
          </a:p>
          <a:p>
            <a:r>
              <a:rPr lang="en-US" sz="3700">
                <a:solidFill>
                  <a:srgbClr val="252525"/>
                </a:solidFill>
              </a:rPr>
              <a:t>° Providing advertising to make many of our services freely available for users</a:t>
            </a:r>
          </a:p>
          <a:p>
            <a:r>
              <a:rPr lang="en-US" sz="5000"/>
              <a:t>  </a:t>
            </a:r>
          </a:p>
          <a:p>
            <a:r>
              <a:rPr lang="en-US" sz="3700">
                <a:solidFill>
                  <a:srgbClr val="252525"/>
                </a:solidFill>
              </a:rPr>
              <a:t>° Detecting, preventing, or otherwise addressing fraud, abuse, security, or technical issues with our</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services</a:t>
            </a:r>
          </a:p>
          <a:p>
            <a:r>
              <a:rPr lang="en-US" sz="5000"/>
              <a:t>  </a:t>
            </a:r>
          </a:p>
          <a:p>
            <a:r>
              <a:rPr lang="en-US" sz="3700">
                <a:solidFill>
                  <a:srgbClr val="252525"/>
                </a:solidFill>
              </a:rPr>
              <a:t>° Protecting against harm to the rights, property or safety of Google, our users, or the public as</a:t>
            </a:r>
          </a:p>
          <a:p>
            <a:r>
              <a:rPr lang="en-US" sz="5000"/>
              <a:t>  </a:t>
            </a:r>
          </a:p>
          <a:p>
            <a:r>
              <a:rPr lang="en-US" sz="3700">
                <a:solidFill>
                  <a:srgbClr val="252525"/>
                </a:solidFill>
              </a:rPr>
              <a:t>required or permitted by law ° Performing research that improves our services for our users and benefits the public ° Fulfilling obligations to our partners like developers and rights holders</a:t>
            </a:r>
          </a:p>
          <a:p>
            <a:r>
              <a:rPr lang="en-US" sz="5000"/>
              <a:t>  </a:t>
            </a:r>
          </a:p>
          <a:p>
            <a:r>
              <a:rPr lang="en-US" sz="3700">
                <a:solidFill>
                  <a:srgbClr val="252525"/>
                </a:solidFill>
              </a:rPr>
              <a:t>° Enforcing legal claims, including investigation of potential violations of applicable Terms of Service</a:t>
            </a:r>
          </a:p>
          <a:p>
            <a:r>
              <a:rPr lang="en-US" sz="5000"/>
              <a:t>  </a:t>
            </a:r>
          </a:p>
          <a:p>
            <a:r>
              <a:rPr lang="en-US" sz="3700">
                <a:solidFill>
                  <a:srgbClr val="252525"/>
                </a:solidFill>
              </a:rPr>
              <a:t>When we're providing a service</a:t>
            </a:r>
          </a:p>
          <a:p>
            <a:r>
              <a:rPr lang="en-US" sz="5000"/>
              <a:t>  </a:t>
            </a:r>
          </a:p>
          <a:p>
            <a:r>
              <a:rPr lang="en-US" sz="3700">
                <a:solidFill>
                  <a:srgbClr val="252525"/>
                </a:solidFill>
              </a:rPr>
              <a:t>We process your data to provide a service you’ve asked for under a contract. For example, we process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your payment information when you buy extra storage for Google Drive.</a:t>
            </a:r>
          </a:p>
          <a:p>
            <a:r>
              <a:rPr lang="en-US" sz="5000"/>
              <a:t>  </a:t>
            </a:r>
          </a:p>
          <a:p>
            <a:r>
              <a:rPr lang="en-US" sz="3700">
                <a:solidFill>
                  <a:srgbClr val="252525"/>
                </a:solidFill>
              </a:rPr>
              <a:t>When we're complying with legal obligations</a:t>
            </a:r>
          </a:p>
          <a:p>
            <a:r>
              <a:rPr lang="en-US" sz="5000"/>
              <a:t>  </a:t>
            </a:r>
          </a:p>
          <a:p>
            <a:r>
              <a:rPr lang="en-US" sz="3700">
                <a:solidFill>
                  <a:srgbClr val="252525"/>
                </a:solidFill>
              </a:rPr>
              <a:t>We'll process your data when we have a legal obligation to do so, for example, if were responding to legal</a:t>
            </a:r>
          </a:p>
          <a:p>
            <a:r>
              <a:rPr lang="en-US" sz="5000"/>
              <a:t>  </a:t>
            </a:r>
          </a:p>
          <a:p>
            <a:r>
              <a:rPr lang="en-US" sz="3700">
                <a:solidFill>
                  <a:srgbClr val="252525"/>
                </a:solidFill>
              </a:rPr>
              <a:t>process or an enforceable governmental request.</a:t>
            </a:r>
          </a:p>
          <a:p>
            <a:r>
              <a:rPr lang="en-US" sz="5000"/>
              <a:t>  </a:t>
            </a:r>
          </a:p>
          <a:p>
            <a:r>
              <a:rPr lang="en-US" sz="3700">
                <a:solidFill>
                  <a:srgbClr val="252525"/>
                </a:solidFill>
              </a:rPr>
              <a:t>If you have questions, you can contact Google and our data protection office. And you can contact your</a:t>
            </a:r>
          </a:p>
          <a:p>
            <a:r>
              <a:rPr lang="en-US" sz="5000"/>
              <a:t>  </a:t>
            </a:r>
          </a:p>
          <a:p>
            <a:r>
              <a:rPr lang="en-US" sz="3700">
                <a:solidFill>
                  <a:srgbClr val="252525"/>
                </a:solidFill>
              </a:rPr>
              <a:t>local data protection authority if you have concerns regarding your rights under local law.</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ABOUT THIS POLICY</a:t>
            </a:r>
          </a:p>
          <a:p>
            <a:r>
              <a:rPr lang="en-US" sz="5000"/>
              <a:t>  </a:t>
            </a:r>
          </a:p>
          <a:p>
            <a:r>
              <a:rPr lang="en-US" sz="3700">
                <a:solidFill>
                  <a:srgbClr val="252525"/>
                </a:solidFill>
              </a:rPr>
              <a:t>When this policy applies This Privacy Policy applies to all of the services offered by Google LLC and its affiliates, including YouTube, Android, and services offered on third-party sites, such as advertising services. This Privacy</a:t>
            </a:r>
          </a:p>
          <a:p>
            <a:r>
              <a:rPr lang="en-US" sz="5000"/>
              <a:t>  </a:t>
            </a:r>
          </a:p>
          <a:p>
            <a:r>
              <a:rPr lang="en-US" sz="3700">
                <a:solidFill>
                  <a:srgbClr val="252525"/>
                </a:solidFill>
              </a:rPr>
              <a:t>Policy doesn't apply to services that have separate privacy policies that do not incorporate this Privacy</a:t>
            </a:r>
          </a:p>
          <a:p>
            <a:r>
              <a:rPr lang="en-US" sz="5000"/>
              <a:t>  </a:t>
            </a:r>
          </a:p>
          <a:p>
            <a:r>
              <a:rPr lang="en-US" sz="3700">
                <a:solidFill>
                  <a:srgbClr val="252525"/>
                </a:solidFill>
              </a:rPr>
              <a:t>Policy. This Privacy Policy doesn't apply to:</a:t>
            </a:r>
          </a:p>
          <a:p>
            <a:r>
              <a:rPr lang="en-US" sz="5000"/>
              <a:t>  </a:t>
            </a:r>
          </a:p>
          <a:p>
            <a:r>
              <a:rPr lang="en-US" sz="3700">
                <a:solidFill>
                  <a:srgbClr val="252525"/>
                </a:solidFill>
              </a:rPr>
              <a:t>° The information practices of other companies and organizations that advertise our services</a:t>
            </a:r>
          </a:p>
          <a:p>
            <a:r>
              <a:rPr lang="en-US" sz="5000"/>
              <a:t>  </a:t>
            </a:r>
          </a:p>
          <a:p>
            <a:r>
              <a:rPr lang="en-US" sz="3700">
                <a:solidFill>
                  <a:srgbClr val="252525"/>
                </a:solidFill>
              </a:rPr>
              <a:t>° Services offered by other companies or individuals, including products or sites that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may include</a:t>
            </a:r>
          </a:p>
          <a:p>
            <a:r>
              <a:rPr lang="en-US" sz="5000"/>
              <a:t>  </a:t>
            </a:r>
          </a:p>
          <a:p>
            <a:r>
              <a:rPr lang="en-US" sz="3700">
                <a:solidFill>
                  <a:srgbClr val="252525"/>
                </a:solidFill>
              </a:rPr>
              <a:t>Google services, be displayed to you in search results, or be linked from our services</a:t>
            </a:r>
          </a:p>
          <a:p>
            <a:r>
              <a:rPr lang="en-US" sz="5000"/>
              <a:t>  </a:t>
            </a:r>
          </a:p>
          <a:p>
            <a:r>
              <a:rPr lang="en-US" sz="3700">
                <a:solidFill>
                  <a:srgbClr val="252525"/>
                </a:solidFill>
              </a:rPr>
              <a:t>Changes to this policy</a:t>
            </a:r>
          </a:p>
          <a:p>
            <a:r>
              <a:rPr lang="en-US" sz="5000"/>
              <a:t>  </a:t>
            </a:r>
          </a:p>
          <a:p>
            <a:r>
              <a:rPr lang="en-US" sz="3700">
                <a:solidFill>
                  <a:srgbClr val="252525"/>
                </a:solidFill>
              </a:rPr>
              <a:t>We change this Privacy Policy from time to time. We will not reduce your rights under this Privacy Policy without your explicit consent. We always indicate the date the last changes were published and we offer access to archived versions for your review. If changes are significant, we'll provide a more prominent</a:t>
            </a:r>
          </a:p>
          <a:p>
            <a:r>
              <a:rPr lang="en-US" sz="5000"/>
              <a:t>  </a:t>
            </a:r>
          </a:p>
          <a:p>
            <a:r>
              <a:rPr lang="en-US" sz="3700">
                <a:solidFill>
                  <a:srgbClr val="252525"/>
                </a:solidFill>
              </a:rPr>
              <a:t>notice (including, for certain services, email notification of Privacy Policy changes).</a:t>
            </a:r>
          </a:p>
          <a:p>
            <a:r>
              <a:rPr lang="en-US" sz="5000"/>
              <a:t>  </a:t>
            </a:r>
          </a:p>
          <a:p>
            <a:r>
              <a:rPr lang="en-US" sz="3700">
                <a:solidFill>
                  <a:srgbClr val="252525"/>
                </a:solidFill>
              </a:rPr>
              <a:t>RELATED PRIVACY PRACTICES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Specific Google services</a:t>
            </a:r>
          </a:p>
          <a:p>
            <a:r>
              <a:rPr lang="en-US" sz="5000"/>
              <a:t>  </a:t>
            </a:r>
          </a:p>
          <a:p>
            <a:r>
              <a:rPr lang="en-US" sz="3700">
                <a:solidFill>
                  <a:srgbClr val="252525"/>
                </a:solidFill>
              </a:rPr>
              <a:t>The following privacy notices provide additional information about some Google services:</a:t>
            </a:r>
          </a:p>
          <a:p>
            <a:r>
              <a:rPr lang="en-US" sz="5000"/>
              <a:t>  </a:t>
            </a:r>
          </a:p>
          <a:p>
            <a:r>
              <a:rPr lang="en-US" sz="3700">
                <a:solidFill>
                  <a:srgbClr val="252525"/>
                </a:solidFill>
              </a:rPr>
              <a:t>° Chrome &amp; the Chrome Operating System ° Play Books</a:t>
            </a:r>
          </a:p>
          <a:p>
            <a:r>
              <a:rPr lang="en-US" sz="5000"/>
              <a:t>  </a:t>
            </a:r>
          </a:p>
          <a:p>
            <a:r>
              <a:rPr lang="en-US" sz="3700">
                <a:solidFill>
                  <a:srgbClr val="252525"/>
                </a:solidFill>
              </a:rPr>
              <a:t>e Payments</a:t>
            </a:r>
          </a:p>
          <a:p>
            <a:r>
              <a:rPr lang="en-US" sz="5000"/>
              <a:t>  </a:t>
            </a:r>
          </a:p>
          <a:p>
            <a:r>
              <a:rPr lang="en-US" sz="3700">
                <a:solidFill>
                  <a:srgbClr val="252525"/>
                </a:solidFill>
              </a:rPr>
              <a:t>° Fiber</a:t>
            </a:r>
          </a:p>
          <a:p>
            <a:r>
              <a:rPr lang="en-US" sz="5000"/>
              <a:t>  </a:t>
            </a:r>
          </a:p>
          <a:p>
            <a:r>
              <a:rPr lang="en-US" sz="3700">
                <a:solidFill>
                  <a:srgbClr val="252525"/>
                </a:solidFill>
              </a:rPr>
              <a:t>° Project Fi</a:t>
            </a:r>
          </a:p>
          <a:p>
            <a:r>
              <a:rPr lang="en-US" sz="5000"/>
              <a:t>  </a:t>
            </a:r>
          </a:p>
          <a:p>
            <a:r>
              <a:rPr lang="en-US" sz="3700">
                <a:solidFill>
                  <a:srgbClr val="252525"/>
                </a:solidFill>
              </a:rPr>
              <a:t>° G Suite for Education</a:t>
            </a:r>
          </a:p>
          <a:p>
            <a:r>
              <a:rPr lang="en-US" sz="5000"/>
              <a:t>  </a:t>
            </a:r>
          </a:p>
          <a:p>
            <a:r>
              <a:rPr lang="en-US" sz="3700">
                <a:solidFill>
                  <a:srgbClr val="252525"/>
                </a:solidFill>
              </a:rPr>
              <a:t>e YouTube Kids</a:t>
            </a:r>
          </a:p>
          <a:p>
            <a:r>
              <a:rPr lang="en-US" sz="5000"/>
              <a:t>  </a:t>
            </a:r>
          </a:p>
          <a:p>
            <a:r>
              <a:rPr lang="en-US" sz="3700">
                <a:solidFill>
                  <a:srgbClr val="252525"/>
                </a:solidFill>
              </a:rPr>
              <a:t>° Google Accounts Managed with Family Link</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Other useful resources</a:t>
            </a:r>
          </a:p>
          <a:p>
            <a:r>
              <a:rPr lang="en-US" sz="5000"/>
              <a:t>  </a:t>
            </a:r>
          </a:p>
          <a:p>
            <a:r>
              <a:rPr lang="en-US" sz="3700">
                <a:solidFill>
                  <a:srgbClr val="252525"/>
                </a:solidFill>
              </a:rPr>
              <a:t>The following links highlight useful resources for you to learn more about our practices and privacy</a:t>
            </a:r>
          </a:p>
          <a:p>
            <a:r>
              <a:rPr lang="en-US" sz="5000"/>
              <a:t>  </a:t>
            </a:r>
          </a:p>
          <a:p>
            <a:r>
              <a:rPr lang="en-US" sz="3700">
                <a:solidFill>
                  <a:srgbClr val="252525"/>
                </a:solidFill>
              </a:rPr>
              <a:t>settings.</a:t>
            </a:r>
          </a:p>
          <a:p>
            <a:r>
              <a:rPr lang="en-US" sz="5000"/>
              <a:t>  </a:t>
            </a:r>
          </a:p>
          <a:p>
            <a:r>
              <a:rPr lang="en-US" sz="3700">
                <a:solidFill>
                  <a:srgbClr val="252525"/>
                </a:solidFill>
              </a:rPr>
              <a:t>° Your Google Account is home to many of the settings you can use to manage your account ° Privacy Checkup guides you through key privacy settings for your Google Account ° Google's safety center offers advice for staying safe &amp; secure</a:t>
            </a:r>
          </a:p>
          <a:p>
            <a:r>
              <a:rPr lang="en-US" sz="5000"/>
              <a:t>  </a:t>
            </a:r>
          </a:p>
          <a:p>
            <a:r>
              <a:rPr lang="en-US" sz="3700">
                <a:solidFill>
                  <a:srgbClr val="252525"/>
                </a:solidFill>
              </a:rPr>
              <a:t>° Google's privacy site provides more information about how we keep your information private and</a:t>
            </a:r>
          </a:p>
          <a:p>
            <a:r>
              <a:rPr lang="en-US" sz="5000"/>
              <a:t>  </a:t>
            </a:r>
          </a:p>
          <a:p>
            <a:r>
              <a:rPr lang="en-US" sz="3700">
                <a:solidFill>
                  <a:srgbClr val="252525"/>
                </a:solidFill>
              </a:rPr>
              <a:t>safe ° Privacy &amp; Terms provides more context regarding this Privacy Policy and our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2" id="102"/>
          <p:cNvPicPr>
            <a:picLocks noChangeAspect="true"/>
          </p:cNvPicPr>
          <p:nvPr/>
        </p:nvPicPr>
        <p:blipFill>
          <a:blip r:embed="rId102"/>
          <a:stretch>
            <a:fillRect/>
          </a:stretch>
        </p:blipFill>
        <p:spPr>
          <a:xfrm>
            <a:off x="0" y="127000"/>
            <a:ext cx="23749000" cy="16548100"/>
          </a:xfrm>
          <a:prstGeom prst="rect">
            <a:avLst/>
          </a:prstGeom>
        </p:spPr>
      </p:pic>
      <p:sp>
        <p:nvSpPr>
          <p:cNvPr name="TextBox 102" id="1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Terms of Service ° Technologies and Principles includes more information about:</a:t>
            </a:r>
          </a:p>
          <a:p>
            <a:r>
              <a:rPr lang="en-US" sz="5000"/>
              <a:t>  </a:t>
            </a:r>
          </a:p>
          <a:p>
            <a:r>
              <a:rPr lang="en-US" sz="3700">
                <a:solidFill>
                  <a:srgbClr val="252525"/>
                </a:solidFill>
              </a:rPr>
              <a:t>o How Google uses cookies</a:t>
            </a:r>
          </a:p>
          <a:p>
            <a:r>
              <a:rPr lang="en-US" sz="5000"/>
              <a:t>  </a:t>
            </a:r>
          </a:p>
          <a:p>
            <a:r>
              <a:rPr lang="en-US" sz="3700">
                <a:solidFill>
                  <a:srgbClr val="252525"/>
                </a:solidFill>
              </a:rPr>
              <a:t>o Technologies used for Advertising</a:t>
            </a:r>
          </a:p>
          <a:p>
            <a:r>
              <a:rPr lang="en-US" sz="5000"/>
              <a:t>  </a:t>
            </a:r>
          </a:p>
          <a:p>
            <a:r>
              <a:rPr lang="en-US" sz="3700">
                <a:solidFill>
                  <a:srgbClr val="252525"/>
                </a:solidFill>
              </a:rPr>
              <a:t>o How Google uses pattern recognition to recognize things like faces in photos</a:t>
            </a:r>
          </a:p>
          <a:p>
            <a:r>
              <a:rPr lang="en-US" sz="5000"/>
              <a:t>  </a:t>
            </a:r>
          </a:p>
          <a:p>
            <a:r>
              <a:rPr lang="en-US" sz="3700">
                <a:solidFill>
                  <a:srgbClr val="252525"/>
                </a:solidFill>
              </a:rPr>
              <a:t>o A page that explains what data is shared with Google when you visit websites that use our</a:t>
            </a:r>
          </a:p>
          <a:p>
            <a:r>
              <a:rPr lang="en-US" sz="5000"/>
              <a:t>  </a:t>
            </a:r>
          </a:p>
          <a:p>
            <a:r>
              <a:rPr lang="en-US" sz="3700">
                <a:solidFill>
                  <a:srgbClr val="252525"/>
                </a:solidFill>
              </a:rPr>
              <a:t>advertising, analytics and social products.</a:t>
            </a:r>
          </a:p>
          <a:p>
            <a:r>
              <a:rPr lang="en-US" sz="5000"/>
              <a:t>  </a:t>
            </a:r>
          </a:p>
          <a:p>
            <a:r>
              <a:rPr lang="en-US" sz="3700">
                <a:solidFill>
                  <a:srgbClr val="252525"/>
                </a:solidFill>
              </a:rPr>
              <a:t>o How Google uses data when you use our partners' sites or apps</a:t>
            </a:r>
          </a:p>
          <a:p>
            <a:r>
              <a:rPr lang="en-US" sz="5000"/>
              <a:t>  </a:t>
            </a:r>
          </a:p>
          <a:p>
            <a:r>
              <a:rPr lang="en-US" sz="3700">
                <a:solidFill>
                  <a:srgbClr val="252525"/>
                </a:solidFill>
              </a:rPr>
              <a:t>ads you'll find most useful</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example, if you watch videos about baking on YouTube, you may see more ads that relate to baking as you browse the web. We also may use your IP address to determine your approximate location, so that we can serve you ads for a nearby pizza delivery service if you search for “pizza.” Learn more about</a:t>
            </a:r>
          </a:p>
          <a:p>
            <a:r>
              <a:rPr lang="en-US" sz="5000"/>
              <a:t>  </a:t>
            </a:r>
          </a:p>
          <a:p>
            <a:r>
              <a:rPr lang="en-US" sz="3700">
                <a:solidFill>
                  <a:srgbClr val="252525"/>
                </a:solidFill>
              </a:rPr>
              <a:t>Google ads and why you may see particular ads.</a:t>
            </a:r>
          </a:p>
          <a:p>
            <a:r>
              <a:rPr lang="en-US" sz="5000"/>
              <a:t>  </a:t>
            </a:r>
          </a:p>
          <a:p>
            <a:r>
              <a:rPr lang="en-US" sz="3700">
                <a:solidFill>
                  <a:srgbClr val="252525"/>
                </a:solidFill>
              </a:rPr>
              <a:t>the people who matter most to you online</a:t>
            </a:r>
          </a:p>
          <a:p>
            <a:r>
              <a:rPr lang="en-US" sz="5000"/>
              <a:t>  </a:t>
            </a:r>
          </a:p>
          <a:p>
            <a:r>
              <a:rPr lang="en-US" sz="3700">
                <a:solidFill>
                  <a:srgbClr val="252525"/>
                </a:solidFill>
              </a:rPr>
              <a:t>For example, when you type an address in the To, Cc, or Bcc field of an email you're composing, Gmail will</a:t>
            </a:r>
          </a:p>
          <a:p>
            <a:r>
              <a:rPr lang="en-US" sz="5000"/>
              <a:t>  </a:t>
            </a:r>
          </a:p>
          <a:p>
            <a:r>
              <a:rPr lang="en-US" sz="3700">
                <a:solidFill>
                  <a:srgbClr val="252525"/>
                </a:solidFill>
              </a:rPr>
              <a:t>suggest addresses based on the people you contact most frequently.</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phone number</a:t>
            </a:r>
          </a:p>
          <a:p>
            <a:r>
              <a:rPr lang="en-US" sz="5000"/>
              <a:t>  </a:t>
            </a:r>
          </a:p>
          <a:p>
            <a:r>
              <a:rPr lang="en-US" sz="3700">
                <a:solidFill>
                  <a:srgbClr val="252525"/>
                </a:solidFill>
              </a:rPr>
              <a:t>If you add your phone number to your account, it can be used for different purposes across Google services, depending on your settings. For example, your phone number can be used to help you access your account if you forget your password, help people find and connect with you, and make the ads you</a:t>
            </a:r>
          </a:p>
          <a:p>
            <a:r>
              <a:rPr lang="en-US" sz="5000"/>
              <a:t>  </a:t>
            </a:r>
          </a:p>
          <a:p>
            <a:r>
              <a:rPr lang="en-US" sz="3700">
                <a:solidFill>
                  <a:srgbClr val="252525"/>
                </a:solidFill>
              </a:rPr>
              <a:t>see more relevant to you. Learn more</a:t>
            </a:r>
          </a:p>
          <a:p>
            <a:r>
              <a:rPr lang="en-US" sz="5000"/>
              <a:t>  </a:t>
            </a:r>
          </a:p>
          <a:p>
            <a:r>
              <a:rPr lang="en-US" sz="3700">
                <a:solidFill>
                  <a:srgbClr val="252525"/>
                </a:solidFill>
              </a:rPr>
              <a:t>payment information</a:t>
            </a:r>
          </a:p>
          <a:p>
            <a:r>
              <a:rPr lang="en-US" sz="5000"/>
              <a:t>  </a:t>
            </a:r>
          </a:p>
          <a:p>
            <a:r>
              <a:rPr lang="en-US" sz="3700">
                <a:solidFill>
                  <a:srgbClr val="252525"/>
                </a:solidFill>
              </a:rPr>
              <a:t>For example, if you add a credit card or other payment method to your Google Account, you can use it to buy things across our services, like apps in the Play Store. We may also ask for other information, like a business tax ID, to help process your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8" id="108"/>
          <p:cNvPicPr>
            <a:picLocks noChangeAspect="true"/>
          </p:cNvPicPr>
          <p:nvPr/>
        </p:nvPicPr>
        <p:blipFill>
          <a:blip r:embed="rId108"/>
          <a:stretch>
            <a:fillRect/>
          </a:stretch>
        </p:blipFill>
        <p:spPr>
          <a:xfrm>
            <a:off x="0" y="127000"/>
            <a:ext cx="23749000" cy="16548100"/>
          </a:xfrm>
          <a:prstGeom prst="rect">
            <a:avLst/>
          </a:prstGeom>
        </p:spPr>
      </p:pic>
      <p:sp>
        <p:nvSpPr>
          <p:cNvPr name="TextBox 108" id="1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payment. In some cases, we may also need to verify your identity</a:t>
            </a:r>
          </a:p>
          <a:p>
            <a:r>
              <a:rPr lang="en-US" sz="5000"/>
              <a:t>  </a:t>
            </a:r>
          </a:p>
          <a:p>
            <a:r>
              <a:rPr lang="en-US" sz="3700">
                <a:solidFill>
                  <a:srgbClr val="252525"/>
                </a:solidFill>
              </a:rPr>
              <a:t>and may ask you for information to do this.</a:t>
            </a:r>
          </a:p>
          <a:p>
            <a:r>
              <a:rPr lang="en-US" sz="5000"/>
              <a:t>  </a:t>
            </a:r>
          </a:p>
          <a:p>
            <a:r>
              <a:rPr lang="en-US" sz="3700">
                <a:solidFill>
                  <a:srgbClr val="252525"/>
                </a:solidFill>
              </a:rPr>
              <a:t>We may also use payment information to verify that you meet age requirements, if, for example, you enter</a:t>
            </a:r>
          </a:p>
          <a:p>
            <a:r>
              <a:rPr lang="en-US" sz="5000"/>
              <a:t>  </a:t>
            </a:r>
          </a:p>
          <a:p>
            <a:r>
              <a:rPr lang="en-US" sz="3700">
                <a:solidFill>
                  <a:srgbClr val="252525"/>
                </a:solidFill>
              </a:rPr>
              <a:t>an incorrect birthday indicating you’re not old enough to have a Google Account. Learn more</a:t>
            </a:r>
          </a:p>
          <a:p>
            <a:r>
              <a:rPr lang="en-US" sz="5000"/>
              <a:t>  </a:t>
            </a:r>
          </a:p>
          <a:p>
            <a:r>
              <a:rPr lang="en-US" sz="3700">
                <a:solidFill>
                  <a:srgbClr val="252525"/>
                </a:solidFill>
              </a:rPr>
              <a:t>devices</a:t>
            </a:r>
          </a:p>
          <a:p>
            <a:r>
              <a:rPr lang="en-US" sz="5000"/>
              <a:t>  </a:t>
            </a:r>
          </a:p>
          <a:p>
            <a:r>
              <a:rPr lang="en-US" sz="3700">
                <a:solidFill>
                  <a:srgbClr val="252525"/>
                </a:solidFill>
              </a:rPr>
              <a:t>For example, we can use information from your devices to help you decide which device you'd like to use to install an app or view a movie you buy from Google Play. We also use this information to help protect</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your account.</a:t>
            </a:r>
          </a:p>
          <a:p>
            <a:r>
              <a:rPr lang="en-US" sz="5000"/>
              <a:t>  </a:t>
            </a:r>
          </a:p>
          <a:p>
            <a:r>
              <a:rPr lang="en-US" sz="3700">
                <a:solidFill>
                  <a:srgbClr val="252525"/>
                </a:solidFill>
              </a:rPr>
              <a:t>Android device with Google apps</a:t>
            </a:r>
          </a:p>
          <a:p>
            <a:r>
              <a:rPr lang="en-US" sz="5000"/>
              <a:t>  </a:t>
            </a:r>
          </a:p>
          <a:p>
            <a:r>
              <a:rPr lang="en-US" sz="3700">
                <a:solidFill>
                  <a:srgbClr val="252525"/>
                </a:solidFill>
              </a:rPr>
              <a:t>Android devices with Google apps include devices sold by Google or one of our partners and include phones, cameras, vehicles, wearables, and televisions. These devices use Google Play Services and other pre-installed apps that include services like Gmail, Maps, your phone's camera and phone dialer, text-to-</a:t>
            </a:r>
          </a:p>
          <a:p>
            <a:r>
              <a:rPr lang="en-US" sz="5000"/>
              <a:t>  </a:t>
            </a:r>
          </a:p>
          <a:p>
            <a:r>
              <a:rPr lang="en-US" sz="3700">
                <a:solidFill>
                  <a:srgbClr val="252525"/>
                </a:solidFill>
              </a:rPr>
              <a:t>speech conversion, keyboard input, and security features.</a:t>
            </a:r>
          </a:p>
          <a:p>
            <a:r>
              <a:rPr lang="en-US" sz="5000"/>
              <a:t>  </a:t>
            </a:r>
          </a:p>
          <a:p>
            <a:r>
              <a:rPr lang="en-US" sz="3700">
                <a:solidFill>
                  <a:srgbClr val="252525"/>
                </a:solidFill>
              </a:rPr>
              <a:t>Views and interactions with content and ads</a:t>
            </a:r>
          </a:p>
          <a:p>
            <a:r>
              <a:rPr lang="en-US" sz="5000"/>
              <a:t>  </a:t>
            </a:r>
          </a:p>
          <a:p>
            <a:r>
              <a:rPr lang="en-US" sz="3700">
                <a:solidFill>
                  <a:srgbClr val="252525"/>
                </a:solidFill>
              </a:rPr>
              <a:t>For example, we collect information about views and interactions with ads so we can provide aggregated reports to advertisers, </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like telling them whether we served their ad on a page and whether the ad was likely seen by a viewer. We may also measure other interactions, such as how you move your mouse over</a:t>
            </a:r>
          </a:p>
          <a:p>
            <a:r>
              <a:rPr lang="en-US" sz="5000"/>
              <a:t>  </a:t>
            </a:r>
          </a:p>
          <a:p>
            <a:r>
              <a:rPr lang="en-US" sz="3700">
                <a:solidFill>
                  <a:srgbClr val="252525"/>
                </a:solidFill>
              </a:rPr>
              <a:t>an ad or if you interact with the page on which the ad appears.</a:t>
            </a:r>
          </a:p>
          <a:p>
            <a:r>
              <a:rPr lang="en-US" sz="5000"/>
              <a:t>  </a:t>
            </a:r>
          </a:p>
          <a:p>
            <a:r>
              <a:rPr lang="en-US" sz="3700">
                <a:solidFill>
                  <a:srgbClr val="252525"/>
                </a:solidFill>
              </a:rPr>
              <a:t>synced with your Google Account</a:t>
            </a:r>
          </a:p>
          <a:p>
            <a:r>
              <a:rPr lang="en-US" sz="5000"/>
              <a:t>  </a:t>
            </a:r>
          </a:p>
          <a:p>
            <a:r>
              <a:rPr lang="en-US" sz="3700">
                <a:solidFill>
                  <a:srgbClr val="252525"/>
                </a:solidFill>
              </a:rPr>
              <a:t>Your Chrome browsing history is only saved to your account if you’ve enabled Chrome synchronization</a:t>
            </a:r>
          </a:p>
          <a:p>
            <a:r>
              <a:rPr lang="en-US" sz="5000"/>
              <a:t>  </a:t>
            </a:r>
          </a:p>
          <a:p>
            <a:r>
              <a:rPr lang="en-US" sz="3700">
                <a:solidFill>
                  <a:srgbClr val="252525"/>
                </a:solidFill>
              </a:rPr>
              <a:t>with your Google Account. Learn more</a:t>
            </a:r>
          </a:p>
          <a:p>
            <a:r>
              <a:rPr lang="en-US" sz="5000"/>
              <a:t>  </a:t>
            </a:r>
          </a:p>
          <a:p>
            <a:r>
              <a:rPr lang="en-US" sz="3700">
                <a:solidFill>
                  <a:srgbClr val="252525"/>
                </a:solidFill>
              </a:rPr>
              <a:t>services to make and receive calls or send and receive messages</a:t>
            </a:r>
          </a:p>
          <a:p>
            <a:r>
              <a:rPr lang="en-US" sz="5000"/>
              <a:t>  </a:t>
            </a:r>
          </a:p>
          <a:p>
            <a:r>
              <a:rPr lang="en-US" sz="3700">
                <a:solidFill>
                  <a:srgbClr val="252525"/>
                </a:solidFill>
              </a:rPr>
              <a:t>Examples of these services include:</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4" id="114"/>
          <p:cNvPicPr>
            <a:picLocks noChangeAspect="true"/>
          </p:cNvPicPr>
          <p:nvPr/>
        </p:nvPicPr>
        <p:blipFill>
          <a:blip r:embed="rId114"/>
          <a:stretch>
            <a:fillRect/>
          </a:stretch>
        </p:blipFill>
        <p:spPr>
          <a:xfrm>
            <a:off x="0" y="127000"/>
            <a:ext cx="23749000" cy="16548100"/>
          </a:xfrm>
          <a:prstGeom prst="rect">
            <a:avLst/>
          </a:prstGeom>
        </p:spPr>
      </p:pic>
      <p:sp>
        <p:nvSpPr>
          <p:cNvPr name="TextBox 114" id="11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Google Hangouts, for making domestic and international calls ° Google Voice, for making calls, sending text messages, and managing voicemail</a:t>
            </a:r>
          </a:p>
          <a:p>
            <a:r>
              <a:rPr lang="en-US" sz="5000"/>
              <a:t>  </a:t>
            </a:r>
          </a:p>
          <a:p>
            <a:r>
              <a:rPr lang="en-US" sz="3700">
                <a:solidFill>
                  <a:srgbClr val="252525"/>
                </a:solidFill>
              </a:rPr>
              <a:t>° Project Fi, for a phone plan</a:t>
            </a:r>
          </a:p>
          <a:p>
            <a:r>
              <a:rPr lang="en-US" sz="5000"/>
              <a:t>  </a:t>
            </a:r>
          </a:p>
          <a:p>
            <a:r>
              <a:rPr lang="en-US" sz="3700">
                <a:solidFill>
                  <a:srgbClr val="252525"/>
                </a:solidFill>
              </a:rPr>
              <a:t>Sensor data from your device</a:t>
            </a:r>
          </a:p>
          <a:p>
            <a:r>
              <a:rPr lang="en-US" sz="5000"/>
              <a:t>  </a:t>
            </a:r>
          </a:p>
          <a:p>
            <a:r>
              <a:rPr lang="en-US" sz="3700">
                <a:solidFill>
                  <a:srgbClr val="252525"/>
                </a:solidFill>
              </a:rPr>
              <a:t>Your device may have sensors that can be used to better understand your location and movement. For example, an accelerometer can be used to determine your speed and a gyroscope to figure out your direction of travel.</a:t>
            </a:r>
          </a:p>
          <a:p>
            <a:r>
              <a:rPr lang="en-US" sz="5000"/>
              <a:t>  </a:t>
            </a:r>
          </a:p>
          <a:p>
            <a:r>
              <a:rPr lang="en-US" sz="3700">
                <a:solidFill>
                  <a:srgbClr val="252525"/>
                </a:solidFill>
              </a:rPr>
              <a:t>Information about things near your device</a:t>
            </a:r>
          </a:p>
          <a:p>
            <a:r>
              <a:rPr lang="en-US" sz="5000"/>
              <a:t>  </a:t>
            </a:r>
          </a:p>
          <a:p>
            <a:r>
              <a:rPr lang="en-US" sz="3700">
                <a:solidFill>
                  <a:srgbClr val="252525"/>
                </a:solidFill>
              </a:rPr>
              <a:t>If you use Google's Location services on Android, we can improve the performance of </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6" id="116"/>
          <p:cNvPicPr>
            <a:picLocks noChangeAspect="true"/>
          </p:cNvPicPr>
          <p:nvPr/>
        </p:nvPicPr>
        <p:blipFill>
          <a:blip r:embed="rId116"/>
          <a:stretch>
            <a:fillRect/>
          </a:stretch>
        </p:blipFill>
        <p:spPr>
          <a:xfrm>
            <a:off x="0" y="127000"/>
            <a:ext cx="23749000" cy="16548100"/>
          </a:xfrm>
          <a:prstGeom prst="rect">
            <a:avLst/>
          </a:prstGeom>
        </p:spPr>
      </p:pic>
      <p:sp>
        <p:nvSpPr>
          <p:cNvPr name="TextBox 116" id="1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apps that rely on your location, like Google Maps. If you use Google’s Location services, your device sends information to Google about its location, sensors (like accelerometer), and nearby cell towers and Wi-Fi access points (like MAC address and signal strength). All these things help to determine your location. You can use your</a:t>
            </a:r>
          </a:p>
          <a:p>
            <a:r>
              <a:rPr lang="en-US" sz="5000"/>
              <a:t>  </a:t>
            </a:r>
          </a:p>
          <a:p>
            <a:r>
              <a:rPr lang="en-US" sz="3700">
                <a:solidFill>
                  <a:srgbClr val="252525"/>
                </a:solidFill>
              </a:rPr>
              <a:t>device settings to enable Google Location services. Learn more</a:t>
            </a:r>
          </a:p>
          <a:p>
            <a:r>
              <a:rPr lang="en-US" sz="5000"/>
              <a:t>  </a:t>
            </a:r>
          </a:p>
          <a:p>
            <a:r>
              <a:rPr lang="en-US" sz="3700">
                <a:solidFill>
                  <a:srgbClr val="252525"/>
                </a:solidFill>
              </a:rPr>
              <a:t>publicly accessible sources</a:t>
            </a:r>
          </a:p>
          <a:p>
            <a:r>
              <a:rPr lang="en-US" sz="5000"/>
              <a:t>  </a:t>
            </a:r>
          </a:p>
          <a:p>
            <a:r>
              <a:rPr lang="en-US" sz="3700">
                <a:solidFill>
                  <a:srgbClr val="252525"/>
                </a:solidFill>
              </a:rPr>
              <a:t>For example, we may collect information that’s publicly available online or from other public sources to</a:t>
            </a:r>
          </a:p>
          <a:p>
            <a:r>
              <a:rPr lang="en-US" sz="5000"/>
              <a:t>  </a:t>
            </a:r>
          </a:p>
          <a:p>
            <a:r>
              <a:rPr lang="en-US" sz="3700">
                <a:solidFill>
                  <a:srgbClr val="252525"/>
                </a:solidFill>
              </a:rPr>
              <a:t>help train Google's language models and build features like Google Translate.</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protect against abuse</a:t>
            </a:r>
          </a:p>
          <a:p>
            <a:r>
              <a:rPr lang="en-US" sz="5000"/>
              <a:t>  </a:t>
            </a:r>
          </a:p>
          <a:p>
            <a:r>
              <a:rPr lang="en-US" sz="3700">
                <a:solidFill>
                  <a:srgbClr val="252525"/>
                </a:solidFill>
              </a:rPr>
              <a:t>For example, information about security threats can help us notify you if we think your account has been</a:t>
            </a:r>
          </a:p>
          <a:p>
            <a:r>
              <a:rPr lang="en-US" sz="5000"/>
              <a:t>  </a:t>
            </a:r>
          </a:p>
          <a:p>
            <a:r>
              <a:rPr lang="en-US" sz="3700">
                <a:solidFill>
                  <a:srgbClr val="252525"/>
                </a:solidFill>
              </a:rPr>
              <a:t>compromised (at which point we can help you take steps to protect your account).</a:t>
            </a:r>
          </a:p>
          <a:p>
            <a:r>
              <a:rPr lang="en-US" sz="5000"/>
              <a:t>  </a:t>
            </a:r>
          </a:p>
          <a:p>
            <a:r>
              <a:rPr lang="en-US" sz="3700">
                <a:solidFill>
                  <a:srgbClr val="252525"/>
                </a:solidFill>
              </a:rPr>
              <a:t>advertising and research services on their behalf</a:t>
            </a:r>
          </a:p>
          <a:p>
            <a:r>
              <a:rPr lang="en-US" sz="5000"/>
              <a:t>  </a:t>
            </a:r>
          </a:p>
          <a:p>
            <a:r>
              <a:rPr lang="en-US" sz="3700">
                <a:solidFill>
                  <a:srgbClr val="252525"/>
                </a:solidFill>
              </a:rPr>
              <a:t>For example, advertisers may upload data from their loyalty-card programs so that they can better understand the performance of their ad campaigns. We only provide aggregated reports to advertisers</a:t>
            </a:r>
          </a:p>
          <a:p>
            <a:r>
              <a:rPr lang="en-US" sz="5000"/>
              <a:t>  </a:t>
            </a:r>
          </a:p>
          <a:p>
            <a:r>
              <a:rPr lang="en-US" sz="3700">
                <a:solidFill>
                  <a:srgbClr val="252525"/>
                </a:solidFill>
              </a:rPr>
              <a:t>that don’t reveal information about individual people.</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0" id="120"/>
          <p:cNvPicPr>
            <a:picLocks noChangeAspect="true"/>
          </p:cNvPicPr>
          <p:nvPr/>
        </p:nvPicPr>
        <p:blipFill>
          <a:blip r:embed="rId120"/>
          <a:stretch>
            <a:fillRect/>
          </a:stretch>
        </p:blipFill>
        <p:spPr>
          <a:xfrm>
            <a:off x="0" y="127000"/>
            <a:ext cx="23749000" cy="16548100"/>
          </a:xfrm>
          <a:prstGeom prst="rect">
            <a:avLst/>
          </a:prstGeom>
        </p:spPr>
      </p:pic>
      <p:sp>
        <p:nvSpPr>
          <p:cNvPr name="TextBox 120" id="1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deliver our services</a:t>
            </a:r>
          </a:p>
          <a:p>
            <a:r>
              <a:rPr lang="en-US" sz="5000"/>
              <a:t>  </a:t>
            </a:r>
          </a:p>
          <a:p>
            <a:r>
              <a:rPr lang="en-US" sz="3700">
                <a:solidFill>
                  <a:srgbClr val="252525"/>
                </a:solidFill>
              </a:rPr>
              <a:t>Examples of how we use your information to deliver our services include:</a:t>
            </a:r>
          </a:p>
          <a:p>
            <a:r>
              <a:rPr lang="en-US" sz="5000"/>
              <a:t>  </a:t>
            </a:r>
          </a:p>
          <a:p>
            <a:r>
              <a:rPr lang="en-US" sz="3700">
                <a:solidFill>
                  <a:srgbClr val="252525"/>
                </a:solidFill>
              </a:rPr>
              <a:t>° We use the IP address assigned to your device to send you the data you requested, such as loading a YouTube video</a:t>
            </a:r>
          </a:p>
          <a:p>
            <a:r>
              <a:rPr lang="en-US" sz="5000"/>
              <a:t>  </a:t>
            </a:r>
          </a:p>
          <a:p>
            <a:r>
              <a:rPr lang="en-US" sz="3700">
                <a:solidFill>
                  <a:srgbClr val="252525"/>
                </a:solidFill>
              </a:rPr>
              <a:t>° We use unique identifiers stored in cookies on your device to help us authenticate you as the person</a:t>
            </a:r>
          </a:p>
          <a:p>
            <a:r>
              <a:rPr lang="en-US" sz="5000"/>
              <a:t>  </a:t>
            </a:r>
          </a:p>
          <a:p>
            <a:r>
              <a:rPr lang="en-US" sz="3700">
                <a:solidFill>
                  <a:srgbClr val="252525"/>
                </a:solidFill>
              </a:rPr>
              <a:t>who should have access to your Google Account</a:t>
            </a:r>
          </a:p>
          <a:p>
            <a:r>
              <a:rPr lang="en-US" sz="5000"/>
              <a:t>  </a:t>
            </a:r>
          </a:p>
          <a:p>
            <a:r>
              <a:rPr lang="en-US" sz="3700">
                <a:solidFill>
                  <a:srgbClr val="252525"/>
                </a:solidFill>
              </a:rPr>
              <a:t>° Photos and videos you upload to Google Photos are used to help you create albums, animations,</a:t>
            </a:r>
          </a:p>
          <a:p>
            <a:r>
              <a:rPr lang="en-US" sz="5000"/>
              <a:t>  </a:t>
            </a:r>
          </a:p>
          <a:p>
            <a:r>
              <a:rPr lang="en-US" sz="3700">
                <a:solidFill>
                  <a:srgbClr val="252525"/>
                </a:solidFill>
              </a:rPr>
              <a:t>and other creations that you can share. </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2" id="122"/>
          <p:cNvPicPr>
            <a:picLocks noChangeAspect="true"/>
          </p:cNvPicPr>
          <p:nvPr/>
        </p:nvPicPr>
        <p:blipFill>
          <a:blip r:embed="rId122"/>
          <a:stretch>
            <a:fillRect/>
          </a:stretch>
        </p:blipFill>
        <p:spPr>
          <a:xfrm>
            <a:off x="0" y="127000"/>
            <a:ext cx="23749000" cy="16548100"/>
          </a:xfrm>
          <a:prstGeom prst="rect">
            <a:avLst/>
          </a:prstGeom>
        </p:spPr>
      </p:pic>
      <p:sp>
        <p:nvSpPr>
          <p:cNvPr name="TextBox 122" id="1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Learn more</a:t>
            </a:r>
          </a:p>
          <a:p>
            <a:r>
              <a:rPr lang="en-US" sz="5000"/>
              <a:t>  </a:t>
            </a:r>
          </a:p>
          <a:p>
            <a:r>
              <a:rPr lang="en-US" sz="3700">
                <a:solidFill>
                  <a:srgbClr val="252525"/>
                </a:solidFill>
              </a:rPr>
              <a:t>° A flight confirmation email you receive may be used to create a “check-in” button that appears in</a:t>
            </a:r>
          </a:p>
          <a:p>
            <a:r>
              <a:rPr lang="en-US" sz="5000"/>
              <a:t>  </a:t>
            </a:r>
          </a:p>
          <a:p>
            <a:r>
              <a:rPr lang="en-US" sz="3700">
                <a:solidFill>
                  <a:srgbClr val="252525"/>
                </a:solidFill>
              </a:rPr>
              <a:t>your Gmail</a:t>
            </a:r>
          </a:p>
          <a:p>
            <a:r>
              <a:rPr lang="en-US" sz="5000"/>
              <a:t>  </a:t>
            </a:r>
          </a:p>
          <a:p>
            <a:r>
              <a:rPr lang="en-US" sz="3700">
                <a:solidFill>
                  <a:srgbClr val="252525"/>
                </a:solidFill>
              </a:rPr>
              <a:t>ensure our services are working as intended</a:t>
            </a:r>
          </a:p>
          <a:p>
            <a:r>
              <a:rPr lang="en-US" sz="5000"/>
              <a:t>  </a:t>
            </a:r>
          </a:p>
          <a:p>
            <a:r>
              <a:rPr lang="en-US" sz="3700">
                <a:solidFill>
                  <a:srgbClr val="252525"/>
                </a:solidFill>
              </a:rPr>
              <a:t>For example, we continuously monitor our systems to look for problems. And if we find something wrong with a specific feature, reviewing activity information collected before the problem started allows us to fix</a:t>
            </a:r>
          </a:p>
          <a:p>
            <a:r>
              <a:rPr lang="en-US" sz="5000"/>
              <a:t>  </a:t>
            </a:r>
          </a:p>
          <a:p>
            <a:r>
              <a:rPr lang="en-US" sz="3700">
                <a:solidFill>
                  <a:srgbClr val="252525"/>
                </a:solidFill>
              </a:rPr>
              <a:t>things more quickly.</a:t>
            </a:r>
          </a:p>
          <a:p>
            <a:r>
              <a:rPr lang="en-US" sz="5000"/>
              <a:t>  </a:t>
            </a:r>
          </a:p>
          <a:p>
            <a:r>
              <a:rPr lang="en-US" sz="3700">
                <a:solidFill>
                  <a:srgbClr val="252525"/>
                </a:solidFill>
              </a:rPr>
              <a:t>make improvements</a:t>
            </a:r>
          </a:p>
          <a:p>
            <a:r>
              <a:rPr lang="en-US" sz="5000"/>
              <a:t>  </a:t>
            </a:r>
          </a:p>
          <a:p>
            <a:r>
              <a:rPr lang="en-US" sz="3700">
                <a:solidFill>
                  <a:srgbClr val="252525"/>
                </a:solidFill>
              </a:rPr>
              <a:t>For example, we use cookies to analyze how </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4" id="124"/>
          <p:cNvPicPr>
            <a:picLocks noChangeAspect="true"/>
          </p:cNvPicPr>
          <p:nvPr/>
        </p:nvPicPr>
        <p:blipFill>
          <a:blip r:embed="rId124"/>
          <a:stretch>
            <a:fillRect/>
          </a:stretch>
        </p:blipFill>
        <p:spPr>
          <a:xfrm>
            <a:off x="0" y="127000"/>
            <a:ext cx="23749000" cy="16548100"/>
          </a:xfrm>
          <a:prstGeom prst="rect">
            <a:avLst/>
          </a:prstGeom>
        </p:spPr>
      </p:pic>
      <p:sp>
        <p:nvSpPr>
          <p:cNvPr name="TextBox 124" id="1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people interact with our services. And that analysis can help us build better products. For example, it may help us discover that it’s taking people too long to complete a certain task or that they have trouble finishing steps at all. We can then redesign that feature and</a:t>
            </a:r>
          </a:p>
          <a:p>
            <a:r>
              <a:rPr lang="en-US" sz="5000"/>
              <a:t>  </a:t>
            </a:r>
          </a:p>
          <a:p>
            <a:r>
              <a:rPr lang="en-US" sz="3700">
                <a:solidFill>
                  <a:srgbClr val="252525"/>
                </a:solidFill>
              </a:rPr>
              <a:t>improve the product for everyone.</a:t>
            </a:r>
          </a:p>
          <a:p>
            <a:r>
              <a:rPr lang="en-US" sz="5000"/>
              <a:t>  </a:t>
            </a:r>
          </a:p>
          <a:p>
            <a:r>
              <a:rPr lang="en-US" sz="3700">
                <a:solidFill>
                  <a:srgbClr val="252525"/>
                </a:solidFill>
              </a:rPr>
              <a:t>customized search results</a:t>
            </a:r>
          </a:p>
          <a:p>
            <a:r>
              <a:rPr lang="en-US" sz="5000"/>
              <a:t>  </a:t>
            </a:r>
          </a:p>
          <a:p>
            <a:r>
              <a:rPr lang="en-US" sz="3700">
                <a:solidFill>
                  <a:srgbClr val="252525"/>
                </a:solidFill>
              </a:rPr>
              <a:t>For example, when you're signed in to your Google Account and have the Web &amp; App Activity control enabled, you can get more relevant search results that are based on your previous searches and activity from other Google services. You can learn more here. You may also get customized search results even when you're signed out. If you don’t want this level of search customization, </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 can search and browse</a:t>
            </a:r>
          </a:p>
          <a:p>
            <a:r>
              <a:rPr lang="en-US" sz="5000"/>
              <a:t>  </a:t>
            </a:r>
          </a:p>
          <a:p>
            <a:r>
              <a:rPr lang="en-US" sz="3700">
                <a:solidFill>
                  <a:srgbClr val="252525"/>
                </a:solidFill>
              </a:rPr>
              <a:t>privately or turn off signed-out search personalization.</a:t>
            </a:r>
          </a:p>
          <a:p>
            <a:r>
              <a:rPr lang="en-US" sz="5000"/>
              <a:t>  </a:t>
            </a:r>
          </a:p>
          <a:p>
            <a:r>
              <a:rPr lang="en-US" sz="3700">
                <a:solidFill>
                  <a:srgbClr val="252525"/>
                </a:solidFill>
              </a:rPr>
              <a:t>personalized ads</a:t>
            </a:r>
          </a:p>
          <a:p>
            <a:r>
              <a:rPr lang="en-US" sz="5000"/>
              <a:t>  </a:t>
            </a:r>
          </a:p>
          <a:p>
            <a:r>
              <a:rPr lang="en-US" sz="3700">
                <a:solidFill>
                  <a:srgbClr val="252525"/>
                </a:solidFill>
              </a:rPr>
              <a:t>You may also see personalized ads based on information from the advertiser. If you shopped on an</a:t>
            </a:r>
          </a:p>
          <a:p>
            <a:r>
              <a:rPr lang="en-US" sz="5000"/>
              <a:t>  </a:t>
            </a:r>
          </a:p>
          <a:p>
            <a:r>
              <a:rPr lang="en-US" sz="3700">
                <a:solidFill>
                  <a:srgbClr val="252525"/>
                </a:solidFill>
              </a:rPr>
              <a:t>advertiser's website, for example, they can use that visit information to show you ads. Learn more</a:t>
            </a:r>
          </a:p>
          <a:p>
            <a:r>
              <a:rPr lang="en-US" sz="5000"/>
              <a:t>  </a:t>
            </a:r>
          </a:p>
          <a:p>
            <a:r>
              <a:rPr lang="en-US" sz="3700">
                <a:solidFill>
                  <a:srgbClr val="252525"/>
                </a:solidFill>
              </a:rPr>
              <a:t>sensitive categories</a:t>
            </a:r>
          </a:p>
          <a:p>
            <a:r>
              <a:rPr lang="en-US" sz="5000"/>
              <a:t>  </a:t>
            </a:r>
          </a:p>
          <a:p>
            <a:r>
              <a:rPr lang="en-US" sz="3700">
                <a:solidFill>
                  <a:srgbClr val="252525"/>
                </a:solidFill>
              </a:rPr>
              <a:t>When showing you personalized ads, we use topics that we think might be of interest to you based on your activity. For example, you may see ads for things like "Cooking and </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8" id="128"/>
          <p:cNvPicPr>
            <a:picLocks noChangeAspect="true"/>
          </p:cNvPicPr>
          <p:nvPr/>
        </p:nvPicPr>
        <p:blipFill>
          <a:blip r:embed="rId128"/>
          <a:stretch>
            <a:fillRect/>
          </a:stretch>
        </p:blipFill>
        <p:spPr>
          <a:xfrm>
            <a:off x="0" y="127000"/>
            <a:ext cx="23749000" cy="16548100"/>
          </a:xfrm>
          <a:prstGeom prst="rect">
            <a:avLst/>
          </a:prstGeom>
        </p:spPr>
      </p:pic>
      <p:sp>
        <p:nvSpPr>
          <p:cNvPr name="TextBox 128" id="1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Recipes’ or "Air Travel.” We don't use topics or show personalized ads based on sensitive categories like race, religion, sexual orientation, or</a:t>
            </a:r>
          </a:p>
          <a:p>
            <a:r>
              <a:rPr lang="en-US" sz="5000"/>
              <a:t>  </a:t>
            </a:r>
          </a:p>
          <a:p>
            <a:r>
              <a:rPr lang="en-US" sz="3700">
                <a:solidFill>
                  <a:srgbClr val="252525"/>
                </a:solidFill>
              </a:rPr>
              <a:t>health. And we require the same from advertisers that use our services.</a:t>
            </a:r>
          </a:p>
          <a:p>
            <a:r>
              <a:rPr lang="en-US" sz="5000"/>
              <a:t>  </a:t>
            </a:r>
          </a:p>
          <a:p>
            <a:r>
              <a:rPr lang="en-US" sz="3700">
                <a:solidFill>
                  <a:srgbClr val="252525"/>
                </a:solidFill>
              </a:rPr>
              <a:t>may link information</a:t>
            </a:r>
          </a:p>
          <a:p>
            <a:r>
              <a:rPr lang="en-US" sz="5000"/>
              <a:t>  </a:t>
            </a:r>
          </a:p>
          <a:p>
            <a:r>
              <a:rPr lang="en-US" sz="3700">
                <a:solidFill>
                  <a:srgbClr val="252525"/>
                </a:solidFill>
              </a:rPr>
              <a:t>Google Analytics relies on first-party cookies, which means the cookies are set by the Google Analytics customer. Using our systems, data generated through Google Analytics can be linked by the Google Analytics customer and by Google to third-party cookies that are related to visits to other websites. For example, an advertiser may want to use its Google Analytics data to create more relevant ads, or to</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further analyze its traffic. Learn more</a:t>
            </a:r>
          </a:p>
          <a:p>
            <a:r>
              <a:rPr lang="en-US" sz="5000"/>
              <a:t>  </a:t>
            </a:r>
          </a:p>
          <a:p>
            <a:r>
              <a:rPr lang="en-US" sz="3700">
                <a:solidFill>
                  <a:srgbClr val="252525"/>
                </a:solidFill>
              </a:rPr>
              <a:t>safety and reliability</a:t>
            </a:r>
          </a:p>
          <a:p>
            <a:r>
              <a:rPr lang="en-US" sz="5000"/>
              <a:t>  </a:t>
            </a:r>
          </a:p>
          <a:p>
            <a:r>
              <a:rPr lang="en-US" sz="3700">
                <a:solidFill>
                  <a:srgbClr val="252525"/>
                </a:solidFill>
              </a:rPr>
              <a:t>Some examples of how we use your information to help keep our services safe and reliable include:</a:t>
            </a:r>
          </a:p>
          <a:p>
            <a:r>
              <a:rPr lang="en-US" sz="5000"/>
              <a:t>  </a:t>
            </a:r>
          </a:p>
          <a:p>
            <a:r>
              <a:rPr lang="en-US" sz="3700">
                <a:solidFill>
                  <a:srgbClr val="252525"/>
                </a:solidFill>
              </a:rPr>
              <a:t>° Collecting and analyzing IP addresses and cookie data to protect against automated abuse. This abuse takes many forms, such as sending spam to Gmail users, stealing money from advertisers by fraudulently clicking on ads, or censoring content by launching a Distributed Denial of Service (DDoS) attack.</a:t>
            </a:r>
          </a:p>
          <a:p>
            <a:r>
              <a:rPr lang="en-US" sz="5000"/>
              <a:t>  </a:t>
            </a:r>
          </a:p>
          <a:p>
            <a:r>
              <a:rPr lang="en-US" sz="3700">
                <a:solidFill>
                  <a:srgbClr val="252525"/>
                </a:solidFill>
              </a:rPr>
              <a:t>° The “last account activity” feature in Gmail can help you find out if and when someone accessed your email without your knowledge. This feature shows you information about recent activity in Gmail, </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2" id="132"/>
          <p:cNvPicPr>
            <a:picLocks noChangeAspect="true"/>
          </p:cNvPicPr>
          <p:nvPr/>
        </p:nvPicPr>
        <p:blipFill>
          <a:blip r:embed="rId132"/>
          <a:stretch>
            <a:fillRect/>
          </a:stretch>
        </p:blipFill>
        <p:spPr>
          <a:xfrm>
            <a:off x="0" y="127000"/>
            <a:ext cx="23749000" cy="16548100"/>
          </a:xfrm>
          <a:prstGeom prst="rect">
            <a:avLst/>
          </a:prstGeom>
        </p:spPr>
      </p:pic>
      <p:sp>
        <p:nvSpPr>
          <p:cNvPr name="TextBox 132" id="1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such as the IP addresses that accessed your mail, the associated location, and the date and</a:t>
            </a:r>
          </a:p>
          <a:p>
            <a:r>
              <a:rPr lang="en-US" sz="5000"/>
              <a:t>  </a:t>
            </a:r>
          </a:p>
          <a:p>
            <a:r>
              <a:rPr lang="en-US" sz="3700">
                <a:solidFill>
                  <a:srgbClr val="252525"/>
                </a:solidFill>
              </a:rPr>
              <a:t>time of access. Learn more</a:t>
            </a:r>
          </a:p>
          <a:p>
            <a:r>
              <a:rPr lang="en-US" sz="5000"/>
              <a:t>  </a:t>
            </a:r>
          </a:p>
          <a:p>
            <a:r>
              <a:rPr lang="en-US" sz="3700">
                <a:solidFill>
                  <a:srgbClr val="252525"/>
                </a:solidFill>
              </a:rPr>
              <a:t>detect abuse</a:t>
            </a:r>
          </a:p>
          <a:p>
            <a:r>
              <a:rPr lang="en-US" sz="5000"/>
              <a:t>  </a:t>
            </a:r>
          </a:p>
          <a:p>
            <a:r>
              <a:rPr lang="en-US" sz="3700">
                <a:solidFill>
                  <a:srgbClr val="252525"/>
                </a:solidFill>
              </a:rPr>
              <a:t>When we detect spam, malware, illegal content, and other forms of abuse on our systems in violation of our policies, we may disable your account or take other appropriate action. In certain circumstances, we</a:t>
            </a:r>
          </a:p>
          <a:p>
            <a:r>
              <a:rPr lang="en-US" sz="5000"/>
              <a:t>  </a:t>
            </a:r>
          </a:p>
          <a:p>
            <a:r>
              <a:rPr lang="en-US" sz="3700">
                <a:solidFill>
                  <a:srgbClr val="252525"/>
                </a:solidFill>
              </a:rPr>
              <a:t>may also report the violation to appropriate authorities.</a:t>
            </a:r>
          </a:p>
          <a:p>
            <a:r>
              <a:rPr lang="en-US" sz="5000"/>
              <a:t>  </a:t>
            </a:r>
          </a:p>
          <a:p>
            <a:r>
              <a:rPr lang="en-US" sz="3700">
                <a:solidFill>
                  <a:srgbClr val="252525"/>
                </a:solidFill>
              </a:rPr>
              <a:t>combine the information we collect</a:t>
            </a:r>
          </a:p>
          <a:p>
            <a:r>
              <a:rPr lang="en-US" sz="5000"/>
              <a:t>  </a:t>
            </a:r>
          </a:p>
          <a:p>
            <a:r>
              <a:rPr lang="en-US" sz="3700">
                <a:solidFill>
                  <a:srgbClr val="252525"/>
                </a:solidFill>
              </a:rPr>
              <a:t>Some examples of how we combine the </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we collect include:</a:t>
            </a:r>
          </a:p>
          <a:p>
            <a:r>
              <a:rPr lang="en-US" sz="5000"/>
              <a:t>  </a:t>
            </a:r>
          </a:p>
          <a:p>
            <a:r>
              <a:rPr lang="en-US" sz="3700">
                <a:solidFill>
                  <a:srgbClr val="252525"/>
                </a:solidFill>
              </a:rPr>
              <a:t>° When you're signed in to your Google Account and search on Google, you can see search results from the public web, along with relevant information from the content you have in other Google products, like Gmail or Google Calendar. This can include things like the status of your upcoming</a:t>
            </a:r>
          </a:p>
          <a:p>
            <a:r>
              <a:rPr lang="en-US" sz="5000"/>
              <a:t>  </a:t>
            </a:r>
          </a:p>
          <a:p>
            <a:r>
              <a:rPr lang="en-US" sz="3700">
                <a:solidFill>
                  <a:srgbClr val="252525"/>
                </a:solidFill>
              </a:rPr>
              <a:t>flights, restaurant, and hotel reservations, or your photos. Learn more</a:t>
            </a:r>
          </a:p>
          <a:p>
            <a:r>
              <a:rPr lang="en-US" sz="5000"/>
              <a:t>  </a:t>
            </a:r>
          </a:p>
          <a:p>
            <a:r>
              <a:rPr lang="en-US" sz="3700">
                <a:solidFill>
                  <a:srgbClr val="252525"/>
                </a:solidFill>
              </a:rPr>
              <a:t>° If you have communicated with someone via Gmail and want to add them to a Google Doc or an event in Google Calendar, Google makes it easy to do so by autocompleting their email address when you start to type in their name. This feature makes it easier to share things with people you know.</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6" id="136"/>
          <p:cNvPicPr>
            <a:picLocks noChangeAspect="true"/>
          </p:cNvPicPr>
          <p:nvPr/>
        </p:nvPicPr>
        <p:blipFill>
          <a:blip r:embed="rId136"/>
          <a:stretch>
            <a:fillRect/>
          </a:stretch>
        </p:blipFill>
        <p:spPr>
          <a:xfrm>
            <a:off x="0" y="127000"/>
            <a:ext cx="23749000" cy="16548100"/>
          </a:xfrm>
          <a:prstGeom prst="rect">
            <a:avLst/>
          </a:prstGeom>
        </p:spPr>
      </p:pic>
      <p:sp>
        <p:nvSpPr>
          <p:cNvPr name="TextBox 136" id="1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Learn more</a:t>
            </a:r>
          </a:p>
          <a:p>
            <a:r>
              <a:rPr lang="en-US" sz="5000"/>
              <a:t>  </a:t>
            </a:r>
          </a:p>
          <a:p>
            <a:r>
              <a:rPr lang="en-US" sz="3700">
                <a:solidFill>
                  <a:srgbClr val="252525"/>
                </a:solidFill>
              </a:rPr>
              <a:t>° The Google app can use data that you have stored in other Google products to show you personalized content, depending on your settings. For example, if you have searches stored in your Web &amp; App Activity, the Google app can show you news articles and other information about your</a:t>
            </a:r>
          </a:p>
          <a:p>
            <a:r>
              <a:rPr lang="en-US" sz="5000"/>
              <a:t>  </a:t>
            </a:r>
          </a:p>
          <a:p>
            <a:r>
              <a:rPr lang="en-US" sz="3700">
                <a:solidFill>
                  <a:srgbClr val="252525"/>
                </a:solidFill>
              </a:rPr>
              <a:t>interests, like sports scores, based your activity. Learn more</a:t>
            </a:r>
          </a:p>
          <a:p>
            <a:r>
              <a:rPr lang="en-US" sz="5000"/>
              <a:t>  </a:t>
            </a:r>
          </a:p>
          <a:p>
            <a:r>
              <a:rPr lang="en-US" sz="3700">
                <a:solidFill>
                  <a:srgbClr val="252525"/>
                </a:solidFill>
              </a:rPr>
              <a:t>° If you link your Google Account to your Google Home, you can manage your information and get</a:t>
            </a:r>
          </a:p>
          <a:p>
            <a:r>
              <a:rPr lang="en-US" sz="5000"/>
              <a:t>  </a:t>
            </a:r>
          </a:p>
          <a:p>
            <a:r>
              <a:rPr lang="en-US" sz="3700">
                <a:solidFill>
                  <a:srgbClr val="252525"/>
                </a:solidFill>
              </a:rPr>
              <a:t>things done through the Google Assistant. For example, you can add events to your Google Calendar</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8" id="138"/>
          <p:cNvPicPr>
            <a:picLocks noChangeAspect="true"/>
          </p:cNvPicPr>
          <p:nvPr/>
        </p:nvPicPr>
        <p:blipFill>
          <a:blip r:embed="rId138"/>
          <a:stretch>
            <a:fillRect/>
          </a:stretch>
        </p:blipFill>
        <p:spPr>
          <a:xfrm>
            <a:off x="0" y="127000"/>
            <a:ext cx="23749000" cy="16548100"/>
          </a:xfrm>
          <a:prstGeom prst="rect">
            <a:avLst/>
          </a:prstGeom>
        </p:spPr>
      </p:pic>
      <p:sp>
        <p:nvSpPr>
          <p:cNvPr name="TextBox 138" id="1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 get your schedule for the day, ask for status updates on your upcoming flight, or send information</a:t>
            </a:r>
          </a:p>
          <a:p>
            <a:r>
              <a:rPr lang="en-US" sz="5000"/>
              <a:t>  </a:t>
            </a:r>
          </a:p>
          <a:p>
            <a:r>
              <a:rPr lang="en-US" sz="3700">
                <a:solidFill>
                  <a:srgbClr val="252525"/>
                </a:solidFill>
              </a:rPr>
              <a:t>like driving directions to your phone. Learn more</a:t>
            </a:r>
          </a:p>
          <a:p>
            <a:r>
              <a:rPr lang="en-US" sz="5000"/>
              <a:t>  </a:t>
            </a:r>
          </a:p>
          <a:p>
            <a:r>
              <a:rPr lang="en-US" sz="3700">
                <a:solidFill>
                  <a:srgbClr val="252525"/>
                </a:solidFill>
              </a:rPr>
              <a:t>your activity on other sites and apps</a:t>
            </a:r>
          </a:p>
          <a:p>
            <a:r>
              <a:rPr lang="en-US" sz="5000"/>
              <a:t>  </a:t>
            </a:r>
          </a:p>
          <a:p>
            <a:r>
              <a:rPr lang="en-US" sz="3700">
                <a:solidFill>
                  <a:srgbClr val="252525"/>
                </a:solidFill>
              </a:rPr>
              <a:t>This activity might come from your use of Google services, like from syncing your account with Chrome or your visits to sites and apps that partner with Google. Many websites and apps partner with Google to improve their content and services. For example, a website might use our advertising services (like AdSense) or analytics tools (like Google Analytics), or it might embed other content (such as videos from YouTube). These services may share information about your activity with Google and, depending on </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your account settings and the products in use (for instance, when a partner uses Google Analytics in</a:t>
            </a:r>
          </a:p>
          <a:p>
            <a:r>
              <a:rPr lang="en-US" sz="5000"/>
              <a:t>  </a:t>
            </a:r>
          </a:p>
          <a:p>
            <a:r>
              <a:rPr lang="en-US" sz="3700">
                <a:solidFill>
                  <a:srgbClr val="252525"/>
                </a:solidFill>
              </a:rPr>
              <a:t>conjunction with our advertising services), this data may be associated with your personal information.</a:t>
            </a:r>
          </a:p>
          <a:p>
            <a:r>
              <a:rPr lang="en-US" sz="5000"/>
              <a:t>  </a:t>
            </a:r>
          </a:p>
          <a:p>
            <a:r>
              <a:rPr lang="en-US" sz="3700">
                <a:solidFill>
                  <a:srgbClr val="252525"/>
                </a:solidFill>
              </a:rPr>
              <a:t>Learn more about how Google uses data when you use our partners’ sites or apps.</a:t>
            </a:r>
          </a:p>
          <a:p>
            <a:r>
              <a:rPr lang="en-US" sz="5000"/>
              <a:t>  </a:t>
            </a:r>
          </a:p>
          <a:p>
            <a:r>
              <a:rPr lang="en-US" sz="3700">
                <a:solidFill>
                  <a:srgbClr val="252525"/>
                </a:solidFill>
              </a:rPr>
              <a:t>partner with Google</a:t>
            </a:r>
          </a:p>
          <a:p>
            <a:r>
              <a:rPr lang="en-US" sz="5000"/>
              <a:t>  </a:t>
            </a:r>
          </a:p>
          <a:p>
            <a:r>
              <a:rPr lang="en-US" sz="3700">
                <a:solidFill>
                  <a:srgbClr val="252525"/>
                </a:solidFill>
              </a:rPr>
              <a:t>There are over 2 million non-Google websites and apps that partner with Google to show ads. Learn more</a:t>
            </a:r>
          </a:p>
          <a:p>
            <a:r>
              <a:rPr lang="en-US" sz="5000"/>
              <a:t>  </a:t>
            </a:r>
          </a:p>
          <a:p>
            <a:r>
              <a:rPr lang="en-US" sz="3700">
                <a:solidFill>
                  <a:srgbClr val="252525"/>
                </a:solidFill>
              </a:rPr>
              <a:t>specific Google services</a:t>
            </a:r>
          </a:p>
          <a:p>
            <a:r>
              <a:rPr lang="en-US" sz="5000"/>
              <a:t>  </a:t>
            </a:r>
          </a:p>
          <a:p>
            <a:r>
              <a:rPr lang="en-US" sz="3700">
                <a:solidFill>
                  <a:srgbClr val="252525"/>
                </a:solidFill>
              </a:rPr>
              <a:t>For example, you can delete your blog from Blogger or a Google Site you own from </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2" id="142"/>
          <p:cNvPicPr>
            <a:picLocks noChangeAspect="true"/>
          </p:cNvPicPr>
          <p:nvPr/>
        </p:nvPicPr>
        <p:blipFill>
          <a:blip r:embed="rId142"/>
          <a:stretch>
            <a:fillRect/>
          </a:stretch>
        </p:blipFill>
        <p:spPr>
          <a:xfrm>
            <a:off x="0" y="127000"/>
            <a:ext cx="23749000" cy="16548100"/>
          </a:xfrm>
          <a:prstGeom prst="rect">
            <a:avLst/>
          </a:prstGeom>
        </p:spPr>
      </p:pic>
      <p:sp>
        <p:nvSpPr>
          <p:cNvPr name="TextBox 142" id="1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Google Sites. You can</a:t>
            </a:r>
          </a:p>
          <a:p>
            <a:r>
              <a:rPr lang="en-US" sz="5000"/>
              <a:t>  </a:t>
            </a:r>
          </a:p>
          <a:p>
            <a:r>
              <a:rPr lang="en-US" sz="3700">
                <a:solidFill>
                  <a:srgbClr val="252525"/>
                </a:solidFill>
              </a:rPr>
              <a:t>also delete reviews you've left on apps, games, and other content in the Play Store.</a:t>
            </a:r>
          </a:p>
          <a:p>
            <a:r>
              <a:rPr lang="en-US" sz="5000"/>
              <a:t>  </a:t>
            </a:r>
          </a:p>
          <a:p>
            <a:r>
              <a:rPr lang="en-US" sz="3700">
                <a:solidFill>
                  <a:srgbClr val="252525"/>
                </a:solidFill>
              </a:rPr>
              <a:t>rely on cookies to function properly</a:t>
            </a:r>
          </a:p>
          <a:p>
            <a:r>
              <a:rPr lang="en-US" sz="5000"/>
              <a:t>  </a:t>
            </a:r>
          </a:p>
          <a:p>
            <a:r>
              <a:rPr lang="en-US" sz="3700">
                <a:solidFill>
                  <a:srgbClr val="252525"/>
                </a:solidFill>
              </a:rPr>
              <a:t>For example, we use a cookie called ‘Ibcs’ that makes it possible for you to open many Google Docs in one</a:t>
            </a:r>
          </a:p>
          <a:p>
            <a:r>
              <a:rPr lang="en-US" sz="5000"/>
              <a:t>  </a:t>
            </a:r>
          </a:p>
          <a:p>
            <a:r>
              <a:rPr lang="en-US" sz="3700">
                <a:solidFill>
                  <a:srgbClr val="252525"/>
                </a:solidFill>
              </a:rPr>
              <a:t>browser. Blocking this cookie would prevent Google Docs from working as expected. Learn more</a:t>
            </a:r>
          </a:p>
          <a:p>
            <a:r>
              <a:rPr lang="en-US" sz="5000"/>
              <a:t>  </a:t>
            </a:r>
          </a:p>
          <a:p>
            <a:r>
              <a:rPr lang="en-US" sz="3700">
                <a:solidFill>
                  <a:srgbClr val="252525"/>
                </a:solidFill>
              </a:rPr>
              <a:t>legal process, or enforceable governmental request</a:t>
            </a:r>
          </a:p>
          <a:p>
            <a:r>
              <a:rPr lang="en-US" sz="5000"/>
              <a:t>  </a:t>
            </a:r>
          </a:p>
          <a:p>
            <a:r>
              <a:rPr lang="en-US" sz="3700">
                <a:solidFill>
                  <a:srgbClr val="252525"/>
                </a:solidFill>
              </a:rPr>
              <a:t>Like other technology and communications companies, Google regularly receives requests from governments and courts </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4" id="144"/>
          <p:cNvPicPr>
            <a:picLocks noChangeAspect="true"/>
          </p:cNvPicPr>
          <p:nvPr/>
        </p:nvPicPr>
        <p:blipFill>
          <a:blip r:embed="rId144"/>
          <a:stretch>
            <a:fillRect/>
          </a:stretch>
        </p:blipFill>
        <p:spPr>
          <a:xfrm>
            <a:off x="0" y="127000"/>
            <a:ext cx="23749000" cy="16548100"/>
          </a:xfrm>
          <a:prstGeom prst="rect">
            <a:avLst/>
          </a:prstGeom>
        </p:spPr>
      </p:pic>
      <p:sp>
        <p:nvSpPr>
          <p:cNvPr name="TextBox 144" id="1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around the world to disclose user data. Respect for the privacy and security of data you store with Google underpins our approach to complying with these legal requests. Our legal team reviews each and every request, regardless of type, and we frequently push back when a request</a:t>
            </a:r>
          </a:p>
          <a:p>
            <a:r>
              <a:rPr lang="en-US" sz="5000"/>
              <a:t>  </a:t>
            </a:r>
          </a:p>
          <a:p>
            <a:r>
              <a:rPr lang="en-US" sz="3700">
                <a:solidFill>
                  <a:srgbClr val="252525"/>
                </a:solidFill>
              </a:rPr>
              <a:t>appears to be overly broad or doesn't follow the correct process. Learn more in our Transparency Report.</a:t>
            </a:r>
          </a:p>
          <a:p>
            <a:r>
              <a:rPr lang="en-US" sz="5000"/>
              <a:t>  </a:t>
            </a:r>
          </a:p>
          <a:p>
            <a:r>
              <a:rPr lang="en-US" sz="3700">
                <a:solidFill>
                  <a:srgbClr val="252525"/>
                </a:solidFill>
              </a:rPr>
              <a:t>show trends</a:t>
            </a:r>
          </a:p>
          <a:p>
            <a:r>
              <a:rPr lang="en-US" sz="5000"/>
              <a:t>  </a:t>
            </a:r>
          </a:p>
          <a:p>
            <a:r>
              <a:rPr lang="en-US" sz="3700">
                <a:solidFill>
                  <a:srgbClr val="252525"/>
                </a:solidFill>
              </a:rPr>
              <a:t>When lots of people start searching for something, it can provide useful information about particular trends at that time. Google Trends samples Google web searches to estimate the popularity of searches</a:t>
            </a:r>
          </a:p>
          <a:p>
            <a:r>
              <a:rPr lang="en-US" sz="5000"/>
              <a:t>  </a:t>
            </a:r>
          </a:p>
          <a:p>
            <a:r>
              <a:rPr lang="en-US" sz="3700">
                <a:solidFill>
                  <a:srgbClr val="252525"/>
                </a:solidFill>
              </a:rPr>
              <a:t>over a certain period of time and shares </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those results publicly in aggregated terms. Learn more</a:t>
            </a:r>
          </a:p>
          <a:p>
            <a:r>
              <a:rPr lang="en-US" sz="5000"/>
              <a:t>  </a:t>
            </a:r>
          </a:p>
          <a:p>
            <a:r>
              <a:rPr lang="en-US" sz="3700">
                <a:solidFill>
                  <a:srgbClr val="252525"/>
                </a:solidFill>
              </a:rPr>
              <a:t>specific partners</a:t>
            </a:r>
          </a:p>
          <a:p>
            <a:r>
              <a:rPr lang="en-US" sz="5000"/>
              <a:t>  </a:t>
            </a:r>
          </a:p>
          <a:p>
            <a:r>
              <a:rPr lang="en-US" sz="3700">
                <a:solidFill>
                  <a:srgbClr val="252525"/>
                </a:solidFill>
              </a:rPr>
              <a:t>For example, we allow YouTube creators and advertisers to work with measurement companies to learn about the audience of their YouTube videos or ads, using cookies or similar technologies. Another example is merchants on our shopping pages, who use cookies to understand how many different people</a:t>
            </a:r>
          </a:p>
          <a:p>
            <a:r>
              <a:rPr lang="en-US" sz="5000"/>
              <a:t>  </a:t>
            </a:r>
          </a:p>
          <a:p>
            <a:r>
              <a:rPr lang="en-US" sz="3700">
                <a:solidFill>
                  <a:srgbClr val="252525"/>
                </a:solidFill>
              </a:rPr>
              <a:t>see their product listings. Learn more about these partners and how they use your information.</a:t>
            </a:r>
          </a:p>
          <a:p>
            <a:r>
              <a:rPr lang="en-US" sz="5000"/>
              <a:t>  </a:t>
            </a:r>
          </a:p>
          <a:p>
            <a:r>
              <a:rPr lang="en-US" sz="3700">
                <a:solidFill>
                  <a:srgbClr val="252525"/>
                </a:solidFill>
              </a:rPr>
              <a:t>servers around the world</a:t>
            </a:r>
          </a:p>
          <a:p>
            <a:r>
              <a:rPr lang="en-US" sz="5000"/>
              <a:t>  </a:t>
            </a:r>
          </a:p>
          <a:p>
            <a:r>
              <a:rPr lang="en-US" sz="3700">
                <a:solidFill>
                  <a:srgbClr val="252525"/>
                </a:solidFill>
              </a:rPr>
              <a:t>For example, we operate data centers </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located around the world to help keep our products continuously available for users.</a:t>
            </a:r>
          </a:p>
          <a:p>
            <a:r>
              <a:rPr lang="en-US" sz="5000"/>
              <a:t>  </a:t>
            </a:r>
          </a:p>
          <a:p>
            <a:r>
              <a:rPr lang="en-US" sz="3700">
                <a:solidFill>
                  <a:srgbClr val="252525"/>
                </a:solidFill>
              </a:rPr>
              <a:t>third parties</a:t>
            </a:r>
          </a:p>
          <a:p>
            <a:r>
              <a:rPr lang="en-US" sz="5000"/>
              <a:t>  </a:t>
            </a:r>
          </a:p>
          <a:p>
            <a:r>
              <a:rPr lang="en-US" sz="3700">
                <a:solidFill>
                  <a:srgbClr val="252525"/>
                </a:solidFill>
              </a:rPr>
              <a:t>For example, we process your information to report use statistics to rights holders about how their content was used in our services. We may also process your information if people search for your name</a:t>
            </a:r>
          </a:p>
          <a:p>
            <a:r>
              <a:rPr lang="en-US" sz="5000"/>
              <a:t>  </a:t>
            </a:r>
          </a:p>
          <a:p>
            <a:r>
              <a:rPr lang="en-US" sz="3700">
                <a:solidFill>
                  <a:srgbClr val="252525"/>
                </a:solidFill>
              </a:rPr>
              <a:t>and we display search results for sites containing publicly available information about you.</a:t>
            </a:r>
          </a:p>
          <a:p>
            <a:r>
              <a:rPr lang="en-US" sz="5000"/>
              <a:t>  </a:t>
            </a:r>
          </a:p>
          <a:p>
            <a:r>
              <a:rPr lang="en-US" sz="3700">
                <a:solidFill>
                  <a:srgbClr val="252525"/>
                </a:solidFill>
              </a:rPr>
              <a:t>appropriate safeguards</a:t>
            </a:r>
          </a:p>
          <a:p>
            <a:r>
              <a:rPr lang="en-US" sz="5000"/>
              <a:t>  </a:t>
            </a:r>
          </a:p>
          <a:p>
            <a:r>
              <a:rPr lang="en-US" sz="3700">
                <a:solidFill>
                  <a:srgbClr val="252525"/>
                </a:solidFill>
              </a:rPr>
              <a:t>For example, we may anonymize data, or encrypt data to ensure it can’t be linked to other information</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0" id="150"/>
          <p:cNvPicPr>
            <a:picLocks noChangeAspect="true"/>
          </p:cNvPicPr>
          <p:nvPr/>
        </p:nvPicPr>
        <p:blipFill>
          <a:blip r:embed="rId150"/>
          <a:stretch>
            <a:fillRect/>
          </a:stretch>
        </p:blipFill>
        <p:spPr>
          <a:xfrm>
            <a:off x="0" y="127000"/>
            <a:ext cx="23749000" cy="16548100"/>
          </a:xfrm>
          <a:prstGeom prst="rect">
            <a:avLst/>
          </a:prstGeom>
        </p:spPr>
      </p:pic>
      <p:sp>
        <p:nvSpPr>
          <p:cNvPr name="TextBox 150" id="1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about you. Learn more</a:t>
            </a:r>
          </a:p>
          <a:p>
            <a:r>
              <a:rPr lang="en-US" sz="5000"/>
              <a:t>  </a:t>
            </a:r>
          </a:p>
          <a:p>
            <a:r>
              <a:rPr lang="en-US" sz="3700">
                <a:solidFill>
                  <a:srgbClr val="252525"/>
                </a:solidFill>
              </a:rPr>
              <a:t>ensure and improve</a:t>
            </a:r>
          </a:p>
          <a:p>
            <a:r>
              <a:rPr lang="en-US" sz="5000"/>
              <a:t>  </a:t>
            </a:r>
          </a:p>
          <a:p>
            <a:r>
              <a:rPr lang="en-US" sz="3700">
                <a:solidFill>
                  <a:srgbClr val="252525"/>
                </a:solidFill>
              </a:rPr>
              <a:t>For example, we analyze how people interact with advertising to improve the performance of our ads.</a:t>
            </a:r>
          </a:p>
          <a:p>
            <a:r>
              <a:rPr lang="en-US" sz="5000"/>
              <a:t>  </a:t>
            </a:r>
          </a:p>
          <a:p>
            <a:r>
              <a:rPr lang="en-US" sz="3700">
                <a:solidFill>
                  <a:srgbClr val="252525"/>
                </a:solidFill>
              </a:rPr>
              <a:t>Customizing our services</a:t>
            </a:r>
          </a:p>
          <a:p>
            <a:r>
              <a:rPr lang="en-US" sz="5000"/>
              <a:t>  </a:t>
            </a:r>
          </a:p>
          <a:p>
            <a:r>
              <a:rPr lang="en-US" sz="3700">
                <a:solidFill>
                  <a:srgbClr val="252525"/>
                </a:solidFill>
              </a:rPr>
              <a:t>For example, we may display a Google Doodle on the Search homepage to celebrate an event specific to</a:t>
            </a:r>
          </a:p>
          <a:p>
            <a:r>
              <a:rPr lang="en-US" sz="5000"/>
              <a:t>  </a:t>
            </a:r>
          </a:p>
          <a:p>
            <a:r>
              <a:rPr lang="en-US" sz="3700">
                <a:solidFill>
                  <a:srgbClr val="252525"/>
                </a:solidFill>
              </a:rPr>
              <a:t>your country.</a:t>
            </a:r>
          </a:p>
          <a:p>
            <a:r>
              <a:rPr lang="en-US" sz="5000"/>
              <a:t>  </a:t>
            </a:r>
          </a:p>
          <a:p>
            <a:r>
              <a:rPr lang="en-US" sz="3700">
                <a:solidFill>
                  <a:srgbClr val="252525"/>
                </a:solidFill>
              </a:rPr>
              <a:t>Affiliates</a:t>
            </a:r>
          </a:p>
          <a:p>
            <a:r>
              <a:rPr lang="en-US" sz="5000"/>
              <a:t>  </a:t>
            </a:r>
          </a:p>
          <a:p>
            <a:r>
              <a:rPr lang="en-US" sz="3700">
                <a:solidFill>
                  <a:srgbClr val="252525"/>
                </a:solidFill>
              </a:rPr>
              <a:t>An affiliate is an entity that belongs to the Google group of companies, including the following companies that provide consumer </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2" id="152"/>
          <p:cNvPicPr>
            <a:picLocks noChangeAspect="true"/>
          </p:cNvPicPr>
          <p:nvPr/>
        </p:nvPicPr>
        <p:blipFill>
          <a:blip r:embed="rId152"/>
          <a:stretch>
            <a:fillRect/>
          </a:stretch>
        </p:blipFill>
        <p:spPr>
          <a:xfrm>
            <a:off x="0" y="127000"/>
            <a:ext cx="23749000" cy="16548100"/>
          </a:xfrm>
          <a:prstGeom prst="rect">
            <a:avLst/>
          </a:prstGeom>
        </p:spPr>
      </p:pic>
      <p:sp>
        <p:nvSpPr>
          <p:cNvPr name="TextBox 152" id="1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services in the EU: Google Commerce Ltd, Google Payment Corp, and Google Dialer</a:t>
            </a:r>
          </a:p>
          <a:p>
            <a:r>
              <a:rPr lang="en-US" sz="5000"/>
              <a:t>  </a:t>
            </a:r>
          </a:p>
          <a:p>
            <a:r>
              <a:rPr lang="en-US" sz="3700">
                <a:solidFill>
                  <a:srgbClr val="252525"/>
                </a:solidFill>
              </a:rPr>
              <a:t>Inc. Learn more about the companies providing business services in the EU.</a:t>
            </a:r>
          </a:p>
          <a:p>
            <a:r>
              <a:rPr lang="en-US" sz="5000"/>
              <a:t>  </a:t>
            </a:r>
          </a:p>
          <a:p>
            <a:r>
              <a:rPr lang="en-US" sz="3700">
                <a:solidFill>
                  <a:srgbClr val="252525"/>
                </a:solidFill>
              </a:rPr>
              <a:t>Algorithm</a:t>
            </a:r>
          </a:p>
          <a:p>
            <a:r>
              <a:rPr lang="en-US" sz="5000"/>
              <a:t>  </a:t>
            </a:r>
          </a:p>
          <a:p>
            <a:r>
              <a:rPr lang="en-US" sz="3700">
                <a:solidFill>
                  <a:srgbClr val="252525"/>
                </a:solidFill>
              </a:rPr>
              <a:t>A process or set of rules followed by a computer in performing problem-solving operations.</a:t>
            </a:r>
          </a:p>
          <a:p>
            <a:r>
              <a:rPr lang="en-US" sz="5000"/>
              <a:t>  </a:t>
            </a:r>
          </a:p>
          <a:p>
            <a:r>
              <a:rPr lang="en-US" sz="3700">
                <a:solidFill>
                  <a:srgbClr val="252525"/>
                </a:solidFill>
              </a:rPr>
              <a:t>Application data cache</a:t>
            </a:r>
          </a:p>
          <a:p>
            <a:r>
              <a:rPr lang="en-US" sz="5000"/>
              <a:t>  </a:t>
            </a:r>
          </a:p>
          <a:p>
            <a:r>
              <a:rPr lang="en-US" sz="3700">
                <a:solidFill>
                  <a:srgbClr val="252525"/>
                </a:solidFill>
              </a:rPr>
              <a:t>An application data cache is a data repository on a device. It can, for example, enable a web application to run without an internet connection and improve the performance of the application by enabling faster</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loading of content.</a:t>
            </a:r>
          </a:p>
          <a:p>
            <a:r>
              <a:rPr lang="en-US" sz="5000"/>
              <a:t>  </a:t>
            </a:r>
          </a:p>
          <a:p>
            <a:r>
              <a:rPr lang="en-US" sz="3700">
                <a:solidFill>
                  <a:srgbClr val="252525"/>
                </a:solidFill>
              </a:rPr>
              <a:t>Browser web storage</a:t>
            </a:r>
          </a:p>
          <a:p>
            <a:r>
              <a:rPr lang="en-US" sz="5000"/>
              <a:t>  </a:t>
            </a:r>
          </a:p>
          <a:p>
            <a:r>
              <a:rPr lang="en-US" sz="3700">
                <a:solidFill>
                  <a:srgbClr val="252525"/>
                </a:solidFill>
              </a:rPr>
              <a:t>Browser web storage enables websites to store data in a browser on a device. When used in "local storage" mode, it enables data to be stored across sessions. This makes data retrievable even after a</a:t>
            </a:r>
          </a:p>
          <a:p>
            <a:r>
              <a:rPr lang="en-US" sz="5000"/>
              <a:t>  </a:t>
            </a:r>
          </a:p>
          <a:p>
            <a:r>
              <a:rPr lang="en-US" sz="3700">
                <a:solidFill>
                  <a:srgbClr val="252525"/>
                </a:solidFill>
              </a:rPr>
              <a:t>browser has been closed and reopened. One technology that facilitates web storage is HTML 5.</a:t>
            </a:r>
          </a:p>
          <a:p>
            <a:r>
              <a:rPr lang="en-US" sz="5000"/>
              <a:t>  </a:t>
            </a:r>
          </a:p>
          <a:p>
            <a:r>
              <a:rPr lang="en-US" sz="3700">
                <a:solidFill>
                  <a:srgbClr val="252525"/>
                </a:solidFill>
              </a:rPr>
              <a:t>Cookies and similar technologies</a:t>
            </a:r>
          </a:p>
          <a:p>
            <a:r>
              <a:rPr lang="en-US" sz="5000"/>
              <a:t>  </a:t>
            </a:r>
          </a:p>
          <a:p>
            <a:r>
              <a:rPr lang="en-US" sz="3700">
                <a:solidFill>
                  <a:srgbClr val="252525"/>
                </a:solidFill>
              </a:rPr>
              <a:t>A cookie is a small file containing a string of characters that is sent to your computer when you visit a website. When you visit the site again, the cookie allows that site to recognize your browser. Cookies may store </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user preferences and other information. You can configure your browser to refuse all cookies or to</a:t>
            </a:r>
          </a:p>
          <a:p>
            <a:r>
              <a:rPr lang="en-US" sz="5000"/>
              <a:t>  </a:t>
            </a:r>
          </a:p>
          <a:p>
            <a:r>
              <a:rPr lang="en-US" sz="3700">
                <a:solidFill>
                  <a:srgbClr val="252525"/>
                </a:solidFill>
              </a:rPr>
              <a:t>indicate when a cookie is being sent. However, some website features or services may not function</a:t>
            </a:r>
          </a:p>
          <a:p>
            <a:r>
              <a:rPr lang="en-US" sz="5000"/>
              <a:t>  </a:t>
            </a:r>
          </a:p>
          <a:p>
            <a:r>
              <a:rPr lang="en-US" sz="3700">
                <a:solidFill>
                  <a:srgbClr val="252525"/>
                </a:solidFill>
              </a:rPr>
              <a:t>properly without cookies. Learn more about how Google uses cookies and how Google uses data,</a:t>
            </a:r>
          </a:p>
          <a:p>
            <a:r>
              <a:rPr lang="en-US" sz="5000"/>
              <a:t>  </a:t>
            </a:r>
          </a:p>
          <a:p>
            <a:r>
              <a:rPr lang="en-US" sz="3700">
                <a:solidFill>
                  <a:srgbClr val="252525"/>
                </a:solidFill>
              </a:rPr>
              <a:t>including cookies, when you use our partners’ sites or apps.</a:t>
            </a:r>
          </a:p>
          <a:p>
            <a:r>
              <a:rPr lang="en-US" sz="5000"/>
              <a:t>  </a:t>
            </a:r>
          </a:p>
          <a:p>
            <a:r>
              <a:rPr lang="en-US" sz="3700">
                <a:solidFill>
                  <a:srgbClr val="252525"/>
                </a:solidFill>
              </a:rPr>
              <a:t>Device</a:t>
            </a:r>
          </a:p>
          <a:p>
            <a:r>
              <a:rPr lang="en-US" sz="5000"/>
              <a:t>  </a:t>
            </a:r>
          </a:p>
          <a:p>
            <a:r>
              <a:rPr lang="en-US" sz="3700">
                <a:solidFill>
                  <a:srgbClr val="252525"/>
                </a:solidFill>
              </a:rPr>
              <a:t>A device is a computer that can be used to access Google services. For example, desktop computers,</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8" id="158"/>
          <p:cNvPicPr>
            <a:picLocks noChangeAspect="true"/>
          </p:cNvPicPr>
          <p:nvPr/>
        </p:nvPicPr>
        <p:blipFill>
          <a:blip r:embed="rId158"/>
          <a:stretch>
            <a:fillRect/>
          </a:stretch>
        </p:blipFill>
        <p:spPr>
          <a:xfrm>
            <a:off x="0" y="127000"/>
            <a:ext cx="23749000" cy="16548100"/>
          </a:xfrm>
          <a:prstGeom prst="rect">
            <a:avLst/>
          </a:prstGeom>
        </p:spPr>
      </p:pic>
      <p:sp>
        <p:nvSpPr>
          <p:cNvPr name="TextBox 158" id="1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tablets, smart speakers, and smartphones are all considered devices.</a:t>
            </a:r>
          </a:p>
          <a:p>
            <a:r>
              <a:rPr lang="en-US" sz="5000"/>
              <a:t>  </a:t>
            </a:r>
          </a:p>
          <a:p>
            <a:r>
              <a:rPr lang="en-US" sz="3700">
                <a:solidFill>
                  <a:srgbClr val="252525"/>
                </a:solidFill>
              </a:rPr>
              <a:t>Non-personally identifiable information</a:t>
            </a:r>
          </a:p>
          <a:p>
            <a:r>
              <a:rPr lang="en-US" sz="5000"/>
              <a:t>  </a:t>
            </a:r>
          </a:p>
          <a:p>
            <a:r>
              <a:rPr lang="en-US" sz="3700">
                <a:solidFill>
                  <a:srgbClr val="252525"/>
                </a:solidFill>
              </a:rPr>
              <a:t>This is information that is recorded about users so that it no longer reflects or references an individually-</a:t>
            </a:r>
          </a:p>
          <a:p>
            <a:r>
              <a:rPr lang="en-US" sz="5000"/>
              <a:t>  </a:t>
            </a:r>
          </a:p>
          <a:p>
            <a:r>
              <a:rPr lang="en-US" sz="3700">
                <a:solidFill>
                  <a:srgbClr val="252525"/>
                </a:solidFill>
              </a:rPr>
              <a:t>identifiable user.</a:t>
            </a:r>
          </a:p>
          <a:p>
            <a:r>
              <a:rPr lang="en-US" sz="5000"/>
              <a:t>  </a:t>
            </a:r>
          </a:p>
          <a:p>
            <a:r>
              <a:rPr lang="en-US" sz="3700">
                <a:solidFill>
                  <a:srgbClr val="252525"/>
                </a:solidFill>
              </a:rPr>
              <a:t>IP address</a:t>
            </a:r>
          </a:p>
          <a:p>
            <a:r>
              <a:rPr lang="en-US" sz="5000"/>
              <a:t>  </a:t>
            </a:r>
          </a:p>
          <a:p>
            <a:r>
              <a:rPr lang="en-US" sz="3700">
                <a:solidFill>
                  <a:srgbClr val="252525"/>
                </a:solidFill>
              </a:rPr>
              <a:t>Every device connected to the Internet is assigned a number known as an Internet protocol (IP) address. These numbers are usually assigned in geographic blocks. An IP address can often be used to identify the</a:t>
            </a:r>
          </a:p>
          <a:p>
            <a:r>
              <a:rPr lang="en-US" sz="5000"/>
              <a:t>  </a:t>
            </a:r>
          </a:p>
          <a:p>
            <a:r>
              <a:rPr lang="en-US" sz="3700">
                <a:solidFill>
                  <a:srgbClr val="252525"/>
                </a:solidFill>
              </a:rPr>
              <a:t>location from which a device is connecting to the Internet.</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0" id="160"/>
          <p:cNvPicPr>
            <a:picLocks noChangeAspect="true"/>
          </p:cNvPicPr>
          <p:nvPr/>
        </p:nvPicPr>
        <p:blipFill>
          <a:blip r:embed="rId160"/>
          <a:stretch>
            <a:fillRect/>
          </a:stretch>
        </p:blipFill>
        <p:spPr>
          <a:xfrm>
            <a:off x="0" y="127000"/>
            <a:ext cx="23749000" cy="16548100"/>
          </a:xfrm>
          <a:prstGeom prst="rect">
            <a:avLst/>
          </a:prstGeom>
        </p:spPr>
      </p:pic>
      <p:sp>
        <p:nvSpPr>
          <p:cNvPr name="TextBox 160" id="16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Pixel tag</a:t>
            </a:r>
          </a:p>
          <a:p>
            <a:r>
              <a:rPr lang="en-US" sz="5000"/>
              <a:t>  </a:t>
            </a:r>
          </a:p>
          <a:p>
            <a:r>
              <a:rPr lang="en-US" sz="3700">
                <a:solidFill>
                  <a:srgbClr val="252525"/>
                </a:solidFill>
              </a:rPr>
              <a:t>A pixel tag is a type of technology placed on a website or within the body of an email for the purpose of tracking certain activity, such as views of a website or when an email is opened. Pixel tags are often used</a:t>
            </a:r>
          </a:p>
          <a:p>
            <a:r>
              <a:rPr lang="en-US" sz="5000"/>
              <a:t>  </a:t>
            </a:r>
          </a:p>
          <a:p>
            <a:r>
              <a:rPr lang="en-US" sz="3700">
                <a:solidFill>
                  <a:srgbClr val="252525"/>
                </a:solidFill>
              </a:rPr>
              <a:t>in combination with cookies.</a:t>
            </a:r>
          </a:p>
          <a:p>
            <a:r>
              <a:rPr lang="en-US" sz="5000"/>
              <a:t>  </a:t>
            </a:r>
          </a:p>
          <a:p>
            <a:r>
              <a:rPr lang="en-US" sz="3700">
                <a:solidFill>
                  <a:srgbClr val="252525"/>
                </a:solidFill>
              </a:rPr>
              <a:t>Personal information</a:t>
            </a:r>
          </a:p>
          <a:p>
            <a:r>
              <a:rPr lang="en-US" sz="5000"/>
              <a:t>  </a:t>
            </a:r>
          </a:p>
          <a:p>
            <a:r>
              <a:rPr lang="en-US" sz="3700">
                <a:solidFill>
                  <a:srgbClr val="252525"/>
                </a:solidFill>
              </a:rPr>
              <a:t>This is information that you provide to us which personally identifies you, such as your name, email address, or billing information, or other data that can be reasonably linked to such information by Google,</a:t>
            </a:r>
          </a:p>
          <a:p>
            <a:r>
              <a:rPr lang="en-US" sz="5000"/>
              <a:t>  </a:t>
            </a:r>
          </a:p>
          <a:p>
            <a:r>
              <a:rPr lang="en-US" sz="3700">
                <a:solidFill>
                  <a:srgbClr val="252525"/>
                </a:solidFill>
              </a:rPr>
              <a:t>such as information we associate with your Google Account.</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Sensitive personal information</a:t>
            </a:r>
          </a:p>
          <a:p>
            <a:r>
              <a:rPr lang="en-US" sz="5000"/>
              <a:t>  </a:t>
            </a:r>
          </a:p>
          <a:p>
            <a:r>
              <a:rPr lang="en-US" sz="3700">
                <a:solidFill>
                  <a:srgbClr val="252525"/>
                </a:solidFill>
              </a:rPr>
              <a:t>This is a particular category of personal information relating to topics such as confidential medical facts,</a:t>
            </a:r>
          </a:p>
          <a:p>
            <a:r>
              <a:rPr lang="en-US" sz="5000"/>
              <a:t>  </a:t>
            </a:r>
          </a:p>
          <a:p>
            <a:r>
              <a:rPr lang="en-US" sz="3700">
                <a:solidFill>
                  <a:srgbClr val="252525"/>
                </a:solidFill>
              </a:rPr>
              <a:t>racial or ethnic origins, political or religious beliefs, or sexuality.</a:t>
            </a:r>
          </a:p>
          <a:p>
            <a:r>
              <a:rPr lang="en-US" sz="5000"/>
              <a:t>  </a:t>
            </a:r>
          </a:p>
          <a:p>
            <a:r>
              <a:rPr lang="en-US" sz="3700">
                <a:solidFill>
                  <a:srgbClr val="252525"/>
                </a:solidFill>
              </a:rPr>
              <a:t>Server logs</a:t>
            </a:r>
          </a:p>
          <a:p>
            <a:r>
              <a:rPr lang="en-US" sz="5000"/>
              <a:t>  </a:t>
            </a:r>
          </a:p>
          <a:p>
            <a:r>
              <a:rPr lang="en-US" sz="3700">
                <a:solidFill>
                  <a:srgbClr val="252525"/>
                </a:solidFill>
              </a:rPr>
              <a:t>Like most websites, our servers automatically record the page requests made when you visit our sites. These “server logs” typically include your web request, Internet Protocol address, browser type, browser language, the date and time of your request, and one or more cookies that may uniquely identify your</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4" id="164"/>
          <p:cNvPicPr>
            <a:picLocks noChangeAspect="true"/>
          </p:cNvPicPr>
          <p:nvPr/>
        </p:nvPicPr>
        <p:blipFill>
          <a:blip r:embed="rId164"/>
          <a:stretch>
            <a:fillRect/>
          </a:stretch>
        </p:blipFill>
        <p:spPr>
          <a:xfrm>
            <a:off x="0" y="127000"/>
            <a:ext cx="23749000" cy="16548100"/>
          </a:xfrm>
          <a:prstGeom prst="rect">
            <a:avLst/>
          </a:prstGeom>
        </p:spPr>
      </p:pic>
      <p:sp>
        <p:nvSpPr>
          <p:cNvPr name="TextBox 164" id="1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browser.</a:t>
            </a:r>
          </a:p>
          <a:p>
            <a:r>
              <a:rPr lang="en-US" sz="5000"/>
              <a:t>  </a:t>
            </a:r>
          </a:p>
          <a:p>
            <a:r>
              <a:rPr lang="en-US" sz="3700">
                <a:solidFill>
                  <a:srgbClr val="252525"/>
                </a:solidFill>
              </a:rPr>
              <a:t>A typical log entry for a search for “cars” looks like this:</a:t>
            </a:r>
          </a:p>
          <a:p>
            <a:r>
              <a:rPr lang="en-US" sz="5000"/>
              <a:t>  </a:t>
            </a:r>
          </a:p>
          <a:p>
            <a:r>
              <a:rPr lang="en-US" sz="3700">
                <a:solidFill>
                  <a:srgbClr val="252525"/>
                </a:solidFill>
              </a:rPr>
              <a:t>123.45.67.89 - 25/Mar/2003 10:15:32 - http://www.google.com/search?q=cars - Firefox 1.0.7; Windows NT 5.1 - 740674ce2123e969</a:t>
            </a:r>
          </a:p>
          <a:p>
            <a:r>
              <a:rPr lang="en-US" sz="5000"/>
              <a:t>  </a:t>
            </a:r>
          </a:p>
          <a:p>
            <a:r>
              <a:rPr lang="en-US" sz="3700">
                <a:solidFill>
                  <a:srgbClr val="252525"/>
                </a:solidFill>
              </a:rPr>
              <a:t>° 123.45.67.89 is the Internet Protocol address assigned to the user by the user’s ISP. Depending on the user’s service, a different address may be assigned to the user by their service provider each time</a:t>
            </a:r>
          </a:p>
          <a:p>
            <a:r>
              <a:rPr lang="en-US" sz="5000"/>
              <a:t>  </a:t>
            </a:r>
          </a:p>
          <a:p>
            <a:r>
              <a:rPr lang="en-US" sz="3700">
                <a:solidFill>
                  <a:srgbClr val="252525"/>
                </a:solidFill>
              </a:rPr>
              <a:t>they connect to the Internet. ° 25/Mar/2003 10:15:32 is the date and time of the query. ° http: //www.google.com/search?q=cars is the requested URL, including the search query. ° Firefox 1.0.7; Windows NT 5.1 isthe </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6" id="166"/>
          <p:cNvPicPr>
            <a:picLocks noChangeAspect="true"/>
          </p:cNvPicPr>
          <p:nvPr/>
        </p:nvPicPr>
        <p:blipFill>
          <a:blip r:embed="rId166"/>
          <a:stretch>
            <a:fillRect/>
          </a:stretch>
        </p:blipFill>
        <p:spPr>
          <a:xfrm>
            <a:off x="0" y="127000"/>
            <a:ext cx="23749000" cy="16548100"/>
          </a:xfrm>
          <a:prstGeom prst="rect">
            <a:avLst/>
          </a:prstGeom>
        </p:spPr>
      </p:pic>
      <p:sp>
        <p:nvSpPr>
          <p:cNvPr name="TextBox 166" id="1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browser and operating system being used.</a:t>
            </a:r>
          </a:p>
          <a:p>
            <a:r>
              <a:rPr lang="en-US" sz="5000"/>
              <a:t>  </a:t>
            </a:r>
          </a:p>
          <a:p>
            <a:r>
              <a:rPr lang="en-US" sz="3700">
                <a:solidFill>
                  <a:srgbClr val="252525"/>
                </a:solidFill>
              </a:rPr>
              <a:t>° 740674ce2123a969 is the unique cookie ID assigned to this particular computer the first time it visited Google. (Cookies can be deleted by users. If the user has deleted the cookie from the computer since the last time they’ve visited Google, then it will be the unique cookie ID assigned to</a:t>
            </a:r>
          </a:p>
          <a:p>
            <a:r>
              <a:rPr lang="en-US" sz="5000"/>
              <a:t>  </a:t>
            </a:r>
          </a:p>
          <a:p>
            <a:r>
              <a:rPr lang="en-US" sz="3700">
                <a:solidFill>
                  <a:srgbClr val="252525"/>
                </a:solidFill>
              </a:rPr>
              <a:t>their device the next time they visit Google from that particular device).</a:t>
            </a:r>
          </a:p>
          <a:p>
            <a:r>
              <a:rPr lang="en-US" sz="5000"/>
              <a:t>  </a:t>
            </a:r>
          </a:p>
          <a:p>
            <a:r>
              <a:rPr lang="en-US" sz="3700">
                <a:solidFill>
                  <a:srgbClr val="252525"/>
                </a:solidFill>
              </a:rPr>
              <a:t>Unique identifiers</a:t>
            </a:r>
          </a:p>
          <a:p>
            <a:r>
              <a:rPr lang="en-US" sz="5000"/>
              <a:t>  </a:t>
            </a:r>
          </a:p>
          <a:p>
            <a:r>
              <a:rPr lang="en-US" sz="3700">
                <a:solidFill>
                  <a:srgbClr val="252525"/>
                </a:solidFill>
              </a:rPr>
              <a:t>A unique identifier is a string of characters that can be used to uniquely identify a browser, app, or device. Different identifiers vary in how permanent they are, whether they can be reset by users, and how they</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8" id="168"/>
          <p:cNvPicPr>
            <a:picLocks noChangeAspect="true"/>
          </p:cNvPicPr>
          <p:nvPr/>
        </p:nvPicPr>
        <p:blipFill>
          <a:blip r:embed="rId168"/>
          <a:stretch>
            <a:fillRect/>
          </a:stretch>
        </p:blipFill>
        <p:spPr>
          <a:xfrm>
            <a:off x="0" y="127000"/>
            <a:ext cx="23749000" cy="16548100"/>
          </a:xfrm>
          <a:prstGeom prst="rect">
            <a:avLst/>
          </a:prstGeom>
        </p:spPr>
      </p:pic>
      <p:sp>
        <p:nvSpPr>
          <p:cNvPr name="TextBox 168" id="1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can be accessed.</a:t>
            </a:r>
          </a:p>
          <a:p>
            <a:r>
              <a:rPr lang="en-US" sz="5000"/>
              <a:t>  </a:t>
            </a:r>
          </a:p>
          <a:p>
            <a:r>
              <a:rPr lang="en-US" sz="3700">
                <a:solidFill>
                  <a:srgbClr val="252525"/>
                </a:solidFill>
              </a:rPr>
              <a:t>Unique identifiers can be used for various purposes, including security and fraud detection, syncing services such as your email inbox, remembering your preferences, and providing personalized advertising.</a:t>
            </a:r>
          </a:p>
          <a:p>
            <a:r>
              <a:rPr lang="en-US" sz="5000"/>
              <a:t>  </a:t>
            </a:r>
          </a:p>
          <a:p>
            <a:r>
              <a:rPr lang="en-US" sz="3700">
                <a:solidFill>
                  <a:srgbClr val="252525"/>
                </a:solidFill>
              </a:rPr>
              <a:t>For example, unique identifiers stored in cookies help sites display content in your browser in your</a:t>
            </a:r>
          </a:p>
          <a:p>
            <a:r>
              <a:rPr lang="en-US" sz="5000"/>
              <a:t>  </a:t>
            </a:r>
          </a:p>
          <a:p>
            <a:r>
              <a:rPr lang="en-US" sz="3700">
                <a:solidFill>
                  <a:srgbClr val="252525"/>
                </a:solidFill>
              </a:rPr>
              <a:t>preferred language. You can configure your browser to refuse all cookies or to indicate when a cookie is</a:t>
            </a:r>
          </a:p>
          <a:p>
            <a:r>
              <a:rPr lang="en-US" sz="5000"/>
              <a:t>  </a:t>
            </a:r>
          </a:p>
          <a:p>
            <a:r>
              <a:rPr lang="en-US" sz="3700">
                <a:solidFill>
                  <a:srgbClr val="252525"/>
                </a:solidFill>
              </a:rPr>
              <a:t>being sent. Learn more about how Google uses cookies.</a:t>
            </a:r>
          </a:p>
          <a:p>
            <a:r>
              <a:rPr lang="en-US" sz="5000"/>
              <a:t>  </a:t>
            </a:r>
          </a:p>
          <a:p>
            <a:r>
              <a:rPr lang="en-US" sz="3700">
                <a:solidFill>
                  <a:srgbClr val="252525"/>
                </a:solidFill>
              </a:rPr>
              <a:t>On other platforms besides browsers, unique identifiers are used to recognize a specific </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device or app on that device. For example, a unique identifier such as the Advertising ID is used to provide relevant advertising on Android devices, and can be managed in your device's settings. Unique identifiers may also be incorporated into a device by its manufacturer (sometimes called a universally unique ID or UUID), such as the IMEl-number of a mobile phone. For example, a device's unique identifier can be used to customize</a:t>
            </a:r>
          </a:p>
          <a:p>
            <a:r>
              <a:rPr lang="en-US" sz="5000"/>
              <a:t>  </a:t>
            </a:r>
          </a:p>
          <a:p>
            <a:r>
              <a:rPr lang="en-US" sz="3700">
                <a:solidFill>
                  <a:srgbClr val="252525"/>
                </a:solidFill>
              </a:rPr>
              <a:t>our service to your device or analyze device issues related to our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