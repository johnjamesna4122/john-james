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" Type="http://schemas.openxmlformats.org/officeDocument/2006/relationships/slide" Target="slides/slide6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" Type="http://schemas.openxmlformats.org/officeDocument/2006/relationships/slide" Target="slides/slide7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" Type="http://schemas.openxmlformats.org/officeDocument/2006/relationships/slide" Target="slides/slide8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" Type="http://schemas.openxmlformats.org/officeDocument/2006/relationships/slide" Target="slides/slide9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" Type="http://schemas.openxmlformats.org/officeDocument/2006/relationships/slide" Target="slides/slide10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" Type="http://schemas.openxmlformats.org/officeDocument/2006/relationships/slide" Target="slides/slide11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" Type="http://schemas.openxmlformats.org/officeDocument/2006/relationships/slide" Target="slides/slide12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Relationship Id="rId178" Type="http://schemas.openxmlformats.org/officeDocument/2006/relationships/slide" Target="slides/slide173.xml"/><Relationship Id="rId179" Type="http://schemas.openxmlformats.org/officeDocument/2006/relationships/slide" Target="slides/slide174.xml"/><Relationship Id="rId18" Type="http://schemas.openxmlformats.org/officeDocument/2006/relationships/slide" Target="slides/slide13.xml"/><Relationship Id="rId180" Type="http://schemas.openxmlformats.org/officeDocument/2006/relationships/slide" Target="slides/slide175.xml"/><Relationship Id="rId181" Type="http://schemas.openxmlformats.org/officeDocument/2006/relationships/slide" Target="slides/slide176.xml"/><Relationship Id="rId182" Type="http://schemas.openxmlformats.org/officeDocument/2006/relationships/slide" Target="slides/slide177.xml"/><Relationship Id="rId183" Type="http://schemas.openxmlformats.org/officeDocument/2006/relationships/slide" Target="slides/slide178.xml"/><Relationship Id="rId184" Type="http://schemas.openxmlformats.org/officeDocument/2006/relationships/slide" Target="slides/slide179.xml"/><Relationship Id="rId185" Type="http://schemas.openxmlformats.org/officeDocument/2006/relationships/slide" Target="slides/slide180.xml"/><Relationship Id="rId186" Type="http://schemas.openxmlformats.org/officeDocument/2006/relationships/slide" Target="slides/slide181.xml"/><Relationship Id="rId187" Type="http://schemas.openxmlformats.org/officeDocument/2006/relationships/slide" Target="slides/slide182.xml"/><Relationship Id="rId188" Type="http://schemas.openxmlformats.org/officeDocument/2006/relationships/slide" Target="slides/slide183.xml"/><Relationship Id="rId189" Type="http://schemas.openxmlformats.org/officeDocument/2006/relationships/slide" Target="slides/slide184.xml"/><Relationship Id="rId19" Type="http://schemas.openxmlformats.org/officeDocument/2006/relationships/slide" Target="slides/slide14.xml"/><Relationship Id="rId190" Type="http://schemas.openxmlformats.org/officeDocument/2006/relationships/slide" Target="slides/slide185.xml"/><Relationship Id="rId191" Type="http://schemas.openxmlformats.org/officeDocument/2006/relationships/slide" Target="slides/slide186.xml"/><Relationship Id="rId192" Type="http://schemas.openxmlformats.org/officeDocument/2006/relationships/slide" Target="slides/slide187.xml"/><Relationship Id="rId193" Type="http://schemas.openxmlformats.org/officeDocument/2006/relationships/slide" Target="slides/slide188.xml"/><Relationship Id="rId194" Type="http://schemas.openxmlformats.org/officeDocument/2006/relationships/slide" Target="slides/slide189.xml"/><Relationship Id="rId195" Type="http://schemas.openxmlformats.org/officeDocument/2006/relationships/slide" Target="slides/slide190.xml"/><Relationship Id="rId196" Type="http://schemas.openxmlformats.org/officeDocument/2006/relationships/slide" Target="slides/slide191.xml"/><Relationship Id="rId197" Type="http://schemas.openxmlformats.org/officeDocument/2006/relationships/slide" Target="slides/slide192.xml"/><Relationship Id="rId198" Type="http://schemas.openxmlformats.org/officeDocument/2006/relationships/slide" Target="slides/slide193.xml"/><Relationship Id="rId199" Type="http://schemas.openxmlformats.org/officeDocument/2006/relationships/slide" Target="slides/slide19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00" Type="http://schemas.openxmlformats.org/officeDocument/2006/relationships/slide" Target="slides/slide195.xml"/><Relationship Id="rId201" Type="http://schemas.openxmlformats.org/officeDocument/2006/relationships/slide" Target="slides/slide196.xml"/><Relationship Id="rId202" Type="http://schemas.openxmlformats.org/officeDocument/2006/relationships/slide" Target="slides/slide197.xml"/><Relationship Id="rId203" Type="http://schemas.openxmlformats.org/officeDocument/2006/relationships/slide" Target="slides/slide198.xml"/><Relationship Id="rId204" Type="http://schemas.openxmlformats.org/officeDocument/2006/relationships/slide" Target="slides/slide199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theme" Target="theme/them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" Type="http://schemas.openxmlformats.org/officeDocument/2006/relationships/slide" Target="slides/slide1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" Type="http://schemas.openxmlformats.org/officeDocument/2006/relationships/slide" Target="slides/slide2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" Type="http://schemas.openxmlformats.org/officeDocument/2006/relationships/slide" Target="slides/slide3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" Type="http://schemas.openxmlformats.org/officeDocument/2006/relationships/slide" Target="slides/slide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" Type="http://schemas.openxmlformats.org/officeDocument/2006/relationships/image" Target="../media/image18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" Type="http://schemas.openxmlformats.org/officeDocument/2006/relationships/image" Target="../media/image2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" Type="http://schemas.openxmlformats.org/officeDocument/2006/relationships/image" Target="../media/image2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4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" Type="http://schemas.openxmlformats.org/officeDocument/2006/relationships/image" Target="../media/image26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8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" Type="http://schemas.openxmlformats.org/officeDocument/2006/relationships/image" Target="../media/image3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3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" Type="http://schemas.openxmlformats.org/officeDocument/2006/relationships/image" Target="../media/image34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36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" Type="http://schemas.openxmlformats.org/officeDocument/2006/relationships/image" Target="../media/image38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" Type="http://schemas.openxmlformats.org/officeDocument/2006/relationships/image" Target="../media/image40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" Type="http://schemas.openxmlformats.org/officeDocument/2006/relationships/image" Target="../media/image4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" Type="http://schemas.openxmlformats.org/officeDocument/2006/relationships/image" Target="../media/image44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6" Type="http://schemas.openxmlformats.org/officeDocument/2006/relationships/image" Target="../media/image46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" Type="http://schemas.openxmlformats.org/officeDocument/2006/relationships/image" Target="../media/image48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0" Type="http://schemas.openxmlformats.org/officeDocument/2006/relationships/image" Target="../media/image50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" Type="http://schemas.openxmlformats.org/officeDocument/2006/relationships/image" Target="../media/image5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4" Type="http://schemas.openxmlformats.org/officeDocument/2006/relationships/image" Target="../media/image54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6" Type="http://schemas.openxmlformats.org/officeDocument/2006/relationships/image" Target="../media/image56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8" Type="http://schemas.openxmlformats.org/officeDocument/2006/relationships/image" Target="../media/image58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0" Type="http://schemas.openxmlformats.org/officeDocument/2006/relationships/image" Target="../media/image60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2" Type="http://schemas.openxmlformats.org/officeDocument/2006/relationships/image" Target="../media/image62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4" Type="http://schemas.openxmlformats.org/officeDocument/2006/relationships/image" Target="../media/image64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6" Type="http://schemas.openxmlformats.org/officeDocument/2006/relationships/image" Target="../media/image66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8" Type="http://schemas.openxmlformats.org/officeDocument/2006/relationships/image" Target="../media/image68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0" Type="http://schemas.openxmlformats.org/officeDocument/2006/relationships/image" Target="../media/image70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2" Type="http://schemas.openxmlformats.org/officeDocument/2006/relationships/image" Target="../media/image72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4" Type="http://schemas.openxmlformats.org/officeDocument/2006/relationships/image" Target="../media/image74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6" Type="http://schemas.openxmlformats.org/officeDocument/2006/relationships/image" Target="../media/image76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8" Type="http://schemas.openxmlformats.org/officeDocument/2006/relationships/image" Target="../media/image78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0" Type="http://schemas.openxmlformats.org/officeDocument/2006/relationships/image" Target="../media/image80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2" Type="http://schemas.openxmlformats.org/officeDocument/2006/relationships/image" Target="../media/image82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4" Type="http://schemas.openxmlformats.org/officeDocument/2006/relationships/image" Target="../media/image84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6" Type="http://schemas.openxmlformats.org/officeDocument/2006/relationships/image" Target="../media/image86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8" Type="http://schemas.openxmlformats.org/officeDocument/2006/relationships/image" Target="../media/image88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0" Type="http://schemas.openxmlformats.org/officeDocument/2006/relationships/image" Target="../media/image90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2" Type="http://schemas.openxmlformats.org/officeDocument/2006/relationships/image" Target="../media/image92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4" Type="http://schemas.openxmlformats.org/officeDocument/2006/relationships/image" Target="../media/image94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6" Type="http://schemas.openxmlformats.org/officeDocument/2006/relationships/image" Target="../media/image96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8" Type="http://schemas.openxmlformats.org/officeDocument/2006/relationships/image" Target="../media/image98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0" Type="http://schemas.openxmlformats.org/officeDocument/2006/relationships/image" Target="../media/image100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2" Type="http://schemas.openxmlformats.org/officeDocument/2006/relationships/image" Target="../media/image102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4" Type="http://schemas.openxmlformats.org/officeDocument/2006/relationships/image" Target="../media/image104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6" Type="http://schemas.openxmlformats.org/officeDocument/2006/relationships/image" Target="../media/image106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8" Type="http://schemas.openxmlformats.org/officeDocument/2006/relationships/image" Target="../media/image108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0" Type="http://schemas.openxmlformats.org/officeDocument/2006/relationships/image" Target="../media/image110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2" Type="http://schemas.openxmlformats.org/officeDocument/2006/relationships/image" Target="../media/image112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4" Type="http://schemas.openxmlformats.org/officeDocument/2006/relationships/image" Target="../media/image114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6" Type="http://schemas.openxmlformats.org/officeDocument/2006/relationships/image" Target="../media/image116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8" Type="http://schemas.openxmlformats.org/officeDocument/2006/relationships/image" Target="../media/image118.pn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0" Type="http://schemas.openxmlformats.org/officeDocument/2006/relationships/image" Target="../media/image120.pn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2" Type="http://schemas.openxmlformats.org/officeDocument/2006/relationships/image" Target="../media/image122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4" Type="http://schemas.openxmlformats.org/officeDocument/2006/relationships/image" Target="../media/image124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6" Type="http://schemas.openxmlformats.org/officeDocument/2006/relationships/image" Target="../media/image126.png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8" Type="http://schemas.openxmlformats.org/officeDocument/2006/relationships/image" Target="../media/image128.pn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0" Type="http://schemas.openxmlformats.org/officeDocument/2006/relationships/image" Target="../media/image130.png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2" Type="http://schemas.openxmlformats.org/officeDocument/2006/relationships/image" Target="../media/image132.pn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4" Type="http://schemas.openxmlformats.org/officeDocument/2006/relationships/image" Target="../media/image134.png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6" Type="http://schemas.openxmlformats.org/officeDocument/2006/relationships/image" Target="../media/image136.pn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8" Type="http://schemas.openxmlformats.org/officeDocument/2006/relationships/image" Target="../media/image138.pn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0" Type="http://schemas.openxmlformats.org/officeDocument/2006/relationships/image" Target="../media/image140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2" Type="http://schemas.openxmlformats.org/officeDocument/2006/relationships/image" Target="../media/image142.png"/></Relationships>
</file>

<file path=ppt/slides/_rels/slide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4" Type="http://schemas.openxmlformats.org/officeDocument/2006/relationships/image" Target="../media/image144.png"/></Relationships>
</file>

<file path=ppt/slides/_rels/slide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6" Type="http://schemas.openxmlformats.org/officeDocument/2006/relationships/image" Target="../media/image146.png"/></Relationships>
</file>

<file path=ppt/slides/_rels/slide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8" Type="http://schemas.openxmlformats.org/officeDocument/2006/relationships/image" Target="../media/image148.png"/></Relationships>
</file>

<file path=ppt/slides/_rels/slide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0" Type="http://schemas.openxmlformats.org/officeDocument/2006/relationships/image" Target="../media/image150.png"/></Relationships>
</file>

<file path=ppt/slides/_rels/slide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2" Type="http://schemas.openxmlformats.org/officeDocument/2006/relationships/image" Target="../media/image152.png"/></Relationships>
</file>

<file path=ppt/slides/_rels/slide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4" Type="http://schemas.openxmlformats.org/officeDocument/2006/relationships/image" Target="../media/image154.png"/></Relationships>
</file>

<file path=ppt/slides/_rels/slide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6" Type="http://schemas.openxmlformats.org/officeDocument/2006/relationships/image" Target="../media/image156.png"/></Relationships>
</file>

<file path=ppt/slides/_rels/slide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8" Type="http://schemas.openxmlformats.org/officeDocument/2006/relationships/image" Target="../media/image158.png"/></Relationships>
</file>

<file path=ppt/slides/_rels/slide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0" Type="http://schemas.openxmlformats.org/officeDocument/2006/relationships/image" Target="../media/image160.png"/></Relationships>
</file>

<file path=ppt/slides/_rels/slide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2" Type="http://schemas.openxmlformats.org/officeDocument/2006/relationships/image" Target="../media/image162.png"/></Relationships>
</file>

<file path=ppt/slides/_rels/slide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4" Type="http://schemas.openxmlformats.org/officeDocument/2006/relationships/image" Target="../media/image164.png"/></Relationships>
</file>

<file path=ppt/slides/_rels/slide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6" Type="http://schemas.openxmlformats.org/officeDocument/2006/relationships/image" Target="../media/image166.png"/></Relationships>
</file>

<file path=ppt/slides/_rels/slide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8" Type="http://schemas.openxmlformats.org/officeDocument/2006/relationships/image" Target="../media/image168.png"/></Relationships>
</file>

<file path=ppt/slides/_rels/slide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0" Type="http://schemas.openxmlformats.org/officeDocument/2006/relationships/image" Target="../media/image170.png"/></Relationships>
</file>

<file path=ppt/slides/_rels/slide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2" Type="http://schemas.openxmlformats.org/officeDocument/2006/relationships/image" Target="../media/image172.png"/></Relationships>
</file>

<file path=ppt/slides/_rels/slide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4" Type="http://schemas.openxmlformats.org/officeDocument/2006/relationships/image" Target="../media/image174.png"/></Relationships>
</file>

<file path=ppt/slides/_rels/slide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6" Type="http://schemas.openxmlformats.org/officeDocument/2006/relationships/image" Target="../media/image176.png"/></Relationships>
</file>

<file path=ppt/slides/_rels/slide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8" Type="http://schemas.openxmlformats.org/officeDocument/2006/relationships/image" Target="../media/image178.png"/></Relationships>
</file>

<file path=ppt/slides/_rels/slide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0" Type="http://schemas.openxmlformats.org/officeDocument/2006/relationships/image" Target="../media/image180.png"/></Relationships>
</file>

<file path=ppt/slides/_rels/slide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2" Type="http://schemas.openxmlformats.org/officeDocument/2006/relationships/image" Target="../media/image182.png"/></Relationships>
</file>

<file path=ppt/slides/_rels/slide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4" Type="http://schemas.openxmlformats.org/officeDocument/2006/relationships/image" Target="../media/image184.png"/></Relationships>
</file>

<file path=ppt/slides/_rels/slide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6" Type="http://schemas.openxmlformats.org/officeDocument/2006/relationships/image" Target="../media/image186.png"/></Relationships>
</file>

<file path=ppt/slides/_rels/slide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8" Type="http://schemas.openxmlformats.org/officeDocument/2006/relationships/image" Target="../media/image188.png"/></Relationships>
</file>

<file path=ppt/slides/_rels/slide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0" Type="http://schemas.openxmlformats.org/officeDocument/2006/relationships/image" Target="../media/image190.png"/></Relationships>
</file>

<file path=ppt/slides/_rels/slide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2" Type="http://schemas.openxmlformats.org/officeDocument/2006/relationships/image" Target="../media/image192.png"/></Relationships>
</file>

<file path=ppt/slides/_rels/slide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4" Type="http://schemas.openxmlformats.org/officeDocument/2006/relationships/image" Target="../media/image194.png"/></Relationships>
</file>

<file path=ppt/slides/_rels/slide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6" Type="http://schemas.openxmlformats.org/officeDocument/2006/relationships/image" Target="../media/image196.png"/></Relationships>
</file>

<file path=ppt/slides/_rels/slide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8" Type="http://schemas.openxmlformats.org/officeDocument/2006/relationships/image" Target="../media/image198.png"/></Relationships>
</file>

<file path=ppt/slides/_rels/slide10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0" Type="http://schemas.openxmlformats.org/officeDocument/2006/relationships/image" Target="../media/image200.png"/></Relationships>
</file>

<file path=ppt/slides/_rels/slide10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2" Type="http://schemas.openxmlformats.org/officeDocument/2006/relationships/image" Target="../media/image202.png"/></Relationships>
</file>

<file path=ppt/slides/_rels/slide10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4" Type="http://schemas.openxmlformats.org/officeDocument/2006/relationships/image" Target="../media/image204.png"/></Relationships>
</file>

<file path=ppt/slides/_rels/slide10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6" Type="http://schemas.openxmlformats.org/officeDocument/2006/relationships/image" Target="../media/image206.png"/></Relationships>
</file>

<file path=ppt/slides/_rels/slide10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8" Type="http://schemas.openxmlformats.org/officeDocument/2006/relationships/image" Target="../media/image208.png"/></Relationships>
</file>

<file path=ppt/slides/_rels/slide10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0" Type="http://schemas.openxmlformats.org/officeDocument/2006/relationships/image" Target="../media/image210.png"/></Relationships>
</file>

<file path=ppt/slides/_rels/slide10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12.png"/></Relationships>
</file>

<file path=ppt/slides/_rels/slide10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4" Type="http://schemas.openxmlformats.org/officeDocument/2006/relationships/image" Target="../media/image214.png"/></Relationships>
</file>

<file path=ppt/slides/_rels/slide10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6" Type="http://schemas.openxmlformats.org/officeDocument/2006/relationships/image" Target="../media/image216.png"/></Relationships>
</file>

<file path=ppt/slides/_rels/slide10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8" Type="http://schemas.openxmlformats.org/officeDocument/2006/relationships/image" Target="../media/image218.png"/></Relationships>
</file>

<file path=ppt/slides/_rels/slide1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0" Type="http://schemas.openxmlformats.org/officeDocument/2006/relationships/image" Target="../media/image220.png"/></Relationships>
</file>

<file path=ppt/slides/_rels/slide1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2" Type="http://schemas.openxmlformats.org/officeDocument/2006/relationships/image" Target="../media/image222.png"/></Relationships>
</file>

<file path=ppt/slides/_rels/slide1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4" Type="http://schemas.openxmlformats.org/officeDocument/2006/relationships/image" Target="../media/image224.png"/></Relationships>
</file>

<file path=ppt/slides/_rels/slide1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6" Type="http://schemas.openxmlformats.org/officeDocument/2006/relationships/image" Target="../media/image226.png"/></Relationships>
</file>

<file path=ppt/slides/_rels/slide1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8" Type="http://schemas.openxmlformats.org/officeDocument/2006/relationships/image" Target="../media/image228.png"/></Relationships>
</file>

<file path=ppt/slides/_rels/slide1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0" Type="http://schemas.openxmlformats.org/officeDocument/2006/relationships/image" Target="../media/image230.png"/></Relationships>
</file>

<file path=ppt/slides/_rels/slide1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2" Type="http://schemas.openxmlformats.org/officeDocument/2006/relationships/image" Target="../media/image232.png"/></Relationships>
</file>

<file path=ppt/slides/_rels/slide1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4" Type="http://schemas.openxmlformats.org/officeDocument/2006/relationships/image" Target="../media/image234.png"/></Relationships>
</file>

<file path=ppt/slides/_rels/slide1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6" Type="http://schemas.openxmlformats.org/officeDocument/2006/relationships/image" Target="../media/image236.png"/></Relationships>
</file>

<file path=ppt/slides/_rels/slide1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8" Type="http://schemas.openxmlformats.org/officeDocument/2006/relationships/image" Target="../media/image238.png"/></Relationships>
</file>

<file path=ppt/slides/_rels/slide1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0" Type="http://schemas.openxmlformats.org/officeDocument/2006/relationships/image" Target="../media/image240.png"/></Relationships>
</file>

<file path=ppt/slides/_rels/slide1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2" Type="http://schemas.openxmlformats.org/officeDocument/2006/relationships/image" Target="../media/image242.png"/></Relationships>
</file>

<file path=ppt/slides/_rels/slide1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4" Type="http://schemas.openxmlformats.org/officeDocument/2006/relationships/image" Target="../media/image244.png"/></Relationships>
</file>

<file path=ppt/slides/_rels/slide1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6" Type="http://schemas.openxmlformats.org/officeDocument/2006/relationships/image" Target="../media/image246.png"/></Relationships>
</file>

<file path=ppt/slides/_rels/slide1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8" Type="http://schemas.openxmlformats.org/officeDocument/2006/relationships/image" Target="../media/image248.png"/></Relationships>
</file>

<file path=ppt/slides/_rels/slide1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0" Type="http://schemas.openxmlformats.org/officeDocument/2006/relationships/image" Target="../media/image250.png"/></Relationships>
</file>

<file path=ppt/slides/_rels/slide1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2" Type="http://schemas.openxmlformats.org/officeDocument/2006/relationships/image" Target="../media/image252.png"/></Relationships>
</file>

<file path=ppt/slides/_rels/slide1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4" Type="http://schemas.openxmlformats.org/officeDocument/2006/relationships/image" Target="../media/image254.png"/></Relationships>
</file>

<file path=ppt/slides/_rels/slide1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6" Type="http://schemas.openxmlformats.org/officeDocument/2006/relationships/image" Target="../media/image256.png"/></Relationships>
</file>

<file path=ppt/slides/_rels/slide1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8" Type="http://schemas.openxmlformats.org/officeDocument/2006/relationships/image" Target="../media/image258.png"/></Relationships>
</file>

<file path=ppt/slides/_rels/slide1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0" Type="http://schemas.openxmlformats.org/officeDocument/2006/relationships/image" Target="../media/image260.png"/></Relationships>
</file>

<file path=ppt/slides/_rels/slide1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2" Type="http://schemas.openxmlformats.org/officeDocument/2006/relationships/image" Target="../media/image262.png"/></Relationships>
</file>

<file path=ppt/slides/_rels/slide1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4" Type="http://schemas.openxmlformats.org/officeDocument/2006/relationships/image" Target="../media/image264.png"/></Relationships>
</file>

<file path=ppt/slides/_rels/slide1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6" Type="http://schemas.openxmlformats.org/officeDocument/2006/relationships/image" Target="../media/image266.png"/></Relationships>
</file>

<file path=ppt/slides/_rels/slide1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8" Type="http://schemas.openxmlformats.org/officeDocument/2006/relationships/image" Target="../media/image268.png"/></Relationships>
</file>

<file path=ppt/slides/_rels/slide1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0" Type="http://schemas.openxmlformats.org/officeDocument/2006/relationships/image" Target="../media/image270.png"/></Relationships>
</file>

<file path=ppt/slides/_rels/slide1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2" Type="http://schemas.openxmlformats.org/officeDocument/2006/relationships/image" Target="../media/image272.png"/></Relationships>
</file>

<file path=ppt/slides/_rels/slide1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4" Type="http://schemas.openxmlformats.org/officeDocument/2006/relationships/image" Target="../media/image274.png"/></Relationships>
</file>

<file path=ppt/slides/_rels/slide1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6" Type="http://schemas.openxmlformats.org/officeDocument/2006/relationships/image" Target="../media/image276.png"/></Relationships>
</file>

<file path=ppt/slides/_rels/slide1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8" Type="http://schemas.openxmlformats.org/officeDocument/2006/relationships/image" Target="../media/image278.png"/></Relationships>
</file>

<file path=ppt/slides/_rels/slide1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0" Type="http://schemas.openxmlformats.org/officeDocument/2006/relationships/image" Target="../media/image280.png"/></Relationships>
</file>

<file path=ppt/slides/_rels/slide1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2" Type="http://schemas.openxmlformats.org/officeDocument/2006/relationships/image" Target="../media/image282.png"/></Relationships>
</file>

<file path=ppt/slides/_rels/slide1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4" Type="http://schemas.openxmlformats.org/officeDocument/2006/relationships/image" Target="../media/image284.png"/></Relationships>
</file>

<file path=ppt/slides/_rels/slide1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6" Type="http://schemas.openxmlformats.org/officeDocument/2006/relationships/image" Target="../media/image286.png"/></Relationships>
</file>

<file path=ppt/slides/_rels/slide1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8" Type="http://schemas.openxmlformats.org/officeDocument/2006/relationships/image" Target="../media/image288.png"/></Relationships>
</file>

<file path=ppt/slides/_rels/slide1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0" Type="http://schemas.openxmlformats.org/officeDocument/2006/relationships/image" Target="../media/image290.png"/></Relationships>
</file>

<file path=ppt/slides/_rels/slide1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2" Type="http://schemas.openxmlformats.org/officeDocument/2006/relationships/image" Target="../media/image292.png"/></Relationships>
</file>

<file path=ppt/slides/_rels/slide1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4" Type="http://schemas.openxmlformats.org/officeDocument/2006/relationships/image" Target="../media/image294.png"/></Relationships>
</file>

<file path=ppt/slides/_rels/slide1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6" Type="http://schemas.openxmlformats.org/officeDocument/2006/relationships/image" Target="../media/image296.png"/></Relationships>
</file>

<file path=ppt/slides/_rels/slide1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8" Type="http://schemas.openxmlformats.org/officeDocument/2006/relationships/image" Target="../media/image298.png"/></Relationships>
</file>

<file path=ppt/slides/_rels/slide1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0" Type="http://schemas.openxmlformats.org/officeDocument/2006/relationships/image" Target="../media/image300.png"/></Relationships>
</file>

<file path=ppt/slides/_rels/slide1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2" Type="http://schemas.openxmlformats.org/officeDocument/2006/relationships/image" Target="../media/image302.png"/></Relationships>
</file>

<file path=ppt/slides/_rels/slide1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4" Type="http://schemas.openxmlformats.org/officeDocument/2006/relationships/image" Target="../media/image304.png"/></Relationships>
</file>

<file path=ppt/slides/_rels/slide1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6" Type="http://schemas.openxmlformats.org/officeDocument/2006/relationships/image" Target="../media/image306.png"/></Relationships>
</file>

<file path=ppt/slides/_rels/slide1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8" Type="http://schemas.openxmlformats.org/officeDocument/2006/relationships/image" Target="../media/image308.png"/></Relationships>
</file>

<file path=ppt/slides/_rels/slide1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0" Type="http://schemas.openxmlformats.org/officeDocument/2006/relationships/image" Target="../media/image310.png"/></Relationships>
</file>

<file path=ppt/slides/_rels/slide1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2" Type="http://schemas.openxmlformats.org/officeDocument/2006/relationships/image" Target="../media/image312.png"/></Relationships>
</file>

<file path=ppt/slides/_rels/slide1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4" Type="http://schemas.openxmlformats.org/officeDocument/2006/relationships/image" Target="../media/image314.png"/></Relationships>
</file>

<file path=ppt/slides/_rels/slide1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6" Type="http://schemas.openxmlformats.org/officeDocument/2006/relationships/image" Target="../media/image316.png"/></Relationships>
</file>

<file path=ppt/slides/_rels/slide1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8" Type="http://schemas.openxmlformats.org/officeDocument/2006/relationships/image" Target="../media/image318.png"/></Relationships>
</file>

<file path=ppt/slides/_rels/slide1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0" Type="http://schemas.openxmlformats.org/officeDocument/2006/relationships/image" Target="../media/image320.png"/></Relationships>
</file>

<file path=ppt/slides/_rels/slide1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2" Type="http://schemas.openxmlformats.org/officeDocument/2006/relationships/image" Target="../media/image322.png"/></Relationships>
</file>

<file path=ppt/slides/_rels/slide1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4" Type="http://schemas.openxmlformats.org/officeDocument/2006/relationships/image" Target="../media/image324.png"/></Relationships>
</file>

<file path=ppt/slides/_rels/slide1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6" Type="http://schemas.openxmlformats.org/officeDocument/2006/relationships/image" Target="../media/image326.png"/></Relationships>
</file>

<file path=ppt/slides/_rels/slide1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8" Type="http://schemas.openxmlformats.org/officeDocument/2006/relationships/image" Target="../media/image328.png"/></Relationships>
</file>

<file path=ppt/slides/_rels/slide1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0" Type="http://schemas.openxmlformats.org/officeDocument/2006/relationships/image" Target="../media/image330.png"/></Relationships>
</file>

<file path=ppt/slides/_rels/slide1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2" Type="http://schemas.openxmlformats.org/officeDocument/2006/relationships/image" Target="../media/image332.png"/></Relationships>
</file>

<file path=ppt/slides/_rels/slide1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4" Type="http://schemas.openxmlformats.org/officeDocument/2006/relationships/image" Target="../media/image334.png"/></Relationships>
</file>

<file path=ppt/slides/_rels/slide1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6" Type="http://schemas.openxmlformats.org/officeDocument/2006/relationships/image" Target="../media/image336.png"/></Relationships>
</file>

<file path=ppt/slides/_rels/slide1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8" Type="http://schemas.openxmlformats.org/officeDocument/2006/relationships/image" Target="../media/image338.png"/></Relationships>
</file>

<file path=ppt/slides/_rels/slide1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0" Type="http://schemas.openxmlformats.org/officeDocument/2006/relationships/image" Target="../media/image340.png"/></Relationships>
</file>

<file path=ppt/slides/_rels/slide1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2" Type="http://schemas.openxmlformats.org/officeDocument/2006/relationships/image" Target="../media/image342.png"/></Relationships>
</file>

<file path=ppt/slides/_rels/slide17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4" Type="http://schemas.openxmlformats.org/officeDocument/2006/relationships/image" Target="../media/image344.png"/></Relationships>
</file>

<file path=ppt/slides/_rels/slide17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6" Type="http://schemas.openxmlformats.org/officeDocument/2006/relationships/image" Target="../media/image346.png"/></Relationships>
</file>

<file path=ppt/slides/_rels/slide17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8" Type="http://schemas.openxmlformats.org/officeDocument/2006/relationships/image" Target="../media/image348.png"/></Relationships>
</file>

<file path=ppt/slides/_rels/slide17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0" Type="http://schemas.openxmlformats.org/officeDocument/2006/relationships/image" Target="../media/image350.png"/></Relationships>
</file>

<file path=ppt/slides/_rels/slide17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2" Type="http://schemas.openxmlformats.org/officeDocument/2006/relationships/image" Target="../media/image352.png"/></Relationships>
</file>

<file path=ppt/slides/_rels/slide17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4" Type="http://schemas.openxmlformats.org/officeDocument/2006/relationships/image" Target="../media/image354.png"/></Relationships>
</file>

<file path=ppt/slides/_rels/slide17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6" Type="http://schemas.openxmlformats.org/officeDocument/2006/relationships/image" Target="../media/image356.png"/></Relationships>
</file>

<file path=ppt/slides/_rels/slide17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8" Type="http://schemas.openxmlformats.org/officeDocument/2006/relationships/image" Target="../media/image358.png"/></Relationships>
</file>

<file path=ppt/slides/_rels/slide18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0" Type="http://schemas.openxmlformats.org/officeDocument/2006/relationships/image" Target="../media/image360.png"/></Relationships>
</file>

<file path=ppt/slides/_rels/slide18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2" Type="http://schemas.openxmlformats.org/officeDocument/2006/relationships/image" Target="../media/image362.png"/></Relationships>
</file>

<file path=ppt/slides/_rels/slide18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4" Type="http://schemas.openxmlformats.org/officeDocument/2006/relationships/image" Target="../media/image364.png"/></Relationships>
</file>

<file path=ppt/slides/_rels/slide18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6" Type="http://schemas.openxmlformats.org/officeDocument/2006/relationships/image" Target="../media/image366.png"/></Relationships>
</file>

<file path=ppt/slides/_rels/slide18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8" Type="http://schemas.openxmlformats.org/officeDocument/2006/relationships/image" Target="../media/image368.png"/></Relationships>
</file>

<file path=ppt/slides/_rels/slide18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0" Type="http://schemas.openxmlformats.org/officeDocument/2006/relationships/image" Target="../media/image370.png"/></Relationships>
</file>

<file path=ppt/slides/_rels/slide18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2" Type="http://schemas.openxmlformats.org/officeDocument/2006/relationships/image" Target="../media/image372.png"/></Relationships>
</file>

<file path=ppt/slides/_rels/slide18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4" Type="http://schemas.openxmlformats.org/officeDocument/2006/relationships/image" Target="../media/image374.png"/></Relationships>
</file>

<file path=ppt/slides/_rels/slide18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6" Type="http://schemas.openxmlformats.org/officeDocument/2006/relationships/image" Target="../media/image376.png"/></Relationships>
</file>

<file path=ppt/slides/_rels/slide18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8" Type="http://schemas.openxmlformats.org/officeDocument/2006/relationships/image" Target="../media/image378.png"/></Relationships>
</file>

<file path=ppt/slides/_rels/slide19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0" Type="http://schemas.openxmlformats.org/officeDocument/2006/relationships/image" Target="../media/image380.png"/></Relationships>
</file>

<file path=ppt/slides/_rels/slide19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2" Type="http://schemas.openxmlformats.org/officeDocument/2006/relationships/image" Target="../media/image382.png"/></Relationships>
</file>

<file path=ppt/slides/_rels/slide19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4" Type="http://schemas.openxmlformats.org/officeDocument/2006/relationships/image" Target="../media/image384.png"/></Relationships>
</file>

<file path=ppt/slides/_rels/slide19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6" Type="http://schemas.openxmlformats.org/officeDocument/2006/relationships/image" Target="../media/image386.png"/></Relationships>
</file>

<file path=ppt/slides/_rels/slide19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8" Type="http://schemas.openxmlformats.org/officeDocument/2006/relationships/image" Target="../media/image388.png"/></Relationships>
</file>

<file path=ppt/slides/_rels/slide19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0" Type="http://schemas.openxmlformats.org/officeDocument/2006/relationships/image" Target="../media/image390.png"/></Relationships>
</file>

<file path=ppt/slides/_rels/slide19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2" Type="http://schemas.openxmlformats.org/officeDocument/2006/relationships/image" Target="../media/image392.png"/></Relationships>
</file>

<file path=ppt/slides/_rels/slide19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4" Type="http://schemas.openxmlformats.org/officeDocument/2006/relationships/image" Target="../media/image394.png"/></Relationships>
</file>

<file path=ppt/slides/_rels/slide19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6" Type="http://schemas.openxmlformats.org/officeDocument/2006/relationships/image" Target="../media/image396.png"/></Relationships>
</file>

<file path=ppt/slides/_rels/slide19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8" Type="http://schemas.openxmlformats.org/officeDocument/2006/relationships/image" Target="../media/image398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*</a:t>
            </a:r>
            <a:r>
              <a:rPr lang="en-US" sz="3700">
                <a:solidFill>
                  <a:srgbClr val="252525"/>
                </a:solidFill>
              </a:rPr>
              <a:t>      NOV   3  1911      *J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iio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s'/CAL  SEU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Divisioa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Section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:bs7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" id="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"y-v^r^.*^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SALVATION  AND  THE </a:t>
            </a:r>
          </a:p>
          <a:p>
            <a:r>
              <a:rPr lang="en-US" sz="3700">
                <a:solidFill>
                  <a:srgbClr val="252525"/>
                </a:solidFill>
              </a:rPr>
              <a:t>OLD  THEOLOGY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Works  of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LEN  G.  BROUGHTON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Pivot  Points  in  Romans.  12mo,  cloth,  75c.  net. </a:t>
            </a:r>
          </a:p>
          <a:p>
            <a:r>
              <a:rPr lang="en-US" sz="3700">
                <a:solidFill>
                  <a:srgbClr val="252525"/>
                </a:solidFill>
              </a:rPr>
              <a:t>A  series  of  popular  studies.  Given  originally  to  large </a:t>
            </a:r>
          </a:p>
          <a:p>
            <a:r>
              <a:rPr lang="en-US" sz="3700">
                <a:solidFill>
                  <a:srgbClr val="252525"/>
                </a:solidFill>
              </a:rPr>
              <a:t>classes  of  students,  they  are  admirably  adapted  for </a:t>
            </a:r>
          </a:p>
          <a:p>
            <a:r>
              <a:rPr lang="en-US" sz="3700">
                <a:solidFill>
                  <a:srgbClr val="252525"/>
                </a:solidFill>
              </a:rPr>
              <a:t>devotional  study  or  class  work.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 Second  Coming  of  Christ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16mo,  cloth,  50  cents  net.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"Studies  touching  the  kingdom,  advent  of  Christ, </a:t>
            </a:r>
          </a:p>
          <a:p>
            <a:r>
              <a:rPr lang="en-US" sz="3700">
                <a:solidFill>
                  <a:srgbClr val="252525"/>
                </a:solidFill>
              </a:rPr>
              <a:t>work  of  the  Holy  Spirit,  resurrection,  judgment  and </a:t>
            </a:r>
          </a:p>
          <a:p>
            <a:r>
              <a:rPr lang="en-US" sz="3700">
                <a:solidFill>
                  <a:srgbClr val="252525"/>
                </a:solidFill>
              </a:rPr>
              <a:t>other  events  connected  with  the  close  of  time  and </a:t>
            </a:r>
          </a:p>
          <a:p>
            <a:r>
              <a:rPr lang="en-US" sz="3700">
                <a:solidFill>
                  <a:srgbClr val="252525"/>
                </a:solidFill>
              </a:rPr>
              <a:t>dawn  of  Q\.&amp;rmty."— Religious  Telescope.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Table  Talks  of  Jesus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12mo,  cloth,  50  cents  net.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Many  of  the  most  profound  things  Jesus  said  were </a:t>
            </a:r>
          </a:p>
          <a:p>
            <a:r>
              <a:rPr lang="en-US" sz="3700">
                <a:solidFill>
                  <a:srgbClr val="252525"/>
                </a:solidFill>
              </a:rPr>
              <a:t>said  "  at  meat."  Dr.  Broughton  has  gathered  them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up  and  expounded  them  in  a  simple,  helpful,  extremely </a:t>
            </a:r>
          </a:p>
          <a:p>
            <a:r>
              <a:rPr lang="en-US" sz="3700">
                <a:solidFill>
                  <a:srgbClr val="252525"/>
                </a:solidFill>
              </a:rPr>
              <a:t>helpful  way.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Soul- Winning  Church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12mo,  cloth,  50  cents  net.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*'  Dr.  Broughton,  of  Atlanta,  is  a  well  known  revival- </a:t>
            </a:r>
          </a:p>
          <a:p>
            <a:r>
              <a:rPr lang="en-US" sz="3700">
                <a:solidFill>
                  <a:srgbClr val="252525"/>
                </a:solidFill>
              </a:rPr>
              <a:t>ist. Some  of  his  addresses  in  this  country  and  in  Eng- </a:t>
            </a:r>
          </a:p>
          <a:p>
            <a:r>
              <a:rPr lang="en-US" sz="3700">
                <a:solidFill>
                  <a:srgbClr val="252525"/>
                </a:solidFill>
              </a:rPr>
              <a:t>land are  comprised  in  this  volume.  They  are  plain, </a:t>
            </a:r>
          </a:p>
          <a:p>
            <a:r>
              <a:rPr lang="en-US" sz="3700">
                <a:solidFill>
                  <a:srgbClr val="252525"/>
                </a:solidFill>
              </a:rPr>
              <a:t>pungent  and  spiritually  quickening."—  The  Outlook.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Up  From  Sin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Fall  and  Rise  of  a  Prodigal.    12mo,  cloth,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30  cents  net ;  paper,  15  cents.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Prodigal  son  treated  in  the  light  of  present  day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experience.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Revival  of  a  Dead  Church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12mo,  cloth,  30  cents  net ;  paper,  15  cents. </a:t>
            </a:r>
          </a:p>
          <a:p>
            <a:r>
              <a:rPr lang="en-US" sz="3700">
                <a:solidFill>
                  <a:srgbClr val="252525"/>
                </a:solidFill>
              </a:rPr>
              <a:t>"  Don't  fail  to  get  this  book."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—K.  A.  Torrey,  D.  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God\s  Will  and  My  Life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18mo,  cloth,  25  cents  net.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  sort  of  autobiography,  giving  the 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" id="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author's  personal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experiences  and  a  study  of  God's  plans  for  our  lives.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SALVATION  and  the </a:t>
            </a:r>
          </a:p>
          <a:p>
            <a:r>
              <a:rPr lang="en-US" sz="3700">
                <a:solidFill>
                  <a:srgbClr val="252525"/>
                </a:solidFill>
              </a:rPr>
              <a:t>OLD   THEOLOGY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Pivot  Points  in  Romans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yBY </a:t>
            </a:r>
          </a:p>
          <a:p>
            <a:r>
              <a:rPr lang="en-US" sz="3700">
                <a:solidFill>
                  <a:srgbClr val="252525"/>
                </a:solidFill>
              </a:rPr>
              <a:t>REV.  LEN  G.  BROUGHTON,  D.D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Author  of  "Table  Talks  of  Jesus,"  "The  Soul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Winning  Church,"  *'  The  Second  Coming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" id="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of  Christ,"   Etc.,   Etc.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*'/br  therein  is  the  righteousness  of  God  re- </a:t>
            </a:r>
          </a:p>
          <a:p>
            <a:r>
              <a:rPr lang="en-US" sz="3700">
                <a:solidFill>
                  <a:srgbClr val="252525"/>
                </a:solidFill>
              </a:rPr>
              <a:t>•vealed  from  faith  to  faith -y  as  it  is  avrittenf </a:t>
            </a:r>
          </a:p>
          <a:p>
            <a:r>
              <a:rPr lang="en-US" sz="3700">
                <a:solidFill>
                  <a:srgbClr val="252525"/>
                </a:solidFill>
              </a:rPr>
              <a:t>the  just  shall  li've  by  faith.  "^    Romans  1:17.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New  York         Chicago         Toronto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Fleming  H.   Revell   Company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London  and  Edinburgh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Copyright,  iqo8,  by </a:t>
            </a:r>
          </a:p>
          <a:p>
            <a:r>
              <a:rPr lang="en-US" sz="3700">
                <a:solidFill>
                  <a:srgbClr val="252525"/>
                </a:solidFill>
              </a:rPr>
              <a:t>Fleming  H.  Revell  Company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" id="1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SECOND  EDITION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New  York  :  158  Fifth  Avenue </a:t>
            </a:r>
          </a:p>
          <a:p>
            <a:r>
              <a:rPr lang="en-US" sz="3700">
                <a:solidFill>
                  <a:srgbClr val="252525"/>
                </a:solidFill>
              </a:rPr>
              <a:t>Chicago :  80  Wabash  Avenue </a:t>
            </a:r>
          </a:p>
          <a:p>
            <a:r>
              <a:rPr lang="en-US" sz="3700">
                <a:solidFill>
                  <a:srgbClr val="252525"/>
                </a:solidFill>
              </a:rPr>
              <a:t>Toronto  :  25  Richmond  St.,  W. </a:t>
            </a:r>
          </a:p>
          <a:p>
            <a:r>
              <a:rPr lang="en-US" sz="3700">
                <a:solidFill>
                  <a:srgbClr val="252525"/>
                </a:solidFill>
              </a:rPr>
              <a:t>London  :  21  Paternoster  Square </a:t>
            </a:r>
          </a:p>
          <a:p>
            <a:r>
              <a:rPr lang="en-US" sz="3700">
                <a:solidFill>
                  <a:srgbClr val="252525"/>
                </a:solidFill>
              </a:rPr>
              <a:t>Edinburgh :   100    Princes  Street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PREFACE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** Salvation  and  the  Old  Theology,  or  Pivot </a:t>
            </a:r>
          </a:p>
          <a:p>
            <a:r>
              <a:rPr lang="en-US" sz="3700">
                <a:solidFill>
                  <a:srgbClr val="252525"/>
                </a:solidFill>
              </a:rPr>
              <a:t>Points  in  Romans"  consists  of  a  series  of  Fri- </a:t>
            </a:r>
          </a:p>
          <a:p>
            <a:r>
              <a:rPr lang="en-US" sz="3700">
                <a:solidFill>
                  <a:srgbClr val="252525"/>
                </a:solidFill>
              </a:rPr>
              <a:t>day night  talks  given  before  the  Tabernacle  Bible </a:t>
            </a:r>
          </a:p>
          <a:p>
            <a:r>
              <a:rPr lang="en-US" sz="3700">
                <a:solidFill>
                  <a:srgbClr val="252525"/>
                </a:solidFill>
              </a:rPr>
              <a:t>School,  and  revised  with  much  care  for  publica-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" id="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 I  went  into  this  course  with  the  class  I </a:t>
            </a:r>
          </a:p>
          <a:p>
            <a:r>
              <a:rPr lang="en-US" sz="3700">
                <a:solidFill>
                  <a:srgbClr val="252525"/>
                </a:solidFill>
              </a:rPr>
              <a:t>promised  that  I  would  endeavor  to  set  forth  the </a:t>
            </a:r>
          </a:p>
          <a:p>
            <a:r>
              <a:rPr lang="en-US" sz="3700">
                <a:solidFill>
                  <a:srgbClr val="252525"/>
                </a:solidFill>
              </a:rPr>
              <a:t>teaching  of  this  great  Epistle  without  regard  to </a:t>
            </a:r>
          </a:p>
          <a:p>
            <a:r>
              <a:rPr lang="en-US" sz="3700">
                <a:solidFill>
                  <a:srgbClr val="252525"/>
                </a:solidFill>
              </a:rPr>
              <a:t>any  theory  that  men  have  set  up  concerning  it, </a:t>
            </a:r>
          </a:p>
          <a:p>
            <a:r>
              <a:rPr lang="en-US" sz="3700">
                <a:solidFill>
                  <a:srgbClr val="252525"/>
                </a:solidFill>
              </a:rPr>
              <a:t>and  this  purpose  I  have  kept  in  mind  continually.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At  some  points  I  have  been  forced  to  present </a:t>
            </a:r>
          </a:p>
          <a:p>
            <a:r>
              <a:rPr lang="en-US" sz="3700">
                <a:solidFill>
                  <a:srgbClr val="252525"/>
                </a:solidFill>
              </a:rPr>
              <a:t>a  different  view  from  many  of  our  most  popular </a:t>
            </a:r>
          </a:p>
          <a:p>
            <a:r>
              <a:rPr lang="en-US" sz="3700">
                <a:solidFill>
                  <a:srgbClr val="252525"/>
                </a:solidFill>
              </a:rPr>
              <a:t>expounders  of  to-day,  but  wherever  the  differ- </a:t>
            </a:r>
          </a:p>
          <a:p>
            <a:r>
              <a:rPr lang="en-US" sz="3700">
                <a:solidFill>
                  <a:srgbClr val="252525"/>
                </a:solidFill>
              </a:rPr>
              <a:t>ence has  arisen  I  have  found  myself  in  harmony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" id="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with  the  most  orthodox  expositors  of  "The  days </a:t>
            </a:r>
          </a:p>
          <a:p>
            <a:r>
              <a:rPr lang="en-US" sz="3700">
                <a:solidFill>
                  <a:srgbClr val="252525"/>
                </a:solidFill>
              </a:rPr>
              <a:t>of  the  fathers."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Epistle  to  the  Romans  is  without  doubt </a:t>
            </a:r>
          </a:p>
          <a:p>
            <a:r>
              <a:rPr lang="en-US" sz="3700">
                <a:solidFill>
                  <a:srgbClr val="252525"/>
                </a:solidFill>
              </a:rPr>
              <a:t>the  bed-rock  in  the  theology  of  the  wisest  and </a:t>
            </a:r>
          </a:p>
          <a:p>
            <a:r>
              <a:rPr lang="en-US" sz="3700">
                <a:solidFill>
                  <a:srgbClr val="252525"/>
                </a:solidFill>
              </a:rPr>
              <a:t>best  men  that  the  Church  has  ever  had.  They </a:t>
            </a:r>
          </a:p>
          <a:p>
            <a:r>
              <a:rPr lang="en-US" sz="3700">
                <a:solidFill>
                  <a:srgbClr val="252525"/>
                </a:solidFill>
              </a:rPr>
              <a:t>have  built  their  theology  on  its  teaching.  The </a:t>
            </a:r>
          </a:p>
          <a:p>
            <a:r>
              <a:rPr lang="en-US" sz="3700">
                <a:solidFill>
                  <a:srgbClr val="252525"/>
                </a:solidFill>
              </a:rPr>
              <a:t>essential  doctrines  of  God,  Christ,  sin,  atonement, </a:t>
            </a:r>
          </a:p>
          <a:p>
            <a:r>
              <a:rPr lang="en-US" sz="3700">
                <a:solidFill>
                  <a:srgbClr val="252525"/>
                </a:solidFill>
              </a:rPr>
              <a:t>propitiation,  redemption,  reconciliation,  and  Sal- </a:t>
            </a:r>
          </a:p>
          <a:p>
            <a:r>
              <a:rPr lang="en-US" sz="3700">
                <a:solidFill>
                  <a:srgbClr val="252525"/>
                </a:solidFill>
              </a:rPr>
              <a:t>vation, as  taught  in  Romans  and  held  by  the </a:t>
            </a:r>
          </a:p>
          <a:p>
            <a:r>
              <a:rPr lang="en-US" sz="3700">
                <a:solidFill>
                  <a:srgbClr val="252525"/>
                </a:solidFill>
              </a:rPr>
              <a:t>early  Church,  have  been  carefully  considered  in </a:t>
            </a:r>
          </a:p>
          <a:p>
            <a:r>
              <a:rPr lang="en-US" sz="3700">
                <a:solidFill>
                  <a:srgbClr val="252525"/>
                </a:solidFill>
              </a:rPr>
              <a:t>the  series,  and  without  trimming  or 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" id="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modification. </a:t>
            </a:r>
          </a:p>
          <a:p>
            <a:r>
              <a:rPr lang="en-US" sz="3700">
                <a:solidFill>
                  <a:srgbClr val="252525"/>
                </a:solidFill>
              </a:rPr>
              <a:t>5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6  Preface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My  purpose  has  been  to  present  these  old  doc- </a:t>
            </a:r>
          </a:p>
          <a:p>
            <a:r>
              <a:rPr lang="en-US" sz="3700">
                <a:solidFill>
                  <a:srgbClr val="252525"/>
                </a:solidFill>
              </a:rPr>
              <a:t>trines in  the  regular  order  in  which  the  Apostle </a:t>
            </a:r>
          </a:p>
          <a:p>
            <a:r>
              <a:rPr lang="en-US" sz="3700">
                <a:solidFill>
                  <a:srgbClr val="252525"/>
                </a:solidFill>
              </a:rPr>
              <a:t>puts  them,  and  to  do  it  in  the  language  of  the </a:t>
            </a:r>
          </a:p>
          <a:p>
            <a:r>
              <a:rPr lang="en-US" sz="3700">
                <a:solidFill>
                  <a:srgbClr val="252525"/>
                </a:solidFill>
              </a:rPr>
              <a:t>people;  so  that  the  simplest  and  plainest  mind </a:t>
            </a:r>
          </a:p>
          <a:p>
            <a:r>
              <a:rPr lang="en-US" sz="3700">
                <a:solidFill>
                  <a:srgbClr val="252525"/>
                </a:solidFill>
              </a:rPr>
              <a:t>might  grasp  them.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have  felt  a  need  in  my  own  field  for  such </a:t>
            </a:r>
          </a:p>
          <a:p>
            <a:r>
              <a:rPr lang="en-US" sz="3700">
                <a:solidFill>
                  <a:srgbClr val="252525"/>
                </a:solidFill>
              </a:rPr>
              <a:t>a  work.  The  average  man,  especially  the  lay- </a:t>
            </a:r>
          </a:p>
          <a:p>
            <a:r>
              <a:rPr lang="en-US" sz="3700">
                <a:solidFill>
                  <a:srgbClr val="252525"/>
                </a:solidFill>
              </a:rPr>
              <a:t>man, has  not  been  regarded  in  the 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" id="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presentation </a:t>
            </a:r>
          </a:p>
          <a:p>
            <a:r>
              <a:rPr lang="en-US" sz="3700">
                <a:solidFill>
                  <a:srgbClr val="252525"/>
                </a:solidFill>
              </a:rPr>
              <a:t>of  our  system  of  theology.  This  course  there- </a:t>
            </a:r>
          </a:p>
          <a:p>
            <a:r>
              <a:rPr lang="en-US" sz="3700">
                <a:solidFill>
                  <a:srgbClr val="252525"/>
                </a:solidFill>
              </a:rPr>
              <a:t>fore has  been  prepared  largely  to  meet  the  need </a:t>
            </a:r>
          </a:p>
          <a:p>
            <a:r>
              <a:rPr lang="en-US" sz="3700">
                <a:solidFill>
                  <a:srgbClr val="252525"/>
                </a:solidFill>
              </a:rPr>
              <a:t>of  the  plain  man  who  wants  to  grasp  the  funda- </a:t>
            </a:r>
          </a:p>
          <a:p>
            <a:r>
              <a:rPr lang="en-US" sz="3700">
                <a:solidFill>
                  <a:srgbClr val="252525"/>
                </a:solidFill>
              </a:rPr>
              <a:t>mentals of  our  religion.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Scholarship  is  not  claimed;  simply  an  exposi- </a:t>
            </a:r>
          </a:p>
          <a:p>
            <a:r>
              <a:rPr lang="en-US" sz="3700">
                <a:solidFill>
                  <a:srgbClr val="252525"/>
                </a:solidFill>
              </a:rPr>
              <a:t>tion of  the  teaching  as  set  forth  in  this  the  most </a:t>
            </a:r>
          </a:p>
          <a:p>
            <a:r>
              <a:rPr lang="en-US" sz="3700">
                <a:solidFill>
                  <a:srgbClr val="252525"/>
                </a:solidFill>
              </a:rPr>
              <a:t>interesting  of  all  the  Epistles.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Len  G.  Broughton.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Atlanta.  Ga.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CONTENTS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" id="27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CHAPTER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I.  A  General  Analysis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II.  Paul's  Testimony  of  Himself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III.  Testimony  of  Christ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IV.  Testimony  of  the  Church </a:t>
            </a:r>
          </a:p>
          <a:p>
            <a:r>
              <a:rPr lang="en-US" sz="3700">
                <a:solidFill>
                  <a:srgbClr val="252525"/>
                </a:solidFill>
              </a:rPr>
              <a:t>V.  Testimony  of  the  Gospel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VI.     God's  Attitude  to  Sin    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VII.    God's  Provision  for  Salvation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VIII.     Reconciliation  and  Righteousness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IX.     Relation  of  Salvation  to  Life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" id="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X.     Relation  of  Salvation  to  Law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XI.     Freedom  from  the  Law  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XII.    The    Character   and  Purpose   of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Law     ....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XIII.  The  Life  of  Victory — No.  i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XIV.  The  Life  of  Victory — No.  2 </a:t>
            </a:r>
          </a:p>
          <a:p>
            <a:r>
              <a:rPr lang="en-US" sz="3700">
                <a:solidFill>
                  <a:srgbClr val="252525"/>
                </a:solidFill>
              </a:rPr>
              <a:t>XV.     Israel's  Rejection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XVI.  Israel's  Hope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XVII.  Israel's  Restoration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XVIII.  The  Practical  Application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XIX.  Concluding  Words    .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" id="3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page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9 </a:t>
            </a:r>
          </a:p>
          <a:p>
            <a:r>
              <a:rPr lang="en-US" sz="3700">
                <a:solidFill>
                  <a:srgbClr val="252525"/>
                </a:solidFill>
              </a:rPr>
              <a:t>12 </a:t>
            </a:r>
          </a:p>
          <a:p>
            <a:r>
              <a:rPr lang="en-US" sz="3700">
                <a:solidFill>
                  <a:srgbClr val="252525"/>
                </a:solidFill>
              </a:rPr>
              <a:t>22 </a:t>
            </a:r>
          </a:p>
          <a:p>
            <a:r>
              <a:rPr lang="en-US" sz="3700">
                <a:solidFill>
                  <a:srgbClr val="252525"/>
                </a:solidFill>
              </a:rPr>
              <a:t>34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45 </a:t>
            </a:r>
          </a:p>
          <a:p>
            <a:r>
              <a:rPr lang="en-US" sz="3700">
                <a:solidFill>
                  <a:srgbClr val="252525"/>
                </a:solidFill>
              </a:rPr>
              <a:t>52 </a:t>
            </a:r>
          </a:p>
          <a:p>
            <a:r>
              <a:rPr lang="en-US" sz="3700">
                <a:solidFill>
                  <a:srgbClr val="252525"/>
                </a:solidFill>
              </a:rPr>
              <a:t>66 </a:t>
            </a:r>
          </a:p>
          <a:p>
            <a:r>
              <a:rPr lang="en-US" sz="3700">
                <a:solidFill>
                  <a:srgbClr val="252525"/>
                </a:solidFill>
              </a:rPr>
              <a:t>82 </a:t>
            </a:r>
          </a:p>
          <a:p>
            <a:r>
              <a:rPr lang="en-US" sz="3700">
                <a:solidFill>
                  <a:srgbClr val="252525"/>
                </a:solidFill>
              </a:rPr>
              <a:t>95 </a:t>
            </a:r>
          </a:p>
          <a:p>
            <a:r>
              <a:rPr lang="en-US" sz="3700">
                <a:solidFill>
                  <a:srgbClr val="252525"/>
                </a:solidFill>
              </a:rPr>
              <a:t>105 </a:t>
            </a:r>
          </a:p>
          <a:p>
            <a:r>
              <a:rPr lang="en-US" sz="3700">
                <a:solidFill>
                  <a:srgbClr val="252525"/>
                </a:solidFill>
              </a:rPr>
              <a:t>110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118 </a:t>
            </a:r>
          </a:p>
          <a:p>
            <a:r>
              <a:rPr lang="en-US" sz="3700">
                <a:solidFill>
                  <a:srgbClr val="252525"/>
                </a:solidFill>
              </a:rPr>
              <a:t>127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" id="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136 </a:t>
            </a:r>
          </a:p>
          <a:p>
            <a:r>
              <a:rPr lang="en-US" sz="3700">
                <a:solidFill>
                  <a:srgbClr val="252525"/>
                </a:solidFill>
              </a:rPr>
              <a:t>145 </a:t>
            </a:r>
          </a:p>
          <a:p>
            <a:r>
              <a:rPr lang="en-US" sz="3700">
                <a:solidFill>
                  <a:srgbClr val="252525"/>
                </a:solidFill>
              </a:rPr>
              <a:t>157 </a:t>
            </a:r>
          </a:p>
          <a:p>
            <a:r>
              <a:rPr lang="en-US" sz="3700">
                <a:solidFill>
                  <a:srgbClr val="252525"/>
                </a:solidFill>
              </a:rPr>
              <a:t>161 </a:t>
            </a:r>
          </a:p>
          <a:p>
            <a:r>
              <a:rPr lang="en-US" sz="3700">
                <a:solidFill>
                  <a:srgbClr val="252525"/>
                </a:solidFill>
              </a:rPr>
              <a:t>174 </a:t>
            </a:r>
          </a:p>
          <a:p>
            <a:r>
              <a:rPr lang="en-US" sz="3700">
                <a:solidFill>
                  <a:srgbClr val="252525"/>
                </a:solidFill>
              </a:rPr>
              <a:t>183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  GENERAL  ANALYSIS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/.  THE  PLACE  WHERE  WRITTEN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Three  names  in  the  Epistle  indicate  that  it  was </a:t>
            </a:r>
          </a:p>
          <a:p>
            <a:r>
              <a:rPr lang="en-US" sz="3700">
                <a:solidFill>
                  <a:srgbClr val="252525"/>
                </a:solidFill>
              </a:rPr>
              <a:t>written  while  the  Apostles  were  in  Corinth. </a:t>
            </a:r>
          </a:p>
          <a:p>
            <a:r>
              <a:rPr lang="en-US" sz="3700">
                <a:solidFill>
                  <a:srgbClr val="252525"/>
                </a:solidFill>
              </a:rPr>
              <a:t>Gaius'  house  in  Corinth. </a:t>
            </a:r>
          </a:p>
          <a:p>
            <a:r>
              <a:rPr lang="en-US" sz="3700">
                <a:solidFill>
                  <a:srgbClr val="252525"/>
                </a:solidFill>
              </a:rPr>
              <a:t>Phoebe  lived  in  Cenchrea,  a  suburb  of  Corinth.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" id="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Erastus,  treasurer  of  Corinth.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//.  TIME  OF  THE  WRITING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A.  D.  58,  March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Five  months  before  Paul's  arrest.  Church  at </a:t>
            </a:r>
          </a:p>
          <a:p>
            <a:r>
              <a:rPr lang="en-US" sz="3700">
                <a:solidFill>
                  <a:srgbClr val="252525"/>
                </a:solidFill>
              </a:rPr>
              <a:t>Rome  not  organized  by  Paul  or  Peter.  Prob- </a:t>
            </a:r>
          </a:p>
          <a:p>
            <a:r>
              <a:rPr lang="en-US" sz="3700">
                <a:solidFill>
                  <a:srgbClr val="252525"/>
                </a:solidFill>
              </a:rPr>
              <a:t>ably organized  by  converts  from  Pentecost. </a:t>
            </a:r>
          </a:p>
          <a:p>
            <a:r>
              <a:rPr lang="en-US" sz="3700">
                <a:solidFill>
                  <a:srgbClr val="252525"/>
                </a:solidFill>
              </a:rPr>
              <a:t>Romans  written  because  he  could  not  pay  the </a:t>
            </a:r>
          </a:p>
          <a:p>
            <a:r>
              <a:rPr lang="en-US" sz="3700">
                <a:solidFill>
                  <a:srgbClr val="252525"/>
                </a:solidFill>
              </a:rPr>
              <a:t>Church  a  visit.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///.  THE  PURPOSE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Not  for  the  mere  correction  of  Jews  or  Pa- </a:t>
            </a:r>
          </a:p>
          <a:p>
            <a:r>
              <a:rPr lang="en-US" sz="3700">
                <a:solidFill>
                  <a:srgbClr val="252525"/>
                </a:solidFill>
              </a:rPr>
              <a:t>gans. Other  epistles  local.  Romans  to 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" id="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set  forth </a:t>
            </a:r>
          </a:p>
          <a:p>
            <a:r>
              <a:rPr lang="en-US" sz="3700">
                <a:solidFill>
                  <a:srgbClr val="252525"/>
                </a:solidFill>
              </a:rPr>
              <a:t>the  basic  principles  of  the  kingdom  of  grace  as </a:t>
            </a:r>
          </a:p>
          <a:p>
            <a:r>
              <a:rPr lang="en-US" sz="3700">
                <a:solidFill>
                  <a:srgbClr val="252525"/>
                </a:solidFill>
              </a:rPr>
              <a:t>opposed  to  the  kingdom  of  law.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Key. — Ch.  1:17:  "For  therein  is  revealed  a </a:t>
            </a:r>
          </a:p>
          <a:p>
            <a:r>
              <a:rPr lang="en-US" sz="3700">
                <a:solidFill>
                  <a:srgbClr val="252525"/>
                </a:solidFill>
              </a:rPr>
              <a:t>righteousness  of  God  from  faith  unto  faith;  as </a:t>
            </a:r>
          </a:p>
          <a:p>
            <a:r>
              <a:rPr lang="en-US" sz="3700">
                <a:solidFill>
                  <a:srgbClr val="252525"/>
                </a:solidFill>
              </a:rPr>
              <a:t>it  is  written,  but  the  righteous  shall  live  by  faith."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9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lo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IV.  THE   GENERAL  PLAN  AND   SCOPE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OF  THE  BOOK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" id="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(i)  The  Introduction. — Ch.  1:1-17.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(2)  The  Doctrinal.— Ch.   1:18  to  8:39.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(3)  The  Dispensational. — Ch.  9  to  11.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(4)  The  Practical. — Ch.  12  to  15  113.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(5)  The  Personal. — Ch.  15:15  to  16:27.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V.  SUBDIVISIONS   OF   GENERAL  PLAN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The  Introduction, — Ch.  i  :i-i7.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(i)  His  testimony  of  himself. — Ch.  1:1.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(2)  His  testimony  of  Christ. — Ch.  i  :3-7.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(3)  His    testimony    of    the    Church. — Ch.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0" id="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  7-15.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(4)  His    testimony    of    the    Gospel. — Ch.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 :2-i6.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The  Doctrinal. — Ch.  1:18  to  8:39.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(i)  God's    attitude   to    sin. — Ch.    1:18    to </a:t>
            </a:r>
          </a:p>
          <a:p>
            <a:r>
              <a:rPr lang="en-US" sz="3700">
                <a:solidFill>
                  <a:srgbClr val="252525"/>
                </a:solidFill>
              </a:rPr>
              <a:t>3:20.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(2)  God's    provision     for    salvation. — Ch.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3:21  to  Ch.  8:30.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(3)  How    brought    about. — Ch.    4:25    to 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2" id="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Ch.  5.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(4)  The    place    and    purpose    of    Christ's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death  in  bringing  it  about. — Ch.  6 </a:t>
            </a:r>
          </a:p>
          <a:p>
            <a:r>
              <a:rPr lang="en-US" sz="3700">
                <a:solidFill>
                  <a:srgbClr val="252525"/>
                </a:solidFill>
              </a:rPr>
              <a:t>to  Ch.  7.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(5)  The  life  of  victory.— Ch.  8.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The  Dispensational. — Ch.  9  to   11.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(i)  The  Jew's  rejection. — Ch.  9  to  10. </a:t>
            </a:r>
          </a:p>
          <a:p>
            <a:r>
              <a:rPr lang="en-US" sz="3700">
                <a:solidFill>
                  <a:srgbClr val="252525"/>
                </a:solidFill>
              </a:rPr>
              <a:t>(2)  The  restoration. — Ch.  11.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  General  Analysis  1 1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4.  The  Practical. — Ch.  12  to  15:13.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(i)  Personal  attitude  to  God. — Ch.  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4" id="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12:1-2.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(2)  Spiritual  gifts. — Ch.  12:3-8.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(3)  One  to  another. — Ch.  12:9-21.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(4)  Governments. — Ch.  13:1-14.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(5)  Conscience. — Ch.  14.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  The  Personal. — Ch.  is  to  16.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(i)  Brotherly  preferment. — Ch.   15:1-16.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(2)  His  own  plans  told.— Ch.  15:14-33.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(3)  Fellow       workers       commended. — Ch.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16:1-16.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6" id="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(4)  Admonitions  to  peace. — Ch.  16:17-20.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(5)  Final     words     and     benediction. — Ch.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16:17-27.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PAUL'S  TESTIMONY  OF  HIMSELF </a:t>
            </a:r>
          </a:p>
          <a:p>
            <a:r>
              <a:rPr lang="en-US" sz="3700">
                <a:solidFill>
                  <a:srgbClr val="252525"/>
                </a:solidFill>
              </a:rPr>
              <a:t>Ch.  I  :i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I.  His  Name — Paul.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II.  His  Position — Servant,  or  Slave.  He </a:t>
            </a:r>
          </a:p>
          <a:p>
            <a:r>
              <a:rPr lang="en-US" sz="3700">
                <a:solidFill>
                  <a:srgbClr val="252525"/>
                </a:solidFill>
              </a:rPr>
              <a:t>was  not  his  own.  His  master  was  responsible </a:t>
            </a:r>
          </a:p>
          <a:p>
            <a:r>
              <a:rPr lang="en-US" sz="3700">
                <a:solidFill>
                  <a:srgbClr val="252525"/>
                </a:solidFill>
              </a:rPr>
              <a:t>for  him.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8" id="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III.  His  Calling  as  an  Apostle.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IV.  His  Life — "Separated  unto  the  Gospel  of </a:t>
            </a:r>
          </a:p>
          <a:p>
            <a:r>
              <a:rPr lang="en-US" sz="3700">
                <a:solidFill>
                  <a:srgbClr val="252525"/>
                </a:solidFill>
              </a:rPr>
              <a:t>God."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V.  The  Cost  of  His  Testimony.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His  religion.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His  home.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His  companions.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4.  His  fame  or  position.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  His  wealth.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VI.  His  Gain — His  crown.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First,  we  must  consider  Paul's  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0" id="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testimony  of </a:t>
            </a:r>
          </a:p>
          <a:p>
            <a:r>
              <a:rPr lang="en-US" sz="3700">
                <a:solidFill>
                  <a:srgbClr val="252525"/>
                </a:solidFill>
              </a:rPr>
              <a:t>himself.  It  is  a  very  peculiar  sort  of  testimony </a:t>
            </a:r>
          </a:p>
          <a:p>
            <a:r>
              <a:rPr lang="en-US" sz="3700">
                <a:solidFill>
                  <a:srgbClr val="252525"/>
                </a:solidFill>
              </a:rPr>
              <a:t>that  he  gives.  He  starts  out  by  telling  who  he </a:t>
            </a:r>
          </a:p>
          <a:p>
            <a:r>
              <a:rPr lang="en-US" sz="3700">
                <a:solidFill>
                  <a:srgbClr val="252525"/>
                </a:solidFill>
              </a:rPr>
              <a:t>is,  and  to  do  that  he  simply  has  to  mention  his </a:t>
            </a:r>
          </a:p>
          <a:p>
            <a:r>
              <a:rPr lang="en-US" sz="3700">
                <a:solidFill>
                  <a:srgbClr val="252525"/>
                </a:solidFill>
              </a:rPr>
              <a:t>name.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Paul  had  two  names.  First  he  was  Saul  of </a:t>
            </a:r>
          </a:p>
          <a:p>
            <a:r>
              <a:rPr lang="en-US" sz="3700">
                <a:solidFill>
                  <a:srgbClr val="252525"/>
                </a:solidFill>
              </a:rPr>
              <a:t>Tarsus,  and  then  Paul.  Saul  was  his  pre- </a:t>
            </a:r>
          </a:p>
          <a:p>
            <a:r>
              <a:rPr lang="en-US" sz="3700">
                <a:solidFill>
                  <a:srgbClr val="252525"/>
                </a:solidFill>
              </a:rPr>
              <a:t>Christian  name.     Paul  was  his  Christian  name.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Paul's  Testimony  of  Himself      i  3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Saul  was  the  name  given  him  by  his  parents,  or 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2" id="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someone  else  in  the  early  part  of  his  life,  or  else </a:t>
            </a:r>
          </a:p>
          <a:p>
            <a:r>
              <a:rPr lang="en-US" sz="3700">
                <a:solidFill>
                  <a:srgbClr val="252525"/>
                </a:solidFill>
              </a:rPr>
              <a:t>he  chose  it  for  himself  after  he  was  old  enough, </a:t>
            </a:r>
          </a:p>
          <a:p>
            <a:r>
              <a:rPr lang="en-US" sz="3700">
                <a:solidFill>
                  <a:srgbClr val="252525"/>
                </a:solidFill>
              </a:rPr>
              <a:t>for  this  was  often  done.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change  from  Saul  to  Paul  is  very  signifi- </a:t>
            </a:r>
          </a:p>
          <a:p>
            <a:r>
              <a:rPr lang="en-US" sz="3700">
                <a:solidFill>
                  <a:srgbClr val="252525"/>
                </a:solidFill>
              </a:rPr>
              <a:t>cant. Saul  means  great,  important;  Paul  means </a:t>
            </a:r>
          </a:p>
          <a:p>
            <a:r>
              <a:rPr lang="en-US" sz="3700">
                <a:solidFill>
                  <a:srgbClr val="252525"/>
                </a:solidFill>
              </a:rPr>
              <a:t>little,  insignificant.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His  parents  doubtless  gave  him  his  name </a:t>
            </a:r>
          </a:p>
          <a:p>
            <a:r>
              <a:rPr lang="en-US" sz="3700">
                <a:solidFill>
                  <a:srgbClr val="252525"/>
                </a:solidFill>
              </a:rPr>
              <a:t>'"great"  after  they  saw  his  promise.  When  he </a:t>
            </a:r>
          </a:p>
          <a:p>
            <a:r>
              <a:rPr lang="en-US" sz="3700">
                <a:solidFill>
                  <a:srgbClr val="252525"/>
                </a:solidFill>
              </a:rPr>
              <a:t>found  the  Lord,  and  learned  what  it  was  to  be  a </a:t>
            </a:r>
          </a:p>
          <a:p>
            <a:r>
              <a:rPr lang="en-US" sz="3700">
                <a:solidFill>
                  <a:srgbClr val="252525"/>
                </a:solidFill>
              </a:rPr>
              <a:t>follower  of  Jesus  Christ,  he  selected  for  himself </a:t>
            </a:r>
          </a:p>
          <a:p>
            <a:r>
              <a:rPr lang="en-US" sz="3700">
                <a:solidFill>
                  <a:srgbClr val="252525"/>
                </a:solidFill>
              </a:rPr>
              <a:t>his  permanent  name,  which  was  "little,  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4" id="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insignifi- </a:t>
            </a:r>
          </a:p>
          <a:p>
            <a:r>
              <a:rPr lang="en-US" sz="3700">
                <a:solidFill>
                  <a:srgbClr val="252525"/>
                </a:solidFill>
              </a:rPr>
              <a:t>cant." And  this  characteristic  followed  Paul  all </a:t>
            </a:r>
          </a:p>
          <a:p>
            <a:r>
              <a:rPr lang="en-US" sz="3700">
                <a:solidFill>
                  <a:srgbClr val="252525"/>
                </a:solidFill>
              </a:rPr>
              <a:t>through  his  ministry,  hiding  himself  that  Christ </a:t>
            </a:r>
          </a:p>
          <a:p>
            <a:r>
              <a:rPr lang="en-US" sz="3700">
                <a:solidFill>
                  <a:srgbClr val="252525"/>
                </a:solidFill>
              </a:rPr>
              <a:t>only  might  be  seen.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next  thing  that  he  has  to  say  about  him- </a:t>
            </a:r>
          </a:p>
          <a:p>
            <a:r>
              <a:rPr lang="en-US" sz="3700">
                <a:solidFill>
                  <a:srgbClr val="252525"/>
                </a:solidFill>
              </a:rPr>
              <a:t>self is  that  he  is  a  "servant  of  Jesus  Christ."  It </a:t>
            </a:r>
          </a:p>
          <a:p>
            <a:r>
              <a:rPr lang="en-US" sz="3700">
                <a:solidFill>
                  <a:srgbClr val="252525"/>
                </a:solidFill>
              </a:rPr>
              <a:t>is  very  striking  that  Paul,  in  writing  to  the </a:t>
            </a:r>
          </a:p>
          <a:p>
            <a:r>
              <a:rPr lang="en-US" sz="3700">
                <a:solidFill>
                  <a:srgbClr val="252525"/>
                </a:solidFill>
              </a:rPr>
              <a:t>Romans,  spoke  of  himself  as  a  servant.  He  was </a:t>
            </a:r>
          </a:p>
          <a:p>
            <a:r>
              <a:rPr lang="en-US" sz="3700">
                <a:solidFill>
                  <a:srgbClr val="252525"/>
                </a:solidFill>
              </a:rPr>
              <a:t>writing  to  a  people  who  despised  servitude.  If </a:t>
            </a:r>
          </a:p>
          <a:p>
            <a:r>
              <a:rPr lang="en-US" sz="3700">
                <a:solidFill>
                  <a:srgbClr val="252525"/>
                </a:solidFill>
              </a:rPr>
              <a:t>there  ever  was  a  people  who  hated  servitude  it </a:t>
            </a:r>
          </a:p>
          <a:p>
            <a:r>
              <a:rPr lang="en-US" sz="3700">
                <a:solidFill>
                  <a:srgbClr val="252525"/>
                </a:solidFill>
              </a:rPr>
              <a:t>was  the  Romans.  The  Roman  citizen  gloated  in 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6" id="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 thought  of  power.  He  reveled  in  wielding </a:t>
            </a:r>
          </a:p>
          <a:p>
            <a:r>
              <a:rPr lang="en-US" sz="3700">
                <a:solidFill>
                  <a:srgbClr val="252525"/>
                </a:solidFill>
              </a:rPr>
              <a:t>the  sword.  He  never  dreamed  of  being  a  servant. </a:t>
            </a:r>
          </a:p>
          <a:p>
            <a:r>
              <a:rPr lang="en-US" sz="3700">
                <a:solidFill>
                  <a:srgbClr val="252525"/>
                </a:solidFill>
              </a:rPr>
              <a:t>He  was  a  master  among  men,  and  the  Apostle </a:t>
            </a:r>
          </a:p>
          <a:p>
            <a:r>
              <a:rPr lang="en-US" sz="3700">
                <a:solidFill>
                  <a:srgbClr val="252525"/>
                </a:solidFill>
              </a:rPr>
              <a:t>Paul  understood  that.  He  understood  it  much </a:t>
            </a:r>
          </a:p>
          <a:p>
            <a:r>
              <a:rPr lang="en-US" sz="3700">
                <a:solidFill>
                  <a:srgbClr val="252525"/>
                </a:solidFill>
              </a:rPr>
              <a:t>better  than  we  understand  it,  for  he  lived  in  the </a:t>
            </a:r>
          </a:p>
          <a:p>
            <a:r>
              <a:rPr lang="en-US" sz="3700">
                <a:solidFill>
                  <a:srgbClr val="252525"/>
                </a:solidFill>
              </a:rPr>
              <a:t>time  of  the  glory  of  Rome,  and  yet,  in  writing </a:t>
            </a:r>
          </a:p>
          <a:p>
            <a:r>
              <a:rPr lang="en-US" sz="3700">
                <a:solidFill>
                  <a:srgbClr val="252525"/>
                </a:solidFill>
              </a:rPr>
              <a:t>to  the  Church  at  Rome,  he  introduced  himself </a:t>
            </a:r>
          </a:p>
          <a:p>
            <a:r>
              <a:rPr lang="en-US" sz="3700">
                <a:solidFill>
                  <a:srgbClr val="252525"/>
                </a:solidFill>
              </a:rPr>
              <a:t>as  a  "servant."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Then,  it  is  still  more  significant  when  we  see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14     Salvation  and  the  Old  Theology 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58" id="5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what  kind  of  a  servant  he  introduced  himself  to </a:t>
            </a:r>
          </a:p>
          <a:p>
            <a:r>
              <a:rPr lang="en-US" sz="3700">
                <a:solidFill>
                  <a:srgbClr val="252525"/>
                </a:solidFill>
              </a:rPr>
              <a:t>be.  There  are  many  kinds  of  servants  described </a:t>
            </a:r>
          </a:p>
          <a:p>
            <a:r>
              <a:rPr lang="en-US" sz="3700">
                <a:solidFill>
                  <a:srgbClr val="252525"/>
                </a:solidFill>
              </a:rPr>
              <a:t>in  the  Scriptures,  and  at  this  particular  point  it </a:t>
            </a:r>
          </a:p>
          <a:p>
            <a:r>
              <a:rPr lang="en-US" sz="3700">
                <a:solidFill>
                  <a:srgbClr val="252525"/>
                </a:solidFill>
              </a:rPr>
              <a:t>is  significant  to  note  that  the  Apostle  Paul  is  in- </a:t>
            </a:r>
          </a:p>
          <a:p>
            <a:r>
              <a:rPr lang="en-US" sz="3700">
                <a:solidFill>
                  <a:srgbClr val="252525"/>
                </a:solidFill>
              </a:rPr>
              <a:t>troducing himself  as  the  most  menial  of  all  serv- </a:t>
            </a:r>
          </a:p>
          <a:p>
            <a:r>
              <a:rPr lang="en-US" sz="3700">
                <a:solidFill>
                  <a:srgbClr val="252525"/>
                </a:solidFill>
              </a:rPr>
              <a:t>ants; as  not  only  a  servant  in  the  sense  that </a:t>
            </a:r>
          </a:p>
          <a:p>
            <a:r>
              <a:rPr lang="en-US" sz="3700">
                <a:solidFill>
                  <a:srgbClr val="252525"/>
                </a:solidFill>
              </a:rPr>
              <a:t>a  clerk  in  a  store  is  a  servant,  but  a  servant  dis- </a:t>
            </a:r>
          </a:p>
          <a:p>
            <a:r>
              <a:rPr lang="en-US" sz="3700">
                <a:solidFill>
                  <a:srgbClr val="252525"/>
                </a:solidFill>
              </a:rPr>
              <a:t>tinctly menial,  doing  the  work  of  drudgery — "a </a:t>
            </a:r>
          </a:p>
          <a:p>
            <a:r>
              <a:rPr lang="en-US" sz="3700">
                <a:solidFill>
                  <a:srgbClr val="252525"/>
                </a:solidFill>
              </a:rPr>
              <a:t>bondslave."  The  Greek  means  that.  That  is </a:t>
            </a:r>
          </a:p>
          <a:p>
            <a:r>
              <a:rPr lang="en-US" sz="3700">
                <a:solidFill>
                  <a:srgbClr val="252525"/>
                </a:solidFill>
              </a:rPr>
              <a:t>the  kind  of  servant  that  Paul  was  to  Jesus  Christ. 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0" id="6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Then  it  is  still  more  significant  when  you  take </a:t>
            </a:r>
          </a:p>
          <a:p>
            <a:r>
              <a:rPr lang="en-US" sz="3700">
                <a:solidFill>
                  <a:srgbClr val="252525"/>
                </a:solidFill>
              </a:rPr>
              <a:t>into  account  the  fact  that  he  is  not  only  a  menial </a:t>
            </a:r>
          </a:p>
          <a:p>
            <a:r>
              <a:rPr lang="en-US" sz="3700">
                <a:solidFill>
                  <a:srgbClr val="252525"/>
                </a:solidFill>
              </a:rPr>
              <a:t>servant,  but  that  he  is  a  menial  servant  and  bond- </a:t>
            </a:r>
          </a:p>
          <a:p>
            <a:r>
              <a:rPr lang="en-US" sz="3700">
                <a:solidFill>
                  <a:srgbClr val="252525"/>
                </a:solidFill>
              </a:rPr>
              <a:t>slave of  the  Christ  whom  the  Romans  despised </a:t>
            </a:r>
          </a:p>
          <a:p>
            <a:r>
              <a:rPr lang="en-US" sz="3700">
                <a:solidFill>
                  <a:srgbClr val="252525"/>
                </a:solidFill>
              </a:rPr>
              <a:t>and  rejected,  whom  they  had  helped  to  crucify. </a:t>
            </a:r>
          </a:p>
          <a:p>
            <a:r>
              <a:rPr lang="en-US" sz="3700">
                <a:solidFill>
                  <a:srgbClr val="252525"/>
                </a:solidFill>
              </a:rPr>
              <a:t>He  was  the  menial,  humble  bondslave  of  this </a:t>
            </a:r>
          </a:p>
          <a:p>
            <a:r>
              <a:rPr lang="en-US" sz="3700">
                <a:solidFill>
                  <a:srgbClr val="252525"/>
                </a:solidFill>
              </a:rPr>
              <a:t>Christ,  this  despised,  rejected  Nazarene.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Such  a  testimony,  such  an  introduction  as  this </a:t>
            </a:r>
          </a:p>
          <a:p>
            <a:r>
              <a:rPr lang="en-US" sz="3700">
                <a:solidFill>
                  <a:srgbClr val="252525"/>
                </a:solidFill>
              </a:rPr>
              <a:t>the  world  has  never  seen  and  never  will  see  again </a:t>
            </a:r>
          </a:p>
          <a:p>
            <a:r>
              <a:rPr lang="en-US" sz="3700">
                <a:solidFill>
                  <a:srgbClr val="252525"/>
                </a:solidFill>
              </a:rPr>
              <a:t>in  the  history  of  the  globe.  If  we  were  going  to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2" id="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introduce  ourselves  to  some  congregation,  we </a:t>
            </a:r>
          </a:p>
          <a:p>
            <a:r>
              <a:rPr lang="en-US" sz="3700">
                <a:solidFill>
                  <a:srgbClr val="252525"/>
                </a:solidFill>
              </a:rPr>
              <a:t>would  want  to  gather  up  all  the  testimonies  that </a:t>
            </a:r>
          </a:p>
          <a:p>
            <a:r>
              <a:rPr lang="en-US" sz="3700">
                <a:solidFill>
                  <a:srgbClr val="252525"/>
                </a:solidFill>
              </a:rPr>
              <a:t>we  could  find  of  our  greatness  and  goodness.  Is </a:t>
            </a:r>
          </a:p>
          <a:p>
            <a:r>
              <a:rPr lang="en-US" sz="3700">
                <a:solidFill>
                  <a:srgbClr val="252525"/>
                </a:solidFill>
              </a:rPr>
              <a:t>it  not  a  wonderful,  striking  thing  that  the  Apos- </a:t>
            </a:r>
          </a:p>
          <a:p>
            <a:r>
              <a:rPr lang="en-US" sz="3700">
                <a:solidFill>
                  <a:srgbClr val="252525"/>
                </a:solidFill>
              </a:rPr>
              <a:t>tle Paul  says  nothing  about  the  fact  that  he  was </a:t>
            </a:r>
          </a:p>
          <a:p>
            <a:r>
              <a:rPr lang="en-US" sz="3700">
                <a:solidFill>
                  <a:srgbClr val="252525"/>
                </a:solidFill>
              </a:rPr>
              <a:t>once  a  member  of  the  Jewish  Sanhedrin?  The </a:t>
            </a:r>
          </a:p>
          <a:p>
            <a:r>
              <a:rPr lang="en-US" sz="3700">
                <a:solidFill>
                  <a:srgbClr val="252525"/>
                </a:solidFill>
              </a:rPr>
              <a:t>mention  of  that  would  have  carried  weight  and </a:t>
            </a:r>
          </a:p>
          <a:p>
            <a:r>
              <a:rPr lang="en-US" sz="3700">
                <a:solidFill>
                  <a:srgbClr val="252525"/>
                </a:solidFill>
              </a:rPr>
              <a:t>power  and  significance  with  it,  for  he  was  writing </a:t>
            </a:r>
          </a:p>
          <a:p>
            <a:r>
              <a:rPr lang="en-US" sz="3700">
                <a:solidFill>
                  <a:srgbClr val="252525"/>
                </a:solidFill>
              </a:rPr>
              <a:t>to  Jews  and  Gentiles  who  made  up  the  member- </a:t>
            </a:r>
          </a:p>
          <a:p>
            <a:r>
              <a:rPr lang="en-US" sz="3700">
                <a:solidFill>
                  <a:srgbClr val="252525"/>
                </a:solidFill>
              </a:rPr>
              <a:t>ship of  the  Roman  Church.  There  is  a  great </a:t>
            </a:r>
          </a:p>
          <a:p>
            <a:r>
              <a:rPr lang="en-US" sz="3700">
                <a:solidFill>
                  <a:srgbClr val="252525"/>
                </a:solidFill>
              </a:rPr>
              <a:t>lesson  in  this.    The  Gospel  of  Jesus  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4" id="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Christ  does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Paul's  Testimony  of  Himself      1 5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not  need  the  wings  of  the  world  to  carry  it.  Paul </a:t>
            </a:r>
          </a:p>
          <a:p>
            <a:r>
              <a:rPr lang="en-US" sz="3700">
                <a:solidFill>
                  <a:srgbClr val="252525"/>
                </a:solidFill>
              </a:rPr>
              <a:t>did  not  need  the  testimony  of  the  wicked  San- </a:t>
            </a:r>
          </a:p>
          <a:p>
            <a:r>
              <a:rPr lang="en-US" sz="3700">
                <a:solidFill>
                  <a:srgbClr val="252525"/>
                </a:solidFill>
              </a:rPr>
              <a:t>hedrin  to  furnish  trappings  for  the  Gospel  of </a:t>
            </a:r>
          </a:p>
          <a:p>
            <a:r>
              <a:rPr lang="en-US" sz="3700">
                <a:solidFill>
                  <a:srgbClr val="252525"/>
                </a:solidFill>
              </a:rPr>
              <a:t>Christ  that  was  to  save  the  world,  hence  he  does </a:t>
            </a:r>
          </a:p>
          <a:p>
            <a:r>
              <a:rPr lang="en-US" sz="3700">
                <a:solidFill>
                  <a:srgbClr val="252525"/>
                </a:solidFill>
              </a:rPr>
              <a:t>not  mention  it.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Let  us  see  what  comes  out  of  the  relationship </a:t>
            </a:r>
          </a:p>
          <a:p>
            <a:r>
              <a:rPr lang="en-US" sz="3700">
                <a:solidFill>
                  <a:srgbClr val="252525"/>
                </a:solidFill>
              </a:rPr>
              <a:t>of  slave.  It  is  a  fact  that  every  man  is  a  slave  of </a:t>
            </a:r>
          </a:p>
          <a:p>
            <a:r>
              <a:rPr lang="en-US" sz="3700">
                <a:solidFill>
                  <a:srgbClr val="252525"/>
                </a:solidFill>
              </a:rPr>
              <a:t>some  kind.  We  may  not  be  so  proclaimed,  and 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6" id="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 world  may  not  so  regard  it,  but  it  is  a  fact ;  a </a:t>
            </a:r>
          </a:p>
          <a:p>
            <a:r>
              <a:rPr lang="en-US" sz="3700">
                <a:solidFill>
                  <a:srgbClr val="252525"/>
                </a:solidFill>
              </a:rPr>
              <a:t>slave  to  passion,  a  slave  to  pride,  to  comfort,  to </a:t>
            </a:r>
          </a:p>
          <a:p>
            <a:r>
              <a:rPr lang="en-US" sz="3700">
                <a:solidFill>
                  <a:srgbClr val="252525"/>
                </a:solidFill>
              </a:rPr>
              <a:t>luxury,  to  self,  to  fame,  to  beauty.  Now,  Paul </a:t>
            </a:r>
          </a:p>
          <a:p>
            <a:r>
              <a:rPr lang="en-US" sz="3700">
                <a:solidFill>
                  <a:srgbClr val="252525"/>
                </a:solidFill>
              </a:rPr>
              <a:t>says,  "I  am  a  slave  to  Jesus  Christ."  Christ  had </a:t>
            </a:r>
          </a:p>
          <a:p>
            <a:r>
              <a:rPr lang="en-US" sz="3700">
                <a:solidFill>
                  <a:srgbClr val="252525"/>
                </a:solidFill>
              </a:rPr>
              <a:t>come  with  his  scepter  and  taken  His  seat  on  the </a:t>
            </a:r>
          </a:p>
          <a:p>
            <a:r>
              <a:rPr lang="en-US" sz="3700">
                <a:solidFill>
                  <a:srgbClr val="252525"/>
                </a:solidFill>
              </a:rPr>
              <a:t>throne  of  his  heart.  That  is  what  it  means  to  be </a:t>
            </a:r>
          </a:p>
          <a:p>
            <a:r>
              <a:rPr lang="en-US" sz="3700">
                <a:solidFill>
                  <a:srgbClr val="252525"/>
                </a:solidFill>
              </a:rPr>
              <a:t>a  Christian.  We  talk  about  a  consecrated  Chris- </a:t>
            </a:r>
          </a:p>
          <a:p>
            <a:r>
              <a:rPr lang="en-US" sz="3700">
                <a:solidFill>
                  <a:srgbClr val="252525"/>
                </a:solidFill>
              </a:rPr>
              <a:t>tian, a  sanctified  Christian,  a  Spirit-filled  Chris- </a:t>
            </a:r>
          </a:p>
          <a:p>
            <a:r>
              <a:rPr lang="en-US" sz="3700">
                <a:solidFill>
                  <a:srgbClr val="252525"/>
                </a:solidFill>
              </a:rPr>
              <a:t>tian. Never  mind  about  that,  it  means  all  that  to </a:t>
            </a:r>
          </a:p>
          <a:p>
            <a:r>
              <a:rPr lang="en-US" sz="3700">
                <a:solidFill>
                  <a:srgbClr val="252525"/>
                </a:solidFill>
              </a:rPr>
              <a:t>be  a  Christian,  or  it  means  nothing.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Slaves,  every  one  of  us!  Jesus  Christ  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8" id="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comes </a:t>
            </a:r>
          </a:p>
          <a:p>
            <a:r>
              <a:rPr lang="en-US" sz="3700">
                <a:solidFill>
                  <a:srgbClr val="252525"/>
                </a:solidFill>
              </a:rPr>
              <a:t>to  set  us  free  from  the  present  state  of  slavery, </a:t>
            </a:r>
          </a:p>
          <a:p>
            <a:r>
              <a:rPr lang="en-US" sz="3700">
                <a:solidFill>
                  <a:srgbClr val="252525"/>
                </a:solidFill>
              </a:rPr>
              <a:t>and  then  we  become  slaves  under  Him.  But, </a:t>
            </a:r>
          </a:p>
          <a:p>
            <a:r>
              <a:rPr lang="en-US" sz="3700">
                <a:solidFill>
                  <a:srgbClr val="252525"/>
                </a:solidFill>
              </a:rPr>
              <a:t>after  all,  is  that  slavery?  As  a  slave  of  Jesus </a:t>
            </a:r>
          </a:p>
          <a:p>
            <a:r>
              <a:rPr lang="en-US" sz="3700">
                <a:solidFill>
                  <a:srgbClr val="252525"/>
                </a:solidFill>
              </a:rPr>
              <a:t>Christ  one  is  not  his  own.  We  hear  a  great  deal </a:t>
            </a:r>
          </a:p>
          <a:p>
            <a:r>
              <a:rPr lang="en-US" sz="3700">
                <a:solidFill>
                  <a:srgbClr val="252525"/>
                </a:solidFill>
              </a:rPr>
              <a:t>in  this  day  and  time  about  "our  rights."  In </a:t>
            </a:r>
          </a:p>
          <a:p>
            <a:r>
              <a:rPr lang="en-US" sz="3700">
                <a:solidFill>
                  <a:srgbClr val="252525"/>
                </a:solidFill>
              </a:rPr>
              <a:t>God's  name,  I  ask  you,  is  there  any  such  thing </a:t>
            </a:r>
          </a:p>
          <a:p>
            <a:r>
              <a:rPr lang="en-US" sz="3700">
                <a:solidFill>
                  <a:srgbClr val="252525"/>
                </a:solidFill>
              </a:rPr>
              <a:t>as  "our  rights"?  Does  a  Christian  man  or </a:t>
            </a:r>
          </a:p>
          <a:p>
            <a:r>
              <a:rPr lang="en-US" sz="3700">
                <a:solidFill>
                  <a:srgbClr val="252525"/>
                </a:solidFill>
              </a:rPr>
              <a:t>woman  have  any  rights?  Can  he  have  any </a:t>
            </a:r>
          </a:p>
          <a:p>
            <a:r>
              <a:rPr lang="en-US" sz="3700">
                <a:solidFill>
                  <a:srgbClr val="252525"/>
                </a:solidFill>
              </a:rPr>
              <a:t>rights  ?  He  has  been  bought  with  a  price.  Christ </a:t>
            </a:r>
          </a:p>
          <a:p>
            <a:r>
              <a:rPr lang="en-US" sz="3700">
                <a:solidFill>
                  <a:srgbClr val="252525"/>
                </a:solidFill>
              </a:rPr>
              <a:t>is  the  purchaser,  the  blood  is  the  price.  We  are 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0" id="70"/>
          <p:cNvPicPr>
            <a:picLocks noChangeAspect="true"/>
          </p:cNvPicPr>
          <p:nvPr/>
        </p:nvPicPr>
        <p:blipFill>
          <a:blip r:embed="rId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0" id="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not  our  own  and  have  no  right  to  talk  about </a:t>
            </a:r>
          </a:p>
          <a:p>
            <a:r>
              <a:rPr lang="en-US" sz="3700">
                <a:solidFill>
                  <a:srgbClr val="252525"/>
                </a:solidFill>
              </a:rPr>
              <a:t>our  rights.    All  rights  are  henceforth  His  rights,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 6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and  it  is  what  He  wants  and  not  what  we  want </a:t>
            </a:r>
          </a:p>
          <a:p>
            <a:r>
              <a:rPr lang="en-US" sz="3700">
                <a:solidFill>
                  <a:srgbClr val="252525"/>
                </a:solidFill>
              </a:rPr>
              <a:t>that  concerns  us  from  that  time  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As  such  a  slave,  what  follows  ?  Our  Master  is </a:t>
            </a:r>
          </a:p>
          <a:p>
            <a:r>
              <a:rPr lang="en-US" sz="3700">
                <a:solidFill>
                  <a:srgbClr val="252525"/>
                </a:solidFill>
              </a:rPr>
              <a:t>responsible  for  us.  If  I  have  vested  all  my  rights </a:t>
            </a:r>
          </a:p>
          <a:p>
            <a:r>
              <a:rPr lang="en-US" sz="3700">
                <a:solidFill>
                  <a:srgbClr val="252525"/>
                </a:solidFill>
              </a:rPr>
              <a:t>in  Him,  He  is  responsible  for  my  entire  keeping. </a:t>
            </a:r>
          </a:p>
          <a:p>
            <a:r>
              <a:rPr lang="en-US" sz="3700">
                <a:solidFill>
                  <a:srgbClr val="252525"/>
                </a:solidFill>
              </a:rPr>
              <a:t>What  if  someone  does  trample  upon  what  I  think </a:t>
            </a:r>
          </a:p>
          <a:p>
            <a:r>
              <a:rPr lang="en-US" sz="3700">
                <a:solidFill>
                  <a:srgbClr val="252525"/>
                </a:solidFill>
              </a:rPr>
              <a:t>are  my  rights?  God  is  responsible.  I  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2" id="7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2" id="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can  go  to </a:t>
            </a:r>
          </a:p>
          <a:p>
            <a:r>
              <a:rPr lang="en-US" sz="3700">
                <a:solidFill>
                  <a:srgbClr val="252525"/>
                </a:solidFill>
              </a:rPr>
              <a:t>Him  and  look  Him  in  the  face  and  tell  Him  all, </a:t>
            </a:r>
          </a:p>
          <a:p>
            <a:r>
              <a:rPr lang="en-US" sz="3700">
                <a:solidFill>
                  <a:srgbClr val="252525"/>
                </a:solidFill>
              </a:rPr>
              <a:t>and  then  leave  it  to  Him.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  have  heard  of  Sophy,  the  Spirit-filled </a:t>
            </a:r>
          </a:p>
          <a:p>
            <a:r>
              <a:rPr lang="en-US" sz="3700">
                <a:solidFill>
                  <a:srgbClr val="252525"/>
                </a:solidFill>
              </a:rPr>
              <a:t>washerwoman.  She  was  once  visited  by  a  rental </a:t>
            </a:r>
          </a:p>
          <a:p>
            <a:r>
              <a:rPr lang="en-US" sz="3700">
                <a:solidFill>
                  <a:srgbClr val="252525"/>
                </a:solidFill>
              </a:rPr>
              <a:t>agent  at  a  time  when  she  did  not  have  the  money </a:t>
            </a:r>
          </a:p>
          <a:p>
            <a:r>
              <a:rPr lang="en-US" sz="3700">
                <a:solidFill>
                  <a:srgbClr val="252525"/>
                </a:solidFill>
              </a:rPr>
              <a:t>for  her  rent.  She  had  had  the  rheumatism,  and </a:t>
            </a:r>
          </a:p>
          <a:p>
            <a:r>
              <a:rPr lang="en-US" sz="3700">
                <a:solidFill>
                  <a:srgbClr val="252525"/>
                </a:solidFill>
              </a:rPr>
              <a:t>had  not  been  able  to  stand  over  the  wash-tub  as </a:t>
            </a:r>
          </a:p>
          <a:p>
            <a:r>
              <a:rPr lang="en-US" sz="3700">
                <a:solidFill>
                  <a:srgbClr val="252525"/>
                </a:solidFill>
              </a:rPr>
              <a:t>usual,  and  so  had  no  money  for  the  rent.  The </a:t>
            </a:r>
          </a:p>
          <a:p>
            <a:r>
              <a:rPr lang="en-US" sz="3700">
                <a:solidFill>
                  <a:srgbClr val="252525"/>
                </a:solidFill>
              </a:rPr>
              <a:t>renting  agent  told  her  that  he  would  put  her  out </a:t>
            </a:r>
          </a:p>
          <a:p>
            <a:r>
              <a:rPr lang="en-US" sz="3700">
                <a:solidFill>
                  <a:srgbClr val="252525"/>
                </a:solidFill>
              </a:rPr>
              <a:t>of  the  house  if  she  did  not  produce  the  money  the 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4" id="74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4" id="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next  day.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Sophy  replied,  "Do  you  think  you  will  ?  Well, </a:t>
            </a:r>
          </a:p>
          <a:p>
            <a:r>
              <a:rPr lang="en-US" sz="3700">
                <a:solidFill>
                  <a:srgbClr val="252525"/>
                </a:solidFill>
              </a:rPr>
              <a:t>you  don't  know  my  Master."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That  night  Sophy  got  down  on  her  knees  and </a:t>
            </a:r>
          </a:p>
          <a:p>
            <a:r>
              <a:rPr lang="en-US" sz="3700">
                <a:solidFill>
                  <a:srgbClr val="252525"/>
                </a:solidFill>
              </a:rPr>
              <a:t>prayed  like  this:  "Lord,  I  am  your  child,  and </a:t>
            </a:r>
          </a:p>
          <a:p>
            <a:r>
              <a:rPr lang="en-US" sz="3700">
                <a:solidFill>
                  <a:srgbClr val="252525"/>
                </a:solidFill>
              </a:rPr>
              <a:t>do  you  think  it  will  be  any  credit  to  you  for  your </a:t>
            </a:r>
          </a:p>
          <a:p>
            <a:r>
              <a:rPr lang="en-US" sz="3700">
                <a:solidFill>
                  <a:srgbClr val="252525"/>
                </a:solidFill>
              </a:rPr>
              <a:t>child  to  be  put  out  into  a  bank  of  snow  when  she </a:t>
            </a:r>
          </a:p>
          <a:p>
            <a:r>
              <a:rPr lang="en-US" sz="3700">
                <a:solidFill>
                  <a:srgbClr val="252525"/>
                </a:solidFill>
              </a:rPr>
              <a:t>is  sick?  If  you  think  so,  all  right,  but  I  declare </a:t>
            </a:r>
          </a:p>
          <a:p>
            <a:r>
              <a:rPr lang="en-US" sz="3700">
                <a:solidFill>
                  <a:srgbClr val="252525"/>
                </a:solidFill>
              </a:rPr>
              <a:t>to  you.  Lord,  I  don't  think  it  would  be  very  much </a:t>
            </a:r>
          </a:p>
          <a:p>
            <a:r>
              <a:rPr lang="en-US" sz="3700">
                <a:solidFill>
                  <a:srgbClr val="252525"/>
                </a:solidFill>
              </a:rPr>
              <a:t>to  your  credit."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Next  morning,  before  the  rental  agent  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6" id="76"/>
          <p:cNvPicPr>
            <a:picLocks noChangeAspect="true"/>
          </p:cNvPicPr>
          <p:nvPr/>
        </p:nvPicPr>
        <p:blipFill>
          <a:blip r:embed="rId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6" id="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came,  a </a:t>
            </a:r>
          </a:p>
          <a:p>
            <a:r>
              <a:rPr lang="en-US" sz="3700">
                <a:solidFill>
                  <a:srgbClr val="252525"/>
                </a:solidFill>
              </a:rPr>
              <a:t>woman  from  South  Carolina  came  in  and  left </a:t>
            </a:r>
          </a:p>
          <a:p>
            <a:r>
              <a:rPr lang="en-US" sz="3700">
                <a:solidFill>
                  <a:srgbClr val="252525"/>
                </a:solidFill>
              </a:rPr>
              <a:t>just  the  amount  needed.  As  she  placed  it  in  the </a:t>
            </a:r>
          </a:p>
          <a:p>
            <a:r>
              <a:rPr lang="en-US" sz="3700">
                <a:solidFill>
                  <a:srgbClr val="252525"/>
                </a:solidFill>
              </a:rPr>
              <a:t>agent's  hand  she  said:     "You  don't  know  my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Paul's  Testimony  of  Himself      1 7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Master.  If  you  did,  you  would  never  talk  to  one </a:t>
            </a:r>
          </a:p>
          <a:p>
            <a:r>
              <a:rPr lang="en-US" sz="3700">
                <a:solidFill>
                  <a:srgbClr val="252525"/>
                </a:solidFill>
              </a:rPr>
              <a:t>of  His  children  like  you  did  to  me  yesterday."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What  Sophy  said  is  exactly  true.  If  Jesus </a:t>
            </a:r>
          </a:p>
          <a:p>
            <a:r>
              <a:rPr lang="en-US" sz="3700">
                <a:solidFill>
                  <a:srgbClr val="252525"/>
                </a:solidFill>
              </a:rPr>
              <a:t>Christ  is  my  Lord  and  Master,  if  I  have  vested </a:t>
            </a:r>
          </a:p>
          <a:p>
            <a:r>
              <a:rPr lang="en-US" sz="3700">
                <a:solidFill>
                  <a:srgbClr val="252525"/>
                </a:solidFill>
              </a:rPr>
              <a:t>in  Him  my  rights,  then  He  is  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8" id="78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78" id="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responsible  for  me, </a:t>
            </a:r>
          </a:p>
          <a:p>
            <a:r>
              <a:rPr lang="en-US" sz="3700">
                <a:solidFill>
                  <a:srgbClr val="252525"/>
                </a:solidFill>
              </a:rPr>
              <a:t>and  I  have  a  perfect  right  to  go  to  Him  and </a:t>
            </a:r>
          </a:p>
          <a:p>
            <a:r>
              <a:rPr lang="en-US" sz="3700">
                <a:solidFill>
                  <a:srgbClr val="252525"/>
                </a:solidFill>
              </a:rPr>
              <a:t>say,  "Lord,  I  have  given  you  everything  that  I </a:t>
            </a:r>
          </a:p>
          <a:p>
            <a:r>
              <a:rPr lang="en-US" sz="3700">
                <a:solidFill>
                  <a:srgbClr val="252525"/>
                </a:solidFill>
              </a:rPr>
              <a:t>have,  and  I  now  depend  upon  you."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Paul  also  says  of  his  position  that  he  is  called </a:t>
            </a:r>
          </a:p>
          <a:p>
            <a:r>
              <a:rPr lang="en-US" sz="3700">
                <a:solidFill>
                  <a:srgbClr val="252525"/>
                </a:solidFill>
              </a:rPr>
              <a:t>to  be  an  apostle.  He  does  not  say,  "I  chose  to  be </a:t>
            </a:r>
          </a:p>
          <a:p>
            <a:r>
              <a:rPr lang="en-US" sz="3700">
                <a:solidFill>
                  <a:srgbClr val="252525"/>
                </a:solidFill>
              </a:rPr>
              <a:t>an  apostle."  There  is  a  difference  between  choos- </a:t>
            </a:r>
          </a:p>
          <a:p>
            <a:r>
              <a:rPr lang="en-US" sz="3700">
                <a:solidFill>
                  <a:srgbClr val="252525"/>
                </a:solidFill>
              </a:rPr>
              <a:t>ing a  thing  and  being  called  to  a  thing,  and  in </a:t>
            </a:r>
          </a:p>
          <a:p>
            <a:r>
              <a:rPr lang="en-US" sz="3700">
                <a:solidFill>
                  <a:srgbClr val="252525"/>
                </a:solidFill>
              </a:rPr>
              <a:t>that  very  difference  lies  the  secret  of  the  failure </a:t>
            </a:r>
          </a:p>
          <a:p>
            <a:r>
              <a:rPr lang="en-US" sz="3700">
                <a:solidFill>
                  <a:srgbClr val="252525"/>
                </a:solidFill>
              </a:rPr>
              <a:t>of  many  good  men  and  women.  They  have </a:t>
            </a:r>
          </a:p>
          <a:p>
            <a:r>
              <a:rPr lang="en-US" sz="3700">
                <a:solidFill>
                  <a:srgbClr val="252525"/>
                </a:solidFill>
              </a:rPr>
              <a:t>chosen  to  be  such  and  such  a  thing,  and  have 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0" id="80"/>
          <p:cNvPicPr>
            <a:picLocks noChangeAspect="true"/>
          </p:cNvPicPr>
          <p:nvPr/>
        </p:nvPicPr>
        <p:blipFill>
          <a:blip r:embed="rId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0" id="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never  been  called.  Some  ministers  have  chosen </a:t>
            </a:r>
          </a:p>
          <a:p>
            <a:r>
              <a:rPr lang="en-US" sz="3700">
                <a:solidFill>
                  <a:srgbClr val="252525"/>
                </a:solidFill>
              </a:rPr>
              <a:t>to  preach,  and  have  never  been  called.  Some </a:t>
            </a:r>
          </a:p>
          <a:p>
            <a:r>
              <a:rPr lang="en-US" sz="3700">
                <a:solidFill>
                  <a:srgbClr val="252525"/>
                </a:solidFill>
              </a:rPr>
              <a:t>Sunday-school  teachers  have  chosen  to  teach </a:t>
            </a:r>
          </a:p>
          <a:p>
            <a:r>
              <a:rPr lang="en-US" sz="3700">
                <a:solidFill>
                  <a:srgbClr val="252525"/>
                </a:solidFill>
              </a:rPr>
              <a:t>Sunday-school  classes  and  have  never  been  called. </a:t>
            </a:r>
          </a:p>
          <a:p>
            <a:r>
              <a:rPr lang="en-US" sz="3700">
                <a:solidFill>
                  <a:srgbClr val="252525"/>
                </a:solidFill>
              </a:rPr>
              <a:t>Some  lawyers  have  chosen  to  be  lawyers  and </a:t>
            </a:r>
          </a:p>
          <a:p>
            <a:r>
              <a:rPr lang="en-US" sz="3700">
                <a:solidFill>
                  <a:srgbClr val="252525"/>
                </a:solidFill>
              </a:rPr>
              <a:t>have  never  been  called.  Some  merchants  have </a:t>
            </a:r>
          </a:p>
          <a:p>
            <a:r>
              <a:rPr lang="en-US" sz="3700">
                <a:solidFill>
                  <a:srgbClr val="252525"/>
                </a:solidFill>
              </a:rPr>
              <a:t>chosen  to  be  merchants  and  have  never  been </a:t>
            </a:r>
          </a:p>
          <a:p>
            <a:r>
              <a:rPr lang="en-US" sz="3700">
                <a:solidFill>
                  <a:srgbClr val="252525"/>
                </a:solidFill>
              </a:rPr>
              <a:t>called.  God  wanted  them  to  preach  or  to  teach </a:t>
            </a:r>
          </a:p>
          <a:p>
            <a:r>
              <a:rPr lang="en-US" sz="3700">
                <a:solidFill>
                  <a:srgbClr val="252525"/>
                </a:solidFill>
              </a:rPr>
              <a:t>or  to  ditch  or  to  clerk.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Every  man  is  called  of  God  to  his  life-work. </a:t>
            </a:r>
          </a:p>
          <a:p>
            <a:r>
              <a:rPr lang="en-US" sz="3700">
                <a:solidFill>
                  <a:srgbClr val="252525"/>
                </a:solidFill>
              </a:rPr>
              <a:t>He  may  never  hear  the  call,  nor  heed  it 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2" id="82"/>
          <p:cNvPicPr>
            <a:picLocks noChangeAspect="true"/>
          </p:cNvPicPr>
          <p:nvPr/>
        </p:nvPicPr>
        <p:blipFill>
          <a:blip r:embed="rId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2" id="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;  he  may </a:t>
            </a:r>
          </a:p>
          <a:p>
            <a:r>
              <a:rPr lang="en-US" sz="3700">
                <a:solidFill>
                  <a:srgbClr val="252525"/>
                </a:solidFill>
              </a:rPr>
              <a:t>never  get  closely  enough  in  touch  to  hear  it.  The </a:t>
            </a:r>
          </a:p>
          <a:p>
            <a:r>
              <a:rPr lang="en-US" sz="3700">
                <a:solidFill>
                  <a:srgbClr val="252525"/>
                </a:solidFill>
              </a:rPr>
              <a:t>merchant  has  as  distinct  a  call  to  sell  goods  as  I </a:t>
            </a:r>
          </a:p>
          <a:p>
            <a:r>
              <a:rPr lang="en-US" sz="3700">
                <a:solidFill>
                  <a:srgbClr val="252525"/>
                </a:solidFill>
              </a:rPr>
              <a:t>have  to  preach.  The  quicker  we  realize  that  God </a:t>
            </a:r>
          </a:p>
          <a:p>
            <a:r>
              <a:rPr lang="en-US" sz="3700">
                <a:solidFill>
                  <a:srgbClr val="252525"/>
                </a:solidFill>
              </a:rPr>
              <a:t>has  a  plan  and  a  purpose  for  every  human  life, </a:t>
            </a:r>
          </a:p>
          <a:p>
            <a:r>
              <a:rPr lang="en-US" sz="3700">
                <a:solidFill>
                  <a:srgbClr val="252525"/>
                </a:solidFill>
              </a:rPr>
              <a:t>the  better  it  will  be.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 8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Paul  says  that  he  was  called  to  be  an  apostle, </a:t>
            </a:r>
          </a:p>
          <a:p>
            <a:r>
              <a:rPr lang="en-US" sz="3700">
                <a:solidFill>
                  <a:srgbClr val="252525"/>
                </a:solidFill>
              </a:rPr>
              <a:t>and  he  says  concerning  his  life  that  he  was  sep- </a:t>
            </a:r>
          </a:p>
          <a:p>
            <a:r>
              <a:rPr lang="en-US" sz="3700">
                <a:solidFill>
                  <a:srgbClr val="252525"/>
                </a:solidFill>
              </a:rPr>
              <a:t>arated unto  the  Gospel  of  God.  Paul  did  not  live </a:t>
            </a:r>
          </a:p>
          <a:p>
            <a:r>
              <a:rPr lang="en-US" sz="3700">
                <a:solidFill>
                  <a:srgbClr val="252525"/>
                </a:solidFill>
              </a:rPr>
              <a:t>the  life  of  a  hermit.  Some  people's  idea 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4" id="84"/>
          <p:cNvPicPr>
            <a:picLocks noChangeAspect="true"/>
          </p:cNvPicPr>
          <p:nvPr/>
        </p:nvPicPr>
        <p:blipFill>
          <a:blip r:embed="rId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4" id="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of  the </a:t>
            </a:r>
          </a:p>
          <a:p>
            <a:r>
              <a:rPr lang="en-US" sz="3700">
                <a:solidFill>
                  <a:srgbClr val="252525"/>
                </a:solidFill>
              </a:rPr>
              <a:t>separate  life  is  that  they  must  become  hermits </a:t>
            </a:r>
          </a:p>
          <a:p>
            <a:r>
              <a:rPr lang="en-US" sz="3700">
                <a:solidFill>
                  <a:srgbClr val="252525"/>
                </a:solidFill>
              </a:rPr>
              <a:t>while  in  this  world ;  that  is  to  say,  they  must  have </a:t>
            </a:r>
          </a:p>
          <a:p>
            <a:r>
              <a:rPr lang="en-US" sz="3700">
                <a:solidFill>
                  <a:srgbClr val="252525"/>
                </a:solidFill>
              </a:rPr>
              <a:t>a  hiding-place  and  never  come  in  touch  with  the </a:t>
            </a:r>
          </a:p>
          <a:p>
            <a:r>
              <a:rPr lang="en-US" sz="3700">
                <a:solidFill>
                  <a:srgbClr val="252525"/>
                </a:solidFill>
              </a:rPr>
              <a:t>everyday  thought  and  conduct  of  the  world. </a:t>
            </a:r>
          </a:p>
          <a:p>
            <a:r>
              <a:rPr lang="en-US" sz="3700">
                <a:solidFill>
                  <a:srgbClr val="252525"/>
                </a:solidFill>
              </a:rPr>
              <a:t>Some  of  the  best  people  that  I  know  are  mistaken </a:t>
            </a:r>
          </a:p>
          <a:p>
            <a:r>
              <a:rPr lang="en-US" sz="3700">
                <a:solidFill>
                  <a:srgbClr val="252525"/>
                </a:solidFill>
              </a:rPr>
              <a:t>at  that  point,  and  are  wrecking  their  spiritual </a:t>
            </a:r>
          </a:p>
          <a:p>
            <a:r>
              <a:rPr lang="en-US" sz="3700">
                <a:solidFill>
                  <a:srgbClr val="252525"/>
                </a:solidFill>
              </a:rPr>
              <a:t>lives  and  preventing  their  usefulness.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For  instance,  a  woman  some  time  ago  came  to </a:t>
            </a:r>
          </a:p>
          <a:p>
            <a:r>
              <a:rPr lang="en-US" sz="3700">
                <a:solidFill>
                  <a:srgbClr val="252525"/>
                </a:solidFill>
              </a:rPr>
              <a:t>me  and  said,  "I  have  decided  to  consecrate  my </a:t>
            </a:r>
          </a:p>
          <a:p>
            <a:r>
              <a:rPr lang="en-US" sz="3700">
                <a:solidFill>
                  <a:srgbClr val="252525"/>
                </a:solidFill>
              </a:rPr>
              <a:t>life  to  God,  and  therefore  I  cannot  do  this." 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6" id="86"/>
          <p:cNvPicPr>
            <a:picLocks noChangeAspect="true"/>
          </p:cNvPicPr>
          <p:nvPr/>
        </p:nvPicPr>
        <p:blipFill>
          <a:blip r:embed="rId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6" id="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 thing  that  she  was  talking  about  was  a  very </a:t>
            </a:r>
          </a:p>
          <a:p>
            <a:r>
              <a:rPr lang="en-US" sz="3700">
                <a:solidFill>
                  <a:srgbClr val="252525"/>
                </a:solidFill>
              </a:rPr>
              <a:t>simple  thing;  it  will  surprise  you  to  know  just </a:t>
            </a:r>
          </a:p>
          <a:p>
            <a:r>
              <a:rPr lang="en-US" sz="3700">
                <a:solidFill>
                  <a:srgbClr val="252525"/>
                </a:solidFill>
              </a:rPr>
              <a:t>how  simple  it  was — absolutely  a  thing  without </a:t>
            </a:r>
          </a:p>
          <a:p>
            <a:r>
              <a:rPr lang="en-US" sz="3700">
                <a:solidFill>
                  <a:srgbClr val="252525"/>
                </a:solidFill>
              </a:rPr>
              <a:t>harm.  A  simple  little  act  of  pleasantry,  but  she </a:t>
            </a:r>
          </a:p>
          <a:p>
            <a:r>
              <a:rPr lang="en-US" sz="3700">
                <a:solidFill>
                  <a:srgbClr val="252525"/>
                </a:solidFill>
              </a:rPr>
              <a:t>could  not  do  it  because  she  had  consecrated  her </a:t>
            </a:r>
          </a:p>
          <a:p>
            <a:r>
              <a:rPr lang="en-US" sz="3700">
                <a:solidFill>
                  <a:srgbClr val="252525"/>
                </a:solidFill>
              </a:rPr>
              <a:t>life.  It  was  this:  The  Ladies'  Aid  Society  was </a:t>
            </a:r>
          </a:p>
          <a:p>
            <a:r>
              <a:rPr lang="en-US" sz="3700">
                <a:solidFill>
                  <a:srgbClr val="252525"/>
                </a:solidFill>
              </a:rPr>
              <a:t>going  to  give  a  New  Year's  reception,  and  they </a:t>
            </a:r>
          </a:p>
          <a:p>
            <a:r>
              <a:rPr lang="en-US" sz="3700">
                <a:solidFill>
                  <a:srgbClr val="252525"/>
                </a:solidFill>
              </a:rPr>
              <a:t>were  going  to  have  music,  speeches,  etc.  Now </a:t>
            </a:r>
          </a:p>
          <a:p>
            <a:r>
              <a:rPr lang="en-US" sz="3700">
                <a:solidFill>
                  <a:srgbClr val="252525"/>
                </a:solidFill>
              </a:rPr>
              <a:t>the  trouble  with  her  was  that  she  had  an  idea  that </a:t>
            </a:r>
          </a:p>
          <a:p>
            <a:r>
              <a:rPr lang="en-US" sz="3700">
                <a:solidFill>
                  <a:srgbClr val="252525"/>
                </a:solidFill>
              </a:rPr>
              <a:t>to  be  consecrated  meant  a  complete  segregation </a:t>
            </a:r>
          </a:p>
          <a:p>
            <a:r>
              <a:rPr lang="en-US" sz="3700">
                <a:solidFill>
                  <a:srgbClr val="252525"/>
                </a:solidFill>
              </a:rPr>
              <a:t>of  herself  from  all  pleasure. 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8" id="88"/>
          <p:cNvPicPr>
            <a:picLocks noChangeAspect="true"/>
          </p:cNvPicPr>
          <p:nvPr/>
        </p:nvPicPr>
        <p:blipFill>
          <a:blip r:embed="rId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8" id="8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It  was  not  so  with  the  Apostle  Paul.  He  lived </a:t>
            </a:r>
          </a:p>
          <a:p>
            <a:r>
              <a:rPr lang="en-US" sz="3700">
                <a:solidFill>
                  <a:srgbClr val="252525"/>
                </a:solidFill>
              </a:rPr>
              <a:t>and  worked  with  the  people  of  his  day.  He  was </a:t>
            </a:r>
          </a:p>
          <a:p>
            <a:r>
              <a:rPr lang="en-US" sz="3700">
                <a:solidFill>
                  <a:srgbClr val="252525"/>
                </a:solidFill>
              </a:rPr>
              <a:t>"Separated  unto  the  Gospel  of  God,"  making </a:t>
            </a:r>
          </a:p>
          <a:p>
            <a:r>
              <a:rPr lang="en-US" sz="3700">
                <a:solidFill>
                  <a:srgbClr val="252525"/>
                </a:solidFill>
              </a:rPr>
              <a:t>tents,  just  as  much  as  he  was  preaching  the  Gos- </a:t>
            </a:r>
          </a:p>
          <a:p>
            <a:r>
              <a:rPr lang="en-US" sz="3700">
                <a:solidFill>
                  <a:srgbClr val="252525"/>
                </a:solidFill>
              </a:rPr>
              <a:t>pel. He  was  a  tent-maker,  and  never  gave  up </a:t>
            </a:r>
          </a:p>
          <a:p>
            <a:r>
              <a:rPr lang="en-US" sz="3700">
                <a:solidFill>
                  <a:srgbClr val="252525"/>
                </a:solidFill>
              </a:rPr>
              <a:t>his  vocation.    His  purpose  was  to  teach  the  wide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PauPs  Testimony  of  Himself      1 9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world  the  great  truth  of  sanctified  toil — that  a </a:t>
            </a:r>
          </a:p>
          <a:p>
            <a:r>
              <a:rPr lang="en-US" sz="3700">
                <a:solidFill>
                  <a:srgbClr val="252525"/>
                </a:solidFill>
              </a:rPr>
              <a:t>man  can  be  absolutely  separated  from  the  world 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0" id="90"/>
          <p:cNvPicPr>
            <a:picLocks noChangeAspect="true"/>
          </p:cNvPicPr>
          <p:nvPr/>
        </p:nvPicPr>
        <p:blipFill>
          <a:blip r:embed="rId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0" id="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while  he  is  making  tents.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  man  can  enter  his  closet  any  time  and  any- </a:t>
            </a:r>
          </a:p>
          <a:p>
            <a:r>
              <a:rPr lang="en-US" sz="3700">
                <a:solidFill>
                  <a:srgbClr val="252525"/>
                </a:solidFill>
              </a:rPr>
              <a:t>where and  pray.  The  closet  is  not  necessarily  a </a:t>
            </a:r>
          </a:p>
          <a:p>
            <a:r>
              <a:rPr lang="en-US" sz="3700">
                <a:solidFill>
                  <a:srgbClr val="252525"/>
                </a:solidFill>
              </a:rPr>
              <a:t>little  corner  in  which  the  dirty  clothes  are  thrown. </a:t>
            </a:r>
          </a:p>
          <a:p>
            <a:r>
              <a:rPr lang="en-US" sz="3700">
                <a:solidFill>
                  <a:srgbClr val="252525"/>
                </a:solidFill>
              </a:rPr>
              <a:t>A  closet  is  a  shut-in  place.  Wherever  a  man  may </a:t>
            </a:r>
          </a:p>
          <a:p>
            <a:r>
              <a:rPr lang="en-US" sz="3700">
                <a:solidFill>
                  <a:srgbClr val="252525"/>
                </a:solidFill>
              </a:rPr>
              <a:t>be,  if  he  feels  that  he  must  shut  out  everything </a:t>
            </a:r>
          </a:p>
          <a:p>
            <a:r>
              <a:rPr lang="en-US" sz="3700">
                <a:solidFill>
                  <a:srgbClr val="252525"/>
                </a:solidFill>
              </a:rPr>
              <a:t>and  talk  to  Jesus,  there  is  the  closet.  There  is </a:t>
            </a:r>
          </a:p>
          <a:p>
            <a:r>
              <a:rPr lang="en-US" sz="3700">
                <a:solidFill>
                  <a:srgbClr val="252525"/>
                </a:solidFill>
              </a:rPr>
              <a:t>the  separate  man  who,  though  he  is  in  the  midst </a:t>
            </a:r>
          </a:p>
          <a:p>
            <a:r>
              <a:rPr lang="en-US" sz="3700">
                <a:solidFill>
                  <a:srgbClr val="252525"/>
                </a:solidFill>
              </a:rPr>
              <a:t>of  the  trials  and  tribulations  and  business  of  the </a:t>
            </a:r>
          </a:p>
          <a:p>
            <a:r>
              <a:rPr lang="en-US" sz="3700">
                <a:solidFill>
                  <a:srgbClr val="252525"/>
                </a:solidFill>
              </a:rPr>
              <a:t>great  throbbing  heart  of  the  world,  lives  unto </a:t>
            </a:r>
          </a:p>
          <a:p>
            <a:r>
              <a:rPr lang="en-US" sz="3700">
                <a:solidFill>
                  <a:srgbClr val="252525"/>
                </a:solidFill>
              </a:rPr>
              <a:t>God  a  clean,  upright,  manly  life.  That  is 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2" id="92"/>
          <p:cNvPicPr>
            <a:picLocks noChangeAspect="true"/>
          </p:cNvPicPr>
          <p:nvPr/>
        </p:nvPicPr>
        <p:blipFill>
          <a:blip r:embed="rId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2" id="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the </a:t>
            </a:r>
          </a:p>
          <a:p>
            <a:r>
              <a:rPr lang="en-US" sz="3700">
                <a:solidFill>
                  <a:srgbClr val="252525"/>
                </a:solidFill>
              </a:rPr>
              <a:t>separate  man;  and  every  stroke  of  the  hammer, </a:t>
            </a:r>
          </a:p>
          <a:p>
            <a:r>
              <a:rPr lang="en-US" sz="3700">
                <a:solidFill>
                  <a:srgbClr val="252525"/>
                </a:solidFill>
              </a:rPr>
              <a:t>and  every  stitch  of  the  needle,  and  every  turn  of </a:t>
            </a:r>
          </a:p>
          <a:p>
            <a:r>
              <a:rPr lang="en-US" sz="3700">
                <a:solidFill>
                  <a:srgbClr val="252525"/>
                </a:solidFill>
              </a:rPr>
              <a:t>the  wheel  is  "unto  the  Gospel  of  God."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Now,  my  next  thought  is  just  a  word  concern- </a:t>
            </a:r>
          </a:p>
          <a:p>
            <a:r>
              <a:rPr lang="en-US" sz="3700">
                <a:solidFill>
                  <a:srgbClr val="252525"/>
                </a:solidFill>
              </a:rPr>
              <a:t>ing the  cost  of  Paul's  testimony.  First,  it  cost </a:t>
            </a:r>
          </a:p>
          <a:p>
            <a:r>
              <a:rPr lang="en-US" sz="3700">
                <a:solidFill>
                  <a:srgbClr val="252525"/>
                </a:solidFill>
              </a:rPr>
              <a:t>him  his  religion.  He  was  strictly  religious:  a </a:t>
            </a:r>
          </a:p>
          <a:p>
            <a:r>
              <a:rPr lang="en-US" sz="3700">
                <a:solidFill>
                  <a:srgbClr val="252525"/>
                </a:solidFill>
              </a:rPr>
              <a:t>Jew  of  the  Jews.  When  he  came  into  this  new </a:t>
            </a:r>
          </a:p>
          <a:p>
            <a:r>
              <a:rPr lang="en-US" sz="3700">
                <a:solidFill>
                  <a:srgbClr val="252525"/>
                </a:solidFill>
              </a:rPr>
              <a:t>experience  and  got  this  delightful  testimony,  it </a:t>
            </a:r>
          </a:p>
          <a:p>
            <a:r>
              <a:rPr lang="en-US" sz="3700">
                <a:solidFill>
                  <a:srgbClr val="252525"/>
                </a:solidFill>
              </a:rPr>
              <a:t>caused  him  to  sacrifice  the  religion  of  his  coun- </a:t>
            </a:r>
          </a:p>
          <a:p>
            <a:r>
              <a:rPr lang="en-US" sz="3700">
                <a:solidFill>
                  <a:srgbClr val="252525"/>
                </a:solidFill>
              </a:rPr>
              <a:t>try, the  religion  of  his  mother.  It  is  not  an  easy 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4" id="94"/>
          <p:cNvPicPr>
            <a:picLocks noChangeAspect="true"/>
          </p:cNvPicPr>
          <p:nvPr/>
        </p:nvPicPr>
        <p:blipFill>
          <a:blip r:embed="rId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4" id="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thing  to  go  back  upon  the  religion  that  one  is </a:t>
            </a:r>
          </a:p>
          <a:p>
            <a:r>
              <a:rPr lang="en-US" sz="3700">
                <a:solidFill>
                  <a:srgbClr val="252525"/>
                </a:solidFill>
              </a:rPr>
              <a:t>trained  to  follow.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Second,  it  cost  him  his  home.  You  cannot </a:t>
            </a:r>
          </a:p>
          <a:p>
            <a:r>
              <a:rPr lang="en-US" sz="3700">
                <a:solidFill>
                  <a:srgbClr val="252525"/>
                </a:solidFill>
              </a:rPr>
              <a:t>imagine  in  this  day  and  time  how  much  it  meant </a:t>
            </a:r>
          </a:p>
          <a:p>
            <a:r>
              <a:rPr lang="en-US" sz="3700">
                <a:solidFill>
                  <a:srgbClr val="252525"/>
                </a:solidFill>
              </a:rPr>
              <a:t>for  Paul  to  turn  his  back  upon  the  teaching  of  the </a:t>
            </a:r>
          </a:p>
          <a:p>
            <a:r>
              <a:rPr lang="en-US" sz="3700">
                <a:solidFill>
                  <a:srgbClr val="252525"/>
                </a:solidFill>
              </a:rPr>
              <a:t>Jews  and  become  the  servant  of  the  meek  and </a:t>
            </a:r>
          </a:p>
          <a:p>
            <a:r>
              <a:rPr lang="en-US" sz="3700">
                <a:solidFill>
                  <a:srgbClr val="252525"/>
                </a:solidFill>
              </a:rPr>
              <a:t>lowly  Jesus.  His  home  would  be  shut  against </a:t>
            </a:r>
          </a:p>
          <a:p>
            <a:r>
              <a:rPr lang="en-US" sz="3700">
                <a:solidFill>
                  <a:srgbClr val="252525"/>
                </a:solidFill>
              </a:rPr>
              <a:t>him.     His  parents  and  his  people  would  look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20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upon  him  with  contempt  and  shame.  I  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6" id="96"/>
          <p:cNvPicPr>
            <a:picLocks noChangeAspect="true"/>
          </p:cNvPicPr>
          <p:nvPr/>
        </p:nvPicPr>
        <p:blipFill>
          <a:blip r:embed="rId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6" id="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tell  you </a:t>
            </a:r>
          </a:p>
          <a:p>
            <a:r>
              <a:rPr lang="en-US" sz="3700">
                <a:solidFill>
                  <a:srgbClr val="252525"/>
                </a:solidFill>
              </a:rPr>
              <a:t>that  is  not  an  easy  thing.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Third,  it  cost  him  his  companions.  Think  of </a:t>
            </a:r>
          </a:p>
          <a:p>
            <a:r>
              <a:rPr lang="en-US" sz="3700">
                <a:solidFill>
                  <a:srgbClr val="252525"/>
                </a:solidFill>
              </a:rPr>
              <a:t>the  other  members  of  the  Sanhedrin  with  whom </a:t>
            </a:r>
          </a:p>
          <a:p>
            <a:r>
              <a:rPr lang="en-US" sz="3700">
                <a:solidFill>
                  <a:srgbClr val="252525"/>
                </a:solidFill>
              </a:rPr>
              <a:t>he  had  sympathized  and  planned  and  projected.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He  had  sat  in  the  council  chamber  many  and </a:t>
            </a:r>
          </a:p>
          <a:p>
            <a:r>
              <a:rPr lang="en-US" sz="3700">
                <a:solidFill>
                  <a:srgbClr val="252525"/>
                </a:solidFill>
              </a:rPr>
              <a:t>many  a  time  when  Christ  was  being  discussed  and </a:t>
            </a:r>
          </a:p>
          <a:p>
            <a:r>
              <a:rPr lang="en-US" sz="3700">
                <a:solidFill>
                  <a:srgbClr val="252525"/>
                </a:solidFill>
              </a:rPr>
              <a:t>he  had  joined  with  them  and  said,  "J^sus  must </a:t>
            </a:r>
          </a:p>
          <a:p>
            <a:r>
              <a:rPr lang="en-US" sz="3700">
                <a:solidFill>
                  <a:srgbClr val="252525"/>
                </a:solidFill>
              </a:rPr>
              <a:t>be  crucified.  We  will  not  stand  it.  He  is  a </a:t>
            </a:r>
          </a:p>
          <a:p>
            <a:r>
              <a:rPr lang="en-US" sz="3700">
                <a:solidFill>
                  <a:srgbClr val="252525"/>
                </a:solidFill>
              </a:rPr>
              <a:t>usurper  of  our  rights."  And  now  he  must  eat </a:t>
            </a:r>
          </a:p>
          <a:p>
            <a:r>
              <a:rPr lang="en-US" sz="3700">
                <a:solidFill>
                  <a:srgbClr val="252525"/>
                </a:solidFill>
              </a:rPr>
              <a:t>his  words.  There  are  very  few  of  us  to-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8" id="98"/>
          <p:cNvPicPr>
            <a:picLocks noChangeAspect="true"/>
          </p:cNvPicPr>
          <p:nvPr/>
        </p:nvPicPr>
        <p:blipFill>
          <a:blip r:embed="rId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98" id="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day  who </a:t>
            </a:r>
          </a:p>
          <a:p>
            <a:r>
              <a:rPr lang="en-US" sz="3700">
                <a:solidFill>
                  <a:srgbClr val="252525"/>
                </a:solidFill>
              </a:rPr>
              <a:t>would  dare  to  do  that.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It  cost  him  his  fame.  He  had  built  up  a  great </a:t>
            </a:r>
          </a:p>
          <a:p>
            <a:r>
              <a:rPr lang="en-US" sz="3700">
                <a:solidFill>
                  <a:srgbClr val="252525"/>
                </a:solidFill>
              </a:rPr>
              <a:t>name;  a  member  of  the  Sanhedrin;  a  man  who </a:t>
            </a:r>
          </a:p>
          <a:p>
            <a:r>
              <a:rPr lang="en-US" sz="3700">
                <a:solidFill>
                  <a:srgbClr val="252525"/>
                </a:solidFill>
              </a:rPr>
              <a:t>stood  right  at  the  top  in  the  political  world,  and </a:t>
            </a:r>
          </a:p>
          <a:p>
            <a:r>
              <a:rPr lang="en-US" sz="3700">
                <a:solidFill>
                  <a:srgbClr val="252525"/>
                </a:solidFill>
              </a:rPr>
              <a:t>whose  influence  reached  far  and  wide.  It  cost </a:t>
            </a:r>
          </a:p>
          <a:p>
            <a:r>
              <a:rPr lang="en-US" sz="3700">
                <a:solidFill>
                  <a:srgbClr val="252525"/>
                </a:solidFill>
              </a:rPr>
              <a:t>him  that.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Lastly,  it  cost  him  his  wealth.  He  was  at  one </a:t>
            </a:r>
          </a:p>
          <a:p>
            <a:r>
              <a:rPr lang="en-US" sz="3700">
                <a:solidFill>
                  <a:srgbClr val="252525"/>
                </a:solidFill>
              </a:rPr>
              <a:t>time  a  wealthy  young  man,  but  when  he  gave  up </a:t>
            </a:r>
          </a:p>
          <a:p>
            <a:r>
              <a:rPr lang="en-US" sz="3700">
                <a:solidFill>
                  <a:srgbClr val="252525"/>
                </a:solidFill>
              </a:rPr>
              <a:t>his  seat  in  the  Sanhedrin,  his  home,  his  friends, </a:t>
            </a:r>
          </a:p>
          <a:p>
            <a:r>
              <a:rPr lang="en-US" sz="3700">
                <a:solidFill>
                  <a:srgbClr val="252525"/>
                </a:solidFill>
              </a:rPr>
              <a:t>his  inheritance  went  also. 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0" id="100"/>
          <p:cNvPicPr>
            <a:picLocks noChangeAspect="true"/>
          </p:cNvPicPr>
          <p:nvPr/>
        </p:nvPicPr>
        <p:blipFill>
          <a:blip r:embed="rId1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0" id="1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My  brother,  until  the  love  of  Jesus  has  got </a:t>
            </a:r>
          </a:p>
          <a:p>
            <a:r>
              <a:rPr lang="en-US" sz="3700">
                <a:solidFill>
                  <a:srgbClr val="252525"/>
                </a:solidFill>
              </a:rPr>
              <a:t>down  so  deep  that  we  are  willing  to  sacrifice  our </a:t>
            </a:r>
          </a:p>
          <a:p>
            <a:r>
              <a:rPr lang="en-US" sz="3700">
                <a:solidFill>
                  <a:srgbClr val="252525"/>
                </a:solidFill>
              </a:rPr>
              <a:t>money  if  needs  be  for  Him,  we  do  not  know  what </a:t>
            </a:r>
          </a:p>
          <a:p>
            <a:r>
              <a:rPr lang="en-US" sz="3700">
                <a:solidFill>
                  <a:srgbClr val="252525"/>
                </a:solidFill>
              </a:rPr>
              <a:t>it  means  to  be  a  believer  in  Jesus  Christ.  The </a:t>
            </a:r>
          </a:p>
          <a:p>
            <a:r>
              <a:rPr lang="en-US" sz="3700">
                <a:solidFill>
                  <a:srgbClr val="252525"/>
                </a:solidFill>
              </a:rPr>
              <a:t>world  is  just  waking  up  to  the  realization  of </a:t>
            </a:r>
          </a:p>
          <a:p>
            <a:r>
              <a:rPr lang="en-US" sz="3700">
                <a:solidFill>
                  <a:srgbClr val="252525"/>
                </a:solidFill>
              </a:rPr>
              <a:t>what  it  means  to  be  a  Christian.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My  last  thought  is  of  Paul's  gain.  "Brother </a:t>
            </a:r>
          </a:p>
          <a:p>
            <a:r>
              <a:rPr lang="en-US" sz="3700">
                <a:solidFill>
                  <a:srgbClr val="252525"/>
                </a:solidFill>
              </a:rPr>
              <a:t>Paul,  I  have  been  talking  about  your  trials  while </a:t>
            </a:r>
          </a:p>
          <a:p>
            <a:r>
              <a:rPr lang="en-US" sz="3700">
                <a:solidFill>
                  <a:srgbClr val="252525"/>
                </a:solidFill>
              </a:rPr>
              <a:t>on  earth.  You  have  been  with  Jesus  for  two </a:t>
            </a:r>
          </a:p>
          <a:p>
            <a:r>
              <a:rPr lang="en-US" sz="3700">
                <a:solidFill>
                  <a:srgbClr val="252525"/>
                </a:solidFill>
              </a:rPr>
              <a:t>thousand  years,  what  have  you  to  say  now?" 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2" id="102"/>
          <p:cNvPicPr>
            <a:picLocks noChangeAspect="true"/>
          </p:cNvPicPr>
          <p:nvPr/>
        </p:nvPicPr>
        <p:blipFill>
          <a:blip r:embed="rId1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2" id="103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Paul's  Testimony  of  Himself     2 1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"I  have  fought  a  good  fight.  I  have  kept  the </a:t>
            </a:r>
          </a:p>
          <a:p>
            <a:r>
              <a:rPr lang="en-US" sz="3700">
                <a:solidFill>
                  <a:srgbClr val="252525"/>
                </a:solidFill>
              </a:rPr>
              <a:t>faith.  Henceforth  there  is  laid  up  for  me  a </a:t>
            </a:r>
          </a:p>
          <a:p>
            <a:r>
              <a:rPr lang="en-US" sz="3700">
                <a:solidFill>
                  <a:srgbClr val="252525"/>
                </a:solidFill>
              </a:rPr>
              <a:t>crown  of  righteousness."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It  is  a  question  which  we  each  must  decide; </a:t>
            </a:r>
          </a:p>
          <a:p>
            <a:r>
              <a:rPr lang="en-US" sz="3700">
                <a:solidFill>
                  <a:srgbClr val="252525"/>
                </a:solidFill>
              </a:rPr>
              <a:t>whether  we  had  rather  be  Saul,  a  member  of  the </a:t>
            </a:r>
          </a:p>
          <a:p>
            <a:r>
              <a:rPr lang="en-US" sz="3700">
                <a:solidFill>
                  <a:srgbClr val="252525"/>
                </a:solidFill>
              </a:rPr>
              <a:t>Jewish  Sanhedrin,  lost  forever,  or  Paul,  the  ser- </a:t>
            </a:r>
          </a:p>
          <a:p>
            <a:r>
              <a:rPr lang="en-US" sz="3700">
                <a:solidFill>
                  <a:srgbClr val="252525"/>
                </a:solidFill>
              </a:rPr>
              <a:t>vant of  Jesus,  the  despised  Nazarene,  surrounded </a:t>
            </a:r>
          </a:p>
          <a:p>
            <a:r>
              <a:rPr lang="en-US" sz="3700">
                <a:solidFill>
                  <a:srgbClr val="252525"/>
                </a:solidFill>
              </a:rPr>
              <a:t>by  the  angels,  associating  with  the  saints  of  past </a:t>
            </a:r>
          </a:p>
          <a:p>
            <a:r>
              <a:rPr lang="en-US" sz="3700">
                <a:solidFill>
                  <a:srgbClr val="252525"/>
                </a:solidFill>
              </a:rPr>
              <a:t>ages,  wearing  his  bright  and  shining  crown. </a:t>
            </a:r>
          </a:p>
        </p:txBody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4" id="104"/>
          <p:cNvPicPr>
            <a:picLocks noChangeAspect="true"/>
          </p:cNvPicPr>
          <p:nvPr/>
        </p:nvPicPr>
        <p:blipFill>
          <a:blip r:embed="rId1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4" id="105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Ill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CHRIST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Ch.  1:1-5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I.  Who  He  Is.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Promised  by  the  Prophets.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The  Son  of  God.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Of  the  Seed  of  David.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II.  His  Power — "Resurrection."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Mastery  over  Death.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Essential  to  Salvation  (i  Cor.  </a:t>
            </a:r>
          </a:p>
        </p:txBody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6" id="106"/>
          <p:cNvPicPr>
            <a:picLocks noChangeAspect="true"/>
          </p:cNvPicPr>
          <p:nvPr/>
        </p:nvPicPr>
        <p:blipFill>
          <a:blip r:embed="rId1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6" id="1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15:12-23).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III.  His     Position — "Jesus     Christ     Our </a:t>
            </a:r>
          </a:p>
          <a:p>
            <a:r>
              <a:rPr lang="en-US" sz="3700">
                <a:solidFill>
                  <a:srgbClr val="252525"/>
                </a:solidFill>
              </a:rPr>
              <a:t>Lord."    Comprehended  in: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Salvation.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Government.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Let  us  see  to  v^hat  extent  Jesus  was  promised </a:t>
            </a:r>
          </a:p>
          <a:p>
            <a:r>
              <a:rPr lang="en-US" sz="3700">
                <a:solidFill>
                  <a:srgbClr val="252525"/>
                </a:solidFill>
              </a:rPr>
              <a:t>by  the  prophets: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Gen.  3  :i5 — The  seed  of  woman.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Isa.  7:14 — Born  of  a  Virgin.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Mic.  5:2 — At  Bethlehem.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Zech.  9:9 — Entry  into  Jerusalem. </a:t>
            </a:r>
          </a:p>
        </p:txBody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8" id="108"/>
          <p:cNvPicPr>
            <a:picLocks noChangeAspect="true"/>
          </p:cNvPicPr>
          <p:nvPr/>
        </p:nvPicPr>
        <p:blipFill>
          <a:blip r:embed="rId1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8" id="1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Zech.  13 :7 — Smitten  by  sword.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Zech.  11:12 — Sold  for  thirty  pieces  of  silver.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Zech.  II  :i3 — Potter's  field  bought.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Isa.  15  :6— Spit  upon  and  scoiirged.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Christ  23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Ex.  12:46 — Not  a  bone  broken.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Ps.  69:21 — Gall  and  vinegar.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Ps.  22:8 — Taunted  with  non-deliverance.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Ps.  22  :y — Mocked.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Ps.  22:16 — Feet  pierced. </a:t>
            </a:r>
          </a:p>
        </p:txBody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0" id="110"/>
          <p:cNvPicPr>
            <a:picLocks noChangeAspect="true"/>
          </p:cNvPicPr>
          <p:nvPr/>
        </p:nvPicPr>
        <p:blipFill>
          <a:blip r:embed="rId1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0" id="11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Isa.  53 :3 — Despised  and  rejected.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Isa.  53 :7 — Opened  not  His  mouth.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Isa.  53 :8 — Moved  from  court  to  court.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Isa.  53:9 — Proven  guiltless.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Isa.  53:10 — Bruised  of  God.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As  I  have  gone  over  these  verses  and  thought </a:t>
            </a:r>
          </a:p>
          <a:p>
            <a:r>
              <a:rPr lang="en-US" sz="3700">
                <a:solidFill>
                  <a:srgbClr val="252525"/>
                </a:solidFill>
              </a:rPr>
              <a:t>over  them  I  have  felt  such  an  overcoming  sense </a:t>
            </a:r>
          </a:p>
          <a:p>
            <a:r>
              <a:rPr lang="en-US" sz="3700">
                <a:solidFill>
                  <a:srgbClr val="252525"/>
                </a:solidFill>
              </a:rPr>
              <a:t>of  the  vitality  of  the  Scriptures  as  I  have  never </a:t>
            </a:r>
          </a:p>
          <a:p>
            <a:r>
              <a:rPr lang="en-US" sz="3700">
                <a:solidFill>
                  <a:srgbClr val="252525"/>
                </a:solidFill>
              </a:rPr>
              <a:t>felt  before  in  my  life.  I  have  felt  that  the  Scrip- </a:t>
            </a:r>
          </a:p>
          <a:p>
            <a:r>
              <a:rPr lang="en-US" sz="3700">
                <a:solidFill>
                  <a:srgbClr val="252525"/>
                </a:solidFill>
              </a:rPr>
              <a:t>tures themselves  have  not  had  a  chance  to  do </a:t>
            </a:r>
          </a:p>
        </p:txBody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2" id="112"/>
          <p:cNvPicPr>
            <a:picLocks noChangeAspect="true"/>
          </p:cNvPicPr>
          <p:nvPr/>
        </p:nvPicPr>
        <p:blipFill>
          <a:blip r:embed="rId1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2" id="1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what  God  intends  that  they  should  do;  that  the </a:t>
            </a:r>
          </a:p>
          <a:p>
            <a:r>
              <a:rPr lang="en-US" sz="3700">
                <a:solidFill>
                  <a:srgbClr val="252525"/>
                </a:solidFill>
              </a:rPr>
              <a:t>only  thing  in  the  world  that  is  needed  is  for  the </a:t>
            </a:r>
          </a:p>
          <a:p>
            <a:r>
              <a:rPr lang="en-US" sz="3700">
                <a:solidFill>
                  <a:srgbClr val="252525"/>
                </a:solidFill>
              </a:rPr>
              <a:t>Scriptures  to  have  a  chance.  The  only  thing  that </a:t>
            </a:r>
          </a:p>
          <a:p>
            <a:r>
              <a:rPr lang="en-US" sz="3700">
                <a:solidFill>
                  <a:srgbClr val="252525"/>
                </a:solidFill>
              </a:rPr>
              <a:t>is  needed  for  the  opening  of  the  eyes  of  the </a:t>
            </a:r>
          </a:p>
          <a:p>
            <a:r>
              <a:rPr lang="en-US" sz="3700">
                <a:solidFill>
                  <a:srgbClr val="252525"/>
                </a:solidFill>
              </a:rPr>
              <a:t>world  to  Jesus  Christ  is  to  give  God's  word  a </a:t>
            </a:r>
          </a:p>
          <a:p>
            <a:r>
              <a:rPr lang="en-US" sz="3700">
                <a:solidFill>
                  <a:srgbClr val="252525"/>
                </a:solidFill>
              </a:rPr>
              <a:t>simple,  honest  chance.  Now,  just  think  of  it  for </a:t>
            </a:r>
          </a:p>
          <a:p>
            <a:r>
              <a:rPr lang="en-US" sz="3700">
                <a:solidFill>
                  <a:srgbClr val="252525"/>
                </a:solidFill>
              </a:rPr>
              <a:t>a  moment.  Here  are  these  prophecies.  They </a:t>
            </a:r>
          </a:p>
          <a:p>
            <a:r>
              <a:rPr lang="en-US" sz="3700">
                <a:solidFill>
                  <a:srgbClr val="252525"/>
                </a:solidFill>
              </a:rPr>
              <a:t>date  back  to  the  Garden  of  Eden,  and  range  all </a:t>
            </a:r>
          </a:p>
          <a:p>
            <a:r>
              <a:rPr lang="en-US" sz="3700">
                <a:solidFill>
                  <a:srgbClr val="252525"/>
                </a:solidFill>
              </a:rPr>
              <a:t>the  way  from  the  Garden  of  Eden  to  the  com- </a:t>
            </a:r>
          </a:p>
          <a:p>
            <a:r>
              <a:rPr lang="en-US" sz="3700">
                <a:solidFill>
                  <a:srgbClr val="252525"/>
                </a:solidFill>
              </a:rPr>
              <a:t>ing of  Christ.  They  are  prophecies  which  deal </a:t>
            </a:r>
          </a:p>
          <a:p>
            <a:r>
              <a:rPr lang="en-US" sz="3700">
                <a:solidFill>
                  <a:srgbClr val="252525"/>
                </a:solidFill>
              </a:rPr>
              <a:t>with  every  minute  detail  of  His  life  and  </a:t>
            </a:r>
          </a:p>
        </p:txBody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4" id="114"/>
          <p:cNvPicPr>
            <a:picLocks noChangeAspect="true"/>
          </p:cNvPicPr>
          <p:nvPr/>
        </p:nvPicPr>
        <p:blipFill>
          <a:blip r:embed="rId1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4" id="1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His </a:t>
            </a:r>
          </a:p>
          <a:p>
            <a:r>
              <a:rPr lang="en-US" sz="3700">
                <a:solidFill>
                  <a:srgbClr val="252525"/>
                </a:solidFill>
              </a:rPr>
              <a:t>death,  and  they  are  prophecies,  every  single  one </a:t>
            </a:r>
          </a:p>
          <a:p>
            <a:r>
              <a:rPr lang="en-US" sz="3700">
                <a:solidFill>
                  <a:srgbClr val="252525"/>
                </a:solidFill>
              </a:rPr>
              <a:t>of  them,  fulfilled  in  His  coming.  His  Hfe,  and  in </a:t>
            </a:r>
          </a:p>
          <a:p>
            <a:r>
              <a:rPr lang="en-US" sz="3700">
                <a:solidFill>
                  <a:srgbClr val="252525"/>
                </a:solidFill>
              </a:rPr>
              <a:t>His  death.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Take  such  prophecies  as  we  are  dealing  with </a:t>
            </a:r>
          </a:p>
          <a:p>
            <a:r>
              <a:rPr lang="en-US" sz="3700">
                <a:solidFill>
                  <a:srgbClr val="252525"/>
                </a:solidFill>
              </a:rPr>
              <a:t>here :  The  piercing  of  His  feet,  a  prophecy  made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24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1,000  years  before  Jesus'  feet  were  ever  pierced. </a:t>
            </a:r>
          </a:p>
          <a:p>
            <a:r>
              <a:rPr lang="en-US" sz="3700">
                <a:solidFill>
                  <a:srgbClr val="252525"/>
                </a:solidFill>
              </a:rPr>
              <a:t>Bethlehem  was  the  last  place  in  the  world  to  look </a:t>
            </a:r>
          </a:p>
          <a:p>
            <a:r>
              <a:rPr lang="en-US" sz="3700">
                <a:solidFill>
                  <a:srgbClr val="252525"/>
                </a:solidFill>
              </a:rPr>
              <a:t>for  the  Messiah  to  come  from,  yet  more  than </a:t>
            </a:r>
          </a:p>
        </p:txBody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6" id="116"/>
          <p:cNvPicPr>
            <a:picLocks noChangeAspect="true"/>
          </p:cNvPicPr>
          <p:nvPr/>
        </p:nvPicPr>
        <p:blipFill>
          <a:blip r:embed="rId1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6" id="1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seven  hundred  years  before  Christ  was  born  we </a:t>
            </a:r>
          </a:p>
          <a:p>
            <a:r>
              <a:rPr lang="en-US" sz="3700">
                <a:solidFill>
                  <a:srgbClr val="252525"/>
                </a:solidFill>
              </a:rPr>
              <a:t>have  the  prophet  telling  us  that  He  was  to  come </a:t>
            </a:r>
          </a:p>
          <a:p>
            <a:r>
              <a:rPr lang="en-US" sz="3700">
                <a:solidFill>
                  <a:srgbClr val="252525"/>
                </a:solidFill>
              </a:rPr>
              <a:t>from  Bethlehem.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only  thing  needed  to  convince  the  skepti- </a:t>
            </a:r>
          </a:p>
          <a:p>
            <a:r>
              <a:rPr lang="en-US" sz="3700">
                <a:solidFill>
                  <a:srgbClr val="252525"/>
                </a:solidFill>
              </a:rPr>
              <a:t>cism of  the  world  is  to  give  the  Old  Testament  a </a:t>
            </a:r>
          </a:p>
          <a:p>
            <a:r>
              <a:rPr lang="en-US" sz="3700">
                <a:solidFill>
                  <a:srgbClr val="252525"/>
                </a:solidFill>
              </a:rPr>
              <a:t>fair  chance.  I  defy  any  man  to  go  to  the  Old </a:t>
            </a:r>
          </a:p>
          <a:p>
            <a:r>
              <a:rPr lang="en-US" sz="3700">
                <a:solidFill>
                  <a:srgbClr val="252525"/>
                </a:solidFill>
              </a:rPr>
              <a:t>Testament  Scriptures  for  light  concerning  the </a:t>
            </a:r>
          </a:p>
          <a:p>
            <a:r>
              <a:rPr lang="en-US" sz="3700">
                <a:solidFill>
                  <a:srgbClr val="252525"/>
                </a:solidFill>
              </a:rPr>
              <a:t>Messiah  and  go  away  not  believing  that  Christ </a:t>
            </a:r>
          </a:p>
          <a:p>
            <a:r>
              <a:rPr lang="en-US" sz="3700">
                <a:solidFill>
                  <a:srgbClr val="252525"/>
                </a:solidFill>
              </a:rPr>
              <a:t>was  the  Son  of  God.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But  there  is  another  thing  that  I  want  we </a:t>
            </a:r>
          </a:p>
          <a:p>
            <a:r>
              <a:rPr lang="en-US" sz="3700">
                <a:solidFill>
                  <a:srgbClr val="252525"/>
                </a:solidFill>
              </a:rPr>
              <a:t>should  see  under  this  general  division.  </a:t>
            </a:r>
          </a:p>
        </p:txBody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8" id="118"/>
          <p:cNvPicPr>
            <a:picLocks noChangeAspect="true"/>
          </p:cNvPicPr>
          <p:nvPr/>
        </p:nvPicPr>
        <p:blipFill>
          <a:blip r:embed="rId1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18" id="1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</a:t>
            </a:r>
          </a:p>
          <a:p>
            <a:r>
              <a:rPr lang="en-US" sz="3700">
                <a:solidFill>
                  <a:srgbClr val="252525"/>
                </a:solidFill>
              </a:rPr>
              <a:t>Apostle  speaks  of  Jesus  as  the  "Son  of  God,"  as </a:t>
            </a:r>
          </a:p>
          <a:p>
            <a:r>
              <a:rPr lang="en-US" sz="3700">
                <a:solidFill>
                  <a:srgbClr val="252525"/>
                </a:solidFill>
              </a:rPr>
              <a:t>well  as  the  promised  One.  Now,  we  find  it  not </a:t>
            </a:r>
          </a:p>
          <a:p>
            <a:r>
              <a:rPr lang="en-US" sz="3700">
                <a:solidFill>
                  <a:srgbClr val="252525"/>
                </a:solidFill>
              </a:rPr>
              <a:t>difficult  to  accept  Jesus  as  the  Son  of  God.  There </a:t>
            </a:r>
          </a:p>
          <a:p>
            <a:r>
              <a:rPr lang="en-US" sz="3700">
                <a:solidFill>
                  <a:srgbClr val="252525"/>
                </a:solidFill>
              </a:rPr>
              <a:t>is  not  very  much  controversy  about  that,  pro- </a:t>
            </a:r>
          </a:p>
          <a:p>
            <a:r>
              <a:rPr lang="en-US" sz="3700">
                <a:solidFill>
                  <a:srgbClr val="252525"/>
                </a:solidFill>
              </a:rPr>
              <a:t>viding that  nothing  else  followed.  The  world </a:t>
            </a:r>
          </a:p>
          <a:p>
            <a:r>
              <a:rPr lang="en-US" sz="3700">
                <a:solidFill>
                  <a:srgbClr val="252525"/>
                </a:solidFill>
              </a:rPr>
              <a:t>expected  that  in  some  way  the  Messiah  would  be </a:t>
            </a:r>
          </a:p>
          <a:p>
            <a:r>
              <a:rPr lang="en-US" sz="3700">
                <a:solidFill>
                  <a:srgbClr val="252525"/>
                </a:solidFill>
              </a:rPr>
              <a:t>connected  with  God.  There  never  would  have </a:t>
            </a:r>
          </a:p>
          <a:p>
            <a:r>
              <a:rPr lang="en-US" sz="3700">
                <a:solidFill>
                  <a:srgbClr val="252525"/>
                </a:solidFill>
              </a:rPr>
              <a:t>been  any  objection  to  Jesus  if  it  had  ended  there, </a:t>
            </a:r>
          </a:p>
          <a:p>
            <a:r>
              <a:rPr lang="en-US" sz="3700">
                <a:solidFill>
                  <a:srgbClr val="252525"/>
                </a:solidFill>
              </a:rPr>
              <a:t>but  Paul  goes  a  step  further.  He  states  (and </a:t>
            </a:r>
          </a:p>
          <a:p>
            <a:r>
              <a:rPr lang="en-US" sz="3700">
                <a:solidFill>
                  <a:srgbClr val="252525"/>
                </a:solidFill>
              </a:rPr>
              <a:t>this  is  responsible  for  the  skepticism  about  Jesus </a:t>
            </a:r>
          </a:p>
        </p:txBody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0" id="120"/>
          <p:cNvPicPr>
            <a:picLocks noChangeAspect="true"/>
          </p:cNvPicPr>
          <p:nvPr/>
        </p:nvPicPr>
        <p:blipFill>
          <a:blip r:embed="rId1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0" id="1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Christ)  that  He  is  also  ''of  the  Seed  of  David </a:t>
            </a:r>
          </a:p>
          <a:p>
            <a:r>
              <a:rPr lang="en-US" sz="3700">
                <a:solidFill>
                  <a:srgbClr val="252525"/>
                </a:solidFill>
              </a:rPr>
              <a:t>according  to  the  flesh."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Now  that  is  where  the  trouble  began.  When </a:t>
            </a:r>
          </a:p>
          <a:p>
            <a:r>
              <a:rPr lang="en-US" sz="3700">
                <a:solidFill>
                  <a:srgbClr val="252525"/>
                </a:solidFill>
              </a:rPr>
              <a:t>Paul  declared  that  Jesus  Christ  was  the  Son  of </a:t>
            </a:r>
          </a:p>
          <a:p>
            <a:r>
              <a:rPr lang="en-US" sz="3700">
                <a:solidFill>
                  <a:srgbClr val="252525"/>
                </a:solidFill>
              </a:rPr>
              <a:t>God,  and  also  of  the  seed  of  David  according  to </a:t>
            </a:r>
          </a:p>
          <a:p>
            <a:r>
              <a:rPr lang="en-US" sz="3700">
                <a:solidFill>
                  <a:srgbClr val="252525"/>
                </a:solidFill>
              </a:rPr>
              <a:t>the  flesh,  he  took  one  step  too  much  for  the </a:t>
            </a:r>
          </a:p>
          <a:p>
            <a:r>
              <a:rPr lang="en-US" sz="3700">
                <a:solidFill>
                  <a:srgbClr val="252525"/>
                </a:solidFill>
              </a:rPr>
              <a:t>skeptical  world.     I  confess  that  there  was  one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Christ  25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time  in  my  life  when  this  very  fact  was  to  me </a:t>
            </a:r>
          </a:p>
          <a:p>
            <a:r>
              <a:rPr lang="en-US" sz="3700">
                <a:solidFill>
                  <a:srgbClr val="252525"/>
                </a:solidFill>
              </a:rPr>
              <a:t>a  great  stumbling-block.  I  know  well  </a:t>
            </a:r>
          </a:p>
        </p:txBody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2" id="122"/>
          <p:cNvPicPr>
            <a:picLocks noChangeAspect="true"/>
          </p:cNvPicPr>
          <p:nvPr/>
        </p:nvPicPr>
        <p:blipFill>
          <a:blip r:embed="rId1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2" id="1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how  it </a:t>
            </a:r>
          </a:p>
          <a:p>
            <a:r>
              <a:rPr lang="en-US" sz="3700">
                <a:solidFill>
                  <a:srgbClr val="252525"/>
                </a:solidFill>
              </a:rPr>
              <a:t>came  about.  I  got  to  thinking  about  the  unrea- </a:t>
            </a:r>
          </a:p>
          <a:p>
            <a:r>
              <a:rPr lang="en-US" sz="3700">
                <a:solidFill>
                  <a:srgbClr val="252525"/>
                </a:solidFill>
              </a:rPr>
              <a:t>sonableness of  the  virgin  conception  and  birth </a:t>
            </a:r>
          </a:p>
          <a:p>
            <a:r>
              <a:rPr lang="en-US" sz="3700">
                <a:solidFill>
                  <a:srgbClr val="252525"/>
                </a:solidFill>
              </a:rPr>
              <a:t>of  our  Lord.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was  a  young  medical  student,  and  was  deal- </a:t>
            </a:r>
          </a:p>
          <a:p>
            <a:r>
              <a:rPr lang="en-US" sz="3700">
                <a:solidFill>
                  <a:srgbClr val="252525"/>
                </a:solidFill>
              </a:rPr>
              <a:t>ing more  with  science  than  sense,  as  a  great  many </a:t>
            </a:r>
          </a:p>
          <a:p>
            <a:r>
              <a:rPr lang="en-US" sz="3700">
                <a:solidFill>
                  <a:srgbClr val="252525"/>
                </a:solidFill>
              </a:rPr>
              <a:t>other  people  are  doing  to-day,  and  I  got  my  head </a:t>
            </a:r>
          </a:p>
          <a:p>
            <a:r>
              <a:rPr lang="en-US" sz="3700">
                <a:solidFill>
                  <a:srgbClr val="252525"/>
                </a:solidFill>
              </a:rPr>
              <a:t>all  wool-gathering  on  the  subject  of  the  incarna- </a:t>
            </a:r>
          </a:p>
          <a:p>
            <a:r>
              <a:rPr lang="en-US" sz="3700">
                <a:solidFill>
                  <a:srgbClr val="252525"/>
                </a:solidFill>
              </a:rPr>
              <a:t>tion. I  said  that  it  was  incompatible  with  the  law </a:t>
            </a:r>
          </a:p>
          <a:p>
            <a:r>
              <a:rPr lang="en-US" sz="3700">
                <a:solidFill>
                  <a:srgbClr val="252525"/>
                </a:solidFill>
              </a:rPr>
              <a:t>of  nature  for  that  thing  to  be.  Mary  was  bound </a:t>
            </a:r>
          </a:p>
          <a:p>
            <a:r>
              <a:rPr lang="en-US" sz="3700">
                <a:solidFill>
                  <a:srgbClr val="252525"/>
                </a:solidFill>
              </a:rPr>
              <a:t>to  have  falsified.  I  went  as  far  as  any  man  ever </a:t>
            </a:r>
          </a:p>
        </p:txBody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4" id="124"/>
          <p:cNvPicPr>
            <a:picLocks noChangeAspect="true"/>
          </p:cNvPicPr>
          <p:nvPr/>
        </p:nvPicPr>
        <p:blipFill>
          <a:blip r:embed="rId1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4" id="1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went  in  his  accusations  of  Mary.  However,  I </a:t>
            </a:r>
          </a:p>
          <a:p>
            <a:r>
              <a:rPr lang="en-US" sz="3700">
                <a:solidFill>
                  <a:srgbClr val="252525"/>
                </a:solidFill>
              </a:rPr>
              <a:t>was  not  so  silly  as  to  speak  my  thoughts  from  the </a:t>
            </a:r>
          </a:p>
          <a:p>
            <a:r>
              <a:rPr lang="en-US" sz="3700">
                <a:solidFill>
                  <a:srgbClr val="252525"/>
                </a:solidFill>
              </a:rPr>
              <a:t>house-top.  I  was  ashamed  of  them,  but  I  had </a:t>
            </a:r>
          </a:p>
          <a:p>
            <a:r>
              <a:rPr lang="en-US" sz="3700">
                <a:solidFill>
                  <a:srgbClr val="252525"/>
                </a:solidFill>
              </a:rPr>
              <a:t>them  in  my  heart.  Those  were  terribly  black  and </a:t>
            </a:r>
          </a:p>
          <a:p>
            <a:r>
              <a:rPr lang="en-US" sz="3700">
                <a:solidFill>
                  <a:srgbClr val="252525"/>
                </a:solidFill>
              </a:rPr>
              <a:t>gloomy  days,  when  I  felt  the  faith  of  my  mother </a:t>
            </a:r>
          </a:p>
          <a:p>
            <a:r>
              <a:rPr lang="en-US" sz="3700">
                <a:solidFill>
                  <a:srgbClr val="252525"/>
                </a:solidFill>
              </a:rPr>
              <a:t>and  my  training  slipping  from  me.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went  to  one  of  the  most  distinguished </a:t>
            </a:r>
          </a:p>
          <a:p>
            <a:r>
              <a:rPr lang="en-US" sz="3700">
                <a:solidFill>
                  <a:srgbClr val="252525"/>
                </a:solidFill>
              </a:rPr>
              <a:t>scholars  and  Bible  students  of  the  country,  and </a:t>
            </a:r>
          </a:p>
          <a:p>
            <a:r>
              <a:rPr lang="en-US" sz="3700">
                <a:solidFill>
                  <a:srgbClr val="252525"/>
                </a:solidFill>
              </a:rPr>
              <a:t>asked  him  to  give  me  a  bit  of  his  time  to </a:t>
            </a:r>
          </a:p>
          <a:p>
            <a:r>
              <a:rPr lang="en-US" sz="3700">
                <a:solidFill>
                  <a:srgbClr val="252525"/>
                </a:solidFill>
              </a:rPr>
              <a:t>straighten  me  out.  He  took  me  into  a  long  course </a:t>
            </a:r>
          </a:p>
          <a:p>
            <a:r>
              <a:rPr lang="en-US" sz="3700">
                <a:solidFill>
                  <a:srgbClr val="252525"/>
                </a:solidFill>
              </a:rPr>
              <a:t>of  reasoning  which  to  me  did  not  reason  at  all. </a:t>
            </a:r>
          </a:p>
        </p:txBody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6" id="126"/>
          <p:cNvPicPr>
            <a:picLocks noChangeAspect="true"/>
          </p:cNvPicPr>
          <p:nvPr/>
        </p:nvPicPr>
        <p:blipFill>
          <a:blip r:embed="rId1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6" id="1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There  was  no  reason  in  it,  and  there  is  no  reason </a:t>
            </a:r>
          </a:p>
          <a:p>
            <a:r>
              <a:rPr lang="en-US" sz="3700">
                <a:solidFill>
                  <a:srgbClr val="252525"/>
                </a:solidFill>
              </a:rPr>
              <a:t>in  any  argument  that  can  be  put  up  about  this </a:t>
            </a:r>
          </a:p>
          <a:p>
            <a:r>
              <a:rPr lang="en-US" sz="3700">
                <a:solidFill>
                  <a:srgbClr val="252525"/>
                </a:solidFill>
              </a:rPr>
              <a:t>matter.  Men  who  attempt  to  reason  this  thing </a:t>
            </a:r>
          </a:p>
          <a:p>
            <a:r>
              <a:rPr lang="en-US" sz="3700">
                <a:solidFill>
                  <a:srgbClr val="252525"/>
                </a:solidFill>
              </a:rPr>
              <a:t>out  make  themselves  silly,  because  this  is  one  of </a:t>
            </a:r>
          </a:p>
          <a:p>
            <a:r>
              <a:rPr lang="en-US" sz="3700">
                <a:solidFill>
                  <a:srgbClr val="252525"/>
                </a:solidFill>
              </a:rPr>
              <a:t>the  things  in  the  face  of  which  reason  staggers. </a:t>
            </a:r>
          </a:p>
          <a:p>
            <a:r>
              <a:rPr lang="en-US" sz="3700">
                <a:solidFill>
                  <a:srgbClr val="252525"/>
                </a:solidFill>
              </a:rPr>
              <a:t>A  scholarly  physician  once  went  to  Dr.  P.  H. </a:t>
            </a:r>
          </a:p>
          <a:p>
            <a:r>
              <a:rPr lang="en-US" sz="3700">
                <a:solidFill>
                  <a:srgbClr val="252525"/>
                </a:solidFill>
              </a:rPr>
              <a:t>Mell  with  this  question.    He  said :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"Doctor,  I  would  believe  in  Christianity  if  I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26     Salvation  and  the  Old  Theology- </a:t>
            </a:r>
          </a:p>
          <a:p>
            <a:r>
              <a:rPr lang="en-US" sz="3700">
                <a:solidFill>
                  <a:srgbClr val="252525"/>
                </a:solidFill>
              </a:rPr>
              <a:t>could   explain   the   supernatural   generation   of </a:t>
            </a:r>
          </a:p>
        </p:txBody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8" id="128"/>
          <p:cNvPicPr>
            <a:picLocks noChangeAspect="true"/>
          </p:cNvPicPr>
          <p:nvPr/>
        </p:nvPicPr>
        <p:blipFill>
          <a:blip r:embed="rId1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28" id="1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Christ."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Dr.  Mell  replied :  "Well,  Doctor,  can  you  ex- </a:t>
            </a:r>
          </a:p>
          <a:p>
            <a:r>
              <a:rPr lang="en-US" sz="3700">
                <a:solidFill>
                  <a:srgbClr val="252525"/>
                </a:solidFill>
              </a:rPr>
              <a:t>plain natural  generation  in  any  case  ?"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physician  hesitated  and  then  admitted  that </a:t>
            </a:r>
          </a:p>
          <a:p>
            <a:r>
              <a:rPr lang="en-US" sz="3700">
                <a:solidFill>
                  <a:srgbClr val="252525"/>
                </a:solidFill>
              </a:rPr>
              <a:t>he  could  not.  Supernatural  generation  is  no </a:t>
            </a:r>
          </a:p>
          <a:p>
            <a:r>
              <a:rPr lang="en-US" sz="3700">
                <a:solidFill>
                  <a:srgbClr val="252525"/>
                </a:solidFill>
              </a:rPr>
              <a:t>greater  mystery  than  natural  generation.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My  friend  tried  to  reason  with  me  about  it, </a:t>
            </a:r>
          </a:p>
          <a:p>
            <a:r>
              <a:rPr lang="en-US" sz="3700">
                <a:solidFill>
                  <a:srgbClr val="252525"/>
                </a:solidFill>
              </a:rPr>
              <a:t>and  the  more  he  reasoned,  the  deeper  the  mys- </a:t>
            </a:r>
          </a:p>
          <a:p>
            <a:r>
              <a:rPr lang="en-US" sz="3700">
                <a:solidFill>
                  <a:srgbClr val="252525"/>
                </a:solidFill>
              </a:rPr>
              <a:t>tery. I  finished  my  medical  education,  and  went </a:t>
            </a:r>
          </a:p>
          <a:p>
            <a:r>
              <a:rPr lang="en-US" sz="3700">
                <a:solidFill>
                  <a:srgbClr val="252525"/>
                </a:solidFill>
              </a:rPr>
              <a:t>to  the  backwoods  to  begin  my  practice,  and  one </a:t>
            </a:r>
          </a:p>
          <a:p>
            <a:r>
              <a:rPr lang="en-US" sz="3700">
                <a:solidFill>
                  <a:srgbClr val="252525"/>
                </a:solidFill>
              </a:rPr>
              <a:t>Sunday  morning  a  backwoods  preacher  </a:t>
            </a:r>
          </a:p>
        </p:txBody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0" id="130"/>
          <p:cNvPicPr>
            <a:picLocks noChangeAspect="true"/>
          </p:cNvPicPr>
          <p:nvPr/>
        </p:nvPicPr>
        <p:blipFill>
          <a:blip r:embed="rId1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0" id="1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at  an  old </a:t>
            </a:r>
          </a:p>
          <a:p>
            <a:r>
              <a:rPr lang="en-US" sz="3700">
                <a:solidFill>
                  <a:srgbClr val="252525"/>
                </a:solidFill>
              </a:rPr>
              <a:t>country  meeting-house  knocked  out  more  skepti- </a:t>
            </a:r>
          </a:p>
          <a:p>
            <a:r>
              <a:rPr lang="en-US" sz="3700">
                <a:solidFill>
                  <a:srgbClr val="252525"/>
                </a:solidFill>
              </a:rPr>
              <a:t>cism in  one-half  hour  than  I  had  gotten  in  three </a:t>
            </a:r>
          </a:p>
          <a:p>
            <a:r>
              <a:rPr lang="en-US" sz="3700">
                <a:solidFill>
                  <a:srgbClr val="252525"/>
                </a:solidFill>
              </a:rPr>
              <a:t>years,  and  this  is  the  way  he  did  it.  He  said: </a:t>
            </a:r>
          </a:p>
          <a:p>
            <a:r>
              <a:rPr lang="en-US" sz="3700">
                <a:solidFill>
                  <a:srgbClr val="252525"/>
                </a:solidFill>
              </a:rPr>
              <a:t>"If  there  is  anybody  here  who  is  troubled  about </a:t>
            </a:r>
          </a:p>
          <a:p>
            <a:r>
              <a:rPr lang="en-US" sz="3700">
                <a:solidFill>
                  <a:srgbClr val="252525"/>
                </a:solidFill>
              </a:rPr>
              <a:t>the  mystery  of  God  becoming  man,  I  want  to </a:t>
            </a:r>
          </a:p>
          <a:p>
            <a:r>
              <a:rPr lang="en-US" sz="3700">
                <a:solidFill>
                  <a:srgbClr val="252525"/>
                </a:solidFill>
              </a:rPr>
              <a:t>take  you  back  to  the  first  verse  of  the  first  chap- </a:t>
            </a:r>
          </a:p>
          <a:p>
            <a:r>
              <a:rPr lang="en-US" sz="3700">
                <a:solidFill>
                  <a:srgbClr val="252525"/>
                </a:solidFill>
              </a:rPr>
              <a:t>ter of  Genesis.     Tn  the  beginning  God.' 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He  looked  down  into  the  audience  very  search- </a:t>
            </a:r>
          </a:p>
          <a:p>
            <a:r>
              <a:rPr lang="en-US" sz="3700">
                <a:solidFill>
                  <a:srgbClr val="252525"/>
                </a:solidFill>
              </a:rPr>
              <a:t>ingly,  and  I  felt  like  he  was  looking  directly  at </a:t>
            </a:r>
          </a:p>
          <a:p>
            <a:r>
              <a:rPr lang="en-US" sz="3700">
                <a:solidFill>
                  <a:srgbClr val="252525"/>
                </a:solidFill>
              </a:rPr>
              <a:t>me.  He  continued :  "My  brother,  let  me  ask  you </a:t>
            </a:r>
          </a:p>
        </p:txBody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2" id="132"/>
          <p:cNvPicPr>
            <a:picLocks noChangeAspect="true"/>
          </p:cNvPicPr>
          <p:nvPr/>
        </p:nvPicPr>
        <p:blipFill>
          <a:blip r:embed="rId1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2" id="1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this :  Do  you  believe  that  God  was  in  the  begin- </a:t>
            </a:r>
          </a:p>
          <a:p>
            <a:r>
              <a:rPr lang="en-US" sz="3700">
                <a:solidFill>
                  <a:srgbClr val="252525"/>
                </a:solidFill>
              </a:rPr>
              <a:t>ning? That  is  to  say,  that  before  the  beginning </a:t>
            </a:r>
          </a:p>
          <a:p>
            <a:r>
              <a:rPr lang="en-US" sz="3700">
                <a:solidFill>
                  <a:srgbClr val="252525"/>
                </a:solidFill>
              </a:rPr>
              <a:t>began  God  was?"  I  said  to  myself,  "Yes,  I  be- </a:t>
            </a:r>
          </a:p>
          <a:p>
            <a:r>
              <a:rPr lang="en-US" sz="3700">
                <a:solidFill>
                  <a:srgbClr val="252525"/>
                </a:solidFill>
              </a:rPr>
              <a:t>lieve that."  "Now,"  he  said,  "if  you  believe  that </a:t>
            </a:r>
          </a:p>
          <a:p>
            <a:r>
              <a:rPr lang="en-US" sz="3700">
                <a:solidFill>
                  <a:srgbClr val="252525"/>
                </a:solidFill>
              </a:rPr>
              <a:t>God  was  ahead  of  the  beginning,  you  believe  the </a:t>
            </a:r>
          </a:p>
          <a:p>
            <a:r>
              <a:rPr lang="en-US" sz="3700">
                <a:solidFill>
                  <a:srgbClr val="252525"/>
                </a:solidFill>
              </a:rPr>
              <a:t>one  mysterious  thing  of  this  universe.  If  I  be- </a:t>
            </a:r>
          </a:p>
          <a:p>
            <a:r>
              <a:rPr lang="en-US" sz="3700">
                <a:solidFill>
                  <a:srgbClr val="252525"/>
                </a:solidFill>
              </a:rPr>
              <a:t>lieved that,  God  knows  I  could  believe  anything </a:t>
            </a:r>
          </a:p>
          <a:p>
            <a:r>
              <a:rPr lang="en-US" sz="3700">
                <a:solidFill>
                  <a:srgbClr val="252525"/>
                </a:solidFill>
              </a:rPr>
              <a:t>else  in  the  world."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 had   gone   to   college   and   travelled   clean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Christ  27 </a:t>
            </a:r>
          </a:p>
        </p:txBody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4" id="134"/>
          <p:cNvPicPr>
            <a:picLocks noChangeAspect="true"/>
          </p:cNvPicPr>
          <p:nvPr/>
        </p:nvPicPr>
        <p:blipFill>
          <a:blip r:embed="rId1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4" id="135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through  the  mysteries  of  the  theory  of  reproduc- </a:t>
            </a:r>
          </a:p>
          <a:p>
            <a:r>
              <a:rPr lang="en-US" sz="3700">
                <a:solidFill>
                  <a:srgbClr val="252525"/>
                </a:solidFill>
              </a:rPr>
              <a:t>tion and  cell  formation,  and  had  come  out  to </a:t>
            </a:r>
          </a:p>
          <a:p>
            <a:r>
              <a:rPr lang="en-US" sz="3700">
                <a:solidFill>
                  <a:srgbClr val="252525"/>
                </a:solidFill>
              </a:rPr>
              <a:t>realize  that  I  was  just  a  common  fool;  that  if </a:t>
            </a:r>
          </a:p>
          <a:p>
            <a:r>
              <a:rPr lang="en-US" sz="3700">
                <a:solidFill>
                  <a:srgbClr val="252525"/>
                </a:solidFill>
              </a:rPr>
              <a:t>God  was  in  the  beginning,  that  was  the  one  su- </a:t>
            </a:r>
          </a:p>
          <a:p>
            <a:r>
              <a:rPr lang="en-US" sz="3700">
                <a:solidFill>
                  <a:srgbClr val="252525"/>
                </a:solidFill>
              </a:rPr>
              <a:t>preme mystery  of  all  mysteries  of  this  mysterious </a:t>
            </a:r>
          </a:p>
          <a:p>
            <a:r>
              <a:rPr lang="en-US" sz="3700">
                <a:solidFill>
                  <a:srgbClr val="252525"/>
                </a:solidFill>
              </a:rPr>
              <a:t>universe  of  God.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have  been  using  that  same  argument  ever </a:t>
            </a:r>
          </a:p>
          <a:p>
            <a:r>
              <a:rPr lang="en-US" sz="3700">
                <a:solidFill>
                  <a:srgbClr val="252525"/>
                </a:solidFill>
              </a:rPr>
              <a:t>since.  I  do  not  want  anything  better  to  crack </a:t>
            </a:r>
          </a:p>
          <a:p>
            <a:r>
              <a:rPr lang="en-US" sz="3700">
                <a:solidFill>
                  <a:srgbClr val="252525"/>
                </a:solidFill>
              </a:rPr>
              <a:t>skeptics  over  the  head  with.  When  I  ask  them </a:t>
            </a:r>
          </a:p>
          <a:p>
            <a:r>
              <a:rPr lang="en-US" sz="3700">
                <a:solidFill>
                  <a:srgbClr val="252525"/>
                </a:solidFill>
              </a:rPr>
              <a:t>this  question,  they  always  say,  "Yes."  We  have </a:t>
            </a:r>
          </a:p>
        </p:txBody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6" id="136"/>
          <p:cNvPicPr>
            <a:picLocks noChangeAspect="true"/>
          </p:cNvPicPr>
          <p:nvPr/>
        </p:nvPicPr>
        <p:blipFill>
          <a:blip r:embed="rId1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6" id="1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very  few  outright  infidels  to-day.  Almost  every- </a:t>
            </a:r>
          </a:p>
          <a:p>
            <a:r>
              <a:rPr lang="en-US" sz="3700">
                <a:solidFill>
                  <a:srgbClr val="252525"/>
                </a:solidFill>
              </a:rPr>
              <a:t>body believes  in  God — that  away  back  yonder  be- </a:t>
            </a:r>
          </a:p>
          <a:p>
            <a:r>
              <a:rPr lang="en-US" sz="3700">
                <a:solidFill>
                  <a:srgbClr val="252525"/>
                </a:solidFill>
              </a:rPr>
              <a:t>fore the  beginning  God  was,  and  I  always  hold </a:t>
            </a:r>
          </a:p>
          <a:p>
            <a:r>
              <a:rPr lang="en-US" sz="3700">
                <a:solidFill>
                  <a:srgbClr val="252525"/>
                </a:solidFill>
              </a:rPr>
              <a:t>them  right  down  to  this :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"Think  about  all  the  doubts  that  you  have  ever </a:t>
            </a:r>
          </a:p>
          <a:p>
            <a:r>
              <a:rPr lang="en-US" sz="3700">
                <a:solidFill>
                  <a:srgbClr val="252525"/>
                </a:solidFill>
              </a:rPr>
              <a:t>had  about  it,  and  then  answer  me  this  question: </a:t>
            </a:r>
          </a:p>
          <a:p>
            <a:r>
              <a:rPr lang="en-US" sz="3700">
                <a:solidFill>
                  <a:srgbClr val="252525"/>
                </a:solidFill>
              </a:rPr>
              <a:t>after  all  these  doubts,  do  you  believe  that  away </a:t>
            </a:r>
          </a:p>
          <a:p>
            <a:r>
              <a:rPr lang="en-US" sz="3700">
                <a:solidFill>
                  <a:srgbClr val="252525"/>
                </a:solidFill>
              </a:rPr>
              <a:t>back  yonder  at  the  beginning  was  God?"  Then </a:t>
            </a:r>
          </a:p>
          <a:p>
            <a:r>
              <a:rPr lang="en-US" sz="3700">
                <a:solidFill>
                  <a:srgbClr val="252525"/>
                </a:solidFill>
              </a:rPr>
              <a:t>I  tell  them  that  if  I  believed  that  God  was  in </a:t>
            </a:r>
          </a:p>
          <a:p>
            <a:r>
              <a:rPr lang="en-US" sz="3700">
                <a:solidFill>
                  <a:srgbClr val="252525"/>
                </a:solidFill>
              </a:rPr>
              <a:t>the  beginning  I  could  believe  anything  that  He </a:t>
            </a:r>
          </a:p>
          <a:p>
            <a:r>
              <a:rPr lang="en-US" sz="3700">
                <a:solidFill>
                  <a:srgbClr val="252525"/>
                </a:solidFill>
              </a:rPr>
              <a:t>says ;  that  if  He  was  so  great  as  to  </a:t>
            </a:r>
          </a:p>
        </p:txBody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8" id="138"/>
          <p:cNvPicPr>
            <a:picLocks noChangeAspect="true"/>
          </p:cNvPicPr>
          <p:nvPr/>
        </p:nvPicPr>
        <p:blipFill>
          <a:blip r:embed="rId1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38" id="1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create  Him- </a:t>
            </a:r>
          </a:p>
          <a:p>
            <a:r>
              <a:rPr lang="en-US" sz="3700">
                <a:solidFill>
                  <a:srgbClr val="252525"/>
                </a:solidFill>
              </a:rPr>
              <a:t>self in  the  beginning.  He  could  create  Himself </a:t>
            </a:r>
          </a:p>
          <a:p>
            <a:r>
              <a:rPr lang="en-US" sz="3700">
                <a:solidFill>
                  <a:srgbClr val="252525"/>
                </a:solidFill>
              </a:rPr>
              <a:t>through  the  womb  of  a  virgin  woman.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Apostle  Paul  believed  that  Jesus  was  the </a:t>
            </a:r>
          </a:p>
          <a:p>
            <a:r>
              <a:rPr lang="en-US" sz="3700">
                <a:solidFill>
                  <a:srgbClr val="252525"/>
                </a:solidFill>
              </a:rPr>
              <a:t>Son  of  God,  and  not  only  the  Son  of  God,  but  "of </a:t>
            </a:r>
          </a:p>
          <a:p>
            <a:r>
              <a:rPr lang="en-US" sz="3700">
                <a:solidFill>
                  <a:srgbClr val="252525"/>
                </a:solidFill>
              </a:rPr>
              <a:t>the  seed  of  David,  according  to  the  flesh."  Jesus </a:t>
            </a:r>
          </a:p>
          <a:p>
            <a:r>
              <a:rPr lang="en-US" sz="3700">
                <a:solidFill>
                  <a:srgbClr val="252525"/>
                </a:solidFill>
              </a:rPr>
              <a:t>Christ  developed  just  like  any  other  child  up  to </a:t>
            </a:r>
          </a:p>
          <a:p>
            <a:r>
              <a:rPr lang="en-US" sz="3700">
                <a:solidFill>
                  <a:srgbClr val="252525"/>
                </a:solidFill>
              </a:rPr>
              <a:t>the  point  of  His  birth,  and  after  his  birth  He  con- </a:t>
            </a:r>
          </a:p>
          <a:p>
            <a:r>
              <a:rPr lang="en-US" sz="3700">
                <a:solidFill>
                  <a:srgbClr val="252525"/>
                </a:solidFill>
              </a:rPr>
              <a:t>tinued to  grow  just  like  any  other  child.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Now  you  will  notice  another  thing.  Paul </a:t>
            </a:r>
          </a:p>
          <a:p>
            <a:r>
              <a:rPr lang="en-US" sz="3700">
                <a:solidFill>
                  <a:srgbClr val="252525"/>
                </a:solidFill>
              </a:rPr>
              <a:t>speaks  of  "His  power."     First,  it  was  His  origin, </a:t>
            </a:r>
          </a:p>
        </p:txBody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0" id="140"/>
          <p:cNvPicPr>
            <a:picLocks noChangeAspect="true"/>
          </p:cNvPicPr>
          <p:nvPr/>
        </p:nvPicPr>
        <p:blipFill>
          <a:blip r:embed="rId1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0" id="14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28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and  now  it  is  ''His  power,"  and  all  this  attested </a:t>
            </a:r>
          </a:p>
          <a:p>
            <a:r>
              <a:rPr lang="en-US" sz="3700">
                <a:solidFill>
                  <a:srgbClr val="252525"/>
                </a:solidFill>
              </a:rPr>
              <a:t>by  "the  resurrection."  He  has  introduced  Jesus </a:t>
            </a:r>
          </a:p>
          <a:p>
            <a:r>
              <a:rPr lang="en-US" sz="3700">
                <a:solidFill>
                  <a:srgbClr val="252525"/>
                </a:solidFill>
              </a:rPr>
              <a:t>to  us  as  "Promised  by  the  prophets,"  "The  Son </a:t>
            </a:r>
          </a:p>
          <a:p>
            <a:r>
              <a:rPr lang="en-US" sz="3700">
                <a:solidFill>
                  <a:srgbClr val="252525"/>
                </a:solidFill>
              </a:rPr>
              <a:t>of  God,"  "Of  the  Seed  of  David,  according  to </a:t>
            </a:r>
          </a:p>
          <a:p>
            <a:r>
              <a:rPr lang="en-US" sz="3700">
                <a:solidFill>
                  <a:srgbClr val="252525"/>
                </a:solidFill>
              </a:rPr>
              <a:t>the  flesh,"  and  now.  His  power,  according  to  the </a:t>
            </a:r>
          </a:p>
          <a:p>
            <a:r>
              <a:rPr lang="en-US" sz="3700">
                <a:solidFill>
                  <a:srgbClr val="252525"/>
                </a:solidFill>
              </a:rPr>
              <a:t>resurrection.  His  resurrection  is  the  expression </a:t>
            </a:r>
          </a:p>
          <a:p>
            <a:r>
              <a:rPr lang="en-US" sz="3700">
                <a:solidFill>
                  <a:srgbClr val="252525"/>
                </a:solidFill>
              </a:rPr>
              <a:t>of  his  power.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want  to  notice  something  of  the  signifi- </a:t>
            </a:r>
          </a:p>
          <a:p>
            <a:r>
              <a:rPr lang="en-US" sz="3700">
                <a:solidFill>
                  <a:srgbClr val="252525"/>
                </a:solidFill>
              </a:rPr>
              <a:t>cance of  the  doctrine  of  the  resurrection.  Why </a:t>
            </a:r>
          </a:p>
        </p:txBody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2" id="142"/>
          <p:cNvPicPr>
            <a:picLocks noChangeAspect="true"/>
          </p:cNvPicPr>
          <p:nvPr/>
        </p:nvPicPr>
        <p:blipFill>
          <a:blip r:embed="rId1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2" id="1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did  Paul,  in  introducing  Jesus  Christ  to  the </a:t>
            </a:r>
          </a:p>
          <a:p>
            <a:r>
              <a:rPr lang="en-US" sz="3700">
                <a:solidFill>
                  <a:srgbClr val="252525"/>
                </a:solidFill>
              </a:rPr>
              <a:t>Romans,  speak  of  His  resurrection?  First  of  all, </a:t>
            </a:r>
          </a:p>
          <a:p>
            <a:r>
              <a:rPr lang="en-US" sz="3700">
                <a:solidFill>
                  <a:srgbClr val="252525"/>
                </a:solidFill>
              </a:rPr>
              <a:t>because  Paul  himself  had  a  personal  knowledge </a:t>
            </a:r>
          </a:p>
          <a:p>
            <a:r>
              <a:rPr lang="en-US" sz="3700">
                <a:solidFill>
                  <a:srgbClr val="252525"/>
                </a:solidFill>
              </a:rPr>
              <a:t>that  Jesus  Christ  had  arisen  from  the  dead.  He </a:t>
            </a:r>
          </a:p>
          <a:p>
            <a:r>
              <a:rPr lang="en-US" sz="3700">
                <a:solidFill>
                  <a:srgbClr val="252525"/>
                </a:solidFill>
              </a:rPr>
              <a:t>had  seen  Him.  He  had  appeared  to  him,  and  as- </a:t>
            </a:r>
          </a:p>
          <a:p>
            <a:r>
              <a:rPr lang="en-US" sz="3700">
                <a:solidFill>
                  <a:srgbClr val="252525"/>
                </a:solidFill>
              </a:rPr>
              <a:t>sured him  that  He  had  arisen  from  the  dead; </a:t>
            </a:r>
          </a:p>
          <a:p>
            <a:r>
              <a:rPr lang="en-US" sz="3700">
                <a:solidFill>
                  <a:srgbClr val="252525"/>
                </a:solidFill>
              </a:rPr>
              <a:t>and  then  he  had  the  testimony  of  the  rest  of  the </a:t>
            </a:r>
          </a:p>
          <a:p>
            <a:r>
              <a:rPr lang="en-US" sz="3700">
                <a:solidFill>
                  <a:srgbClr val="252525"/>
                </a:solidFill>
              </a:rPr>
              <a:t>Apostles,  and  a  host  of  others.  Paul  had  no </a:t>
            </a:r>
          </a:p>
          <a:p>
            <a:r>
              <a:rPr lang="en-US" sz="3700">
                <a:solidFill>
                  <a:srgbClr val="252525"/>
                </a:solidFill>
              </a:rPr>
              <a:t>doubt  about  the  resurrection  of  Jesus  Christ.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He  testified  to  them  concerning  the  resurrec- </a:t>
            </a:r>
          </a:p>
        </p:txBody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4" id="144"/>
          <p:cNvPicPr>
            <a:picLocks noChangeAspect="true"/>
          </p:cNvPicPr>
          <p:nvPr/>
        </p:nvPicPr>
        <p:blipFill>
          <a:blip r:embed="rId1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4" id="1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tion, first,  because  of  his  own  personal  knowl- </a:t>
            </a:r>
          </a:p>
          <a:p>
            <a:r>
              <a:rPr lang="en-US" sz="3700">
                <a:solidFill>
                  <a:srgbClr val="252525"/>
                </a:solidFill>
              </a:rPr>
              <a:t>edge, and  second,  because  of  the  deep  significance </a:t>
            </a:r>
          </a:p>
          <a:p>
            <a:r>
              <a:rPr lang="en-US" sz="3700">
                <a:solidFill>
                  <a:srgbClr val="252525"/>
                </a:solidFill>
              </a:rPr>
              <a:t>of  the  fact  of  the  resurrection  to  the  Church  of </a:t>
            </a:r>
          </a:p>
          <a:p>
            <a:r>
              <a:rPr lang="en-US" sz="3700">
                <a:solidFill>
                  <a:srgbClr val="252525"/>
                </a:solidFill>
              </a:rPr>
              <a:t>Jesus  Christ.  What  is  the  significance  of  the </a:t>
            </a:r>
          </a:p>
          <a:p>
            <a:r>
              <a:rPr lang="en-US" sz="3700">
                <a:solidFill>
                  <a:srgbClr val="252525"/>
                </a:solidFill>
              </a:rPr>
              <a:t>resurrection?  Let  us  go  to  the  fifteenth  chapter </a:t>
            </a:r>
          </a:p>
          <a:p>
            <a:r>
              <a:rPr lang="en-US" sz="3700">
                <a:solidFill>
                  <a:srgbClr val="252525"/>
                </a:solidFill>
              </a:rPr>
              <a:t>of  First  Corinthians  and  get  it.  What,  accord- </a:t>
            </a:r>
          </a:p>
          <a:p>
            <a:r>
              <a:rPr lang="en-US" sz="3700">
                <a:solidFill>
                  <a:srgbClr val="252525"/>
                </a:solidFill>
              </a:rPr>
              <a:t>ing to  this,  is  the  significance  of  the  resurrection  ?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It  is  this:  If  Jesus  arose  not  from  the  dead, </a:t>
            </a:r>
          </a:p>
          <a:p>
            <a:r>
              <a:rPr lang="en-US" sz="3700">
                <a:solidFill>
                  <a:srgbClr val="252525"/>
                </a:solidFill>
              </a:rPr>
              <a:t>then  our  faith  is  vain.  We  hear  men  to-day  pooh- </a:t>
            </a:r>
          </a:p>
          <a:p>
            <a:r>
              <a:rPr lang="en-US" sz="3700">
                <a:solidFill>
                  <a:srgbClr val="252525"/>
                </a:solidFill>
              </a:rPr>
              <a:t>poohing  the  resurrection  of  Jesus  Christ;  some </a:t>
            </a:r>
          </a:p>
        </p:txBody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6" id="146"/>
          <p:cNvPicPr>
            <a:picLocks noChangeAspect="true"/>
          </p:cNvPicPr>
          <p:nvPr/>
        </p:nvPicPr>
        <p:blipFill>
          <a:blip r:embed="rId1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6" id="1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theologians,  Bible  teachers,  and  preachers.  How </a:t>
            </a:r>
          </a:p>
          <a:p>
            <a:r>
              <a:rPr lang="en-US" sz="3700">
                <a:solidFill>
                  <a:srgbClr val="252525"/>
                </a:solidFill>
              </a:rPr>
              <a:t>can  they  do  it  when  they  are  confronted  with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Christ  29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plain  assertion  of  the  Apostle  Paul  ?  I  cannot </a:t>
            </a:r>
          </a:p>
          <a:p>
            <a:r>
              <a:rPr lang="en-US" sz="3700">
                <a:solidFill>
                  <a:srgbClr val="252525"/>
                </a:solidFill>
              </a:rPr>
              <a:t>see  how  any  man  who  claims  any  intimacy  with </a:t>
            </a:r>
          </a:p>
          <a:p>
            <a:r>
              <a:rPr lang="en-US" sz="3700">
                <a:solidFill>
                  <a:srgbClr val="252525"/>
                </a:solidFill>
              </a:rPr>
              <a:t>his  Bible  and  who  fears  God  can  make  a  state- </a:t>
            </a:r>
          </a:p>
          <a:p>
            <a:r>
              <a:rPr lang="en-US" sz="3700">
                <a:solidFill>
                  <a:srgbClr val="252525"/>
                </a:solidFill>
              </a:rPr>
              <a:t>ment disparaging  the  resurrection.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There  are  two  things  essential  to  salvation. </a:t>
            </a:r>
          </a:p>
          <a:p>
            <a:r>
              <a:rPr lang="en-US" sz="3700">
                <a:solidFill>
                  <a:srgbClr val="252525"/>
                </a:solidFill>
              </a:rPr>
              <a:t>The  first  is  the  crucifixion  of  Jesus  Christ,  and </a:t>
            </a:r>
          </a:p>
          <a:p>
            <a:r>
              <a:rPr lang="en-US" sz="3700">
                <a:solidFill>
                  <a:srgbClr val="252525"/>
                </a:solidFill>
              </a:rPr>
              <a:t>the  next  is  the  resurrection  of  Jesus  </a:t>
            </a:r>
          </a:p>
        </p:txBody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8" id="148"/>
          <p:cNvPicPr>
            <a:picLocks noChangeAspect="true"/>
          </p:cNvPicPr>
          <p:nvPr/>
        </p:nvPicPr>
        <p:blipFill>
          <a:blip r:embed="rId1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8" id="1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Christ. </a:t>
            </a:r>
          </a:p>
          <a:p>
            <a:r>
              <a:rPr lang="en-US" sz="3700">
                <a:solidFill>
                  <a:srgbClr val="252525"/>
                </a:solidFill>
              </a:rPr>
              <a:t>Now,  in  the  Lord's  supper  we  celebrate  the  cruci- </a:t>
            </a:r>
          </a:p>
          <a:p>
            <a:r>
              <a:rPr lang="en-US" sz="3700">
                <a:solidFill>
                  <a:srgbClr val="252525"/>
                </a:solidFill>
              </a:rPr>
              <a:t>fixion, His  broken  body  and  shed  blood;  in  Bap- </a:t>
            </a:r>
          </a:p>
          <a:p>
            <a:r>
              <a:rPr lang="en-US" sz="3700">
                <a:solidFill>
                  <a:srgbClr val="252525"/>
                </a:solidFill>
              </a:rPr>
              <a:t>tism we, celebrate  the  burial  and  resurrection  of </a:t>
            </a:r>
          </a:p>
          <a:p>
            <a:r>
              <a:rPr lang="en-US" sz="3700">
                <a:solidFill>
                  <a:srgbClr val="252525"/>
                </a:solidFill>
              </a:rPr>
              <a:t>Jesus.  Thus  in  these  types,  one  by  communion </a:t>
            </a:r>
          </a:p>
          <a:p>
            <a:r>
              <a:rPr lang="en-US" sz="3700">
                <a:solidFill>
                  <a:srgbClr val="252525"/>
                </a:solidFill>
              </a:rPr>
              <a:t>and  the  other  by  baptism,  we  set  forth  to  the </a:t>
            </a:r>
          </a:p>
          <a:p>
            <a:r>
              <a:rPr lang="en-US" sz="3700">
                <a:solidFill>
                  <a:srgbClr val="252525"/>
                </a:solidFill>
              </a:rPr>
              <a:t>world  the  two  essential  things  that  enter  into  the </a:t>
            </a:r>
          </a:p>
          <a:p>
            <a:r>
              <a:rPr lang="en-US" sz="3700">
                <a:solidFill>
                  <a:srgbClr val="252525"/>
                </a:solidFill>
              </a:rPr>
              <a:t>salvation  of  the  world;  namely,  crucifixion  and </a:t>
            </a:r>
          </a:p>
          <a:p>
            <a:r>
              <a:rPr lang="en-US" sz="3700">
                <a:solidFill>
                  <a:srgbClr val="252525"/>
                </a:solidFill>
              </a:rPr>
              <a:t>resurrection.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never  come  to  the  Lord's  table  that  I  do  not </a:t>
            </a:r>
          </a:p>
          <a:p>
            <a:r>
              <a:rPr lang="en-US" sz="3700">
                <a:solidFill>
                  <a:srgbClr val="252525"/>
                </a:solidFill>
              </a:rPr>
              <a:t>look  to  the  cross;  and  I  never  come  to  baptism </a:t>
            </a:r>
          </a:p>
        </p:txBody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0" id="150"/>
          <p:cNvPicPr>
            <a:picLocks noChangeAspect="true"/>
          </p:cNvPicPr>
          <p:nvPr/>
        </p:nvPicPr>
        <p:blipFill>
          <a:blip r:embed="rId1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0" id="1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that  I  do  not  see  the  resurrection.  And  in  these </a:t>
            </a:r>
          </a:p>
          <a:p>
            <a:r>
              <a:rPr lang="en-US" sz="3700">
                <a:solidFill>
                  <a:srgbClr val="252525"/>
                </a:solidFill>
              </a:rPr>
              <a:t>two  simple  types  we  set  forth  to  the  world  the </a:t>
            </a:r>
          </a:p>
          <a:p>
            <a:r>
              <a:rPr lang="en-US" sz="3700">
                <a:solidFill>
                  <a:srgbClr val="252525"/>
                </a:solidFill>
              </a:rPr>
              <a:t>plan  of  human  redemption.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Understand,  I  do  not  say  that  communion  is </a:t>
            </a:r>
          </a:p>
          <a:p>
            <a:r>
              <a:rPr lang="en-US" sz="3700">
                <a:solidFill>
                  <a:srgbClr val="252525"/>
                </a:solidFill>
              </a:rPr>
              <a:t>essential  to  salvation,  nor  do  I  say  that  baptism </a:t>
            </a:r>
          </a:p>
          <a:p>
            <a:r>
              <a:rPr lang="en-US" sz="3700">
                <a:solidFill>
                  <a:srgbClr val="252525"/>
                </a:solidFill>
              </a:rPr>
              <a:t>is  essential  to  salvation.  I  say  that  the  two </a:t>
            </a:r>
          </a:p>
          <a:p>
            <a:r>
              <a:rPr lang="en-US" sz="3700">
                <a:solidFill>
                  <a:srgbClr val="252525"/>
                </a:solidFill>
              </a:rPr>
              <a:t>things  that  are  essential  to  salvation,  crucifixion </a:t>
            </a:r>
          </a:p>
          <a:p>
            <a:r>
              <a:rPr lang="en-US" sz="3700">
                <a:solidFill>
                  <a:srgbClr val="252525"/>
                </a:solidFill>
              </a:rPr>
              <a:t>and  resurrection,  are  set  forth  in  these  types.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 are  now  ready  to  come  to  the  next </a:t>
            </a:r>
          </a:p>
          <a:p>
            <a:r>
              <a:rPr lang="en-US" sz="3700">
                <a:solidFill>
                  <a:srgbClr val="252525"/>
                </a:solidFill>
              </a:rPr>
              <a:t>thought,  which  is  the  closing  thought  in  this </a:t>
            </a:r>
          </a:p>
          <a:p>
            <a:r>
              <a:rPr lang="en-US" sz="3700">
                <a:solidFill>
                  <a:srgbClr val="252525"/>
                </a:solidFill>
              </a:rPr>
              <a:t>present  study.  His  position.  Here  is  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2" id="152"/>
          <p:cNvPicPr>
            <a:picLocks noChangeAspect="true"/>
          </p:cNvPicPr>
          <p:nvPr/>
        </p:nvPicPr>
        <p:blipFill>
          <a:blip r:embed="rId1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2" id="1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some- </a:t>
            </a:r>
          </a:p>
          <a:p>
            <a:r>
              <a:rPr lang="en-US" sz="3700">
                <a:solidFill>
                  <a:srgbClr val="252525"/>
                </a:solidFill>
              </a:rPr>
              <a:t>thing very  deeply  significant.  "Jesus  Christ  our </a:t>
            </a:r>
          </a:p>
          <a:p>
            <a:r>
              <a:rPr lang="en-US" sz="3700">
                <a:solidFill>
                  <a:srgbClr val="252525"/>
                </a:solidFill>
              </a:rPr>
              <a:t>Lord."  You  will  be  struck  with  that  expression, </a:t>
            </a:r>
          </a:p>
          <a:p>
            <a:r>
              <a:rPr lang="en-US" sz="3700">
                <a:solidFill>
                  <a:srgbClr val="252525"/>
                </a:solidFill>
              </a:rPr>
              <a:t>"Our  Lord."    What  is  the  meaning  of  the  word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30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Lord  as  we  find  it  used  here?  It  means  Divine </a:t>
            </a:r>
          </a:p>
          <a:p>
            <a:r>
              <a:rPr lang="en-US" sz="3700">
                <a:solidFill>
                  <a:srgbClr val="252525"/>
                </a:solidFill>
              </a:rPr>
              <a:t>Sovereign.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As  our  Divine  Sovereign,  there  are  five  things </a:t>
            </a:r>
          </a:p>
          <a:p>
            <a:r>
              <a:rPr lang="en-US" sz="3700">
                <a:solidFill>
                  <a:srgbClr val="252525"/>
                </a:solidFill>
              </a:rPr>
              <a:t>that  we  are  to  keep  in  mind.  First,  His  attitude </a:t>
            </a:r>
          </a:p>
          <a:p>
            <a:r>
              <a:rPr lang="en-US" sz="3700">
                <a:solidFill>
                  <a:srgbClr val="252525"/>
                </a:solidFill>
              </a:rPr>
              <a:t>with  respect  to  Hfe.  He  cannot  be  our  Master </a:t>
            </a:r>
          </a:p>
        </p:txBody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4" id="154"/>
          <p:cNvPicPr>
            <a:picLocks noChangeAspect="true"/>
          </p:cNvPicPr>
          <p:nvPr/>
        </p:nvPicPr>
        <p:blipFill>
          <a:blip r:embed="rId1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4" id="1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unless  we  have  His  attitude,  for  He  does  not </a:t>
            </a:r>
          </a:p>
          <a:p>
            <a:r>
              <a:rPr lang="en-US" sz="3700">
                <a:solidFill>
                  <a:srgbClr val="252525"/>
                </a:solidFill>
              </a:rPr>
              <a:t>simply  master  the  flesh.  He  masters  the  will; </a:t>
            </a:r>
          </a:p>
          <a:p>
            <a:r>
              <a:rPr lang="en-US" sz="3700">
                <a:solidFill>
                  <a:srgbClr val="252525"/>
                </a:solidFill>
              </a:rPr>
              <a:t>He  masters  the  spirit;  the  inner  man  as  well  as </a:t>
            </a:r>
          </a:p>
          <a:p>
            <a:r>
              <a:rPr lang="en-US" sz="3700">
                <a:solidFill>
                  <a:srgbClr val="252525"/>
                </a:solidFill>
              </a:rPr>
              <a:t>the  outer  man ;  the  whole  of  life,  body,  soul,  and </a:t>
            </a:r>
          </a:p>
          <a:p>
            <a:r>
              <a:rPr lang="en-US" sz="3700">
                <a:solidFill>
                  <a:srgbClr val="252525"/>
                </a:solidFill>
              </a:rPr>
              <a:t>spirit.  Thus  mastered,  we  assume  His  attitude </a:t>
            </a:r>
          </a:p>
          <a:p>
            <a:r>
              <a:rPr lang="en-US" sz="3700">
                <a:solidFill>
                  <a:srgbClr val="252525"/>
                </a:solidFill>
              </a:rPr>
              <a:t>with  respect  to  life.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That  is  to  say,  we  assume  first  His  attitude </a:t>
            </a:r>
          </a:p>
          <a:p>
            <a:r>
              <a:rPr lang="en-US" sz="3700">
                <a:solidFill>
                  <a:srgbClr val="252525"/>
                </a:solidFill>
              </a:rPr>
              <a:t>with  reference  to  the  Father;  second,  with  re- </a:t>
            </a:r>
          </a:p>
          <a:p>
            <a:r>
              <a:rPr lang="en-US" sz="3700">
                <a:solidFill>
                  <a:srgbClr val="252525"/>
                </a:solidFill>
              </a:rPr>
              <a:t>spect to  the  devil ;  third,  with  respect  to  enemies ; </a:t>
            </a:r>
          </a:p>
          <a:p>
            <a:r>
              <a:rPr lang="en-US" sz="3700">
                <a:solidFill>
                  <a:srgbClr val="252525"/>
                </a:solidFill>
              </a:rPr>
              <a:t>fourth,  with  respect  to  lost  souls.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It  seems  to  me  that  this  compasses  </a:t>
            </a:r>
          </a:p>
        </p:txBody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6" id="156"/>
          <p:cNvPicPr>
            <a:picLocks noChangeAspect="true"/>
          </p:cNvPicPr>
          <p:nvPr/>
        </p:nvPicPr>
        <p:blipFill>
          <a:blip r:embed="rId1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6" id="1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 whole </a:t>
            </a:r>
          </a:p>
          <a:p>
            <a:r>
              <a:rPr lang="en-US" sz="3700">
                <a:solidFill>
                  <a:srgbClr val="252525"/>
                </a:solidFill>
              </a:rPr>
              <a:t>realm  of  His  life.  Let  us  see:  As  our  Divine </a:t>
            </a:r>
          </a:p>
          <a:p>
            <a:r>
              <a:rPr lang="en-US" sz="3700">
                <a:solidFill>
                  <a:srgbClr val="252525"/>
                </a:solidFill>
              </a:rPr>
              <a:t>Sovereign  we  have  assumed  His  attitude  with </a:t>
            </a:r>
          </a:p>
          <a:p>
            <a:r>
              <a:rPr lang="en-US" sz="3700">
                <a:solidFill>
                  <a:srgbClr val="252525"/>
                </a:solidFill>
              </a:rPr>
              <a:t>respect  to  everything.  First,  what  was  His  at- </a:t>
            </a:r>
          </a:p>
          <a:p>
            <a:r>
              <a:rPr lang="en-US" sz="3700">
                <a:solidFill>
                  <a:srgbClr val="252525"/>
                </a:solidFill>
              </a:rPr>
              <a:t>titude with  respect  to  the  Father?  Here  it  is: </a:t>
            </a:r>
          </a:p>
          <a:p>
            <a:r>
              <a:rPr lang="en-US" sz="3700">
                <a:solidFill>
                  <a:srgbClr val="252525"/>
                </a:solidFill>
              </a:rPr>
              <a:t>"My  meat  is  to  do  my  Father's  will."  Now, </a:t>
            </a:r>
          </a:p>
          <a:p>
            <a:r>
              <a:rPr lang="en-US" sz="3700">
                <a:solidFill>
                  <a:srgbClr val="252525"/>
                </a:solidFill>
              </a:rPr>
              <a:t>when  we  speak  of  Jesus  as  our  Lord  and  Mas- </a:t>
            </a:r>
          </a:p>
          <a:p>
            <a:r>
              <a:rPr lang="en-US" sz="3700">
                <a:solidFill>
                  <a:srgbClr val="252525"/>
                </a:solidFill>
              </a:rPr>
              <a:t>ter, if  we  speak  the  truth  we  mean  this,  that </a:t>
            </a:r>
          </a:p>
          <a:p>
            <a:r>
              <a:rPr lang="en-US" sz="3700">
                <a:solidFill>
                  <a:srgbClr val="252525"/>
                </a:solidFill>
              </a:rPr>
              <a:t>our  meat  is  to  do  the  will  of  our  Father  and </a:t>
            </a:r>
          </a:p>
          <a:p>
            <a:r>
              <a:rPr lang="en-US" sz="3700">
                <a:solidFill>
                  <a:srgbClr val="252525"/>
                </a:solidFill>
              </a:rPr>
              <a:t>nothing  else.  Is  it  our  meat  to  do  the  will  of </a:t>
            </a:r>
          </a:p>
          <a:p>
            <a:r>
              <a:rPr lang="en-US" sz="3700">
                <a:solidFill>
                  <a:srgbClr val="252525"/>
                </a:solidFill>
              </a:rPr>
              <a:t>our  Father  in  heaven,  or  do  we  want  to  do  partly </a:t>
            </a:r>
          </a:p>
        </p:txBody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8" id="158"/>
          <p:cNvPicPr>
            <a:picLocks noChangeAspect="true"/>
          </p:cNvPicPr>
          <p:nvPr/>
        </p:nvPicPr>
        <p:blipFill>
          <a:blip r:embed="rId1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58" id="1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our  Father's  will  and  partly  our  own  will?  If </a:t>
            </a:r>
          </a:p>
          <a:p>
            <a:r>
              <a:rPr lang="en-US" sz="3700">
                <a:solidFill>
                  <a:srgbClr val="252525"/>
                </a:solidFill>
              </a:rPr>
              <a:t>the  former  is  true,  then  we  have  a  right  to  join </a:t>
            </a:r>
          </a:p>
          <a:p>
            <a:r>
              <a:rPr lang="en-US" sz="3700">
                <a:solidFill>
                  <a:srgbClr val="252525"/>
                </a:solidFill>
              </a:rPr>
              <a:t>in  with  Paul,  and  say,  ''Our  Lord."  If  this  is </a:t>
            </a:r>
          </a:p>
          <a:p>
            <a:r>
              <a:rPr lang="en-US" sz="3700">
                <a:solidFill>
                  <a:srgbClr val="252525"/>
                </a:solidFill>
              </a:rPr>
              <a:t>not  true,  we  cannot  say  it.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His  attitude  with  respect  to  the  devil.    After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Christ  3 1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Baptism  Jesus  was  led  up  into  the  wilder- </a:t>
            </a:r>
          </a:p>
          <a:p>
            <a:r>
              <a:rPr lang="en-US" sz="3700">
                <a:solidFill>
                  <a:srgbClr val="252525"/>
                </a:solidFill>
              </a:rPr>
              <a:t>ness to  be  tempted  of  the  devil.  The  Spirit  often </a:t>
            </a:r>
          </a:p>
          <a:p>
            <a:r>
              <a:rPr lang="en-US" sz="3700">
                <a:solidFill>
                  <a:srgbClr val="252525"/>
                </a:solidFill>
              </a:rPr>
              <a:t>does  this.  He  leads  man  in  the  ways  of  tempta- </a:t>
            </a:r>
          </a:p>
          <a:p>
            <a:r>
              <a:rPr lang="en-US" sz="3700">
                <a:solidFill>
                  <a:srgbClr val="252525"/>
                </a:solidFill>
              </a:rPr>
              <a:t>tion that  He  may  try  him,  but  He  does  </a:t>
            </a:r>
          </a:p>
        </p:txBody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0" id="160"/>
          <p:cNvPicPr>
            <a:picLocks noChangeAspect="true"/>
          </p:cNvPicPr>
          <p:nvPr/>
        </p:nvPicPr>
        <p:blipFill>
          <a:blip r:embed="rId1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0" id="1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not  pro- </a:t>
            </a:r>
          </a:p>
          <a:p>
            <a:r>
              <a:rPr lang="en-US" sz="3700">
                <a:solidFill>
                  <a:srgbClr val="252525"/>
                </a:solidFill>
              </a:rPr>
              <a:t>pose to  turn  His  back  on  him  after  He  has  led </a:t>
            </a:r>
          </a:p>
          <a:p>
            <a:r>
              <a:rPr lang="en-US" sz="3700">
                <a:solidFill>
                  <a:srgbClr val="252525"/>
                </a:solidFill>
              </a:rPr>
              <a:t>him  there.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When  Jesus  got  up  into  the  wilderness,  He </a:t>
            </a:r>
          </a:p>
          <a:p>
            <a:r>
              <a:rPr lang="en-US" sz="3700">
                <a:solidFill>
                  <a:srgbClr val="252525"/>
                </a:solidFill>
              </a:rPr>
              <a:t>was  struck  at  three  points  common  to  man.  He </a:t>
            </a:r>
          </a:p>
          <a:p>
            <a:r>
              <a:rPr lang="en-US" sz="3700">
                <a:solidFill>
                  <a:srgbClr val="252525"/>
                </a:solidFill>
              </a:rPr>
              <a:t>was  struck  at  the  point  of  His  appetite.  He </a:t>
            </a:r>
          </a:p>
          <a:p>
            <a:r>
              <a:rPr lang="en-US" sz="3700">
                <a:solidFill>
                  <a:srgbClr val="252525"/>
                </a:solidFill>
              </a:rPr>
              <a:t>was  struck  at  the  point  of  faith.  He  was  struck </a:t>
            </a:r>
          </a:p>
          <a:p>
            <a:r>
              <a:rPr lang="en-US" sz="3700">
                <a:solidFill>
                  <a:srgbClr val="252525"/>
                </a:solidFill>
              </a:rPr>
              <a:t>at  the  point  of  desire  for  worldly  possession. </a:t>
            </a:r>
          </a:p>
          <a:p>
            <a:r>
              <a:rPr lang="en-US" sz="3700">
                <a:solidFill>
                  <a:srgbClr val="252525"/>
                </a:solidFill>
              </a:rPr>
              <a:t>What  was  Jesus'  attitude  toward  the  devil  at </a:t>
            </a:r>
          </a:p>
          <a:p>
            <a:r>
              <a:rPr lang="en-US" sz="3700">
                <a:solidFill>
                  <a:srgbClr val="252525"/>
                </a:solidFill>
              </a:rPr>
              <a:t>these  points  ?    Here  it  is,  "Get  thee  hence."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Take  the  attitude  of  Jesus  concerning  </a:t>
            </a:r>
          </a:p>
        </p:txBody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2" id="162"/>
          <p:cNvPicPr>
            <a:picLocks noChangeAspect="true"/>
          </p:cNvPicPr>
          <p:nvPr/>
        </p:nvPicPr>
        <p:blipFill>
          <a:blip r:embed="rId1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2" id="1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His  ene- </a:t>
            </a:r>
          </a:p>
          <a:p>
            <a:r>
              <a:rPr lang="en-US" sz="3700">
                <a:solidFill>
                  <a:srgbClr val="252525"/>
                </a:solidFill>
              </a:rPr>
              <a:t>mies that  we  assume  likewise  if  He  is  our  Lord. </a:t>
            </a:r>
          </a:p>
          <a:p>
            <a:r>
              <a:rPr lang="en-US" sz="3700">
                <a:solidFill>
                  <a:srgbClr val="252525"/>
                </a:solidFill>
              </a:rPr>
              <a:t>What  was  His  attitude  concerning  His  enemies? </a:t>
            </a:r>
          </a:p>
          <a:p>
            <a:r>
              <a:rPr lang="en-US" sz="3700">
                <a:solidFill>
                  <a:srgbClr val="252525"/>
                </a:solidFill>
              </a:rPr>
              <a:t>Hanging  upon  Calvary's  cross,  with  His  enemies </a:t>
            </a:r>
          </a:p>
          <a:p>
            <a:r>
              <a:rPr lang="en-US" sz="3700">
                <a:solidFill>
                  <a:srgbClr val="252525"/>
                </a:solidFill>
              </a:rPr>
              <a:t>mocking,  jeering,  and  actually  crucifying  Him </a:t>
            </a:r>
          </a:p>
          <a:p>
            <a:r>
              <a:rPr lang="en-US" sz="3700">
                <a:solidFill>
                  <a:srgbClr val="252525"/>
                </a:solidFill>
              </a:rPr>
              <a:t>without  cause,  what  was  His  attitude  ?  "Father, </a:t>
            </a:r>
          </a:p>
          <a:p>
            <a:r>
              <a:rPr lang="en-US" sz="3700">
                <a:solidFill>
                  <a:srgbClr val="252525"/>
                </a:solidFill>
              </a:rPr>
              <a:t>forgive  them.  They  know  not  what  they  do." </a:t>
            </a:r>
          </a:p>
          <a:p>
            <a:r>
              <a:rPr lang="en-US" sz="3700">
                <a:solidFill>
                  <a:srgbClr val="252525"/>
                </a:solidFill>
              </a:rPr>
              <a:t>Our  attitude  too  frequently  about  our  enemies </a:t>
            </a:r>
          </a:p>
          <a:p>
            <a:r>
              <a:rPr lang="en-US" sz="3700">
                <a:solidFill>
                  <a:srgbClr val="252525"/>
                </a:solidFill>
              </a:rPr>
              <a:t>is  to  curse  them.  They  are  after  us.  They  are </a:t>
            </a:r>
          </a:p>
          <a:p>
            <a:r>
              <a:rPr lang="en-US" sz="3700">
                <a:solidFill>
                  <a:srgbClr val="252525"/>
                </a:solidFill>
              </a:rPr>
              <a:t>interfering  with  our  rights.  Jesus'  attitude  was, </a:t>
            </a:r>
          </a:p>
          <a:p>
            <a:r>
              <a:rPr lang="en-US" sz="3700">
                <a:solidFill>
                  <a:srgbClr val="252525"/>
                </a:solidFill>
              </a:rPr>
              <a:t>"Father,  forgive  them."  Men  who  join  with  the </a:t>
            </a:r>
          </a:p>
        </p:txBody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4" id="164"/>
          <p:cNvPicPr>
            <a:picLocks noChangeAspect="true"/>
          </p:cNvPicPr>
          <p:nvPr/>
        </p:nvPicPr>
        <p:blipFill>
          <a:blip r:embed="rId1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4" id="1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Apostle  Paul  and  say,  "Our  Lord,"  are  the  men </a:t>
            </a:r>
          </a:p>
          <a:p>
            <a:r>
              <a:rPr lang="en-US" sz="3700">
                <a:solidFill>
                  <a:srgbClr val="252525"/>
                </a:solidFill>
              </a:rPr>
              <a:t>who  have  that  attitude  concerning  their  enemies. </a:t>
            </a:r>
          </a:p>
          <a:p>
            <a:r>
              <a:rPr lang="en-US" sz="3700">
                <a:solidFill>
                  <a:srgbClr val="252525"/>
                </a:solidFill>
              </a:rPr>
              <a:t>If  you  have  not  that  attitude,  stop  calling  Him </a:t>
            </a:r>
          </a:p>
          <a:p>
            <a:r>
              <a:rPr lang="en-US" sz="3700">
                <a:solidFill>
                  <a:srgbClr val="252525"/>
                </a:solidFill>
              </a:rPr>
              <a:t>"Our  Lord."    It  is  mockery.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Is  it  true  that  He  is  our  Lord,  our  Divine </a:t>
            </a:r>
          </a:p>
          <a:p>
            <a:r>
              <a:rPr lang="en-US" sz="3700">
                <a:solidFill>
                  <a:srgbClr val="252525"/>
                </a:solidFill>
              </a:rPr>
              <a:t>Sovereign,  the  ruling  Master  of  our  whole  be- </a:t>
            </a:r>
          </a:p>
          <a:p>
            <a:r>
              <a:rPr lang="en-US" sz="3700">
                <a:solidFill>
                  <a:srgbClr val="252525"/>
                </a:solidFill>
              </a:rPr>
              <a:t>ing?   If  it  is  not,  He  is  nothing.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32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Lastly,  take  His  attitude  concerning  lost  souls. </a:t>
            </a:r>
          </a:p>
          <a:p>
            <a:r>
              <a:rPr lang="en-US" sz="3700">
                <a:solidFill>
                  <a:srgbClr val="252525"/>
                </a:solidFill>
              </a:rPr>
              <a:t>What  is  His  attitude  with  respect  to  them  ?  "The </a:t>
            </a:r>
          </a:p>
        </p:txBody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6" id="166"/>
          <p:cNvPicPr>
            <a:picLocks noChangeAspect="true"/>
          </p:cNvPicPr>
          <p:nvPr/>
        </p:nvPicPr>
        <p:blipFill>
          <a:blip r:embed="rId1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6" id="1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Son  of  Man  came  to  seek  and  to  save  that  which </a:t>
            </a:r>
          </a:p>
          <a:p>
            <a:r>
              <a:rPr lang="en-US" sz="3700">
                <a:solidFill>
                  <a:srgbClr val="252525"/>
                </a:solidFill>
              </a:rPr>
              <a:t>was  lost."  That  is  to  say,  the  whole  mission </a:t>
            </a:r>
          </a:p>
          <a:p>
            <a:r>
              <a:rPr lang="en-US" sz="3700">
                <a:solidFill>
                  <a:srgbClr val="252525"/>
                </a:solidFill>
              </a:rPr>
              <a:t>of  Jesus  was  seeking  to  save  the  lost.  If  Jesus </a:t>
            </a:r>
          </a:p>
          <a:p>
            <a:r>
              <a:rPr lang="en-US" sz="3700">
                <a:solidFill>
                  <a:srgbClr val="252525"/>
                </a:solidFill>
              </a:rPr>
              <a:t>ate  a  meal,  it  was  to  enable  Him  to  do  the  work </a:t>
            </a:r>
          </a:p>
          <a:p>
            <a:r>
              <a:rPr lang="en-US" sz="3700">
                <a:solidFill>
                  <a:srgbClr val="252525"/>
                </a:solidFill>
              </a:rPr>
              <a:t>of  His  Father  in  saving  souls.  If  Jesus  made </a:t>
            </a:r>
          </a:p>
          <a:p>
            <a:r>
              <a:rPr lang="en-US" sz="3700">
                <a:solidFill>
                  <a:srgbClr val="252525"/>
                </a:solidFill>
              </a:rPr>
              <a:t>a  garment,  or  purchased  one,  if  He  dressed  Him- </a:t>
            </a:r>
          </a:p>
          <a:p>
            <a:r>
              <a:rPr lang="en-US" sz="3700">
                <a:solidFill>
                  <a:srgbClr val="252525"/>
                </a:solidFill>
              </a:rPr>
              <a:t>self in  the  morning,  it  was  that  He  might  win </a:t>
            </a:r>
          </a:p>
          <a:p>
            <a:r>
              <a:rPr lang="en-US" sz="3700">
                <a:solidFill>
                  <a:srgbClr val="252525"/>
                </a:solidFill>
              </a:rPr>
              <a:t>souls.  If  Jesus  studied  to  know  the  customs </a:t>
            </a:r>
          </a:p>
          <a:p>
            <a:r>
              <a:rPr lang="en-US" sz="3700">
                <a:solidFill>
                  <a:srgbClr val="252525"/>
                </a:solidFill>
              </a:rPr>
              <a:t>of  the  people,  it  was  that  through  the  observance </a:t>
            </a:r>
          </a:p>
          <a:p>
            <a:r>
              <a:rPr lang="en-US" sz="3700">
                <a:solidFill>
                  <a:srgbClr val="252525"/>
                </a:solidFill>
              </a:rPr>
              <a:t>of  the  customs  of  the  people  He  might  better </a:t>
            </a:r>
          </a:p>
          <a:p>
            <a:r>
              <a:rPr lang="en-US" sz="3700">
                <a:solidFill>
                  <a:srgbClr val="252525"/>
                </a:solidFill>
              </a:rPr>
              <a:t>win  souls  to  God.  Now,  my  brethren,  </a:t>
            </a:r>
          </a:p>
        </p:txBody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8" id="168"/>
          <p:cNvPicPr>
            <a:picLocks noChangeAspect="true"/>
          </p:cNvPicPr>
          <p:nvPr/>
        </p:nvPicPr>
        <p:blipFill>
          <a:blip r:embed="rId1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68" id="1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hear  this : </a:t>
            </a:r>
          </a:p>
          <a:p>
            <a:r>
              <a:rPr lang="en-US" sz="3700">
                <a:solidFill>
                  <a:srgbClr val="252525"/>
                </a:solidFill>
              </a:rPr>
              <a:t>Jesus  said,  "As  my  Father  hath  sent  me,  even </a:t>
            </a:r>
          </a:p>
          <a:p>
            <a:r>
              <a:rPr lang="en-US" sz="3700">
                <a:solidFill>
                  <a:srgbClr val="252525"/>
                </a:solidFill>
              </a:rPr>
              <a:t>so  send  I  you."  That  is  to  say,  the  mission </a:t>
            </a:r>
          </a:p>
          <a:p>
            <a:r>
              <a:rPr lang="en-US" sz="3700">
                <a:solidFill>
                  <a:srgbClr val="252525"/>
                </a:solidFill>
              </a:rPr>
              <a:t>that  Jesus  had,  we  have,  if  He  is  our  Lord  and </a:t>
            </a:r>
          </a:p>
          <a:p>
            <a:r>
              <a:rPr lang="en-US" sz="3700">
                <a:solidFill>
                  <a:srgbClr val="252525"/>
                </a:solidFill>
              </a:rPr>
              <a:t>Master.  If  He  is  our  Divine  Sovereign,  then </a:t>
            </a:r>
          </a:p>
          <a:p>
            <a:r>
              <a:rPr lang="en-US" sz="3700">
                <a:solidFill>
                  <a:srgbClr val="252525"/>
                </a:solidFill>
              </a:rPr>
              <a:t>His  mission  is  our  mission,  and  just  as  every- </a:t>
            </a:r>
          </a:p>
          <a:p>
            <a:r>
              <a:rPr lang="en-US" sz="3700">
                <a:solidFill>
                  <a:srgbClr val="252525"/>
                </a:solidFill>
              </a:rPr>
              <a:t>thing He  did  was  for  the  purpose  of  enabling </a:t>
            </a:r>
          </a:p>
          <a:p>
            <a:r>
              <a:rPr lang="en-US" sz="3700">
                <a:solidFill>
                  <a:srgbClr val="252525"/>
                </a:solidFill>
              </a:rPr>
              <a:t>Him  to  do  more  soul-winning,  so  it  must  be  true </a:t>
            </a:r>
          </a:p>
          <a:p>
            <a:r>
              <a:rPr lang="en-US" sz="3700">
                <a:solidFill>
                  <a:srgbClr val="252525"/>
                </a:solidFill>
              </a:rPr>
              <a:t>with  us.  If  you  are  a  merchant,  your  mer- </a:t>
            </a:r>
          </a:p>
          <a:p>
            <a:r>
              <a:rPr lang="en-US" sz="3700">
                <a:solidFill>
                  <a:srgbClr val="252525"/>
                </a:solidFill>
              </a:rPr>
              <a:t>chandise is  to  help  you  do  more  soul-winning. </a:t>
            </a:r>
          </a:p>
          <a:p>
            <a:r>
              <a:rPr lang="en-US" sz="3700">
                <a:solidFill>
                  <a:srgbClr val="252525"/>
                </a:solidFill>
              </a:rPr>
              <a:t>If  you  are  a  housekeeper,  or  nurse,  it  is  the  same. </a:t>
            </a:r>
          </a:p>
        </p:txBody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0" id="170"/>
          <p:cNvPicPr>
            <a:picLocks noChangeAspect="true"/>
          </p:cNvPicPr>
          <p:nvPr/>
        </p:nvPicPr>
        <p:blipFill>
          <a:blip r:embed="rId1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0" id="1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 one  object  of  every  child  of  God  who  says, </a:t>
            </a:r>
          </a:p>
          <a:p>
            <a:r>
              <a:rPr lang="en-US" sz="3700">
                <a:solidFill>
                  <a:srgbClr val="252525"/>
                </a:solidFill>
              </a:rPr>
              <a:t>"My  Lord  and  Master,"  is  to  win  souls  to  Christ.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other  day  I  took  up  a  magnet.  It  was  a </a:t>
            </a:r>
          </a:p>
          <a:p>
            <a:r>
              <a:rPr lang="en-US" sz="3700">
                <a:solidFill>
                  <a:srgbClr val="252525"/>
                </a:solidFill>
              </a:rPr>
              <a:t>very  strong  instrument.  I  observed  that  it  took </a:t>
            </a:r>
          </a:p>
          <a:p>
            <a:r>
              <a:rPr lang="en-US" sz="3700">
                <a:solidFill>
                  <a:srgbClr val="252525"/>
                </a:solidFill>
              </a:rPr>
              <a:t>up  a  piece  of  steel  two  or  three  times  its  own </a:t>
            </a:r>
          </a:p>
          <a:p>
            <a:r>
              <a:rPr lang="en-US" sz="3700">
                <a:solidFill>
                  <a:srgbClr val="252525"/>
                </a:solidFill>
              </a:rPr>
              <a:t>weight.  When  that  piece  of  steel  was  covered </a:t>
            </a:r>
          </a:p>
          <a:p>
            <a:r>
              <a:rPr lang="en-US" sz="3700">
                <a:solidFill>
                  <a:srgbClr val="252525"/>
                </a:solidFill>
              </a:rPr>
              <a:t>with  tin  or  nickel  it  did  not  pick  it  up.  You </a:t>
            </a:r>
          </a:p>
          <a:p>
            <a:r>
              <a:rPr lang="en-US" sz="3700">
                <a:solidFill>
                  <a:srgbClr val="252525"/>
                </a:solidFill>
              </a:rPr>
              <a:t>can  rub  the  magnet  all  over  it,  and  it  will  stay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Christ  33 </a:t>
            </a:r>
          </a:p>
        </p:txBody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2" id="172"/>
          <p:cNvPicPr>
            <a:picLocks noChangeAspect="true"/>
          </p:cNvPicPr>
          <p:nvPr/>
        </p:nvPicPr>
        <p:blipFill>
          <a:blip r:embed="rId1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2" id="1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where  it  is.  There  is  no  connection  between  the </a:t>
            </a:r>
          </a:p>
          <a:p>
            <a:r>
              <a:rPr lang="en-US" sz="3700">
                <a:solidFill>
                  <a:srgbClr val="252525"/>
                </a:solidFill>
              </a:rPr>
              <a:t>steel  and  the  power  of  the  magnet.  The  piece </a:t>
            </a:r>
          </a:p>
          <a:p>
            <a:r>
              <a:rPr lang="en-US" sz="3700">
                <a:solidFill>
                  <a:srgbClr val="252525"/>
                </a:solidFill>
              </a:rPr>
              <a:t>of  tin  cuts  it  off  from  the  power  of  the  magnet. </a:t>
            </a:r>
          </a:p>
          <a:p>
            <a:r>
              <a:rPr lang="en-US" sz="3700">
                <a:solidFill>
                  <a:srgbClr val="252525"/>
                </a:solidFill>
              </a:rPr>
              <a:t>Now,  Jesus  Christ  as  our  Lord  and  Master,  as </a:t>
            </a:r>
          </a:p>
          <a:p>
            <a:r>
              <a:rPr lang="en-US" sz="3700">
                <a:solidFill>
                  <a:srgbClr val="252525"/>
                </a:solidFill>
              </a:rPr>
              <a:t>our  Divine  Sovereign,  is  the  great  magnet  of </a:t>
            </a:r>
          </a:p>
          <a:p>
            <a:r>
              <a:rPr lang="en-US" sz="3700">
                <a:solidFill>
                  <a:srgbClr val="252525"/>
                </a:solidFill>
              </a:rPr>
              <a:t>power.  The  only  reason  to-day  why  we  have </a:t>
            </a:r>
          </a:p>
          <a:p>
            <a:r>
              <a:rPr lang="en-US" sz="3700">
                <a:solidFill>
                  <a:srgbClr val="252525"/>
                </a:solidFill>
              </a:rPr>
              <a:t>missed  the  life  of  Jesus  Christ,  with  its  power, </a:t>
            </a:r>
          </a:p>
          <a:p>
            <a:r>
              <a:rPr lang="en-US" sz="3700">
                <a:solidFill>
                  <a:srgbClr val="252525"/>
                </a:solidFill>
              </a:rPr>
              <a:t>is  because  He,  as  our  great  magnet,  is  severed </a:t>
            </a:r>
          </a:p>
          <a:p>
            <a:r>
              <a:rPr lang="en-US" sz="3700">
                <a:solidFill>
                  <a:srgbClr val="252525"/>
                </a:solidFill>
              </a:rPr>
              <a:t>from  us  by  the  coating  of  unbelief  with  which </a:t>
            </a:r>
          </a:p>
          <a:p>
            <a:r>
              <a:rPr lang="en-US" sz="3700">
                <a:solidFill>
                  <a:srgbClr val="252525"/>
                </a:solidFill>
              </a:rPr>
              <a:t>we  have  covered  our  lives,  and  the  only  need </a:t>
            </a:r>
          </a:p>
          <a:p>
            <a:r>
              <a:rPr lang="en-US" sz="3700">
                <a:solidFill>
                  <a:srgbClr val="252525"/>
                </a:solidFill>
              </a:rPr>
              <a:t>of  the  Church  to-day,  as  I  see  it,  is  to  </a:t>
            </a:r>
          </a:p>
        </p:txBody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4" id="174"/>
          <p:cNvPicPr>
            <a:picLocks noChangeAspect="true"/>
          </p:cNvPicPr>
          <p:nvPr/>
        </p:nvPicPr>
        <p:blipFill>
          <a:blip r:embed="rId1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4" id="1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get  the </a:t>
            </a:r>
          </a:p>
          <a:p>
            <a:r>
              <a:rPr lang="en-US" sz="3700">
                <a:solidFill>
                  <a:srgbClr val="252525"/>
                </a:solidFill>
              </a:rPr>
              <a:t>coating  off  and  let  Christ,  as  Magnet,  and  our- </a:t>
            </a:r>
          </a:p>
          <a:p>
            <a:r>
              <a:rPr lang="en-US" sz="3700">
                <a:solidFill>
                  <a:srgbClr val="252525"/>
                </a:solidFill>
              </a:rPr>
              <a:t>selves come  in  touch.  When  we  do  this,  the </a:t>
            </a:r>
          </a:p>
          <a:p>
            <a:r>
              <a:rPr lang="en-US" sz="3700">
                <a:solidFill>
                  <a:srgbClr val="252525"/>
                </a:solidFill>
              </a:rPr>
              <a:t>power  of  heaven  will  course  through  our  lives </a:t>
            </a:r>
          </a:p>
          <a:p>
            <a:r>
              <a:rPr lang="en-US" sz="3700">
                <a:solidFill>
                  <a:srgbClr val="252525"/>
                </a:solidFill>
              </a:rPr>
              <a:t>and  lift  us  into  the  presence  of  our  Lord.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IV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THE  CHURCH </a:t>
            </a:r>
          </a:p>
          <a:p>
            <a:r>
              <a:rPr lang="en-US" sz="3700">
                <a:solidFill>
                  <a:srgbClr val="252525"/>
                </a:solidFill>
              </a:rPr>
              <a:t>Ch.  I  7-12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I.  Who  Makes  up  the  Church?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Beloved  of  God.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Called  Saints. </a:t>
            </a:r>
          </a:p>
        </p:txBody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6" id="176"/>
          <p:cNvPicPr>
            <a:picLocks noChangeAspect="true"/>
          </p:cNvPicPr>
          <p:nvPr/>
        </p:nvPicPr>
        <p:blipFill>
          <a:blip r:embed="rId1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6" id="17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II.  His  Feelings  for  the  Church.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Thanks  God  for  Their  Faith.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Makes  Mention  of  Them  in  Prayer.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Desires  to  See  Them.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4.  That  They  Might  Be  Established.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5.  That  They  Might  Comfort  Each  Other.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III.  Practical  Suggestion  Concerning  the </a:t>
            </a:r>
          </a:p>
          <a:p>
            <a:r>
              <a:rPr lang="en-US" sz="3700">
                <a:solidFill>
                  <a:srgbClr val="252525"/>
                </a:solidFill>
              </a:rPr>
              <a:t>Church.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It  is  of  Divine  Origin.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It  Has  Divine  Conditions  for  Member- </a:t>
            </a:r>
          </a:p>
        </p:txBody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8" id="178"/>
          <p:cNvPicPr>
            <a:picLocks noChangeAspect="true"/>
          </p:cNvPicPr>
          <p:nvPr/>
        </p:nvPicPr>
        <p:blipFill>
          <a:blip r:embed="rId1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78" id="1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ship.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It  Imposes  Divine  Obligations.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4.  It  Results  in  Divine  Blessings.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 are  still  dealing  with  the  first  section  of </a:t>
            </a:r>
          </a:p>
          <a:p>
            <a:r>
              <a:rPr lang="en-US" sz="3700">
                <a:solidFill>
                  <a:srgbClr val="252525"/>
                </a:solidFill>
              </a:rPr>
              <a:t>the  Epistle,  the  section  of  introduction,  in  which </a:t>
            </a:r>
          </a:p>
          <a:p>
            <a:r>
              <a:rPr lang="en-US" sz="3700">
                <a:solidFill>
                  <a:srgbClr val="252525"/>
                </a:solidFill>
              </a:rPr>
              <a:t>we  have  Paul's  fourfold  testimony:  His  testi- </a:t>
            </a:r>
          </a:p>
          <a:p>
            <a:r>
              <a:rPr lang="en-US" sz="3700">
                <a:solidFill>
                  <a:srgbClr val="252525"/>
                </a:solidFill>
              </a:rPr>
              <a:t>mony of  himself,  of  Christ,  of  the  Church,  of </a:t>
            </a:r>
          </a:p>
          <a:p>
            <a:r>
              <a:rPr lang="en-US" sz="3700">
                <a:solidFill>
                  <a:srgbClr val="252525"/>
                </a:solidFill>
              </a:rPr>
              <a:t>the  Gospel.  We  have  considered  his  testimony </a:t>
            </a:r>
          </a:p>
          <a:p>
            <a:r>
              <a:rPr lang="en-US" sz="3700">
                <a:solidFill>
                  <a:srgbClr val="252525"/>
                </a:solidFill>
              </a:rPr>
              <a:t>of  himself  and  his  testimony  of  Christ,  and  now </a:t>
            </a:r>
          </a:p>
          <a:p>
            <a:r>
              <a:rPr lang="en-US" sz="3700">
                <a:solidFill>
                  <a:srgbClr val="252525"/>
                </a:solidFill>
              </a:rPr>
              <a:t>34 </a:t>
            </a:r>
          </a:p>
        </p:txBody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0" id="180"/>
          <p:cNvPicPr>
            <a:picLocks noChangeAspect="true"/>
          </p:cNvPicPr>
          <p:nvPr/>
        </p:nvPicPr>
        <p:blipFill>
          <a:blip r:embed="rId1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0" id="1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Testimony  of  the  Church         35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 come  to  take  up  his  testimony  of  the  Church, </a:t>
            </a:r>
          </a:p>
          <a:p>
            <a:r>
              <a:rPr lang="en-US" sz="3700">
                <a:solidFill>
                  <a:srgbClr val="252525"/>
                </a:solidFill>
              </a:rPr>
              <a:t>and  we  find  this  in  Ch.  i  '.y-12  inclusive.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Who  Makes  up  the  Church?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"Beloved  of  God."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"Called  Saints."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There  is  an  apparent  omission  here.  The  old </a:t>
            </a:r>
          </a:p>
          <a:p>
            <a:r>
              <a:rPr lang="en-US" sz="3700">
                <a:solidFill>
                  <a:srgbClr val="252525"/>
                </a:solidFill>
              </a:rPr>
              <a:t>authorized  version  and  the  American  revised  sub- </a:t>
            </a:r>
          </a:p>
          <a:p>
            <a:r>
              <a:rPr lang="en-US" sz="3700">
                <a:solidFill>
                  <a:srgbClr val="252525"/>
                </a:solidFill>
              </a:rPr>
              <a:t>stitute "to  be,"  but  it  is  hardly  proper  to  call </a:t>
            </a:r>
          </a:p>
          <a:p>
            <a:r>
              <a:rPr lang="en-US" sz="3700">
                <a:solidFill>
                  <a:srgbClr val="252525"/>
                </a:solidFill>
              </a:rPr>
              <a:t>it  a  substitute,  though  it  is  not  contained  in  the </a:t>
            </a:r>
          </a:p>
        </p:txBody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2" id="182"/>
          <p:cNvPicPr>
            <a:picLocks noChangeAspect="true"/>
          </p:cNvPicPr>
          <p:nvPr/>
        </p:nvPicPr>
        <p:blipFill>
          <a:blip r:embed="rId1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2" id="1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original  text  as  distinct  words.  The  Greek  word </a:t>
            </a:r>
          </a:p>
          <a:p>
            <a:r>
              <a:rPr lang="en-US" sz="3700">
                <a:solidFill>
                  <a:srgbClr val="252525"/>
                </a:solidFill>
              </a:rPr>
              <a:t>means  those  who  are  called  to  be,  or  to  do  some- </a:t>
            </a:r>
          </a:p>
          <a:p>
            <a:r>
              <a:rPr lang="en-US" sz="3700">
                <a:solidFill>
                  <a:srgbClr val="252525"/>
                </a:solidFill>
              </a:rPr>
              <a:t>thing. They  are  first,  beloved  of  God.  God </a:t>
            </a:r>
          </a:p>
          <a:p>
            <a:r>
              <a:rPr lang="en-US" sz="3700">
                <a:solidFill>
                  <a:srgbClr val="252525"/>
                </a:solidFill>
              </a:rPr>
              <a:t>loved  everybody  in  Rome,  as  God  loves  every- </a:t>
            </a:r>
          </a:p>
          <a:p>
            <a:r>
              <a:rPr lang="en-US" sz="3700">
                <a:solidFill>
                  <a:srgbClr val="252525"/>
                </a:solidFill>
              </a:rPr>
              <a:t>body in  the  wide,  wide  world.  "For  God  so </a:t>
            </a:r>
          </a:p>
          <a:p>
            <a:r>
              <a:rPr lang="en-US" sz="3700">
                <a:solidFill>
                  <a:srgbClr val="252525"/>
                </a:solidFill>
              </a:rPr>
              <a:t>loved  the  world  that  He  gave  His  only  begotten </a:t>
            </a:r>
          </a:p>
          <a:p>
            <a:r>
              <a:rPr lang="en-US" sz="3700">
                <a:solidFill>
                  <a:srgbClr val="252525"/>
                </a:solidFill>
              </a:rPr>
              <a:t>Son,  that  whosoever  believed  in  Him,  should  not </a:t>
            </a:r>
          </a:p>
          <a:p>
            <a:r>
              <a:rPr lang="en-US" sz="3700">
                <a:solidFill>
                  <a:srgbClr val="252525"/>
                </a:solidFill>
              </a:rPr>
              <a:t>perish,  but  have  everlasting  life."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That  is  the  expression  of  God's  love  to  the </a:t>
            </a:r>
          </a:p>
          <a:p>
            <a:r>
              <a:rPr lang="en-US" sz="3700">
                <a:solidFill>
                  <a:srgbClr val="252525"/>
                </a:solidFill>
              </a:rPr>
              <a:t>world  at  large,  but  God  loved  the  Church  at </a:t>
            </a:r>
          </a:p>
          <a:p>
            <a:r>
              <a:rPr lang="en-US" sz="3700">
                <a:solidFill>
                  <a:srgbClr val="252525"/>
                </a:solidFill>
              </a:rPr>
              <a:t>Rome  with  a  different  love  from  that  </a:t>
            </a:r>
          </a:p>
        </p:txBody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4" id="184"/>
          <p:cNvPicPr>
            <a:picLocks noChangeAspect="true"/>
          </p:cNvPicPr>
          <p:nvPr/>
        </p:nvPicPr>
        <p:blipFill>
          <a:blip r:embed="rId1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4" id="1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love  which </a:t>
            </a:r>
          </a:p>
          <a:p>
            <a:r>
              <a:rPr lang="en-US" sz="3700">
                <a:solidFill>
                  <a:srgbClr val="252525"/>
                </a:solidFill>
              </a:rPr>
              <a:t>He  had  for  the  entire  world.  God  loves  the </a:t>
            </a:r>
          </a:p>
          <a:p>
            <a:r>
              <a:rPr lang="en-US" sz="3700">
                <a:solidFill>
                  <a:srgbClr val="252525"/>
                </a:solidFill>
              </a:rPr>
              <a:t>Church  with  a  different  love  from  that  which </a:t>
            </a:r>
          </a:p>
          <a:p>
            <a:r>
              <a:rPr lang="en-US" sz="3700">
                <a:solidFill>
                  <a:srgbClr val="252525"/>
                </a:solidFill>
              </a:rPr>
              <a:t>He  has  for  the  world.  God  loves  the  Church </a:t>
            </a:r>
          </a:p>
          <a:p>
            <a:r>
              <a:rPr lang="en-US" sz="3700">
                <a:solidFill>
                  <a:srgbClr val="252525"/>
                </a:solidFill>
              </a:rPr>
              <a:t>as  a  father  loves  an  obedient,  loving,  sympathiz- </a:t>
            </a:r>
          </a:p>
          <a:p>
            <a:r>
              <a:rPr lang="en-US" sz="3700">
                <a:solidFill>
                  <a:srgbClr val="252525"/>
                </a:solidFill>
              </a:rPr>
              <a:t>ing, helping  child.  A  father  naturally  loves  all </a:t>
            </a:r>
          </a:p>
          <a:p>
            <a:r>
              <a:rPr lang="en-US" sz="3700">
                <a:solidFill>
                  <a:srgbClr val="252525"/>
                </a:solidFill>
              </a:rPr>
              <a:t>his  children,  but  any  father  knows  that  he  loves </a:t>
            </a:r>
          </a:p>
          <a:p>
            <a:r>
              <a:rPr lang="en-US" sz="3700">
                <a:solidFill>
                  <a:srgbClr val="252525"/>
                </a:solidFill>
              </a:rPr>
              <a:t>that  obedient,  trustful,  sympathizing,  helpful </a:t>
            </a:r>
          </a:p>
          <a:p>
            <a:r>
              <a:rPr lang="en-US" sz="3700">
                <a:solidFill>
                  <a:srgbClr val="252525"/>
                </a:solidFill>
              </a:rPr>
              <a:t>child  with  a  very  different  love  from  that  which </a:t>
            </a:r>
          </a:p>
          <a:p>
            <a:r>
              <a:rPr lang="en-US" sz="3700">
                <a:solidFill>
                  <a:srgbClr val="252525"/>
                </a:solidFill>
              </a:rPr>
              <a:t>he  has  for  the  one-  indifferent  to  his  will  and </a:t>
            </a:r>
          </a:p>
          <a:p>
            <a:r>
              <a:rPr lang="en-US" sz="3700">
                <a:solidFill>
                  <a:srgbClr val="252525"/>
                </a:solidFill>
              </a:rPr>
              <a:t>his  wish.     So  it  is  with  respect  to  us  who  are </a:t>
            </a:r>
          </a:p>
        </p:txBody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6" id="186"/>
          <p:cNvPicPr>
            <a:picLocks noChangeAspect="true"/>
          </p:cNvPicPr>
          <p:nvPr/>
        </p:nvPicPr>
        <p:blipFill>
          <a:blip r:embed="rId1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6" id="187"/>
          <p:cNvSpPr txBox="true"/>
          <p:nvPr/>
        </p:nvSpPr>
        <p:spPr>
          <a:xfrm>
            <a:off x="5930900" y="2082800"/>
            <a:ext cx="11887200" cy="14973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36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God's  children  by  re-creation.  We  are  His </a:t>
            </a:r>
          </a:p>
          <a:p>
            <a:r>
              <a:rPr lang="en-US" sz="3700">
                <a:solidFill>
                  <a:srgbClr val="252525"/>
                </a:solidFill>
              </a:rPr>
              <a:t>children  in  the  sense  that  He  created  us,  and </a:t>
            </a:r>
          </a:p>
          <a:p>
            <a:r>
              <a:rPr lang="en-US" sz="3700">
                <a:solidFill>
                  <a:srgbClr val="252525"/>
                </a:solidFill>
              </a:rPr>
              <a:t>in  that  sense  He  loves  us  and  feels  a  responsi- </a:t>
            </a:r>
          </a:p>
          <a:p>
            <a:r>
              <a:rPr lang="en-US" sz="3700">
                <a:solidFill>
                  <a:srgbClr val="252525"/>
                </a:solidFill>
              </a:rPr>
              <a:t>bility for  us.  He  feels  a  responsibility  for  us </a:t>
            </a:r>
          </a:p>
          <a:p>
            <a:r>
              <a:rPr lang="en-US" sz="3700">
                <a:solidFill>
                  <a:srgbClr val="252525"/>
                </a:solidFill>
              </a:rPr>
              <a:t>which  is  so  great  that  He  robbed  Himself  of  the </a:t>
            </a:r>
          </a:p>
          <a:p>
            <a:r>
              <a:rPr lang="en-US" sz="3700">
                <a:solidFill>
                  <a:srgbClr val="252525"/>
                </a:solidFill>
              </a:rPr>
              <a:t>presence  of  His  only  Son  and  sent  Him  to  this </a:t>
            </a:r>
          </a:p>
          <a:p>
            <a:r>
              <a:rPr lang="en-US" sz="3700">
                <a:solidFill>
                  <a:srgbClr val="252525"/>
                </a:solidFill>
              </a:rPr>
              <a:t>world  to  live  and  die  that  we  might  be  saved.  But </a:t>
            </a:r>
          </a:p>
          <a:p>
            <a:r>
              <a:rPr lang="en-US" sz="3700">
                <a:solidFill>
                  <a:srgbClr val="252525"/>
                </a:solidFill>
              </a:rPr>
              <a:t>there  is  a  very  different  sense  in  which  God  loves </a:t>
            </a:r>
          </a:p>
          <a:p>
            <a:r>
              <a:rPr lang="en-US" sz="3700">
                <a:solidFill>
                  <a:srgbClr val="252525"/>
                </a:solidFill>
              </a:rPr>
              <a:t>His  own  children  by  re-creation.  He  </a:t>
            </a:r>
          </a:p>
        </p:txBody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8" id="188"/>
          <p:cNvPicPr>
            <a:picLocks noChangeAspect="true"/>
          </p:cNvPicPr>
          <p:nvPr/>
        </p:nvPicPr>
        <p:blipFill>
          <a:blip r:embed="rId1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88" id="1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loves  them </a:t>
            </a:r>
          </a:p>
          <a:p>
            <a:r>
              <a:rPr lang="en-US" sz="3700">
                <a:solidFill>
                  <a:srgbClr val="252525"/>
                </a:solidFill>
              </a:rPr>
              <a:t>as  obedient,  loving,  trusting,  confiding,  promis- </a:t>
            </a:r>
          </a:p>
          <a:p>
            <a:r>
              <a:rPr lang="en-US" sz="3700">
                <a:solidFill>
                  <a:srgbClr val="252525"/>
                </a:solidFill>
              </a:rPr>
              <a:t>ing children.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  you  will  observe  that  they  are  called  from </a:t>
            </a:r>
          </a:p>
          <a:p>
            <a:r>
              <a:rPr lang="en-US" sz="3700">
                <a:solidFill>
                  <a:srgbClr val="252525"/>
                </a:solidFill>
              </a:rPr>
              <a:t>among  His  other  creatures  to  be  "saints."  Now </a:t>
            </a:r>
          </a:p>
          <a:p>
            <a:r>
              <a:rPr lang="en-US" sz="3700">
                <a:solidFill>
                  <a:srgbClr val="252525"/>
                </a:solidFill>
              </a:rPr>
              <a:t>this  word  translated  saints  is  a  word  which  needs </a:t>
            </a:r>
          </a:p>
          <a:p>
            <a:r>
              <a:rPr lang="en-US" sz="3700">
                <a:solidFill>
                  <a:srgbClr val="252525"/>
                </a:solidFill>
              </a:rPr>
              <a:t>some  study  in  order  to  get  the  full  force  of  its </a:t>
            </a:r>
          </a:p>
          <a:p>
            <a:r>
              <a:rPr lang="en-US" sz="3700">
                <a:solidFill>
                  <a:srgbClr val="252525"/>
                </a:solidFill>
              </a:rPr>
              <a:t>meaning.  "Called  saints,"  that  is  to  say,  they </a:t>
            </a:r>
          </a:p>
          <a:p>
            <a:r>
              <a:rPr lang="en-US" sz="3700">
                <a:solidFill>
                  <a:srgbClr val="252525"/>
                </a:solidFill>
              </a:rPr>
              <a:t>are  saints  by  way  of  a  calling.  No  man  ever </a:t>
            </a:r>
          </a:p>
          <a:p>
            <a:r>
              <a:rPr lang="en-US" sz="3700">
                <a:solidFill>
                  <a:srgbClr val="252525"/>
                </a:solidFill>
              </a:rPr>
              <a:t>became  a  saint  in  any  other  way  than  by  way  of  a </a:t>
            </a:r>
          </a:p>
          <a:p>
            <a:r>
              <a:rPr lang="en-US" sz="3700">
                <a:solidFill>
                  <a:srgbClr val="252525"/>
                </a:solidFill>
              </a:rPr>
              <a:t>calling  from  God.  No  man  ever  became  a  Chris- </a:t>
            </a:r>
          </a:p>
        </p:txBody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0" id="190"/>
          <p:cNvPicPr>
            <a:picLocks noChangeAspect="true"/>
          </p:cNvPicPr>
          <p:nvPr/>
        </p:nvPicPr>
        <p:blipFill>
          <a:blip r:embed="rId1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0" id="1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tian except  by  way  of  a  calling.  No  man  ever </a:t>
            </a:r>
          </a:p>
          <a:p>
            <a:r>
              <a:rPr lang="en-US" sz="3700">
                <a:solidFill>
                  <a:srgbClr val="252525"/>
                </a:solidFill>
              </a:rPr>
              <a:t>came  to  Christ  who  was  not  called  before  he  came. </a:t>
            </a:r>
          </a:p>
          <a:p>
            <a:r>
              <a:rPr lang="en-US" sz="3700">
                <a:solidFill>
                  <a:srgbClr val="252525"/>
                </a:solidFill>
              </a:rPr>
              <a:t>I  believe  God  calls  every  man,  whether  he  be  in </a:t>
            </a:r>
          </a:p>
          <a:p>
            <a:r>
              <a:rPr lang="en-US" sz="3700">
                <a:solidFill>
                  <a:srgbClr val="252525"/>
                </a:solidFill>
              </a:rPr>
              <a:t>this  country  or  some  dark  heathen  corner  of  earth.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was  talking  to  a  missionary  who  had  made  a </a:t>
            </a:r>
          </a:p>
          <a:p>
            <a:r>
              <a:rPr lang="en-US" sz="3700">
                <a:solidFill>
                  <a:srgbClr val="252525"/>
                </a:solidFill>
              </a:rPr>
              <a:t>study  of  the  conditions  of  the  race,  and  he  said </a:t>
            </a:r>
          </a:p>
          <a:p>
            <a:r>
              <a:rPr lang="en-US" sz="3700">
                <a:solidFill>
                  <a:srgbClr val="252525"/>
                </a:solidFill>
              </a:rPr>
              <a:t>that  he  had  never  yet  found  a  man,  however  deep </a:t>
            </a:r>
          </a:p>
          <a:p>
            <a:r>
              <a:rPr lang="en-US" sz="3700">
                <a:solidFill>
                  <a:srgbClr val="252525"/>
                </a:solidFill>
              </a:rPr>
              <a:t>in  ignorance  and  superstition,  but  that  in  his  heart </a:t>
            </a:r>
          </a:p>
          <a:p>
            <a:r>
              <a:rPr lang="en-US" sz="3700">
                <a:solidFill>
                  <a:srgbClr val="252525"/>
                </a:solidFill>
              </a:rPr>
              <a:t>there  was  something  that  pointed  him  to  a  better </a:t>
            </a:r>
          </a:p>
          <a:p>
            <a:r>
              <a:rPr lang="en-US" sz="3700">
                <a:solidFill>
                  <a:srgbClr val="252525"/>
                </a:solidFill>
              </a:rPr>
              <a:t>life;  a  life  of  justice  and  equity  with  regard  to </a:t>
            </a:r>
          </a:p>
        </p:txBody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2" id="192"/>
          <p:cNvPicPr>
            <a:picLocks noChangeAspect="true"/>
          </p:cNvPicPr>
          <p:nvPr/>
        </p:nvPicPr>
        <p:blipFill>
          <a:blip r:embed="rId1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2" id="1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his  relations  to  his  fellow-men.  There  was  al- </a:t>
            </a:r>
          </a:p>
          <a:p>
            <a:r>
              <a:rPr lang="en-US" sz="3700">
                <a:solidFill>
                  <a:srgbClr val="252525"/>
                </a:solidFill>
              </a:rPr>
              <a:t>ways   something,    somehow,    somewhere,    that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the  Church        37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worked  upon  their  consciences  and  told  them  of </a:t>
            </a:r>
          </a:p>
          <a:p>
            <a:r>
              <a:rPr lang="en-US" sz="3700">
                <a:solidFill>
                  <a:srgbClr val="252525"/>
                </a:solidFill>
              </a:rPr>
              <a:t>a  better  life  and  a  better  way.  I  believe  that  that </a:t>
            </a:r>
          </a:p>
          <a:p>
            <a:r>
              <a:rPr lang="en-US" sz="3700">
                <a:solidFill>
                  <a:srgbClr val="252525"/>
                </a:solidFill>
              </a:rPr>
              <a:t>is  the  Spirit  of  God,  and  I  believe  that  a  man </a:t>
            </a:r>
          </a:p>
          <a:p>
            <a:r>
              <a:rPr lang="en-US" sz="3700">
                <a:solidFill>
                  <a:srgbClr val="252525"/>
                </a:solidFill>
              </a:rPr>
              <a:t>who  lives  in  accordance  with  the  light  that  God </a:t>
            </a:r>
          </a:p>
          <a:p>
            <a:r>
              <a:rPr lang="en-US" sz="3700">
                <a:solidFill>
                  <a:srgbClr val="252525"/>
                </a:solidFill>
              </a:rPr>
              <a:t>gives  him  is  saved.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This  expression  means  more  than  that.  It </a:t>
            </a:r>
          </a:p>
          <a:p>
            <a:r>
              <a:rPr lang="en-US" sz="3700">
                <a:solidFill>
                  <a:srgbClr val="252525"/>
                </a:solidFill>
              </a:rPr>
              <a:t>means  that  they  are  what  they  have  </a:t>
            </a:r>
          </a:p>
        </p:txBody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4" id="194"/>
          <p:cNvPicPr>
            <a:picLocks noChangeAspect="true"/>
          </p:cNvPicPr>
          <p:nvPr/>
        </p:nvPicPr>
        <p:blipFill>
          <a:blip r:embed="rId1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4" id="1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come  to; </a:t>
            </a:r>
          </a:p>
          <a:p>
            <a:r>
              <a:rPr lang="en-US" sz="3700">
                <a:solidFill>
                  <a:srgbClr val="252525"/>
                </a:solidFill>
              </a:rPr>
              <a:t>that  they  are  in  fact  saints,  as  they  are  called </a:t>
            </a:r>
          </a:p>
          <a:p>
            <a:r>
              <a:rPr lang="en-US" sz="3700">
                <a:solidFill>
                  <a:srgbClr val="252525"/>
                </a:solidFill>
              </a:rPr>
              <a:t>saints.  It  meant  a  great  deal  for  those  people </a:t>
            </a:r>
          </a:p>
          <a:p>
            <a:r>
              <a:rPr lang="en-US" sz="3700">
                <a:solidFill>
                  <a:srgbClr val="252525"/>
                </a:solidFill>
              </a:rPr>
              <a:t>there  in  Rome  to  come  out  and  join  the  Church </a:t>
            </a:r>
          </a:p>
          <a:p>
            <a:r>
              <a:rPr lang="en-US" sz="3700">
                <a:solidFill>
                  <a:srgbClr val="252525"/>
                </a:solidFill>
              </a:rPr>
              <a:t>of  Christ.  It  meant  a  great  deal  anywhere  in </a:t>
            </a:r>
          </a:p>
          <a:p>
            <a:r>
              <a:rPr lang="en-US" sz="3700">
                <a:solidFill>
                  <a:srgbClr val="252525"/>
                </a:solidFill>
              </a:rPr>
              <a:t>that  day  to  join  the  Church  of  Christ.  You  may </a:t>
            </a:r>
          </a:p>
          <a:p>
            <a:r>
              <a:rPr lang="en-US" sz="3700">
                <a:solidFill>
                  <a:srgbClr val="252525"/>
                </a:solidFill>
              </a:rPr>
              <a:t>rest  assured  that  those  people  who  came  out  and </a:t>
            </a:r>
          </a:p>
          <a:p>
            <a:r>
              <a:rPr lang="en-US" sz="3700">
                <a:solidFill>
                  <a:srgbClr val="252525"/>
                </a:solidFill>
              </a:rPr>
              <a:t>connected  themselves  with  the  Church  in  those </a:t>
            </a:r>
          </a:p>
          <a:p>
            <a:r>
              <a:rPr lang="en-US" sz="3700">
                <a:solidFill>
                  <a:srgbClr val="252525"/>
                </a:solidFill>
              </a:rPr>
              <a:t>days  were  what  they  professed  to  be.  They  were </a:t>
            </a:r>
          </a:p>
          <a:p>
            <a:r>
              <a:rPr lang="en-US" sz="3700">
                <a:solidFill>
                  <a:srgbClr val="252525"/>
                </a:solidFill>
              </a:rPr>
              <a:t>what  they  were  called.  Would  to  God  that  that </a:t>
            </a:r>
          </a:p>
          <a:p>
            <a:r>
              <a:rPr lang="en-US" sz="3700">
                <a:solidFill>
                  <a:srgbClr val="252525"/>
                </a:solidFill>
              </a:rPr>
              <a:t>could  be  said  of  the  Church  of  this  day  and  time ; </a:t>
            </a:r>
          </a:p>
        </p:txBody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6" id="196"/>
          <p:cNvPicPr>
            <a:picLocks noChangeAspect="true"/>
          </p:cNvPicPr>
          <p:nvPr/>
        </p:nvPicPr>
        <p:blipFill>
          <a:blip r:embed="rId1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6" id="1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  this  city;  of  my  Church;  that  it  could  be  said </a:t>
            </a:r>
          </a:p>
          <a:p>
            <a:r>
              <a:rPr lang="en-US" sz="3700">
                <a:solidFill>
                  <a:srgbClr val="252525"/>
                </a:solidFill>
              </a:rPr>
              <a:t>of  every  one  of  us;  that  we  are  what  we  are </a:t>
            </a:r>
          </a:p>
          <a:p>
            <a:r>
              <a:rPr lang="en-US" sz="3700">
                <a:solidFill>
                  <a:srgbClr val="252525"/>
                </a:solidFill>
              </a:rPr>
              <a:t>called.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 are  called  Christians;  would  to  God  that </a:t>
            </a:r>
          </a:p>
          <a:p>
            <a:r>
              <a:rPr lang="en-US" sz="3700">
                <a:solidFill>
                  <a:srgbClr val="252525"/>
                </a:solidFill>
              </a:rPr>
              <a:t>we  were  Christians.  Have  you  ever  stopped  to </a:t>
            </a:r>
          </a:p>
          <a:p>
            <a:r>
              <a:rPr lang="en-US" sz="3700">
                <a:solidFill>
                  <a:srgbClr val="252525"/>
                </a:solidFill>
              </a:rPr>
              <a:t>think  of  the  deep  significance  of  that  word?  Of </a:t>
            </a:r>
          </a:p>
          <a:p>
            <a:r>
              <a:rPr lang="en-US" sz="3700">
                <a:solidFill>
                  <a:srgbClr val="252525"/>
                </a:solidFill>
              </a:rPr>
              <a:t>all  there  is  wrapped  up  in  it?  If  so,  I  feel  that </a:t>
            </a:r>
          </a:p>
          <a:p>
            <a:r>
              <a:rPr lang="en-US" sz="3700">
                <a:solidFill>
                  <a:srgbClr val="252525"/>
                </a:solidFill>
              </a:rPr>
              <a:t>you  have  been  impressed  with  the  fact  that  even </a:t>
            </a:r>
          </a:p>
          <a:p>
            <a:r>
              <a:rPr lang="en-US" sz="3700">
                <a:solidFill>
                  <a:srgbClr val="252525"/>
                </a:solidFill>
              </a:rPr>
              <a:t>the  best  of  the  people  of  God  fall  far  short  of </a:t>
            </a:r>
          </a:p>
          <a:p>
            <a:r>
              <a:rPr lang="en-US" sz="3700">
                <a:solidFill>
                  <a:srgbClr val="252525"/>
                </a:solidFill>
              </a:rPr>
              <a:t>coming  up  to  their  calling.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was  talking  the  other  day  with  a  </a:t>
            </a:r>
          </a:p>
        </p:txBody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8" id="198"/>
          <p:cNvPicPr>
            <a:picLocks noChangeAspect="true"/>
          </p:cNvPicPr>
          <p:nvPr/>
        </p:nvPicPr>
        <p:blipFill>
          <a:blip r:embed="rId1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98" id="1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skeptic.  He </a:t>
            </a:r>
          </a:p>
          <a:p>
            <a:r>
              <a:rPr lang="en-US" sz="3700">
                <a:solidFill>
                  <a:srgbClr val="252525"/>
                </a:solidFill>
              </a:rPr>
              <a:t>said:  'The  thing  that  staggers  me  when  I  be- </a:t>
            </a:r>
          </a:p>
          <a:p>
            <a:r>
              <a:rPr lang="en-US" sz="3700">
                <a:solidFill>
                  <a:srgbClr val="252525"/>
                </a:solidFill>
              </a:rPr>
              <a:t>gin to  think  of  my  relation  to  Christ,  is  the  way </a:t>
            </a:r>
          </a:p>
          <a:p>
            <a:r>
              <a:rPr lang="en-US" sz="3700">
                <a:solidFill>
                  <a:srgbClr val="252525"/>
                </a:solidFill>
              </a:rPr>
              <a:t>that  you  people  live.    You  claim  Him  to  be  Lord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38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and  Master,  and  I  know  from  the  study  of  His </a:t>
            </a:r>
          </a:p>
          <a:p>
            <a:r>
              <a:rPr lang="en-US" sz="3700">
                <a:solidFill>
                  <a:srgbClr val="252525"/>
                </a:solidFill>
              </a:rPr>
              <a:t>life  as  revealed  in  the  Gospels  that  you  are  not </a:t>
            </a:r>
          </a:p>
          <a:p>
            <a:r>
              <a:rPr lang="en-US" sz="3700">
                <a:solidFill>
                  <a:srgbClr val="252525"/>
                </a:solidFill>
              </a:rPr>
              <a:t>what  you  call  yourselves.  I  know  that  He  is </a:t>
            </a:r>
          </a:p>
          <a:p>
            <a:r>
              <a:rPr lang="en-US" sz="3700">
                <a:solidFill>
                  <a:srgbClr val="252525"/>
                </a:solidFill>
              </a:rPr>
              <a:t>not  your  Lord  and  Master.  To  be  Lord  and </a:t>
            </a:r>
          </a:p>
          <a:p>
            <a:r>
              <a:rPr lang="en-US" sz="3700">
                <a:solidFill>
                  <a:srgbClr val="252525"/>
                </a:solidFill>
              </a:rPr>
              <a:t>Master  of  your  lives  would  mean  a  different  thing </a:t>
            </a:r>
          </a:p>
        </p:txBody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0" id="200"/>
          <p:cNvPicPr>
            <a:picLocks noChangeAspect="true"/>
          </p:cNvPicPr>
          <p:nvPr/>
        </p:nvPicPr>
        <p:blipFill>
          <a:blip r:embed="rId2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0" id="2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from  what  I  see  exemplified.  It  seems  to  me,  as  I </a:t>
            </a:r>
          </a:p>
          <a:p>
            <a:r>
              <a:rPr lang="en-US" sz="3700">
                <a:solidFill>
                  <a:srgbClr val="252525"/>
                </a:solidFill>
              </a:rPr>
              <a:t>look  at  the  Church,  that  there  is  no  difference </a:t>
            </a:r>
          </a:p>
          <a:p>
            <a:r>
              <a:rPr lang="en-US" sz="3700">
                <a:solidFill>
                  <a:srgbClr val="252525"/>
                </a:solidFill>
              </a:rPr>
              <a:t>between  your  life  and  the  life  of  the  average </a:t>
            </a:r>
          </a:p>
          <a:p>
            <a:r>
              <a:rPr lang="en-US" sz="3700">
                <a:solidFill>
                  <a:srgbClr val="252525"/>
                </a:solidFill>
              </a:rPr>
              <a:t>responsible  citizen  who  makes  no  professions  at </a:t>
            </a:r>
          </a:p>
          <a:p>
            <a:r>
              <a:rPr lang="en-US" sz="3700">
                <a:solidFill>
                  <a:srgbClr val="252525"/>
                </a:solidFill>
              </a:rPr>
              <a:t>all  of  religion."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This  criticism  cut  me  to  the  heart.  Now  and </a:t>
            </a:r>
          </a:p>
          <a:p>
            <a:r>
              <a:rPr lang="en-US" sz="3700">
                <a:solidFill>
                  <a:srgbClr val="252525"/>
                </a:solidFill>
              </a:rPr>
              <a:t>then  we  find  a  conspicuous  exception  to  this  gen- </a:t>
            </a:r>
          </a:p>
          <a:p>
            <a:r>
              <a:rPr lang="en-US" sz="3700">
                <a:solidFill>
                  <a:srgbClr val="252525"/>
                </a:solidFill>
              </a:rPr>
              <a:t>eral rule,  but  generally  speaking,  it  is  true.  The </a:t>
            </a:r>
          </a:p>
          <a:p>
            <a:r>
              <a:rPr lang="en-US" sz="3700">
                <a:solidFill>
                  <a:srgbClr val="252525"/>
                </a:solidFill>
              </a:rPr>
              <a:t>average  church  member  will  stay  away  from </a:t>
            </a:r>
          </a:p>
          <a:p>
            <a:r>
              <a:rPr lang="en-US" sz="3700">
                <a:solidFill>
                  <a:srgbClr val="252525"/>
                </a:solidFill>
              </a:rPr>
              <a:t>church  on  Sunday  for  want  of  a  new  hat  or </a:t>
            </a:r>
          </a:p>
          <a:p>
            <a:r>
              <a:rPr lang="en-US" sz="3700">
                <a:solidFill>
                  <a:srgbClr val="252525"/>
                </a:solidFill>
              </a:rPr>
              <a:t>bonnet  just  as  easily  as  one  who  is  </a:t>
            </a:r>
          </a:p>
        </p:txBody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2" id="202"/>
          <p:cNvPicPr>
            <a:picLocks noChangeAspect="true"/>
          </p:cNvPicPr>
          <p:nvPr/>
        </p:nvPicPr>
        <p:blipFill>
          <a:blip r:embed="rId2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2" id="2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not  a  mem- </a:t>
            </a:r>
          </a:p>
          <a:p>
            <a:r>
              <a:rPr lang="en-US" sz="3700">
                <a:solidFill>
                  <a:srgbClr val="252525"/>
                </a:solidFill>
              </a:rPr>
              <a:t>ber of  the  Church.  The  average  church  mem- </a:t>
            </a:r>
          </a:p>
          <a:p>
            <a:r>
              <a:rPr lang="en-US" sz="3700">
                <a:solidFill>
                  <a:srgbClr val="252525"/>
                </a:solidFill>
              </a:rPr>
              <a:t>ber is  just  as  sensitive  with  respect  to  his  rights </a:t>
            </a:r>
          </a:p>
          <a:p>
            <a:r>
              <a:rPr lang="en-US" sz="3700">
                <a:solidFill>
                  <a:srgbClr val="252525"/>
                </a:solidFill>
              </a:rPr>
              <a:t>as  the  man  outside  the  Church.  I  would  to  God </a:t>
            </a:r>
          </a:p>
          <a:p>
            <a:r>
              <a:rPr lang="en-US" sz="3700">
                <a:solidFill>
                  <a:srgbClr val="252525"/>
                </a:solidFill>
              </a:rPr>
              <a:t>we  were  all  what  we  are  called ;  I  would  to  God </a:t>
            </a:r>
          </a:p>
          <a:p>
            <a:r>
              <a:rPr lang="en-US" sz="3700">
                <a:solidFill>
                  <a:srgbClr val="252525"/>
                </a:solidFill>
              </a:rPr>
              <a:t>that  we  would  measure  up  to  our  calling  half </a:t>
            </a:r>
          </a:p>
          <a:p>
            <a:r>
              <a:rPr lang="en-US" sz="3700">
                <a:solidFill>
                  <a:srgbClr val="252525"/>
                </a:solidFill>
              </a:rPr>
              <a:t>as  well  as  these  Roman  Christians  measured  up </a:t>
            </a:r>
          </a:p>
          <a:p>
            <a:r>
              <a:rPr lang="en-US" sz="3700">
                <a:solidFill>
                  <a:srgbClr val="252525"/>
                </a:solidFill>
              </a:rPr>
              <a:t>to  theirs.  They  knew  that  this  meant  the  loss </a:t>
            </a:r>
          </a:p>
          <a:p>
            <a:r>
              <a:rPr lang="en-US" sz="3700">
                <a:solidFill>
                  <a:srgbClr val="252525"/>
                </a:solidFill>
              </a:rPr>
              <a:t>of  their  lives,  perhaps,  and  yet,  having  their </a:t>
            </a:r>
          </a:p>
          <a:p>
            <a:r>
              <a:rPr lang="en-US" sz="3700">
                <a:solidFill>
                  <a:srgbClr val="252525"/>
                </a:solidFill>
              </a:rPr>
              <a:t>hearts  fixed  upon  God,  they  were  willing  to  die.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  let  us  take  further  the  </a:t>
            </a:r>
          </a:p>
        </p:txBody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4" id="204"/>
          <p:cNvPicPr>
            <a:picLocks noChangeAspect="true"/>
          </p:cNvPicPr>
          <p:nvPr/>
        </p:nvPicPr>
        <p:blipFill>
          <a:blip r:embed="rId2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4" id="2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consideration  of </a:t>
            </a:r>
          </a:p>
          <a:p>
            <a:r>
              <a:rPr lang="en-US" sz="3700">
                <a:solidFill>
                  <a:srgbClr val="252525"/>
                </a:solidFill>
              </a:rPr>
              <a:t>this  question  of  saints.  This  term  is  applied  to </a:t>
            </a:r>
          </a:p>
          <a:p>
            <a:r>
              <a:rPr lang="en-US" sz="3700">
                <a:solidFill>
                  <a:srgbClr val="252525"/>
                </a:solidFill>
              </a:rPr>
              <a:t>Christians  in  the  Epistles  in  two  different  ways. </a:t>
            </a:r>
          </a:p>
          <a:p>
            <a:r>
              <a:rPr lang="en-US" sz="3700">
                <a:solidFill>
                  <a:srgbClr val="252525"/>
                </a:solidFill>
              </a:rPr>
              <a:t>First,  as  individuals,  Eph.  1:18,  Col.  1:12.  Sec- </a:t>
            </a:r>
          </a:p>
          <a:p>
            <a:r>
              <a:rPr lang="en-US" sz="3700">
                <a:solidFill>
                  <a:srgbClr val="252525"/>
                </a:solidFill>
              </a:rPr>
              <a:t>ond, as  members  of  a  spiritual  community,  i  Cor. </a:t>
            </a:r>
          </a:p>
          <a:p>
            <a:r>
              <a:rPr lang="en-US" sz="3700">
                <a:solidFill>
                  <a:srgbClr val="252525"/>
                </a:solidFill>
              </a:rPr>
              <a:t>1:12.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the  Church        39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word  translated  saints  in  Eph.  1:18,  re- </a:t>
            </a:r>
          </a:p>
          <a:p>
            <a:r>
              <a:rPr lang="en-US" sz="3700">
                <a:solidFill>
                  <a:srgbClr val="252525"/>
                </a:solidFill>
              </a:rPr>
              <a:t>fers entirely  to  the  holiness  of  the  individual, </a:t>
            </a:r>
          </a:p>
          <a:p>
            <a:r>
              <a:rPr lang="en-US" sz="3700">
                <a:solidFill>
                  <a:srgbClr val="252525"/>
                </a:solidFill>
              </a:rPr>
              <a:t>and  in  that  sense  he  uses  the  term  saints  there; </a:t>
            </a:r>
          </a:p>
          <a:p>
            <a:r>
              <a:rPr lang="en-US" sz="3700">
                <a:solidFill>
                  <a:srgbClr val="252525"/>
                </a:solidFill>
              </a:rPr>
              <a:t>but  I  Cor.  I  :i2  refers  to  the  members  </a:t>
            </a:r>
          </a:p>
        </p:txBody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6" id="206"/>
          <p:cNvPicPr>
            <a:picLocks noChangeAspect="true"/>
          </p:cNvPicPr>
          <p:nvPr/>
        </p:nvPicPr>
        <p:blipFill>
          <a:blip r:embed="rId2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6" id="2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of  a  spe- </a:t>
            </a:r>
          </a:p>
          <a:p>
            <a:r>
              <a:rPr lang="en-US" sz="3700">
                <a:solidFill>
                  <a:srgbClr val="252525"/>
                </a:solidFill>
              </a:rPr>
              <a:t>cific community,  as  you  would  denominate  certain </a:t>
            </a:r>
          </a:p>
          <a:p>
            <a:r>
              <a:rPr lang="en-US" sz="3700">
                <a:solidFill>
                  <a:srgbClr val="252525"/>
                </a:solidFill>
              </a:rPr>
              <a:t>people  who  live  in  this  city,  or  any  other  place.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Take  another  aspect  of  the  word.  In  this  sense </a:t>
            </a:r>
          </a:p>
          <a:p>
            <a:r>
              <a:rPr lang="en-US" sz="3700">
                <a:solidFill>
                  <a:srgbClr val="252525"/>
                </a:solidFill>
              </a:rPr>
              <a:t>the  word  is  used  precisely  as  it  is  used  here. </a:t>
            </a:r>
          </a:p>
          <a:p>
            <a:r>
              <a:rPr lang="en-US" sz="3700">
                <a:solidFill>
                  <a:srgbClr val="252525"/>
                </a:solidFill>
              </a:rPr>
              <a:t>It  is  the  same  word  exactly  and  is  used  to  con- </a:t>
            </a:r>
          </a:p>
          <a:p>
            <a:r>
              <a:rPr lang="en-US" sz="3700">
                <a:solidFill>
                  <a:srgbClr val="252525"/>
                </a:solidFill>
              </a:rPr>
              <a:t>vey identically  the  same  idea.  It  is  "called  out </a:t>
            </a:r>
          </a:p>
          <a:p>
            <a:r>
              <a:rPr lang="en-US" sz="3700">
                <a:solidFill>
                  <a:srgbClr val="252525"/>
                </a:solidFill>
              </a:rPr>
              <a:t>of  and  away  from  the  rest  of  creation  to  be </a:t>
            </a:r>
          </a:p>
          <a:p>
            <a:r>
              <a:rPr lang="en-US" sz="3700">
                <a:solidFill>
                  <a:srgbClr val="252525"/>
                </a:solidFill>
              </a:rPr>
              <a:t>saints,  and  named  saints."  Here  he  is  writing </a:t>
            </a:r>
          </a:p>
          <a:p>
            <a:r>
              <a:rPr lang="en-US" sz="3700">
                <a:solidFill>
                  <a:srgbClr val="252525"/>
                </a:solidFill>
              </a:rPr>
              <a:t>to  the  Corinthian  Christians  as  members  of  a </a:t>
            </a:r>
          </a:p>
          <a:p>
            <a:r>
              <a:rPr lang="en-US" sz="3700">
                <a:solidFill>
                  <a:srgbClr val="252525"/>
                </a:solidFill>
              </a:rPr>
              <a:t>spiritual  organization,  the  very  same  </a:t>
            </a:r>
          </a:p>
        </p:txBody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8" id="208"/>
          <p:cNvPicPr>
            <a:picLocks noChangeAspect="true"/>
          </p:cNvPicPr>
          <p:nvPr/>
        </p:nvPicPr>
        <p:blipFill>
          <a:blip r:embed="rId2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08" id="2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thing  that </a:t>
            </a:r>
          </a:p>
          <a:p>
            <a:r>
              <a:rPr lang="en-US" sz="3700">
                <a:solidFill>
                  <a:srgbClr val="252525"/>
                </a:solidFill>
              </a:rPr>
              <a:t>he  is  referring  to  when  he  addresses  the  brethren </a:t>
            </a:r>
          </a:p>
          <a:p>
            <a:r>
              <a:rPr lang="en-US" sz="3700">
                <a:solidFill>
                  <a:srgbClr val="252525"/>
                </a:solidFill>
              </a:rPr>
              <a:t>in  the  Church  at  Rome,  "called  saints";  saints </a:t>
            </a:r>
          </a:p>
          <a:p>
            <a:r>
              <a:rPr lang="en-US" sz="3700">
                <a:solidFill>
                  <a:srgbClr val="252525"/>
                </a:solidFill>
              </a:rPr>
              <a:t>by  way  of  a  calling,  and  called  by  God;  saints </a:t>
            </a:r>
          </a:p>
          <a:p>
            <a:r>
              <a:rPr lang="en-US" sz="3700">
                <a:solidFill>
                  <a:srgbClr val="252525"/>
                </a:solidFill>
              </a:rPr>
              <a:t>who  are  what  they  are  called.  Just  as  it  was </a:t>
            </a:r>
          </a:p>
          <a:p>
            <a:r>
              <a:rPr lang="en-US" sz="3700">
                <a:solidFill>
                  <a:srgbClr val="252525"/>
                </a:solidFill>
              </a:rPr>
              <a:t>true  in  the  case  of  the  saints  at  Rome,  it  was </a:t>
            </a:r>
          </a:p>
          <a:p>
            <a:r>
              <a:rPr lang="en-US" sz="3700">
                <a:solidFill>
                  <a:srgbClr val="252525"/>
                </a:solidFill>
              </a:rPr>
              <a:t>true  of  the  saints  at  Corinth.  It  took  a  great </a:t>
            </a:r>
          </a:p>
          <a:p>
            <a:r>
              <a:rPr lang="en-US" sz="3700">
                <a:solidFill>
                  <a:srgbClr val="252525"/>
                </a:solidFill>
              </a:rPr>
              <a:t>deal  to  come  out  and  be  a  saint  in  Corinth.  It </a:t>
            </a:r>
          </a:p>
          <a:p>
            <a:r>
              <a:rPr lang="en-US" sz="3700">
                <a:solidFill>
                  <a:srgbClr val="252525"/>
                </a:solidFill>
              </a:rPr>
              <a:t>was  risking  their  lives,  their  standing,  friends, </a:t>
            </a:r>
          </a:p>
          <a:p>
            <a:r>
              <a:rPr lang="en-US" sz="3700">
                <a:solidFill>
                  <a:srgbClr val="252525"/>
                </a:solidFill>
              </a:rPr>
              <a:t>companions,  so  that  when  they  came  out  and </a:t>
            </a:r>
          </a:p>
          <a:p>
            <a:r>
              <a:rPr lang="en-US" sz="3700">
                <a:solidFill>
                  <a:srgbClr val="252525"/>
                </a:solidFill>
              </a:rPr>
              <a:t>joined  the  Church  they  were  men  and  women </a:t>
            </a: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0" id="210"/>
          <p:cNvPicPr>
            <a:picLocks noChangeAspect="true"/>
          </p:cNvPicPr>
          <p:nvPr/>
        </p:nvPicPr>
        <p:blipFill>
          <a:blip r:embed="rId2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0" id="2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who  had  determined  to  live  exactly  in  keeping </a:t>
            </a:r>
          </a:p>
          <a:p>
            <a:r>
              <a:rPr lang="en-US" sz="3700">
                <a:solidFill>
                  <a:srgbClr val="252525"/>
                </a:solidFill>
              </a:rPr>
              <a:t>with  their  profession.  Now  let  us  consider  his </a:t>
            </a:r>
          </a:p>
          <a:p>
            <a:r>
              <a:rPr lang="en-US" sz="3700">
                <a:solidFill>
                  <a:srgbClr val="252525"/>
                </a:solidFill>
              </a:rPr>
              <a:t>feelings  for  the  Church.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First,  he  thanks  God  for  their  faith.  Now  ob- </a:t>
            </a:r>
          </a:p>
          <a:p>
            <a:r>
              <a:rPr lang="en-US" sz="3700">
                <a:solidFill>
                  <a:srgbClr val="252525"/>
                </a:solidFill>
              </a:rPr>
              <a:t>serve what  a  vast  difference  there  is  in  the  testi- </a:t>
            </a:r>
          </a:p>
          <a:p>
            <a:r>
              <a:rPr lang="en-US" sz="3700">
                <a:solidFill>
                  <a:srgbClr val="252525"/>
                </a:solidFill>
              </a:rPr>
              <a:t>mony and  thankfulness  of  the  Apostle  Paul  con- </a:t>
            </a:r>
          </a:p>
          <a:p>
            <a:r>
              <a:rPr lang="en-US" sz="3700">
                <a:solidFill>
                  <a:srgbClr val="252525"/>
                </a:solidFill>
              </a:rPr>
              <a:t>cerning the  Church  at  Rome,  and  the  testimony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40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and  thanks  of  the  average  man  concerning  the </a:t>
            </a:r>
          </a:p>
          <a:p>
            <a:r>
              <a:rPr lang="en-US" sz="3700">
                <a:solidFill>
                  <a:srgbClr val="252525"/>
                </a:solidFill>
              </a:rPr>
              <a:t>Church  of  to-day.  The  Apostle  Paul,  in  </a:t>
            </a:r>
          </a:p>
        </p:txBody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2" id="212"/>
          <p:cNvPicPr>
            <a:picLocks noChangeAspect="true"/>
          </p:cNvPicPr>
          <p:nvPr/>
        </p:nvPicPr>
        <p:blipFill>
          <a:blip r:embed="rId2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2" id="2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com- </a:t>
            </a:r>
          </a:p>
          <a:p>
            <a:r>
              <a:rPr lang="en-US" sz="3700">
                <a:solidFill>
                  <a:srgbClr val="252525"/>
                </a:solidFill>
              </a:rPr>
              <a:t>mending the  Church  at  Rome,  commends  them </a:t>
            </a:r>
          </a:p>
          <a:p>
            <a:r>
              <a:rPr lang="en-US" sz="3700">
                <a:solidFill>
                  <a:srgbClr val="252525"/>
                </a:solidFill>
              </a:rPr>
              <a:t>for  their  faith.  When  we  wish  to  commend  a </a:t>
            </a:r>
          </a:p>
          <a:p>
            <a:r>
              <a:rPr lang="en-US" sz="3700">
                <a:solidFill>
                  <a:srgbClr val="252525"/>
                </a:solidFill>
              </a:rPr>
              <a:t>church  we  generally  commend  it  according  to  its </a:t>
            </a:r>
          </a:p>
          <a:p>
            <a:r>
              <a:rPr lang="en-US" sz="3700">
                <a:solidFill>
                  <a:srgbClr val="252525"/>
                </a:solidFill>
              </a:rPr>
              <a:t>intelligence,  or  wealth,  or  social  position,  or  num- </a:t>
            </a:r>
          </a:p>
          <a:p>
            <a:r>
              <a:rPr lang="en-US" sz="3700">
                <a:solidFill>
                  <a:srgbClr val="252525"/>
                </a:solidFill>
              </a:rPr>
              <a:t>bers ;  sometimes  according  to  the  location  of  the </a:t>
            </a:r>
          </a:p>
          <a:p>
            <a:r>
              <a:rPr lang="en-US" sz="3700">
                <a:solidFill>
                  <a:srgbClr val="252525"/>
                </a:solidFill>
              </a:rPr>
              <a:t>building,  and  the  character  of  the  work.  I  am </a:t>
            </a:r>
          </a:p>
          <a:p>
            <a:r>
              <a:rPr lang="en-US" sz="3700">
                <a:solidFill>
                  <a:srgbClr val="252525"/>
                </a:solidFill>
              </a:rPr>
              <a:t>thoroughly  aware  that  "By  their  fruits  ye  shall </a:t>
            </a:r>
          </a:p>
          <a:p>
            <a:r>
              <a:rPr lang="en-US" sz="3700">
                <a:solidFill>
                  <a:srgbClr val="252525"/>
                </a:solidFill>
              </a:rPr>
              <a:t>know  them."  At  the  same  time,  I  believe  that </a:t>
            </a:r>
          </a:p>
          <a:p>
            <a:r>
              <a:rPr lang="en-US" sz="3700">
                <a:solidFill>
                  <a:srgbClr val="252525"/>
                </a:solidFill>
              </a:rPr>
              <a:t>God  is  displeased,  greatly  displeased,  with  the </a:t>
            </a:r>
          </a:p>
          <a:p>
            <a:r>
              <a:rPr lang="en-US" sz="3700">
                <a:solidFill>
                  <a:srgbClr val="252525"/>
                </a:solidFill>
              </a:rPr>
              <a:t>way  we  have  of  estimating  churches. </a:t>
            </a:r>
          </a:p>
        </p:txBody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4" id="214"/>
          <p:cNvPicPr>
            <a:picLocks noChangeAspect="true"/>
          </p:cNvPicPr>
          <p:nvPr/>
        </p:nvPicPr>
        <p:blipFill>
          <a:blip r:embed="rId2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4" id="2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To  illustrate:  I  was  present  in  a  little  town </a:t>
            </a:r>
          </a:p>
          <a:p>
            <a:r>
              <a:rPr lang="en-US" sz="3700">
                <a:solidFill>
                  <a:srgbClr val="252525"/>
                </a:solidFill>
              </a:rPr>
              <a:t>in  another  state  one  day,  and  the  question  of </a:t>
            </a:r>
          </a:p>
          <a:p>
            <a:r>
              <a:rPr lang="en-US" sz="3700">
                <a:solidFill>
                  <a:srgbClr val="252525"/>
                </a:solidFill>
              </a:rPr>
              <a:t>the  most  important  and  most  beautiful  church </a:t>
            </a:r>
          </a:p>
          <a:p>
            <a:r>
              <a:rPr lang="en-US" sz="3700">
                <a:solidFill>
                  <a:srgbClr val="252525"/>
                </a:solidFill>
              </a:rPr>
              <a:t>in  the  city  was  up.  One  man  said:  "I  think </a:t>
            </a:r>
          </a:p>
          <a:p>
            <a:r>
              <a:rPr lang="en-US" sz="3700">
                <a:solidFill>
                  <a:srgbClr val="252525"/>
                </a:solidFill>
              </a:rPr>
              <a:t>that  church  over  on  the  hill  is  the  most  important </a:t>
            </a:r>
          </a:p>
          <a:p>
            <a:r>
              <a:rPr lang="en-US" sz="3700">
                <a:solidFill>
                  <a:srgbClr val="252525"/>
                </a:solidFill>
              </a:rPr>
              <a:t>church  because  there  are  three  millionaires  be- </a:t>
            </a:r>
          </a:p>
          <a:p>
            <a:r>
              <a:rPr lang="en-US" sz="3700">
                <a:solidFill>
                  <a:srgbClr val="252525"/>
                </a:solidFill>
              </a:rPr>
              <a:t>longing to  it."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"What  about  its  prayer  meeting?"  I  said.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"I  don't  know  whether  they  have  one  or  not," </a:t>
            </a:r>
          </a:p>
          <a:p>
            <a:r>
              <a:rPr lang="en-US" sz="3700">
                <a:solidFill>
                  <a:srgbClr val="252525"/>
                </a:solidFill>
              </a:rPr>
              <a:t>was  the  answer.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"What  about  its  Sunday-school?  You  are </a:t>
            </a:r>
          </a:p>
        </p:txBody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6" id="216"/>
          <p:cNvPicPr>
            <a:picLocks noChangeAspect="true"/>
          </p:cNvPicPr>
          <p:nvPr/>
        </p:nvPicPr>
        <p:blipFill>
          <a:blip r:embed="rId2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6" id="2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an </a:t>
            </a:r>
          </a:p>
          <a:p>
            <a:r>
              <a:rPr lang="en-US" sz="3700">
                <a:solidFill>
                  <a:srgbClr val="252525"/>
                </a:solidFill>
              </a:rPr>
              <a:t>officer  in  the  church  and  ought  to  know  that."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"Well,"  he  replied,  "I  don't  think  much  of  a </a:t>
            </a:r>
          </a:p>
          <a:p>
            <a:r>
              <a:rPr lang="en-US" sz="3700">
                <a:solidFill>
                  <a:srgbClr val="252525"/>
                </a:solidFill>
              </a:rPr>
              <a:t>Sunday-school."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He  did  not  know  anything  about  it  except  that </a:t>
            </a:r>
          </a:p>
          <a:p>
            <a:r>
              <a:rPr lang="en-US" sz="3700">
                <a:solidFill>
                  <a:srgbClr val="252525"/>
                </a:solidFill>
              </a:rPr>
              <a:t>it  had  three  millionaires  in  it.  He  was  a  type </a:t>
            </a:r>
          </a:p>
          <a:p>
            <a:r>
              <a:rPr lang="en-US" sz="3700">
                <a:solidFill>
                  <a:srgbClr val="252525"/>
                </a:solidFill>
              </a:rPr>
              <a:t>of  many  of  the  leading  men  of  the  churches  to- </a:t>
            </a:r>
          </a:p>
          <a:p>
            <a:r>
              <a:rPr lang="en-US" sz="3700">
                <a:solidFill>
                  <a:srgbClr val="252525"/>
                </a:solidFill>
              </a:rPr>
              <a:t>day.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pulpit  itself  has  a  way  of  estimating  the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the  Church       4 1 </a:t>
            </a:r>
          </a:p>
        </p:txBody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8" id="218"/>
          <p:cNvPicPr>
            <a:picLocks noChangeAspect="true"/>
          </p:cNvPicPr>
          <p:nvPr/>
        </p:nvPicPr>
        <p:blipFill>
          <a:blip r:embed="rId2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18" id="21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strength  and  power  and  position  of  the  church </a:t>
            </a:r>
          </a:p>
          <a:p>
            <a:r>
              <a:rPr lang="en-US" sz="3700">
                <a:solidFill>
                  <a:srgbClr val="252525"/>
                </a:solidFill>
              </a:rPr>
              <a:t>by  the  amount  of  wealth  and  culture  and  refine- </a:t>
            </a:r>
          </a:p>
          <a:p>
            <a:r>
              <a:rPr lang="en-US" sz="3700">
                <a:solidFill>
                  <a:srgbClr val="252525"/>
                </a:solidFill>
              </a:rPr>
              <a:t>ment that  it  has  in  its  membership.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This  is  all  displeasing  to  the  Spirit  of  God. </a:t>
            </a:r>
          </a:p>
          <a:p>
            <a:r>
              <a:rPr lang="en-US" sz="3700">
                <a:solidFill>
                  <a:srgbClr val="252525"/>
                </a:solidFill>
              </a:rPr>
              <a:t>It  is  not  God's  way  of  estimating  the  Church. </a:t>
            </a:r>
          </a:p>
          <a:p>
            <a:r>
              <a:rPr lang="en-US" sz="3700">
                <a:solidFill>
                  <a:srgbClr val="252525"/>
                </a:solidFill>
              </a:rPr>
              <a:t>The  thing  that  God  cares  for  most  in  a  church </a:t>
            </a:r>
          </a:p>
          <a:p>
            <a:r>
              <a:rPr lang="en-US" sz="3700">
                <a:solidFill>
                  <a:srgbClr val="252525"/>
                </a:solidFill>
              </a:rPr>
              <a:t>is  its  faith ;  to  what  extent  can  that  people  bring </a:t>
            </a:r>
          </a:p>
          <a:p>
            <a:r>
              <a:rPr lang="en-US" sz="3700">
                <a:solidFill>
                  <a:srgbClr val="252525"/>
                </a:solidFill>
              </a:rPr>
              <a:t>things  to  pass  for  the  kingdom  of  heaven?  That </a:t>
            </a:r>
          </a:p>
          <a:p>
            <a:r>
              <a:rPr lang="en-US" sz="3700">
                <a:solidFill>
                  <a:srgbClr val="252525"/>
                </a:solidFill>
              </a:rPr>
              <a:t>is  the  thing  God  is  asking  of  the  Church,  and </a:t>
            </a:r>
          </a:p>
          <a:p>
            <a:r>
              <a:rPr lang="en-US" sz="3700">
                <a:solidFill>
                  <a:srgbClr val="252525"/>
                </a:solidFill>
              </a:rPr>
              <a:t>that  is  the  thing  that  He  would  bring  us  to  the </a:t>
            </a:r>
          </a:p>
        </p:txBody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0" id="220"/>
          <p:cNvPicPr>
            <a:picLocks noChangeAspect="true"/>
          </p:cNvPicPr>
          <p:nvPr/>
        </p:nvPicPr>
        <p:blipFill>
          <a:blip r:embed="rId2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0" id="2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point  of  appreciating;  the  faith  of  the  people; </a:t>
            </a:r>
          </a:p>
          <a:p>
            <a:r>
              <a:rPr lang="en-US" sz="3700">
                <a:solidFill>
                  <a:srgbClr val="252525"/>
                </a:solidFill>
              </a:rPr>
              <a:t>the  extent  of  its  grip  on  God.  That  is  what  God </a:t>
            </a:r>
          </a:p>
          <a:p>
            <a:r>
              <a:rPr lang="en-US" sz="3700">
                <a:solidFill>
                  <a:srgbClr val="252525"/>
                </a:solidFill>
              </a:rPr>
              <a:t>wants  of  the  Church  to-day,  and,  the  more  I </a:t>
            </a:r>
          </a:p>
          <a:p>
            <a:r>
              <a:rPr lang="en-US" sz="3700">
                <a:solidFill>
                  <a:srgbClr val="252525"/>
                </a:solidFill>
              </a:rPr>
              <a:t>see  of  the  work  of  the  Church  and  the  move- </a:t>
            </a:r>
          </a:p>
          <a:p>
            <a:r>
              <a:rPr lang="en-US" sz="3700">
                <a:solidFill>
                  <a:srgbClr val="252525"/>
                </a:solidFill>
              </a:rPr>
              <a:t>ments of  God  in  this  present  day  and  time,  the </a:t>
            </a:r>
          </a:p>
          <a:p>
            <a:r>
              <a:rPr lang="en-US" sz="3700">
                <a:solidFill>
                  <a:srgbClr val="252525"/>
                </a:solidFill>
              </a:rPr>
              <a:t>more  I  am  convinced  that  that  is  the  thing  God </a:t>
            </a:r>
          </a:p>
          <a:p>
            <a:r>
              <a:rPr lang="en-US" sz="3700">
                <a:solidFill>
                  <a:srgbClr val="252525"/>
                </a:solidFill>
              </a:rPr>
              <a:t>is  concerned  about.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Culture  will  come;  refinement  will  come; </a:t>
            </a:r>
          </a:p>
          <a:p>
            <a:r>
              <a:rPr lang="en-US" sz="3700">
                <a:solidFill>
                  <a:srgbClr val="252525"/>
                </a:solidFill>
              </a:rPr>
              <a:t>wealth  will  come,  as  much  as  is  needed.  The  one </a:t>
            </a:r>
          </a:p>
          <a:p>
            <a:r>
              <a:rPr lang="en-US" sz="3700">
                <a:solidFill>
                  <a:srgbClr val="252525"/>
                </a:solidFill>
              </a:rPr>
              <a:t>thing  God  wants  is  the  right  kind  of  faith,  and </a:t>
            </a:r>
          </a:p>
          <a:p>
            <a:r>
              <a:rPr lang="en-US" sz="3700">
                <a:solidFill>
                  <a:srgbClr val="252525"/>
                </a:solidFill>
              </a:rPr>
              <a:t>following  that  will  come  everything  that  the </a:t>
            </a:r>
          </a:p>
        </p:txBody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2" id="222"/>
          <p:cNvPicPr>
            <a:picLocks noChangeAspect="true"/>
          </p:cNvPicPr>
          <p:nvPr/>
        </p:nvPicPr>
        <p:blipFill>
          <a:blip r:embed="rId2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2" id="2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Church  needs.  Oh,  that  we  might  see  the  unlim- </a:t>
            </a:r>
          </a:p>
          <a:p>
            <a:r>
              <a:rPr lang="en-US" sz="3700">
                <a:solidFill>
                  <a:srgbClr val="252525"/>
                </a:solidFill>
              </a:rPr>
              <a:t>ited possibilities  ahead  of  us  in  the  exercise  of </a:t>
            </a:r>
          </a:p>
          <a:p>
            <a:r>
              <a:rPr lang="en-US" sz="3700">
                <a:solidFill>
                  <a:srgbClr val="252525"/>
                </a:solidFill>
              </a:rPr>
              <a:t>faith.  Seeing  it,  we  will  grasp  it;  grasping  it, </a:t>
            </a:r>
          </a:p>
          <a:p>
            <a:r>
              <a:rPr lang="en-US" sz="3700">
                <a:solidFill>
                  <a:srgbClr val="252525"/>
                </a:solidFill>
              </a:rPr>
              <a:t>we  will  live  it,  and  when  we  do  we  will  become </a:t>
            </a:r>
          </a:p>
          <a:p>
            <a:r>
              <a:rPr lang="en-US" sz="3700">
                <a:solidFill>
                  <a:srgbClr val="252525"/>
                </a:solidFill>
              </a:rPr>
              <a:t>an  interrogation  point  to  the  world.  That  is  what </a:t>
            </a:r>
          </a:p>
          <a:p>
            <a:r>
              <a:rPr lang="en-US" sz="3700">
                <a:solidFill>
                  <a:srgbClr val="252525"/>
                </a:solidFill>
              </a:rPr>
              <a:t>God  wants.  Just  as  long  as  the  amount  of  money </a:t>
            </a:r>
          </a:p>
          <a:p>
            <a:r>
              <a:rPr lang="en-US" sz="3700">
                <a:solidFill>
                  <a:srgbClr val="252525"/>
                </a:solidFill>
              </a:rPr>
              <a:t>that  a  church  gives  can  be  explained,  just  that </a:t>
            </a:r>
          </a:p>
          <a:p>
            <a:r>
              <a:rPr lang="en-US" sz="3700">
                <a:solidFill>
                  <a:srgbClr val="252525"/>
                </a:solidFill>
              </a:rPr>
              <a:t>long  will  God  be  left  out  of  the  giving;  but  when </a:t>
            </a:r>
          </a:p>
          <a:p>
            <a:r>
              <a:rPr lang="en-US" sz="3700">
                <a:solidFill>
                  <a:srgbClr val="252525"/>
                </a:solidFill>
              </a:rPr>
              <a:t>the  church  gives  to  that  point  where  it  cannot </a:t>
            </a:r>
          </a:p>
          <a:p>
            <a:r>
              <a:rPr lang="en-US" sz="3700">
                <a:solidFill>
                  <a:srgbClr val="252525"/>
                </a:solidFill>
              </a:rPr>
              <a:t>be  explained,   then  somebody  is  going  to   say, </a:t>
            </a:r>
          </a:p>
        </p:txBody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4" id="224"/>
          <p:cNvPicPr>
            <a:picLocks noChangeAspect="true"/>
          </p:cNvPicPr>
          <p:nvPr/>
        </p:nvPicPr>
        <p:blipFill>
          <a:blip r:embed="rId2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4" id="225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42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"Well,  I  do  not  understand  that."  And  while </a:t>
            </a:r>
          </a:p>
          <a:p>
            <a:r>
              <a:rPr lang="en-US" sz="3700">
                <a:solidFill>
                  <a:srgbClr val="252525"/>
                </a:solidFill>
              </a:rPr>
              <a:t>they  pause  to  think  about  it,  God's  Spirit  will  slip </a:t>
            </a:r>
          </a:p>
          <a:p>
            <a:r>
              <a:rPr lang="en-US" sz="3700">
                <a:solidFill>
                  <a:srgbClr val="252525"/>
                </a:solidFill>
              </a:rPr>
              <a:t>in  and  say,  **It  is  God."  The  same  thing  is  true </a:t>
            </a:r>
          </a:p>
          <a:p>
            <a:r>
              <a:rPr lang="en-US" sz="3700">
                <a:solidFill>
                  <a:srgbClr val="252525"/>
                </a:solidFill>
              </a:rPr>
              <a:t>with  reference  to  every  other  department  of  life.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Now  then,  observe  the  second  point :  'That  he </a:t>
            </a:r>
          </a:p>
          <a:p>
            <a:r>
              <a:rPr lang="en-US" sz="3700">
                <a:solidFill>
                  <a:srgbClr val="252525"/>
                </a:solidFill>
              </a:rPr>
              <a:t>incessantly  makes  mention  of  them  in  his </a:t>
            </a:r>
          </a:p>
          <a:p>
            <a:r>
              <a:rPr lang="en-US" sz="3700">
                <a:solidFill>
                  <a:srgbClr val="252525"/>
                </a:solidFill>
              </a:rPr>
              <a:t>prayers."  Paul  prayed  for  the  Church  in  Rome. </a:t>
            </a:r>
          </a:p>
          <a:p>
            <a:r>
              <a:rPr lang="en-US" sz="3700">
                <a:solidFill>
                  <a:srgbClr val="252525"/>
                </a:solidFill>
              </a:rPr>
              <a:t>I  wonder  how  many  of  us  have  learned  to  emu- </a:t>
            </a:r>
          </a:p>
          <a:p>
            <a:r>
              <a:rPr lang="en-US" sz="3700">
                <a:solidFill>
                  <a:srgbClr val="252525"/>
                </a:solidFill>
              </a:rPr>
              <a:t>late Paul's  example  in  that?  How  many  </a:t>
            </a: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6" id="226"/>
          <p:cNvPicPr>
            <a:picLocks noChangeAspect="true"/>
          </p:cNvPicPr>
          <p:nvPr/>
        </p:nvPicPr>
        <p:blipFill>
          <a:blip r:embed="rId2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6" id="2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of  us </a:t>
            </a:r>
          </a:p>
          <a:p>
            <a:r>
              <a:rPr lang="en-US" sz="3700">
                <a:solidFill>
                  <a:srgbClr val="252525"/>
                </a:solidFill>
              </a:rPr>
              <a:t>have  prayed  for  our  own  church?  I  am  afraid  a </a:t>
            </a:r>
          </a:p>
          <a:p>
            <a:r>
              <a:rPr lang="en-US" sz="3700">
                <a:solidFill>
                  <a:srgbClr val="252525"/>
                </a:solidFill>
              </a:rPr>
              <a:t>very  small  per  cent,  of  us.  We  pray,  perhaps, </a:t>
            </a:r>
          </a:p>
          <a:p>
            <a:r>
              <a:rPr lang="en-US" sz="3700">
                <a:solidFill>
                  <a:srgbClr val="252525"/>
                </a:solidFill>
              </a:rPr>
              <a:t>for  everything  in  the  world  but  our  church,  and </a:t>
            </a:r>
          </a:p>
          <a:p>
            <a:r>
              <a:rPr lang="en-US" sz="3700">
                <a:solidFill>
                  <a:srgbClr val="252525"/>
                </a:solidFill>
              </a:rPr>
              <a:t>that  perhaps  is  the  explanation  of  why  there  is </a:t>
            </a:r>
          </a:p>
          <a:p>
            <a:r>
              <a:rPr lang="en-US" sz="3700">
                <a:solidFill>
                  <a:srgbClr val="252525"/>
                </a:solidFill>
              </a:rPr>
              <a:t>oftentimes  so  much  criticism  of  the  Church. </a:t>
            </a:r>
          </a:p>
          <a:p>
            <a:r>
              <a:rPr lang="en-US" sz="3700">
                <a:solidFill>
                  <a:srgbClr val="252525"/>
                </a:solidFill>
              </a:rPr>
              <a:t>There  was  once  a  certain  person  who  became </a:t>
            </a:r>
          </a:p>
          <a:p>
            <a:r>
              <a:rPr lang="en-US" sz="3700">
                <a:solidFill>
                  <a:srgbClr val="252525"/>
                </a:solidFill>
              </a:rPr>
              <a:t>very  distasteful  to  me.  It  troubled  me.  It  came </a:t>
            </a:r>
          </a:p>
          <a:p>
            <a:r>
              <a:rPr lang="en-US" sz="3700">
                <a:solidFill>
                  <a:srgbClr val="252525"/>
                </a:solidFill>
              </a:rPr>
              <a:t>to  me  one  night  while  I  was  in  prayer  and  I </a:t>
            </a:r>
          </a:p>
          <a:p>
            <a:r>
              <a:rPr lang="en-US" sz="3700">
                <a:solidFill>
                  <a:srgbClr val="252525"/>
                </a:solidFill>
              </a:rPr>
              <a:t>began  to  pray  for  that  man,  and  God  took  every </a:t>
            </a:r>
          </a:p>
          <a:p>
            <a:r>
              <a:rPr lang="en-US" sz="3700">
                <a:solidFill>
                  <a:srgbClr val="252525"/>
                </a:solidFill>
              </a:rPr>
              <a:t>bit  of  feeling  about  him  out  of  my  heart.  I  saw </a:t>
            </a:r>
          </a:p>
        </p:txBody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8" id="228"/>
          <p:cNvPicPr>
            <a:picLocks noChangeAspect="true"/>
          </p:cNvPicPr>
          <p:nvPr/>
        </p:nvPicPr>
        <p:blipFill>
          <a:blip r:embed="rId2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28" id="22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just  as  many  flaws  in  that  life  as  I  saw  before, </a:t>
            </a:r>
          </a:p>
          <a:p>
            <a:r>
              <a:rPr lang="en-US" sz="3700">
                <a:solidFill>
                  <a:srgbClr val="252525"/>
                </a:solidFill>
              </a:rPr>
              <a:t>but  I  saw  good  that  I  did  not  see  before.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Paul  prayed  for  the  Church  in  Rome.  Oh, </a:t>
            </a:r>
          </a:p>
          <a:p>
            <a:r>
              <a:rPr lang="en-US" sz="3700">
                <a:solidFill>
                  <a:srgbClr val="252525"/>
                </a:solidFill>
              </a:rPr>
              <a:t>God,  help  us  to  get  a  lesson  from  Paul!  Pray </a:t>
            </a:r>
          </a:p>
          <a:p>
            <a:r>
              <a:rPr lang="en-US" sz="3700">
                <a:solidFill>
                  <a:srgbClr val="252525"/>
                </a:solidFill>
              </a:rPr>
              <a:t>for  the  Church  at  home,  and  not  only  for  the </a:t>
            </a:r>
          </a:p>
          <a:p>
            <a:r>
              <a:rPr lang="en-US" sz="3700">
                <a:solidFill>
                  <a:srgbClr val="252525"/>
                </a:solidFill>
              </a:rPr>
              <a:t>Church  at  home,  but  all  churches.  Paul  was </a:t>
            </a:r>
          </a:p>
          <a:p>
            <a:r>
              <a:rPr lang="en-US" sz="3700">
                <a:solidFill>
                  <a:srgbClr val="252525"/>
                </a:solidFill>
              </a:rPr>
              <a:t>broad  enough  to  realize  that  he  had  a  connec- </a:t>
            </a:r>
          </a:p>
          <a:p>
            <a:r>
              <a:rPr lang="en-US" sz="3700">
                <a:solidFill>
                  <a:srgbClr val="252525"/>
                </a:solidFill>
              </a:rPr>
              <a:t>tion with  all  the  churches  in  the  world.  My </a:t>
            </a:r>
          </a:p>
          <a:p>
            <a:r>
              <a:rPr lang="en-US" sz="3700">
                <a:solidFill>
                  <a:srgbClr val="252525"/>
                </a:solidFill>
              </a:rPr>
              <a:t>brethren  and  sisters,  we  have  never  learned  the </a:t>
            </a:r>
          </a:p>
          <a:p>
            <a:r>
              <a:rPr lang="en-US" sz="3700">
                <a:solidFill>
                  <a:srgbClr val="252525"/>
                </a:solidFill>
              </a:rPr>
              <a:t>alphabet  in  the  prayer  life.  We  have  never  yet </a:t>
            </a:r>
          </a:p>
        </p:txBody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0" id="230"/>
          <p:cNvPicPr>
            <a:picLocks noChangeAspect="true"/>
          </p:cNvPicPr>
          <p:nvPr/>
        </p:nvPicPr>
        <p:blipFill>
          <a:blip r:embed="rId2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0" id="2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learned  how  to  pray.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  the  third  place,  "that  he  might  be  prospered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the  Church        43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  the  will  of  God  to  come  to  them."  "In  the </a:t>
            </a:r>
          </a:p>
          <a:p>
            <a:r>
              <a:rPr lang="en-US" sz="3700">
                <a:solidFill>
                  <a:srgbClr val="252525"/>
                </a:solidFill>
              </a:rPr>
              <a:t>will  of  God!"  Do  you  think  that  is  a  careless </a:t>
            </a:r>
          </a:p>
          <a:p>
            <a:r>
              <a:rPr lang="en-US" sz="3700">
                <a:solidFill>
                  <a:srgbClr val="252525"/>
                </a:solidFill>
              </a:rPr>
              <a:t>expression  just  to  fill  up  space?  There  is  some- </a:t>
            </a:r>
          </a:p>
          <a:p>
            <a:r>
              <a:rPr lang="en-US" sz="3700">
                <a:solidFill>
                  <a:srgbClr val="252525"/>
                </a:solidFill>
              </a:rPr>
              <a:t>thing doubly  significant  in  that  expression.  Paul </a:t>
            </a:r>
          </a:p>
          <a:p>
            <a:r>
              <a:rPr lang="en-US" sz="3700">
                <a:solidFill>
                  <a:srgbClr val="252525"/>
                </a:solidFill>
              </a:rPr>
              <a:t>did  not  want  to  go  unless  it  was  the  will  of  God. </a:t>
            </a:r>
          </a:p>
          <a:p>
            <a:r>
              <a:rPr lang="en-US" sz="3700">
                <a:solidFill>
                  <a:srgbClr val="252525"/>
                </a:solidFill>
              </a:rPr>
              <a:t>Paul  realized  that  God  had  a  plan  for  his  life, </a:t>
            </a:r>
          </a:p>
          <a:p>
            <a:r>
              <a:rPr lang="en-US" sz="3700">
                <a:solidFill>
                  <a:srgbClr val="252525"/>
                </a:solidFill>
              </a:rPr>
              <a:t>just  as  God  has  a  plan  for  every  life,  </a:t>
            </a:r>
          </a:p>
        </p:txBody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2" id="232"/>
          <p:cNvPicPr>
            <a:picLocks noChangeAspect="true"/>
          </p:cNvPicPr>
          <p:nvPr/>
        </p:nvPicPr>
        <p:blipFill>
          <a:blip r:embed="rId2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2" id="2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and  real- </a:t>
            </a:r>
          </a:p>
          <a:p>
            <a:r>
              <a:rPr lang="en-US" sz="3700">
                <a:solidFill>
                  <a:srgbClr val="252525"/>
                </a:solidFill>
              </a:rPr>
              <a:t>izing that,  he  could  not  afford  to  step  out  of </a:t>
            </a:r>
          </a:p>
          <a:p>
            <a:r>
              <a:rPr lang="en-US" sz="3700">
                <a:solidFill>
                  <a:srgbClr val="252525"/>
                </a:solidFill>
              </a:rPr>
              <a:t>God's  plan.  He  only  maintained  connection  as </a:t>
            </a:r>
          </a:p>
          <a:p>
            <a:r>
              <a:rPr lang="en-US" sz="3700">
                <a:solidFill>
                  <a:srgbClr val="252525"/>
                </a:solidFill>
              </a:rPr>
              <a:t>he  stayed  in  God's  plan  for  his  life.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Have  you  never  stopped  to  think  that  you  too </a:t>
            </a:r>
          </a:p>
          <a:p>
            <a:r>
              <a:rPr lang="en-US" sz="3700">
                <a:solidFill>
                  <a:srgbClr val="252525"/>
                </a:solidFill>
              </a:rPr>
              <a:t>have  a  plan  laid  out  by  God  for  your  life?  If </a:t>
            </a:r>
          </a:p>
          <a:p>
            <a:r>
              <a:rPr lang="en-US" sz="3700">
                <a:solidFill>
                  <a:srgbClr val="252525"/>
                </a:solidFill>
              </a:rPr>
              <a:t>I  am  a  fanatic,  it  is  on  this  subject,  that  God </a:t>
            </a:r>
          </a:p>
          <a:p>
            <a:r>
              <a:rPr lang="en-US" sz="3700">
                <a:solidFill>
                  <a:srgbClr val="252525"/>
                </a:solidFill>
              </a:rPr>
              <a:t>has  a  plan  for  my  Hfe;  that  He  has  a  place  in </a:t>
            </a:r>
          </a:p>
          <a:p>
            <a:r>
              <a:rPr lang="en-US" sz="3700">
                <a:solidFill>
                  <a:srgbClr val="252525"/>
                </a:solidFill>
              </a:rPr>
              <a:t>this  big  world  for  me  to  fit  in;  a  place  that </a:t>
            </a:r>
          </a:p>
          <a:p>
            <a:r>
              <a:rPr lang="en-US" sz="3700">
                <a:solidFill>
                  <a:srgbClr val="252525"/>
                </a:solidFill>
              </a:rPr>
              <a:t>will  not  fit  anybody  else  in  the  world.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Do  not  try  to  do  your  Christian  work  like </a:t>
            </a:r>
          </a:p>
        </p:txBody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4" id="234"/>
          <p:cNvPicPr>
            <a:picLocks noChangeAspect="true"/>
          </p:cNvPicPr>
          <p:nvPr/>
        </p:nvPicPr>
        <p:blipFill>
          <a:blip r:embed="rId2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4" id="2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somebody  else.  Try  to  know  how  God  would </a:t>
            </a:r>
          </a:p>
          <a:p>
            <a:r>
              <a:rPr lang="en-US" sz="3700">
                <a:solidFill>
                  <a:srgbClr val="252525"/>
                </a:solidFill>
              </a:rPr>
              <a:t>have  you  to  do  it,  and  when  you  have  a  clear </a:t>
            </a:r>
          </a:p>
          <a:p>
            <a:r>
              <a:rPr lang="en-US" sz="3700">
                <a:solidFill>
                  <a:srgbClr val="252525"/>
                </a:solidFill>
              </a:rPr>
              <a:t>interpretation  of  the  will  of  God,  do  what  God </a:t>
            </a:r>
          </a:p>
          <a:p>
            <a:r>
              <a:rPr lang="en-US" sz="3700">
                <a:solidFill>
                  <a:srgbClr val="252525"/>
                </a:solidFill>
              </a:rPr>
              <a:t>wants  done.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  the  fourth  place,  you  will  see  that  the  rea- </a:t>
            </a:r>
          </a:p>
          <a:p>
            <a:r>
              <a:rPr lang="en-US" sz="3700">
                <a:solidFill>
                  <a:srgbClr val="252525"/>
                </a:solidFill>
              </a:rPr>
              <a:t>son for  his  desire  to  come  to  them  was  not  that </a:t>
            </a:r>
          </a:p>
          <a:p>
            <a:r>
              <a:rPr lang="en-US" sz="3700">
                <a:solidFill>
                  <a:srgbClr val="252525"/>
                </a:solidFill>
              </a:rPr>
              <a:t>he  might  see  them  and  shake  hands  with  them, </a:t>
            </a:r>
          </a:p>
          <a:p>
            <a:r>
              <a:rPr lang="en-US" sz="3700">
                <a:solidFill>
                  <a:srgbClr val="252525"/>
                </a:solidFill>
              </a:rPr>
              <a:t>but  it  was  that  he  might  do  them  good,  "that </a:t>
            </a:r>
          </a:p>
          <a:p>
            <a:r>
              <a:rPr lang="en-US" sz="3700">
                <a:solidFill>
                  <a:srgbClr val="252525"/>
                </a:solidFill>
              </a:rPr>
              <a:t>they  might  be  established  in  their  faith";  and </a:t>
            </a:r>
          </a:p>
          <a:p>
            <a:r>
              <a:rPr lang="en-US" sz="3700">
                <a:solidFill>
                  <a:srgbClr val="252525"/>
                </a:solidFill>
              </a:rPr>
              <a:t>further,  "that  he  and  they  might  be  comforted </a:t>
            </a:r>
          </a:p>
          <a:p>
            <a:r>
              <a:rPr lang="en-US" sz="3700">
                <a:solidFill>
                  <a:srgbClr val="252525"/>
                </a:solidFill>
              </a:rPr>
              <a:t>in  each  other's  faith." </a:t>
            </a:r>
          </a:p>
        </p:txBody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6" id="236"/>
          <p:cNvPicPr>
            <a:picLocks noChangeAspect="true"/>
          </p:cNvPicPr>
          <p:nvPr/>
        </p:nvPicPr>
        <p:blipFill>
          <a:blip r:embed="rId2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6" id="23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See  the  great  Apostle  putting  himself  down  on </a:t>
            </a:r>
          </a:p>
          <a:p>
            <a:r>
              <a:rPr lang="en-US" sz="3700">
                <a:solidFill>
                  <a:srgbClr val="252525"/>
                </a:solidFill>
              </a:rPr>
              <a:t>a  common  level  with  the  Church  of  Rome,  say- </a:t>
            </a:r>
          </a:p>
          <a:p>
            <a:r>
              <a:rPr lang="en-US" sz="3700">
                <a:solidFill>
                  <a:srgbClr val="252525"/>
                </a:solidFill>
              </a:rPr>
              <a:t>ing, "We  can  strengthen  each  other's  faith,  and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44  Salvation  and  the  Old  Theology- </a:t>
            </a:r>
          </a:p>
          <a:p>
            <a:r>
              <a:rPr lang="en-US" sz="3700">
                <a:solidFill>
                  <a:srgbClr val="252525"/>
                </a:solidFill>
              </a:rPr>
              <a:t>help  each  other  out."  Oh,  the  simpHcity  of  this </a:t>
            </a:r>
          </a:p>
          <a:p>
            <a:r>
              <a:rPr lang="en-US" sz="3700">
                <a:solidFill>
                  <a:srgbClr val="252525"/>
                </a:solidFill>
              </a:rPr>
              <a:t>mighty  man  of  God!  How  dependent  we  are </a:t>
            </a:r>
          </a:p>
          <a:p>
            <a:r>
              <a:rPr lang="en-US" sz="3700">
                <a:solidFill>
                  <a:srgbClr val="252525"/>
                </a:solidFill>
              </a:rPr>
              <a:t>one  upon  the  other!  There  is  no  man  taught </a:t>
            </a:r>
          </a:p>
          <a:p>
            <a:r>
              <a:rPr lang="en-US" sz="3700">
                <a:solidFill>
                  <a:srgbClr val="252525"/>
                </a:solidFill>
              </a:rPr>
              <a:t>of  God,  however  ignorant  he  may  be,  that  can- </a:t>
            </a:r>
          </a:p>
          <a:p>
            <a:r>
              <a:rPr lang="en-US" sz="3700">
                <a:solidFill>
                  <a:srgbClr val="252525"/>
                </a:solidFill>
              </a:rPr>
              <a:t>not teach  me,  and  no  man  feels  that  more  than </a:t>
            </a:r>
          </a:p>
          <a:p>
            <a:r>
              <a:rPr lang="en-US" sz="3700">
                <a:solidFill>
                  <a:srgbClr val="252525"/>
                </a:solidFill>
              </a:rPr>
              <a:t>I  do.  I  think  some  of  the  most  </a:t>
            </a:r>
          </a:p>
        </p:txBody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8" id="238"/>
          <p:cNvPicPr>
            <a:picLocks noChangeAspect="true"/>
          </p:cNvPicPr>
          <p:nvPr/>
        </p:nvPicPr>
        <p:blipFill>
          <a:blip r:embed="rId2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38" id="2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profound  truths </a:t>
            </a:r>
          </a:p>
          <a:p>
            <a:r>
              <a:rPr lang="en-US" sz="3700">
                <a:solidFill>
                  <a:srgbClr val="252525"/>
                </a:solidFill>
              </a:rPr>
              <a:t>that  I  have  ever  heard  have  come  from  some  of </a:t>
            </a:r>
          </a:p>
          <a:p>
            <a:r>
              <a:rPr lang="en-US" sz="3700">
                <a:solidFill>
                  <a:srgbClr val="252525"/>
                </a:solidFill>
              </a:rPr>
              <a:t>the  most  ignorant  men,  whose  minds  and  hearts </a:t>
            </a:r>
          </a:p>
          <a:p>
            <a:r>
              <a:rPr lang="en-US" sz="3700">
                <a:solidFill>
                  <a:srgbClr val="252525"/>
                </a:solidFill>
              </a:rPr>
              <a:t>have  been  opened  to  receive  the  Spirit,  and  upon </a:t>
            </a:r>
          </a:p>
          <a:p>
            <a:r>
              <a:rPr lang="en-US" sz="3700">
                <a:solidFill>
                  <a:srgbClr val="252525"/>
                </a:solidFill>
              </a:rPr>
              <a:t>whose  hearts  and  minds  the  Spirit  has  operated. </a:t>
            </a:r>
          </a:p>
          <a:p>
            <a:r>
              <a:rPr lang="en-US" sz="3700">
                <a:solidFill>
                  <a:srgbClr val="252525"/>
                </a:solidFill>
              </a:rPr>
              <a:t>Oh,  my  brother,  if  you  have  not  had  the  chance </a:t>
            </a:r>
          </a:p>
          <a:p>
            <a:r>
              <a:rPr lang="en-US" sz="3700">
                <a:solidFill>
                  <a:srgbClr val="252525"/>
                </a:solidFill>
              </a:rPr>
              <a:t>that  somebody  else  has  had,  do  not  grow  dis- </a:t>
            </a:r>
          </a:p>
          <a:p>
            <a:r>
              <a:rPr lang="en-US" sz="3700">
                <a:solidFill>
                  <a:srgbClr val="252525"/>
                </a:solidFill>
              </a:rPr>
              <a:t>encouraged ;  God  is  as  able  to  give  you  thoughts </a:t>
            </a:r>
          </a:p>
          <a:p>
            <a:r>
              <a:rPr lang="en-US" sz="3700">
                <a:solidFill>
                  <a:srgbClr val="252525"/>
                </a:solidFill>
              </a:rPr>
              <a:t>as  He  is  able  to  give  any  man,  however  wise  in </a:t>
            </a:r>
          </a:p>
          <a:p>
            <a:r>
              <a:rPr lang="en-US" sz="3700">
                <a:solidFill>
                  <a:srgbClr val="252525"/>
                </a:solidFill>
              </a:rPr>
              <a:t>the  wisdom  of  this  world.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Now,  I  want  to  draw  a  few  practical  conclu- </a:t>
            </a:r>
          </a:p>
        </p:txBody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0" id="240"/>
          <p:cNvPicPr>
            <a:picLocks noChangeAspect="true"/>
          </p:cNvPicPr>
          <p:nvPr/>
        </p:nvPicPr>
        <p:blipFill>
          <a:blip r:embed="rId2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0" id="24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sions concerning  the  Church.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First,  that  it  is  of  divine  origin.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Second,  that  it  has  divine  conditions  for  mem- </a:t>
            </a:r>
          </a:p>
          <a:p>
            <a:r>
              <a:rPr lang="en-US" sz="3700">
                <a:solidFill>
                  <a:srgbClr val="252525"/>
                </a:solidFill>
              </a:rPr>
              <a:t>bership.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Third,  it  imposes  divine  obligations  upon  its </a:t>
            </a:r>
          </a:p>
          <a:p>
            <a:r>
              <a:rPr lang="en-US" sz="3700">
                <a:solidFill>
                  <a:srgbClr val="252525"/>
                </a:solidFill>
              </a:rPr>
              <a:t>members.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want  the  time  to  come  when  men  and  women </a:t>
            </a:r>
          </a:p>
          <a:p>
            <a:r>
              <a:rPr lang="en-US" sz="3700">
                <a:solidFill>
                  <a:srgbClr val="252525"/>
                </a:solidFill>
              </a:rPr>
              <a:t>will  realize  the  bigness  of  the  Church  of  Christ; </a:t>
            </a:r>
          </a:p>
          <a:p>
            <a:r>
              <a:rPr lang="en-US" sz="3700">
                <a:solidFill>
                  <a:srgbClr val="252525"/>
                </a:solidFill>
              </a:rPr>
              <a:t>that  it  is  God's  institution;  that  it  is  the  biggest </a:t>
            </a:r>
          </a:p>
          <a:p>
            <a:r>
              <a:rPr lang="en-US" sz="3700">
                <a:solidFill>
                  <a:srgbClr val="252525"/>
                </a:solidFill>
              </a:rPr>
              <a:t>organization  in  existence;  that  as  God's  institu- </a:t>
            </a:r>
          </a:p>
          <a:p>
            <a:r>
              <a:rPr lang="en-US" sz="3700">
                <a:solidFill>
                  <a:srgbClr val="252525"/>
                </a:solidFill>
              </a:rPr>
              <a:t>tion it  demands  of  us  that  we  shall  put  </a:t>
            </a:r>
          </a:p>
        </p:txBody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2" id="242"/>
          <p:cNvPicPr>
            <a:picLocks noChangeAspect="true"/>
          </p:cNvPicPr>
          <p:nvPr/>
        </p:nvPicPr>
        <p:blipFill>
          <a:blip r:embed="rId2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2" id="2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into  it </a:t>
            </a:r>
          </a:p>
          <a:p>
            <a:r>
              <a:rPr lang="en-US" sz="3700">
                <a:solidFill>
                  <a:srgbClr val="252525"/>
                </a:solidFill>
              </a:rPr>
              <a:t>our  best  endeavors,  and  when  our  people  realize </a:t>
            </a:r>
          </a:p>
          <a:p>
            <a:r>
              <a:rPr lang="en-US" sz="3700">
                <a:solidFill>
                  <a:srgbClr val="252525"/>
                </a:solidFill>
              </a:rPr>
              <a:t>in  deed  and  in  truth  all  this,  the  Church  will </a:t>
            </a:r>
          </a:p>
          <a:p>
            <a:r>
              <a:rPr lang="en-US" sz="3700">
                <a:solidFill>
                  <a:srgbClr val="252525"/>
                </a:solidFill>
              </a:rPr>
              <a:t>prosper  as  never  before.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THE  GOSPEL </a:t>
            </a:r>
          </a:p>
          <a:p>
            <a:r>
              <a:rPr lang="en-US" sz="3700">
                <a:solidFill>
                  <a:srgbClr val="252525"/>
                </a:solidFill>
              </a:rPr>
              <a:t>Ch.  I  :i6-i7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I.  Paul— The  Man.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II.  His  Declaration.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Observe  under  this  head  (i)  For  (2)  The </a:t>
            </a:r>
          </a:p>
          <a:p>
            <a:r>
              <a:rPr lang="en-US" sz="3700">
                <a:solidFill>
                  <a:srgbClr val="252525"/>
                </a:solidFill>
              </a:rPr>
              <a:t>Gospel  of  Christ  (3)  Not  ashamed. </a:t>
            </a:r>
          </a:p>
          <a:p>
            <a:r>
              <a:rPr lang="en-US" sz="3700">
                <a:solidFill>
                  <a:srgbClr val="252525"/>
                </a:solidFill>
              </a:rPr>
              <a:t>in.  The  Reason  for  His  Declaration.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Note  I.     The  desire — salvation. </a:t>
            </a:r>
          </a:p>
        </p:txBody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4" id="244"/>
          <p:cNvPicPr>
            <a:picLocks noChangeAspect="true"/>
          </p:cNvPicPr>
          <p:nvPr/>
        </p:nvPicPr>
        <p:blipFill>
          <a:blip r:embed="rId2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4" id="2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(a)    Salvation   from    the    penalty  of  sin </a:t>
            </a:r>
          </a:p>
          <a:p>
            <a:r>
              <a:rPr lang="en-US" sz="3700">
                <a:solidFill>
                  <a:srgbClr val="252525"/>
                </a:solidFill>
              </a:rPr>
              <a:t>(Rom.  5:10;  6:10-12).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The  extent  of  its  application — "Every  one </a:t>
            </a:r>
          </a:p>
          <a:p>
            <a:r>
              <a:rPr lang="en-US" sz="3700">
                <a:solidFill>
                  <a:srgbClr val="252525"/>
                </a:solidFill>
              </a:rPr>
              <a:t>that  believeth."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The  order  of  coming,  the  Jew  first  (John </a:t>
            </a:r>
          </a:p>
          <a:p>
            <a:r>
              <a:rPr lang="en-US" sz="3700">
                <a:solidFill>
                  <a:srgbClr val="252525"/>
                </a:solidFill>
              </a:rPr>
              <a:t>4:22;  Matt.  15:23).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IV.  The  Purpose  of  the  Epistle. </a:t>
            </a:r>
          </a:p>
          <a:p>
            <a:r>
              <a:rPr lang="en-US" sz="3700">
                <a:solidFill>
                  <a:srgbClr val="252525"/>
                </a:solidFill>
              </a:rPr>
              <a:t>Note.  Definition  of  righteousness.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V.  How  Brought  About.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By  faith  (Rom.  3:20-23).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By  imputation  of  Christ  (Phil.  3:9).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Impartation  (Rom.  8:2-6). </a:t>
            </a:r>
          </a:p>
        </p:txBody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6" id="246"/>
          <p:cNvPicPr>
            <a:picLocks noChangeAspect="true"/>
          </p:cNvPicPr>
          <p:nvPr/>
        </p:nvPicPr>
        <p:blipFill>
          <a:blip r:embed="rId2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6" id="247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VI.  Method  of  Its  Expression.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Confession  by  mouth  (Rom.  10:9-10).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Baptism  (Rom.  6:4,  5,  6;  Gal.  3:27;  Col.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2:12).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45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46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Lord's  Supper  (i  Cor.  10:23-26).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4.  Righteous  Living  (Rom.  6:1-6).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Paul  is  one  of  the  most  remarkable  charac- </a:t>
            </a:r>
          </a:p>
        </p:txBody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8" id="248"/>
          <p:cNvPicPr>
            <a:picLocks noChangeAspect="true"/>
          </p:cNvPicPr>
          <p:nvPr/>
        </p:nvPicPr>
        <p:blipFill>
          <a:blip r:embed="rId2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48" id="2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ters, not  only  in  the  Bible,  but  in  history.  Paul, </a:t>
            </a:r>
          </a:p>
          <a:p>
            <a:r>
              <a:rPr lang="en-US" sz="3700">
                <a:solidFill>
                  <a:srgbClr val="252525"/>
                </a:solidFill>
              </a:rPr>
              <a:t>you  remember,  was  born  a  Jew,  and  at  the  same </a:t>
            </a:r>
          </a:p>
          <a:p>
            <a:r>
              <a:rPr lang="en-US" sz="3700">
                <a:solidFill>
                  <a:srgbClr val="252525"/>
                </a:solidFill>
              </a:rPr>
              <a:t>time,  born  in  a  Gentile  city,  the  city  of  Tarsus. </a:t>
            </a:r>
          </a:p>
          <a:p>
            <a:r>
              <a:rPr lang="en-US" sz="3700">
                <a:solidFill>
                  <a:srgbClr val="252525"/>
                </a:solidFill>
              </a:rPr>
              <a:t>Paul  associated  with  many  Gentiles.  He  learned </a:t>
            </a:r>
          </a:p>
          <a:p>
            <a:r>
              <a:rPr lang="en-US" sz="3700">
                <a:solidFill>
                  <a:srgbClr val="252525"/>
                </a:solidFill>
              </a:rPr>
              <a:t>their  ways  and  customs.  When  he  grew  up  to </a:t>
            </a:r>
          </a:p>
          <a:p>
            <a:r>
              <a:rPr lang="en-US" sz="3700">
                <a:solidFill>
                  <a:srgbClr val="252525"/>
                </a:solidFill>
              </a:rPr>
              <a:t>young  manhood,  he  was  sent  to  Jerusalem  for </a:t>
            </a:r>
          </a:p>
          <a:p>
            <a:r>
              <a:rPr lang="en-US" sz="3700">
                <a:solidFill>
                  <a:srgbClr val="252525"/>
                </a:solidFill>
              </a:rPr>
              <a:t>the  completion  of  his  education,  where  he  en- </a:t>
            </a:r>
          </a:p>
          <a:p>
            <a:r>
              <a:rPr lang="en-US" sz="3700">
                <a:solidFill>
                  <a:srgbClr val="252525"/>
                </a:solidFill>
              </a:rPr>
              <a:t>tered the  school  of  the  Jews  and  began  the  study </a:t>
            </a:r>
          </a:p>
          <a:p>
            <a:r>
              <a:rPr lang="en-US" sz="3700">
                <a:solidFill>
                  <a:srgbClr val="252525"/>
                </a:solidFill>
              </a:rPr>
              <a:t>of  the  language  and  customs  of  his  own  people, </a:t>
            </a:r>
          </a:p>
          <a:p>
            <a:r>
              <a:rPr lang="en-US" sz="3700">
                <a:solidFill>
                  <a:srgbClr val="252525"/>
                </a:solidFill>
              </a:rPr>
              <a:t>and  also  the  religion  of  his  people.  He  was  a </a:t>
            </a:r>
          </a:p>
          <a:p>
            <a:r>
              <a:rPr lang="en-US" sz="3700">
                <a:solidFill>
                  <a:srgbClr val="252525"/>
                </a:solidFill>
              </a:rPr>
              <a:t>pupil  of  the  famous  teacher  Gamaliel. </a:t>
            </a:r>
          </a:p>
        </p:txBody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0" id="250"/>
          <p:cNvPicPr>
            <a:picLocks noChangeAspect="true"/>
          </p:cNvPicPr>
          <p:nvPr/>
        </p:nvPicPr>
        <p:blipFill>
          <a:blip r:embed="rId2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0" id="25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With  this  short  introduction  of  the  Apostle </a:t>
            </a:r>
          </a:p>
          <a:p>
            <a:r>
              <a:rPr lang="en-US" sz="3700">
                <a:solidFill>
                  <a:srgbClr val="252525"/>
                </a:solidFill>
              </a:rPr>
              <a:t>Paul,  let  us  take  his  declaration — verse  16. </a:t>
            </a:r>
          </a:p>
          <a:p>
            <a:r>
              <a:rPr lang="en-US" sz="3700">
                <a:solidFill>
                  <a:srgbClr val="252525"/>
                </a:solidFill>
              </a:rPr>
              <a:t>Properly  translated,  the  declaration  should  read </a:t>
            </a:r>
          </a:p>
          <a:p>
            <a:r>
              <a:rPr lang="en-US" sz="3700">
                <a:solidFill>
                  <a:srgbClr val="252525"/>
                </a:solidFill>
              </a:rPr>
              <a:t>as  follows:  "For  I  am  not  ashamed  of  the  Gos- </a:t>
            </a:r>
          </a:p>
          <a:p>
            <a:r>
              <a:rPr lang="en-US" sz="3700">
                <a:solidFill>
                  <a:srgbClr val="252525"/>
                </a:solidFill>
              </a:rPr>
              <a:t>pel." Now,  that  is  a  strong  declaration,  and </a:t>
            </a:r>
          </a:p>
          <a:p>
            <a:r>
              <a:rPr lang="en-US" sz="3700">
                <a:solidFill>
                  <a:srgbClr val="252525"/>
                </a:solidFill>
              </a:rPr>
              <a:t>it  is  especially  strong  when  we  take  into  con- </a:t>
            </a:r>
          </a:p>
          <a:p>
            <a:r>
              <a:rPr lang="en-US" sz="3700">
                <a:solidFill>
                  <a:srgbClr val="252525"/>
                </a:solidFill>
              </a:rPr>
              <a:t>sideration the  fact  that  it  is  made  by  Paul,  who </a:t>
            </a:r>
          </a:p>
          <a:p>
            <a:r>
              <a:rPr lang="en-US" sz="3700">
                <a:solidFill>
                  <a:srgbClr val="252525"/>
                </a:solidFill>
              </a:rPr>
              <a:t>had  been  Saul  of  Tarsus,  a  great  scholar  among </a:t>
            </a:r>
          </a:p>
          <a:p>
            <a:r>
              <a:rPr lang="en-US" sz="3700">
                <a:solidFill>
                  <a:srgbClr val="252525"/>
                </a:solidFill>
              </a:rPr>
              <a:t>the  Jews,  and  an  officeholder  in  high  rank  in </a:t>
            </a:r>
          </a:p>
          <a:p>
            <a:r>
              <a:rPr lang="en-US" sz="3700">
                <a:solidFill>
                  <a:srgbClr val="252525"/>
                </a:solidFill>
              </a:rPr>
              <a:t>their  government. </a:t>
            </a:r>
          </a:p>
        </p:txBody>
      </p: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2" id="252"/>
          <p:cNvPicPr>
            <a:picLocks noChangeAspect="true"/>
          </p:cNvPicPr>
          <p:nvPr/>
        </p:nvPicPr>
        <p:blipFill>
          <a:blip r:embed="rId2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2" id="2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Since  his  conversion,  he  faces  the  world,  his </a:t>
            </a:r>
          </a:p>
          <a:p>
            <a:r>
              <a:rPr lang="en-US" sz="3700">
                <a:solidFill>
                  <a:srgbClr val="252525"/>
                </a:solidFill>
              </a:rPr>
              <a:t>old  associates,  his  companions  in  business,  reli- </a:t>
            </a:r>
          </a:p>
          <a:p>
            <a:r>
              <a:rPr lang="en-US" sz="3700">
                <a:solidFill>
                  <a:srgbClr val="252525"/>
                </a:solidFill>
              </a:rPr>
              <a:t>gion and  law,  and  declares  to  them,  and  to  the </a:t>
            </a:r>
          </a:p>
          <a:p>
            <a:r>
              <a:rPr lang="en-US" sz="3700">
                <a:solidFill>
                  <a:srgbClr val="252525"/>
                </a:solidFill>
              </a:rPr>
              <a:t>world  at  large,  that  he  is  not  ashamed  of  the </a:t>
            </a:r>
          </a:p>
          <a:p>
            <a:r>
              <a:rPr lang="en-US" sz="3700">
                <a:solidFill>
                  <a:srgbClr val="252525"/>
                </a:solidFill>
              </a:rPr>
              <a:t>Gospel.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  considering  Paul's  declaration,  I  want  you </a:t>
            </a:r>
          </a:p>
          <a:p>
            <a:r>
              <a:rPr lang="en-US" sz="3700">
                <a:solidFill>
                  <a:srgbClr val="252525"/>
                </a:solidFill>
              </a:rPr>
              <a:t>to  give  due  consideration  to  these  three  expres-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the  Gospel         47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sions,  "for,"  "the  Gospel,"  and  "not  ashamed." </a:t>
            </a:r>
          </a:p>
          <a:p>
            <a:r>
              <a:rPr lang="en-US" sz="3700">
                <a:solidFill>
                  <a:srgbClr val="252525"/>
                </a:solidFill>
              </a:rPr>
              <a:t>To  get  the  force  and  significance  of  </a:t>
            </a:r>
          </a:p>
        </p:txBody>
      </p: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4" id="254"/>
          <p:cNvPicPr>
            <a:picLocks noChangeAspect="true"/>
          </p:cNvPicPr>
          <p:nvPr/>
        </p:nvPicPr>
        <p:blipFill>
          <a:blip r:embed="rId2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4" id="2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 word </a:t>
            </a:r>
          </a:p>
          <a:p>
            <a:r>
              <a:rPr lang="en-US" sz="3700">
                <a:solidFill>
                  <a:srgbClr val="252525"/>
                </a:solidFill>
              </a:rPr>
              <a:t>"for,"  go  back  and  read  the  thirteenth  and </a:t>
            </a:r>
          </a:p>
          <a:p>
            <a:r>
              <a:rPr lang="en-US" sz="3700">
                <a:solidFill>
                  <a:srgbClr val="252525"/>
                </a:solidFill>
              </a:rPr>
              <a:t>fifteenth  verses.  "Now,  I  would  not  have  you </a:t>
            </a:r>
          </a:p>
          <a:p>
            <a:r>
              <a:rPr lang="en-US" sz="3700">
                <a:solidFill>
                  <a:srgbClr val="252525"/>
                </a:solidFill>
              </a:rPr>
              <a:t>ignorant,  brethren,  that  oftentimes  I  purposed  to </a:t>
            </a:r>
          </a:p>
          <a:p>
            <a:r>
              <a:rPr lang="en-US" sz="3700">
                <a:solidFill>
                  <a:srgbClr val="252525"/>
                </a:solidFill>
              </a:rPr>
              <a:t>come  unto  you  (but  was  let  hitherto),  that  I </a:t>
            </a:r>
          </a:p>
          <a:p>
            <a:r>
              <a:rPr lang="en-US" sz="3700">
                <a:solidFill>
                  <a:srgbClr val="252525"/>
                </a:solidFill>
              </a:rPr>
              <a:t>might  have  some  fruit  among  you  also,  even  as </a:t>
            </a:r>
          </a:p>
          <a:p>
            <a:r>
              <a:rPr lang="en-US" sz="3700">
                <a:solidFill>
                  <a:srgbClr val="252525"/>
                </a:solidFill>
              </a:rPr>
              <a:t>among  other  Gentiles.  So,  as  much  as  in  me  is,  I </a:t>
            </a:r>
          </a:p>
          <a:p>
            <a:r>
              <a:rPr lang="en-US" sz="3700">
                <a:solidFill>
                  <a:srgbClr val="252525"/>
                </a:solidFill>
              </a:rPr>
              <a:t>am  ready  to  preach  the  Gospel  to  you  that  are </a:t>
            </a:r>
          </a:p>
          <a:p>
            <a:r>
              <a:rPr lang="en-US" sz="3700">
                <a:solidFill>
                  <a:srgbClr val="252525"/>
                </a:solidFill>
              </a:rPr>
              <a:t>at  Rome  also  .  .  .  for  it  is  the  power  of </a:t>
            </a:r>
          </a:p>
          <a:p>
            <a:r>
              <a:rPr lang="en-US" sz="3700">
                <a:solidFill>
                  <a:srgbClr val="252525"/>
                </a:solidFill>
              </a:rPr>
              <a:t>God  unto  salvation  to  every  one  that  believeth; </a:t>
            </a:r>
          </a:p>
          <a:p>
            <a:r>
              <a:rPr lang="en-US" sz="3700">
                <a:solidFill>
                  <a:srgbClr val="252525"/>
                </a:solidFill>
              </a:rPr>
              <a:t>to  the  Jew  first,  and  also  to  the  Greek." </a:t>
            </a:r>
          </a:p>
        </p:txBody>
      </p:sp>
    </p:spTree>
  </p:cSld>
  <p:clrMapOvr>
    <a:masterClrMapping/>
  </p:clrMapOvr>
</p:sld>
</file>

<file path=ppt/slides/slide1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6" id="256"/>
          <p:cNvPicPr>
            <a:picLocks noChangeAspect="true"/>
          </p:cNvPicPr>
          <p:nvPr/>
        </p:nvPicPr>
        <p:blipFill>
          <a:blip r:embed="rId2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6" id="2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As  much  as  to  say,  "While  I  have  been </a:t>
            </a:r>
          </a:p>
          <a:p>
            <a:r>
              <a:rPr lang="en-US" sz="3700">
                <a:solidFill>
                  <a:srgbClr val="252525"/>
                </a:solidFill>
              </a:rPr>
              <a:t>hindered  from  coming  to  you,  it  is  by  no  means </a:t>
            </a:r>
          </a:p>
          <a:p>
            <a:r>
              <a:rPr lang="en-US" sz="3700">
                <a:solidFill>
                  <a:srgbClr val="252525"/>
                </a:solidFill>
              </a:rPr>
              <a:t>because  I  am  ashamed  of  the  Gospel.  That  which </a:t>
            </a:r>
          </a:p>
          <a:p>
            <a:r>
              <a:rPr lang="en-US" sz="3700">
                <a:solidFill>
                  <a:srgbClr val="252525"/>
                </a:solidFill>
              </a:rPr>
              <a:t>has  hindered  me  is  something  other  than  that. </a:t>
            </a:r>
          </a:p>
          <a:p>
            <a:r>
              <a:rPr lang="en-US" sz="3700">
                <a:solidFill>
                  <a:srgbClr val="252525"/>
                </a:solidFill>
              </a:rPr>
              <a:t>For  I  want  to  assure  you  that  I  am  not  ashamed </a:t>
            </a:r>
          </a:p>
          <a:p>
            <a:r>
              <a:rPr lang="en-US" sz="3700">
                <a:solidFill>
                  <a:srgbClr val="252525"/>
                </a:solidFill>
              </a:rPr>
              <a:t>of  the  Gospel.  That  is  not  the  reason  I  have </a:t>
            </a:r>
          </a:p>
          <a:p>
            <a:r>
              <a:rPr lang="en-US" sz="3700">
                <a:solidFill>
                  <a:srgbClr val="252525"/>
                </a:solidFill>
              </a:rPr>
              <a:t>not  come.  That  is  not  the  reason  that  I  have </a:t>
            </a:r>
          </a:p>
          <a:p>
            <a:r>
              <a:rPr lang="en-US" sz="3700">
                <a:solidFill>
                  <a:srgbClr val="252525"/>
                </a:solidFill>
              </a:rPr>
              <a:t>not  lifted  up  my  voice  in  the  great  capital  city </a:t>
            </a:r>
          </a:p>
          <a:p>
            <a:r>
              <a:rPr lang="en-US" sz="3700">
                <a:solidFill>
                  <a:srgbClr val="252525"/>
                </a:solidFill>
              </a:rPr>
              <a:t>of  the  world."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  take  the  expression,  "the  Gospel."  What </a:t>
            </a:r>
          </a:p>
          <a:p>
            <a:r>
              <a:rPr lang="en-US" sz="3700">
                <a:solidFill>
                  <a:srgbClr val="252525"/>
                </a:solidFill>
              </a:rPr>
              <a:t>does  this  mean  ?  It  means  the  "good  tidings"  con- </a:t>
            </a:r>
          </a:p>
        </p:txBody>
      </p:sp>
    </p:spTree>
  </p:cSld>
  <p:clrMapOvr>
    <a:masterClrMapping/>
  </p:clrMapOvr>
</p:sld>
</file>

<file path=ppt/slides/slide1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8" id="258"/>
          <p:cNvPicPr>
            <a:picLocks noChangeAspect="true"/>
          </p:cNvPicPr>
          <p:nvPr/>
        </p:nvPicPr>
        <p:blipFill>
          <a:blip r:embed="rId2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58" id="2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tained in  what  we  call  the  four  Gospels — Mat- </a:t>
            </a:r>
          </a:p>
          <a:p>
            <a:r>
              <a:rPr lang="en-US" sz="3700">
                <a:solidFill>
                  <a:srgbClr val="252525"/>
                </a:solidFill>
              </a:rPr>
              <a:t>thew, Mark,  Luke,  and  John.  These  four  Gos- </a:t>
            </a:r>
          </a:p>
          <a:p>
            <a:r>
              <a:rPr lang="en-US" sz="3700">
                <a:solidFill>
                  <a:srgbClr val="252525"/>
                </a:solidFill>
              </a:rPr>
              <a:t>pels give  the  general  outline  of  the  whole  plan </a:t>
            </a:r>
          </a:p>
          <a:p>
            <a:r>
              <a:rPr lang="en-US" sz="3700">
                <a:solidFill>
                  <a:srgbClr val="252525"/>
                </a:solidFill>
              </a:rPr>
              <a:t>and  purpose  of  redemption  by  Jesus  Christ.  This </a:t>
            </a:r>
          </a:p>
          <a:p>
            <a:r>
              <a:rPr lang="en-US" sz="3700">
                <a:solidFill>
                  <a:srgbClr val="252525"/>
                </a:solidFill>
              </a:rPr>
              <a:t>was  the  thing  that  Paul  was  sent  to  declare.  Of </a:t>
            </a:r>
          </a:p>
          <a:p>
            <a:r>
              <a:rPr lang="en-US" sz="3700">
                <a:solidFill>
                  <a:srgbClr val="252525"/>
                </a:solidFill>
              </a:rPr>
              <a:t>course,  in  declaring  these  he  had  to  refer  back </a:t>
            </a:r>
          </a:p>
          <a:p>
            <a:r>
              <a:rPr lang="en-US" sz="3700">
                <a:solidFill>
                  <a:srgbClr val="252525"/>
                </a:solidFill>
              </a:rPr>
              <a:t>often  to  the  Old  Testament  prophecies  and </a:t>
            </a:r>
          </a:p>
          <a:p>
            <a:r>
              <a:rPr lang="en-US" sz="3700">
                <a:solidFill>
                  <a:srgbClr val="252525"/>
                </a:solidFill>
              </a:rPr>
              <a:t>teachings,  but  the  purpose  of  Paul's  preaching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48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was  to  set  forth  the  Gospel  as  "good  </a:t>
            </a:r>
          </a:p>
        </p:txBody>
      </p:sp>
    </p:spTree>
  </p:cSld>
  <p:clrMapOvr>
    <a:masterClrMapping/>
  </p:clrMapOvr>
</p:sld>
</file>

<file path=ppt/slides/slide1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0" id="260"/>
          <p:cNvPicPr>
            <a:picLocks noChangeAspect="true"/>
          </p:cNvPicPr>
          <p:nvPr/>
        </p:nvPicPr>
        <p:blipFill>
          <a:blip r:embed="rId2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0" id="2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tidings," </a:t>
            </a:r>
          </a:p>
          <a:p>
            <a:r>
              <a:rPr lang="en-US" sz="3700">
                <a:solidFill>
                  <a:srgbClr val="252525"/>
                </a:solidFill>
              </a:rPr>
              <a:t>because  Jesus  Christ  was  the  center  around  which </a:t>
            </a:r>
          </a:p>
          <a:p>
            <a:r>
              <a:rPr lang="en-US" sz="3700">
                <a:solidFill>
                  <a:srgbClr val="252525"/>
                </a:solidFill>
              </a:rPr>
              <a:t>the  whole  of  this  new  system  of  religion  re- </a:t>
            </a:r>
          </a:p>
          <a:p>
            <a:r>
              <a:rPr lang="en-US" sz="3700">
                <a:solidFill>
                  <a:srgbClr val="252525"/>
                </a:solidFill>
              </a:rPr>
              <a:t>volves.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religion  of  Jesus  Christ  is  not  in  any  sense </a:t>
            </a:r>
          </a:p>
          <a:p>
            <a:r>
              <a:rPr lang="en-US" sz="3700">
                <a:solidFill>
                  <a:srgbClr val="252525"/>
                </a:solidFill>
              </a:rPr>
              <a:t>an  overworked  Judaism.  It  is  a  distinct  and </a:t>
            </a:r>
          </a:p>
          <a:p>
            <a:r>
              <a:rPr lang="en-US" sz="3700">
                <a:solidFill>
                  <a:srgbClr val="252525"/>
                </a:solidFill>
              </a:rPr>
              <a:t>separate  thing  from  the  religion  of  the  Jews.  It </a:t>
            </a:r>
          </a:p>
          <a:p>
            <a:r>
              <a:rPr lang="en-US" sz="3700">
                <a:solidFill>
                  <a:srgbClr val="252525"/>
                </a:solidFill>
              </a:rPr>
              <a:t>is  in  no  sense  a  religion  of  works.  I  cannot </a:t>
            </a:r>
          </a:p>
          <a:p>
            <a:r>
              <a:rPr lang="en-US" sz="3700">
                <a:solidFill>
                  <a:srgbClr val="252525"/>
                </a:solidFill>
              </a:rPr>
              <a:t>make  that  too  emphatic,  because  so  many  peo- </a:t>
            </a:r>
          </a:p>
          <a:p>
            <a:r>
              <a:rPr lang="en-US" sz="3700">
                <a:solidFill>
                  <a:srgbClr val="252525"/>
                </a:solidFill>
              </a:rPr>
              <a:t>ple are  mistaken  with  respect  to  it.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heard  a  man  not  long  ago,  a  distinguished </a:t>
            </a:r>
          </a:p>
        </p:txBody>
      </p:sp>
    </p:spTree>
  </p:cSld>
  <p:clrMapOvr>
    <a:masterClrMapping/>
  </p:clrMapOvr>
</p:sld>
</file>

<file path=ppt/slides/slide1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2" id="262"/>
          <p:cNvPicPr>
            <a:picLocks noChangeAspect="true"/>
          </p:cNvPicPr>
          <p:nvPr/>
        </p:nvPicPr>
        <p:blipFill>
          <a:blip r:embed="rId2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2" id="2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theologian,  say  that  what  was  needed  for  the </a:t>
            </a:r>
          </a:p>
          <a:p>
            <a:r>
              <a:rPr lang="en-US" sz="3700">
                <a:solidFill>
                  <a:srgbClr val="252525"/>
                </a:solidFill>
              </a:rPr>
              <a:t>Jews  to-day  was  not  the  proclamation  of  the  Gos- </a:t>
            </a:r>
          </a:p>
          <a:p>
            <a:r>
              <a:rPr lang="en-US" sz="3700">
                <a:solidFill>
                  <a:srgbClr val="252525"/>
                </a:solidFill>
              </a:rPr>
              <a:t>pel of  Jesus  Christ  so  much  as  it  was  to  get  them </a:t>
            </a:r>
          </a:p>
          <a:p>
            <a:r>
              <a:rPr lang="en-US" sz="3700">
                <a:solidFill>
                  <a:srgbClr val="252525"/>
                </a:solidFill>
              </a:rPr>
              <a:t>to  eliminate  from  their  teaching  that  which  had </a:t>
            </a:r>
          </a:p>
          <a:p>
            <a:r>
              <a:rPr lang="en-US" sz="3700">
                <a:solidFill>
                  <a:srgbClr val="252525"/>
                </a:solidFill>
              </a:rPr>
              <a:t>crept  into  it  by  process  of  time,  which  was </a:t>
            </a:r>
          </a:p>
          <a:p>
            <a:r>
              <a:rPr lang="en-US" sz="3700">
                <a:solidFill>
                  <a:srgbClr val="252525"/>
                </a:solidFill>
              </a:rPr>
              <a:t>foreign  to  the  original  teaching  that  God  gave </a:t>
            </a:r>
          </a:p>
          <a:p>
            <a:r>
              <a:rPr lang="en-US" sz="3700">
                <a:solidFill>
                  <a:srgbClr val="252525"/>
                </a:solidFill>
              </a:rPr>
              <a:t>them.  In  other  words,  he  claims  that  the  Jew </a:t>
            </a:r>
          </a:p>
          <a:p>
            <a:r>
              <a:rPr lang="en-US" sz="3700">
                <a:solidFill>
                  <a:srgbClr val="252525"/>
                </a:solidFill>
              </a:rPr>
              <a:t>can  be  saved  by  simply  reworking  Judaism.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 cannot  be  too  careful  not  to  drop  into  that </a:t>
            </a:r>
          </a:p>
          <a:p>
            <a:r>
              <a:rPr lang="en-US" sz="3700">
                <a:solidFill>
                  <a:srgbClr val="252525"/>
                </a:solidFill>
              </a:rPr>
              <a:t>kind  of  error.  The  religion  of  Jesus  Christ  is </a:t>
            </a:r>
          </a:p>
        </p:txBody>
      </p:sp>
    </p:spTree>
  </p:cSld>
  <p:clrMapOvr>
    <a:masterClrMapping/>
  </p:clrMapOvr>
</p:sld>
</file>

<file path=ppt/slides/slide1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4" id="264"/>
          <p:cNvPicPr>
            <a:picLocks noChangeAspect="true"/>
          </p:cNvPicPr>
          <p:nvPr/>
        </p:nvPicPr>
        <p:blipFill>
          <a:blip r:embed="rId2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4" id="2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  separate,  distinct  religion.  It  came  to  take  the </a:t>
            </a:r>
          </a:p>
          <a:p>
            <a:r>
              <a:rPr lang="en-US" sz="3700">
                <a:solidFill>
                  <a:srgbClr val="252525"/>
                </a:solidFill>
              </a:rPr>
              <a:t>place  of  the  religion  of  the  Jews.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Paul  speaks  of  the  Gospel  as  "good  news," </a:t>
            </a:r>
          </a:p>
          <a:p>
            <a:r>
              <a:rPr lang="en-US" sz="3700">
                <a:solidFill>
                  <a:srgbClr val="252525"/>
                </a:solidFill>
              </a:rPr>
              <a:t>"good  tidings."  And  it  is  good  news.  I  was </a:t>
            </a:r>
          </a:p>
          <a:p>
            <a:r>
              <a:rPr lang="en-US" sz="3700">
                <a:solidFill>
                  <a:srgbClr val="252525"/>
                </a:solidFill>
              </a:rPr>
              <a:t>thinking  when  I  was  studying  this  lesson,  "Oh, </a:t>
            </a:r>
          </a:p>
          <a:p>
            <a:r>
              <a:rPr lang="en-US" sz="3700">
                <a:solidFill>
                  <a:srgbClr val="252525"/>
                </a:solidFill>
              </a:rPr>
              <a:t>how  I  thank  God  for  the  day  when  the  Gospel </a:t>
            </a:r>
          </a:p>
          <a:p>
            <a:r>
              <a:rPr lang="en-US" sz="3700">
                <a:solidFill>
                  <a:srgbClr val="252525"/>
                </a:solidFill>
              </a:rPr>
              <a:t>light  flashed  into  my  heart!  Where  would  I  be </a:t>
            </a:r>
          </a:p>
          <a:p>
            <a:r>
              <a:rPr lang="en-US" sz="3700">
                <a:solidFill>
                  <a:srgbClr val="252525"/>
                </a:solidFill>
              </a:rPr>
              <a:t>now,  were  it  not  for  this  'good  news'  ?"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  take  that  other  expression,  "not </a:t>
            </a:r>
          </a:p>
          <a:p>
            <a:r>
              <a:rPr lang="en-US" sz="3700">
                <a:solidFill>
                  <a:srgbClr val="252525"/>
                </a:solidFill>
              </a:rPr>
              <a:t>ashamed."    "For  I  am  not  ashamed  of  the  Gos- </a:t>
            </a:r>
          </a:p>
        </p:txBody>
      </p:sp>
    </p:spTree>
  </p:cSld>
  <p:clrMapOvr>
    <a:masterClrMapping/>
  </p:clrMapOvr>
</p:sld>
</file>

<file path=ppt/slides/slide1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6" id="266"/>
          <p:cNvPicPr>
            <a:picLocks noChangeAspect="true"/>
          </p:cNvPicPr>
          <p:nvPr/>
        </p:nvPicPr>
        <p:blipFill>
          <a:blip r:embed="rId2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6" id="2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Testimony  of  the  Gospel         49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pel."  Remember,  this  is  Paul  speaking — a  great </a:t>
            </a:r>
          </a:p>
          <a:p>
            <a:r>
              <a:rPr lang="en-US" sz="3700">
                <a:solidFill>
                  <a:srgbClr val="252525"/>
                </a:solidFill>
              </a:rPr>
              <a:t>man,  an  officeholder  of  high  rank  among  his  peo- </a:t>
            </a:r>
          </a:p>
          <a:p>
            <a:r>
              <a:rPr lang="en-US" sz="3700">
                <a:solidFill>
                  <a:srgbClr val="252525"/>
                </a:solidFill>
              </a:rPr>
              <a:t>ple. How  this  ought  to  bring  many  of  us  to </a:t>
            </a:r>
          </a:p>
          <a:p>
            <a:r>
              <a:rPr lang="en-US" sz="3700">
                <a:solidFill>
                  <a:srgbClr val="252525"/>
                </a:solidFill>
              </a:rPr>
              <a:t>our  knees  in  conviction,  because  we  have  tried </a:t>
            </a:r>
          </a:p>
          <a:p>
            <a:r>
              <a:rPr lang="en-US" sz="3700">
                <a:solidFill>
                  <a:srgbClr val="252525"/>
                </a:solidFill>
              </a:rPr>
              <a:t>to  hide  in  a  corner  and  not  let  our  light  shine  out.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was  reading  recently  some  words  by  one  of </a:t>
            </a:r>
          </a:p>
          <a:p>
            <a:r>
              <a:rPr lang="en-US" sz="3700">
                <a:solidFill>
                  <a:srgbClr val="252525"/>
                </a:solidFill>
              </a:rPr>
              <a:t>the  greatest  teachers  of  the  Word  of  God.  He </a:t>
            </a:r>
          </a:p>
          <a:p>
            <a:r>
              <a:rPr lang="en-US" sz="3700">
                <a:solidFill>
                  <a:srgbClr val="252525"/>
                </a:solidFill>
              </a:rPr>
              <a:t>said :  "I  have  never  yet  seen  a  young  convert  that </a:t>
            </a:r>
          </a:p>
          <a:p>
            <a:r>
              <a:rPr lang="en-US" sz="3700">
                <a:solidFill>
                  <a:srgbClr val="252525"/>
                </a:solidFill>
              </a:rPr>
              <a:t>remained  firm  in  his  conviction  of  Jesus  Christ </a:t>
            </a:r>
          </a:p>
        </p:txBody>
      </p:sp>
    </p:spTree>
  </p:cSld>
  <p:clrMapOvr>
    <a:masterClrMapping/>
  </p:clrMapOvr>
</p:sld>
</file>

<file path=ppt/slides/slide1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8" id="268"/>
          <p:cNvPicPr>
            <a:picLocks noChangeAspect="true"/>
          </p:cNvPicPr>
          <p:nvPr/>
        </p:nvPicPr>
        <p:blipFill>
          <a:blip r:embed="rId2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68" id="2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that  had  any  disposition  to  backslide,"  and  I  be- </a:t>
            </a:r>
          </a:p>
          <a:p>
            <a:r>
              <a:rPr lang="en-US" sz="3700">
                <a:solidFill>
                  <a:srgbClr val="252525"/>
                </a:solidFill>
              </a:rPr>
              <a:t>gan to  think;  and  I  don't  know  that  I  ever  did </a:t>
            </a:r>
          </a:p>
          <a:p>
            <a:r>
              <a:rPr lang="en-US" sz="3700">
                <a:solidFill>
                  <a:srgbClr val="252525"/>
                </a:solidFill>
              </a:rPr>
              <a:t>either.  Just  so  long  as  we  can  get  a  man  to </a:t>
            </a:r>
          </a:p>
          <a:p>
            <a:r>
              <a:rPr lang="en-US" sz="3700">
                <a:solidFill>
                  <a:srgbClr val="252525"/>
                </a:solidFill>
              </a:rPr>
              <a:t>openly  confess  Jesus  Christ,  there  is  no  danger </a:t>
            </a:r>
          </a:p>
          <a:p>
            <a:r>
              <a:rPr lang="en-US" sz="3700">
                <a:solidFill>
                  <a:srgbClr val="252525"/>
                </a:solidFill>
              </a:rPr>
              <a:t>of  backsliding.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Take  a  man  who  is  addicted  to  strong  drink. </a:t>
            </a:r>
          </a:p>
          <a:p>
            <a:r>
              <a:rPr lang="en-US" sz="3700">
                <a:solidFill>
                  <a:srgbClr val="252525"/>
                </a:solidFill>
              </a:rPr>
              <a:t>He  walks  into  a  barroom,  and  says :  'T  want  a </a:t>
            </a:r>
          </a:p>
          <a:p>
            <a:r>
              <a:rPr lang="en-US" sz="3700">
                <a:solidFill>
                  <a:srgbClr val="252525"/>
                </a:solidFill>
              </a:rPr>
              <a:t>glass  of  whiskey.  I  am  a  Christian.  I  believe </a:t>
            </a:r>
          </a:p>
          <a:p>
            <a:r>
              <a:rPr lang="en-US" sz="3700">
                <a:solidFill>
                  <a:srgbClr val="252525"/>
                </a:solidFill>
              </a:rPr>
              <a:t>in  Jesus  Christ."  He  cannot  say  that.  H  he </a:t>
            </a:r>
          </a:p>
          <a:p>
            <a:r>
              <a:rPr lang="en-US" sz="3700">
                <a:solidFill>
                  <a:srgbClr val="252525"/>
                </a:solidFill>
              </a:rPr>
              <a:t>did  he  could  not  take  the  drink,  and  so  with </a:t>
            </a:r>
          </a:p>
          <a:p>
            <a:r>
              <a:rPr lang="en-US" sz="3700">
                <a:solidFill>
                  <a:srgbClr val="252525"/>
                </a:solidFill>
              </a:rPr>
              <a:t>other  forms  of  temptation.  H  we  could  </a:t>
            </a:r>
          </a:p>
        </p:txBody>
      </p:sp>
    </p:spTree>
  </p:cSld>
  <p:clrMapOvr>
    <a:masterClrMapping/>
  </p:clrMapOvr>
</p:sld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0" id="270"/>
          <p:cNvPicPr>
            <a:picLocks noChangeAspect="true"/>
          </p:cNvPicPr>
          <p:nvPr/>
        </p:nvPicPr>
        <p:blipFill>
          <a:blip r:embed="rId2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0" id="27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only </a:t>
            </a:r>
          </a:p>
          <a:p>
            <a:r>
              <a:rPr lang="en-US" sz="3700">
                <a:solidFill>
                  <a:srgbClr val="252525"/>
                </a:solidFill>
              </a:rPr>
              <a:t>get  men  and  women  to  do  what  Paul  did  under </a:t>
            </a:r>
          </a:p>
          <a:p>
            <a:r>
              <a:rPr lang="en-US" sz="3700">
                <a:solidFill>
                  <a:srgbClr val="252525"/>
                </a:solidFill>
              </a:rPr>
              <a:t>all  circumstances,  boldly  confess  Jesus  Christ,  we </a:t>
            </a:r>
          </a:p>
          <a:p>
            <a:r>
              <a:rPr lang="en-US" sz="3700">
                <a:solidFill>
                  <a:srgbClr val="252525"/>
                </a:solidFill>
              </a:rPr>
              <a:t>would  stop  men  from  backsliding.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Let  us  take  the  next  general  division.  The </a:t>
            </a:r>
          </a:p>
          <a:p>
            <a:r>
              <a:rPr lang="en-US" sz="3700">
                <a:solidFill>
                  <a:srgbClr val="252525"/>
                </a:solidFill>
              </a:rPr>
              <a:t>reason  for  his  declaration.  Verse  sixteen  says: </a:t>
            </a:r>
          </a:p>
          <a:p>
            <a:r>
              <a:rPr lang="en-US" sz="3700">
                <a:solidFill>
                  <a:srgbClr val="252525"/>
                </a:solidFill>
              </a:rPr>
              <a:t>"For  it  is  the  power  of  God  unto  salvation  to </a:t>
            </a:r>
          </a:p>
          <a:p>
            <a:r>
              <a:rPr lang="en-US" sz="3700">
                <a:solidFill>
                  <a:srgbClr val="252525"/>
                </a:solidFill>
              </a:rPr>
              <a:t>every  one  that  believeth.  To  the  Jew  first,  and </a:t>
            </a:r>
          </a:p>
          <a:p>
            <a:r>
              <a:rPr lang="en-US" sz="3700">
                <a:solidFill>
                  <a:srgbClr val="252525"/>
                </a:solidFill>
              </a:rPr>
              <a:t>also  to  the  Greek."  Salvation  is  the  biggest  word </a:t>
            </a:r>
          </a:p>
          <a:p>
            <a:r>
              <a:rPr lang="en-US" sz="3700">
                <a:solidFill>
                  <a:srgbClr val="252525"/>
                </a:solidFill>
              </a:rPr>
              <a:t>in  the  English  language.  There  is  no  possible </a:t>
            </a:r>
          </a:p>
          <a:p>
            <a:r>
              <a:rPr lang="en-US" sz="3700">
                <a:solidFill>
                  <a:srgbClr val="252525"/>
                </a:solidFill>
              </a:rPr>
              <a:t>way  of  defining  it.  It  is  too  big.  It  is  a  word </a:t>
            </a:r>
          </a:p>
        </p:txBody>
      </p:sp>
    </p:spTree>
  </p:cSld>
  <p:clrMapOvr>
    <a:masterClrMapping/>
  </p:clrMapOvr>
</p:sld>
</file>

<file path=ppt/slides/slide1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2" id="272"/>
          <p:cNvPicPr>
            <a:picLocks noChangeAspect="true"/>
          </p:cNvPicPr>
          <p:nvPr/>
        </p:nvPicPr>
        <p:blipFill>
          <a:blip r:embed="rId2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2" id="27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that  cannot  be  expressed  because  it  is  bigger  than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50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anything  used  to  express  it.  In  this  particular </a:t>
            </a:r>
          </a:p>
          <a:p>
            <a:r>
              <a:rPr lang="en-US" sz="3700">
                <a:solidFill>
                  <a:srgbClr val="252525"/>
                </a:solidFill>
              </a:rPr>
              <a:t>case  the  Apostle  is  referring  to  salvation  from </a:t>
            </a:r>
          </a:p>
          <a:p>
            <a:r>
              <a:rPr lang="en-US" sz="3700">
                <a:solidFill>
                  <a:srgbClr val="252525"/>
                </a:solidFill>
              </a:rPr>
              <a:t>sin.    That  is  the  thing  that  he  is  looking  at  now.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  this  sense  salvation  is  used  to  save  from, </a:t>
            </a:r>
          </a:p>
          <a:p>
            <a:r>
              <a:rPr lang="en-US" sz="3700">
                <a:solidFill>
                  <a:srgbClr val="252525"/>
                </a:solidFill>
              </a:rPr>
              <a:t>first,  the  penalty  of  sin  (Rom.  8:i).  "There  is </a:t>
            </a:r>
          </a:p>
          <a:p>
            <a:r>
              <a:rPr lang="en-US" sz="3700">
                <a:solidFill>
                  <a:srgbClr val="252525"/>
                </a:solidFill>
              </a:rPr>
              <a:t>now  therefore  no  condemnation  to  them  that  are </a:t>
            </a:r>
          </a:p>
          <a:p>
            <a:r>
              <a:rPr lang="en-US" sz="3700">
                <a:solidFill>
                  <a:srgbClr val="252525"/>
                </a:solidFill>
              </a:rPr>
              <a:t>in  Christ  Jesus."  There  is  salvation,  saving  us </a:t>
            </a:r>
          </a:p>
        </p:txBody>
      </p:sp>
    </p:spTree>
  </p:cSld>
  <p:clrMapOvr>
    <a:masterClrMapping/>
  </p:clrMapOvr>
</p:sld>
</file>

<file path=ppt/slides/slide1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4" id="274"/>
          <p:cNvPicPr>
            <a:picLocks noChangeAspect="true"/>
          </p:cNvPicPr>
          <p:nvPr/>
        </p:nvPicPr>
        <p:blipFill>
          <a:blip r:embed="rId2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4" id="2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from  the  penalty  of  sin.  In  addition,  take  John </a:t>
            </a:r>
          </a:p>
          <a:p>
            <a:r>
              <a:rPr lang="en-US" sz="3700">
                <a:solidFill>
                  <a:srgbClr val="252525"/>
                </a:solidFill>
              </a:rPr>
              <a:t>5  :25  and  Rom.  5  :g.  We  cannot  dwell  too  much </a:t>
            </a:r>
          </a:p>
          <a:p>
            <a:r>
              <a:rPr lang="en-US" sz="3700">
                <a:solidFill>
                  <a:srgbClr val="252525"/>
                </a:solidFill>
              </a:rPr>
              <a:t>upon  the  fact  that  the  race  of  Adam  since  the </a:t>
            </a:r>
          </a:p>
          <a:p>
            <a:r>
              <a:rPr lang="en-US" sz="3700">
                <a:solidFill>
                  <a:srgbClr val="252525"/>
                </a:solidFill>
              </a:rPr>
              <a:t>fall  of  man  has  been  under  the  curse  and  penalty </a:t>
            </a:r>
          </a:p>
          <a:p>
            <a:r>
              <a:rPr lang="en-US" sz="3700">
                <a:solidFill>
                  <a:srgbClr val="252525"/>
                </a:solidFill>
              </a:rPr>
              <a:t>of  sin.  There  is  where  every  man  is  to-day  who </a:t>
            </a:r>
          </a:p>
          <a:p>
            <a:r>
              <a:rPr lang="en-US" sz="3700">
                <a:solidFill>
                  <a:srgbClr val="252525"/>
                </a:solidFill>
              </a:rPr>
              <a:t>is  not  a  Christian.  It  does  not  take  any  Bible </a:t>
            </a:r>
          </a:p>
          <a:p>
            <a:r>
              <a:rPr lang="en-US" sz="3700">
                <a:solidFill>
                  <a:srgbClr val="252525"/>
                </a:solidFill>
              </a:rPr>
              <a:t>to  prove  that  man  is  a  depraved  being.  The  his- </a:t>
            </a:r>
          </a:p>
          <a:p>
            <a:r>
              <a:rPr lang="en-US" sz="3700">
                <a:solidFill>
                  <a:srgbClr val="252525"/>
                </a:solidFill>
              </a:rPr>
              <a:t>tory of  the  race  proves  it.  Our  own  experience </a:t>
            </a:r>
          </a:p>
          <a:p>
            <a:r>
              <a:rPr lang="en-US" sz="3700">
                <a:solidFill>
                  <a:srgbClr val="252525"/>
                </a:solidFill>
              </a:rPr>
              <a:t>proves  it.  There  is  not  a  man  in  the  world  who </a:t>
            </a:r>
          </a:p>
          <a:p>
            <a:r>
              <a:rPr lang="en-US" sz="3700">
                <a:solidFill>
                  <a:srgbClr val="252525"/>
                </a:solidFill>
              </a:rPr>
              <a:t>does  not  know  that  the  inclinations  of  the  natural </a:t>
            </a:r>
          </a:p>
          <a:p>
            <a:r>
              <a:rPr lang="en-US" sz="3700">
                <a:solidFill>
                  <a:srgbClr val="252525"/>
                </a:solidFill>
              </a:rPr>
              <a:t>man  are  toward  evil.  It  is  a  struggle  to  </a:t>
            </a:r>
          </a:p>
        </p:txBody>
      </p:sp>
    </p:spTree>
  </p:cSld>
  <p:clrMapOvr>
    <a:masterClrMapping/>
  </p:clrMapOvr>
</p:sld>
</file>

<file path=ppt/slides/slide1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6" id="276"/>
          <p:cNvPicPr>
            <a:picLocks noChangeAspect="true"/>
          </p:cNvPicPr>
          <p:nvPr/>
        </p:nvPicPr>
        <p:blipFill>
          <a:blip r:embed="rId2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6" id="2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go  the </a:t>
            </a:r>
          </a:p>
          <a:p>
            <a:r>
              <a:rPr lang="en-US" sz="3700">
                <a:solidFill>
                  <a:srgbClr val="252525"/>
                </a:solidFill>
              </a:rPr>
              <a:t>other  way.  The  natural  tendency  is  toward  that </a:t>
            </a:r>
          </a:p>
          <a:p>
            <a:r>
              <a:rPr lang="en-US" sz="3700">
                <a:solidFill>
                  <a:srgbClr val="252525"/>
                </a:solidFill>
              </a:rPr>
              <a:t>which  is  evil.  That  is  true  of  the  race  every- </a:t>
            </a:r>
          </a:p>
          <a:p>
            <a:r>
              <a:rPr lang="en-US" sz="3700">
                <a:solidFill>
                  <a:srgbClr val="252525"/>
                </a:solidFill>
              </a:rPr>
              <a:t>where. By  reason  of  this  fact  the  penalty  is </a:t>
            </a:r>
          </a:p>
          <a:p>
            <a:r>
              <a:rPr lang="en-US" sz="3700">
                <a:solidFill>
                  <a:srgbClr val="252525"/>
                </a:solidFill>
              </a:rPr>
              <a:t>resting  over  him,  and  Jesus  Christ  comes  to  save </a:t>
            </a:r>
          </a:p>
          <a:p>
            <a:r>
              <a:rPr lang="en-US" sz="3700">
                <a:solidFill>
                  <a:srgbClr val="252525"/>
                </a:solidFill>
              </a:rPr>
              <a:t>men,  first,  from  the  penalty  of  this  sin.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Do  I  address  a  man  who  is  not  saved?  If </a:t>
            </a:r>
          </a:p>
          <a:p>
            <a:r>
              <a:rPr lang="en-US" sz="3700">
                <a:solidFill>
                  <a:srgbClr val="252525"/>
                </a:solidFill>
              </a:rPr>
              <a:t>I  do,  let  me  say  to  you  that  you  are  now  under </a:t>
            </a:r>
          </a:p>
          <a:p>
            <a:r>
              <a:rPr lang="en-US" sz="3700">
                <a:solidFill>
                  <a:srgbClr val="252525"/>
                </a:solidFill>
              </a:rPr>
              <a:t>the  penalty  of  sin.  You  are  just  like  that  man </a:t>
            </a:r>
          </a:p>
          <a:p>
            <a:r>
              <a:rPr lang="en-US" sz="3700">
                <a:solidFill>
                  <a:srgbClr val="252525"/>
                </a:solidFill>
              </a:rPr>
              <a:t>who  has  been  tried  in  the  courts  and  found  guilty, </a:t>
            </a:r>
          </a:p>
          <a:p>
            <a:r>
              <a:rPr lang="en-US" sz="3700">
                <a:solidFill>
                  <a:srgbClr val="252525"/>
                </a:solidFill>
              </a:rPr>
              <a:t>and  is  awaiting  execution.  The  penalty  of  sin </a:t>
            </a:r>
          </a:p>
        </p:txBody>
      </p:sp>
    </p:spTree>
  </p:cSld>
  <p:clrMapOvr>
    <a:masterClrMapping/>
  </p:clrMapOvr>
</p:sld>
</file>

<file path=ppt/slides/slide1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8" id="278"/>
          <p:cNvPicPr>
            <a:picLocks noChangeAspect="true"/>
          </p:cNvPicPr>
          <p:nvPr/>
        </p:nvPicPr>
        <p:blipFill>
          <a:blip r:embed="rId2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78" id="2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is  resting  over  you.  The  full  force  of  the  penalty </a:t>
            </a:r>
          </a:p>
          <a:p>
            <a:r>
              <a:rPr lang="en-US" sz="3700">
                <a:solidFill>
                  <a:srgbClr val="252525"/>
                </a:solidFill>
              </a:rPr>
              <a:t>you  have  not  realized  yet,  but  it  awaits  you.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Gospel  has  come  to  save  you  from  the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Testimony  of  the  Gospel         51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penalty  of  sin.  That  is  the  first  thing  that  the </a:t>
            </a:r>
          </a:p>
          <a:p>
            <a:r>
              <a:rPr lang="en-US" sz="3700">
                <a:solidFill>
                  <a:srgbClr val="252525"/>
                </a:solidFill>
              </a:rPr>
              <a:t>Gospel  undertakes  to  do,  and  that  is  the  first </a:t>
            </a:r>
          </a:p>
          <a:p>
            <a:r>
              <a:rPr lang="en-US" sz="3700">
                <a:solidFill>
                  <a:srgbClr val="252525"/>
                </a:solidFill>
              </a:rPr>
              <a:t>thing  that  most  people  embrace  with  reference  to </a:t>
            </a:r>
          </a:p>
          <a:p>
            <a:r>
              <a:rPr lang="en-US" sz="3700">
                <a:solidFill>
                  <a:srgbClr val="252525"/>
                </a:solidFill>
              </a:rPr>
              <a:t>the  Gospel.  The  thing  that  brought  me  to  Jesus </a:t>
            </a:r>
          </a:p>
          <a:p>
            <a:r>
              <a:rPr lang="en-US" sz="3700">
                <a:solidFill>
                  <a:srgbClr val="252525"/>
                </a:solidFill>
              </a:rPr>
              <a:t>Christ  was,  first,  the  consciousness  in  my  own </a:t>
            </a:r>
          </a:p>
        </p:txBody>
      </p:sp>
    </p:spTree>
  </p:cSld>
  <p:clrMapOvr>
    <a:masterClrMapping/>
  </p:clrMapOvr>
</p:sld>
</file>

<file path=ppt/slides/slide1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0" id="280"/>
          <p:cNvPicPr>
            <a:picLocks noChangeAspect="true"/>
          </p:cNvPicPr>
          <p:nvPr/>
        </p:nvPicPr>
        <p:blipFill>
          <a:blip r:embed="rId2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0" id="2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heart  of  the  fact  that  I  was  a  condemned  sinner, </a:t>
            </a:r>
          </a:p>
          <a:p>
            <a:r>
              <a:rPr lang="en-US" sz="3700">
                <a:solidFill>
                  <a:srgbClr val="252525"/>
                </a:solidFill>
              </a:rPr>
              <a:t>and  that  there  was  resting  over  my  head  the  aw- </a:t>
            </a:r>
          </a:p>
          <a:p>
            <a:r>
              <a:rPr lang="en-US" sz="3700">
                <a:solidFill>
                  <a:srgbClr val="252525"/>
                </a:solidFill>
              </a:rPr>
              <a:t>ful penalty  for  sin.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next  thing  is  salvation  from  the  power </a:t>
            </a:r>
          </a:p>
          <a:p>
            <a:r>
              <a:rPr lang="en-US" sz="3700">
                <a:solidFill>
                  <a:srgbClr val="252525"/>
                </a:solidFill>
              </a:rPr>
              <a:t>of  sin.  Take  Romans  5:10  and  10:12.  First, </a:t>
            </a:r>
          </a:p>
          <a:p>
            <a:r>
              <a:rPr lang="en-US" sz="3700">
                <a:solidFill>
                  <a:srgbClr val="252525"/>
                </a:solidFill>
              </a:rPr>
              <a:t>from  the  penalty,  giving  us  life  and  liberty  and </a:t>
            </a:r>
          </a:p>
          <a:p>
            <a:r>
              <a:rPr lang="en-US" sz="3700">
                <a:solidFill>
                  <a:srgbClr val="252525"/>
                </a:solidFill>
              </a:rPr>
              <a:t>freedom,  and  second,  from  the  power.  Here  we </a:t>
            </a:r>
          </a:p>
          <a:p>
            <a:r>
              <a:rPr lang="en-US" sz="3700">
                <a:solidFill>
                  <a:srgbClr val="252525"/>
                </a:solidFill>
              </a:rPr>
              <a:t>come  to  deal  with  the  Christian  life.  This  does </a:t>
            </a:r>
          </a:p>
          <a:p>
            <a:r>
              <a:rPr lang="en-US" sz="3700">
                <a:solidFill>
                  <a:srgbClr val="252525"/>
                </a:solidFill>
              </a:rPr>
              <a:t>not  apply  to  the  unregenerate  man,  as  it  is  no </a:t>
            </a:r>
          </a:p>
          <a:p>
            <a:r>
              <a:rPr lang="en-US" sz="3700">
                <a:solidFill>
                  <a:srgbClr val="252525"/>
                </a:solidFill>
              </a:rPr>
              <a:t>promise  to  him  of  salvation  from  the  power  of </a:t>
            </a:r>
          </a:p>
          <a:p>
            <a:r>
              <a:rPr lang="en-US" sz="3700">
                <a:solidFill>
                  <a:srgbClr val="252525"/>
                </a:solidFill>
              </a:rPr>
              <a:t>sin.  When  a  man  has  accepted  Jesus  </a:t>
            </a:r>
          </a:p>
        </p:txBody>
      </p:sp>
    </p:spTree>
  </p:cSld>
  <p:clrMapOvr>
    <a:masterClrMapping/>
  </p:clrMapOvr>
</p:sld>
</file>

<file path=ppt/slides/slide1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2" id="282"/>
          <p:cNvPicPr>
            <a:picLocks noChangeAspect="true"/>
          </p:cNvPicPr>
          <p:nvPr/>
        </p:nvPicPr>
        <p:blipFill>
          <a:blip r:embed="rId2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2" id="2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Christ,  he </a:t>
            </a:r>
          </a:p>
          <a:p>
            <a:r>
              <a:rPr lang="en-US" sz="3700">
                <a:solidFill>
                  <a:srgbClr val="252525"/>
                </a:solidFill>
              </a:rPr>
              <a:t>is  free  from  the  penalty  of  sin,  then  he  is  pre- </a:t>
            </a:r>
          </a:p>
          <a:p>
            <a:r>
              <a:rPr lang="en-US" sz="3700">
                <a:solidFill>
                  <a:srgbClr val="252525"/>
                </a:solidFill>
              </a:rPr>
              <a:t>pared to  appreciate  the  force  of  salvation  from </a:t>
            </a:r>
          </a:p>
          <a:p>
            <a:r>
              <a:rPr lang="en-US" sz="3700">
                <a:solidFill>
                  <a:srgbClr val="252525"/>
                </a:solidFill>
              </a:rPr>
              <a:t>the  power  of  sin,  and  I  thank  God  that  this  is </a:t>
            </a:r>
          </a:p>
          <a:p>
            <a:r>
              <a:rPr lang="en-US" sz="3700">
                <a:solidFill>
                  <a:srgbClr val="252525"/>
                </a:solidFill>
              </a:rPr>
              <a:t>just  as  true  as  the  first.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  hear  men  talking  like  this :  "Oh,  well,  I  am </a:t>
            </a:r>
          </a:p>
          <a:p>
            <a:r>
              <a:rPr lang="en-US" sz="3700">
                <a:solidFill>
                  <a:srgbClr val="252525"/>
                </a:solidFill>
              </a:rPr>
              <a:t>bound  to  sin.  We  are  not  perfect  in  this  life." </a:t>
            </a:r>
          </a:p>
          <a:p>
            <a:r>
              <a:rPr lang="en-US" sz="3700">
                <a:solidFill>
                  <a:srgbClr val="252525"/>
                </a:solidFill>
              </a:rPr>
              <a:t>The  man  who  says  that  does  not  follow  his  Bible. </a:t>
            </a:r>
          </a:p>
          <a:p>
            <a:r>
              <a:rPr lang="en-US" sz="3700">
                <a:solidFill>
                  <a:srgbClr val="252525"/>
                </a:solidFill>
              </a:rPr>
              <a:t>He  may  sin.  I  do  not  know  a  perfected  soul, </a:t>
            </a:r>
          </a:p>
          <a:p>
            <a:r>
              <a:rPr lang="en-US" sz="3700">
                <a:solidFill>
                  <a:srgbClr val="252525"/>
                </a:solidFill>
              </a:rPr>
              <a:t>but  the  Gospel,  appropriated  in  all  of  its  full- </a:t>
            </a:r>
          </a:p>
          <a:p>
            <a:r>
              <a:rPr lang="en-US" sz="3700">
                <a:solidFill>
                  <a:srgbClr val="252525"/>
                </a:solidFill>
              </a:rPr>
              <a:t>ness, does  promise  to  save  men  from  the  dominat- </a:t>
            </a:r>
          </a:p>
        </p:txBody>
      </p:sp>
    </p:spTree>
  </p:cSld>
  <p:clrMapOvr>
    <a:masterClrMapping/>
  </p:clrMapOvr>
</p:sld>
</file>

<file path=ppt/slides/slide1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4" id="284"/>
          <p:cNvPicPr>
            <a:picLocks noChangeAspect="true"/>
          </p:cNvPicPr>
          <p:nvPr/>
        </p:nvPicPr>
        <p:blipFill>
          <a:blip r:embed="rId2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4" id="2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ing power  of  sin,  and  we  need  to  preach  it.  Be </a:t>
            </a:r>
          </a:p>
          <a:p>
            <a:r>
              <a:rPr lang="en-US" sz="3700">
                <a:solidFill>
                  <a:srgbClr val="252525"/>
                </a:solidFill>
              </a:rPr>
              <a:t>assured  of  the  fact  that  this  same  Gospel  that </a:t>
            </a:r>
          </a:p>
          <a:p>
            <a:r>
              <a:rPr lang="en-US" sz="3700">
                <a:solidFill>
                  <a:srgbClr val="252525"/>
                </a:solidFill>
              </a:rPr>
              <a:t>has  saved  you  from  the  penalty  of  sin  and  given </a:t>
            </a:r>
          </a:p>
          <a:p>
            <a:r>
              <a:rPr lang="en-US" sz="3700">
                <a:solidFill>
                  <a:srgbClr val="252525"/>
                </a:solidFill>
              </a:rPr>
              <a:t>you  liberty  and  life,  will  also  save  you  from  the </a:t>
            </a:r>
          </a:p>
          <a:p>
            <a:r>
              <a:rPr lang="en-US" sz="3700">
                <a:solidFill>
                  <a:srgbClr val="252525"/>
                </a:solidFill>
              </a:rPr>
              <a:t>dominating  power  of  sin  in  your  every-day  life.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VI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GOD'S  ATTITUDE  TO  SIN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Ch.  1:18-3:20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I.  Preliminary. — What     is     sin?       i    John </a:t>
            </a:r>
          </a:p>
        </p:txBody>
      </p:sp>
    </p:spTree>
  </p:cSld>
  <p:clrMapOvr>
    <a:masterClrMapping/>
  </p:clrMapOvr>
</p:sld>
</file>

<file path=ppt/slides/slide1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6" id="286"/>
          <p:cNvPicPr>
            <a:picLocks noChangeAspect="true"/>
          </p:cNvPicPr>
          <p:nvPr/>
        </p:nvPicPr>
        <p:blipFill>
          <a:blip r:embed="rId2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6" id="2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5:14;  2  John  3:4.  God's  attitude  to  sin. </a:t>
            </a:r>
          </a:p>
          <a:p>
            <a:r>
              <a:rPr lang="en-US" sz="3700">
                <a:solidFill>
                  <a:srgbClr val="252525"/>
                </a:solidFill>
              </a:rPr>
              <a:t>"Wrath."  1:18.  Definition:  "Wrath,"  op- </a:t>
            </a:r>
          </a:p>
          <a:p>
            <a:r>
              <a:rPr lang="en-US" sz="3700">
                <a:solidFill>
                  <a:srgbClr val="252525"/>
                </a:solidFill>
              </a:rPr>
              <a:t>posite of  love.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II.  Reasonableness  of  God's  Wrath. </a:t>
            </a:r>
          </a:p>
          <a:p>
            <a:r>
              <a:rPr lang="en-US" sz="3700">
                <a:solidFill>
                  <a:srgbClr val="252525"/>
                </a:solidFill>
              </a:rPr>
              <a:t>I.  His  law.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    Revelation  in  conscience.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Revelation  in  nature.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4.  Their  conduct.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(a)  Glorified  not  God.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(b)  Gave  not  thanks.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(c)  Vain  in  their  reasoning.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(d)  Hearts  darkened. </a:t>
            </a:r>
          </a:p>
        </p:txBody>
      </p:sp>
    </p:spTree>
  </p:cSld>
  <p:clrMapOvr>
    <a:masterClrMapping/>
  </p:clrMapOvr>
</p:sld>
</file>

<file path=ppt/slides/slide1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8" id="288"/>
          <p:cNvPicPr>
            <a:picLocks noChangeAspect="true"/>
          </p:cNvPicPr>
          <p:nvPr/>
        </p:nvPicPr>
        <p:blipFill>
          <a:blip r:embed="rId2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88" id="2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(e)  Idolatry.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III.  The  Manner  of  His  Wrath.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Present.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(a)  Hearts  unclean.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(b)  According  to  works.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(c)  Without  respect  to  persons.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(d)  According  to  Paul's  Gospel.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Future. — Judged  by  God. </a:t>
            </a:r>
          </a:p>
          <a:p>
            <a:r>
              <a:rPr lang="en-US" sz="3700">
                <a:solidFill>
                  <a:srgbClr val="252525"/>
                </a:solidFill>
              </a:rPr>
              <a:t>(a)  According  to  truth.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52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God's  Attitude  to  Sin  53 </a:t>
            </a:r>
          </a:p>
        </p:txBody>
      </p:sp>
    </p:spTree>
  </p:cSld>
  <p:clrMapOvr>
    <a:masterClrMapping/>
  </p:clrMapOvr>
</p:sld>
</file>

<file path=ppt/slides/slide1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0" id="290"/>
          <p:cNvPicPr>
            <a:picLocks noChangeAspect="true"/>
          </p:cNvPicPr>
          <p:nvPr/>
        </p:nvPicPr>
        <p:blipFill>
          <a:blip r:embed="rId2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0" id="29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(b)  According  to  works.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(c)  Without  respect  to  persons.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(d)  According  to  Paul's  Gospel.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What  is  sin  ?  There  are  two  definitions  of  sin. </a:t>
            </a:r>
          </a:p>
          <a:p>
            <a:r>
              <a:rPr lang="en-US" sz="3700">
                <a:solidFill>
                  <a:srgbClr val="252525"/>
                </a:solidFill>
              </a:rPr>
              <a:t>They  are  in  i  John.  The  first  is  in  i  John  3  4, </a:t>
            </a:r>
          </a:p>
          <a:p>
            <a:r>
              <a:rPr lang="en-US" sz="3700">
                <a:solidFill>
                  <a:srgbClr val="252525"/>
                </a:solidFill>
              </a:rPr>
              <a:t>"Sin  is  the  transgression  of  the  law."  The  sec- </a:t>
            </a:r>
          </a:p>
          <a:p>
            <a:r>
              <a:rPr lang="en-US" sz="3700">
                <a:solidFill>
                  <a:srgbClr val="252525"/>
                </a:solidFill>
              </a:rPr>
              <a:t>ond is  in  I  John  5:17,  "All  unrighteousness  is </a:t>
            </a:r>
          </a:p>
          <a:p>
            <a:r>
              <a:rPr lang="en-US" sz="3700">
                <a:solidFill>
                  <a:srgbClr val="252525"/>
                </a:solidFill>
              </a:rPr>
              <a:t>sin."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"Sin  is  a  transgression  of  the  law."  The </a:t>
            </a:r>
          </a:p>
          <a:p>
            <a:r>
              <a:rPr lang="en-US" sz="3700">
                <a:solidFill>
                  <a:srgbClr val="252525"/>
                </a:solidFill>
              </a:rPr>
              <a:t>Revised  Version  translates  it,  "Sin  is  Law- </a:t>
            </a:r>
          </a:p>
          <a:p>
            <a:r>
              <a:rPr lang="en-US" sz="3700">
                <a:solidFill>
                  <a:srgbClr val="252525"/>
                </a:solidFill>
              </a:rPr>
              <a:t>lessness." It  is  a  disregard  of  law.  It  is </a:t>
            </a:r>
          </a:p>
        </p:txBody>
      </p:sp>
    </p:spTree>
  </p:cSld>
  <p:clrMapOvr>
    <a:masterClrMapping/>
  </p:clrMapOvr>
</p:sld>
</file>

<file path=ppt/slides/slide1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2" id="292"/>
          <p:cNvPicPr>
            <a:picLocks noChangeAspect="true"/>
          </p:cNvPicPr>
          <p:nvPr/>
        </p:nvPicPr>
        <p:blipFill>
          <a:blip r:embed="rId2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2" id="2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disobedience  of  the  law.  Then  the  next  defi- </a:t>
            </a:r>
          </a:p>
          <a:p>
            <a:r>
              <a:rPr lang="en-US" sz="3700">
                <a:solidFill>
                  <a:srgbClr val="252525"/>
                </a:solidFill>
              </a:rPr>
              <a:t>nition, "all  unrighteousness  is  sin."  Keep  in  mind </a:t>
            </a:r>
          </a:p>
          <a:p>
            <a:r>
              <a:rPr lang="en-US" sz="3700">
                <a:solidFill>
                  <a:srgbClr val="252525"/>
                </a:solidFill>
              </a:rPr>
              <a:t>the  definition  of  "righteousness."  It  will  help  you </a:t>
            </a:r>
          </a:p>
          <a:p>
            <a:r>
              <a:rPr lang="en-US" sz="3700">
                <a:solidFill>
                  <a:srgbClr val="252525"/>
                </a:solidFill>
              </a:rPr>
              <a:t>to  see  the  nature  of  sin.  Under  this  definition, </a:t>
            </a:r>
          </a:p>
          <a:p>
            <a:r>
              <a:rPr lang="en-US" sz="3700">
                <a:solidFill>
                  <a:srgbClr val="252525"/>
                </a:solidFill>
              </a:rPr>
              <a:t>righteousness  is  failing  to  come  up  to  God's </a:t>
            </a:r>
          </a:p>
          <a:p>
            <a:r>
              <a:rPr lang="en-US" sz="3700">
                <a:solidFill>
                  <a:srgbClr val="252525"/>
                </a:solidFill>
              </a:rPr>
              <a:t>standard.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There  are  a  great  many  people  who  think  that </a:t>
            </a:r>
          </a:p>
          <a:p>
            <a:r>
              <a:rPr lang="en-US" sz="3700">
                <a:solidFill>
                  <a:srgbClr val="252525"/>
                </a:solidFill>
              </a:rPr>
              <a:t>sin  is  doing  something  that  God  has  told  us  not </a:t>
            </a:r>
          </a:p>
          <a:p>
            <a:r>
              <a:rPr lang="en-US" sz="3700">
                <a:solidFill>
                  <a:srgbClr val="252525"/>
                </a:solidFill>
              </a:rPr>
              <a:t>to  do.  That  is  true,  but  it  is  not  all  of  sin.  It </a:t>
            </a:r>
          </a:p>
          <a:p>
            <a:r>
              <a:rPr lang="en-US" sz="3700">
                <a:solidFill>
                  <a:srgbClr val="252525"/>
                </a:solidFill>
              </a:rPr>
              <a:t>is  also  failing  to  do  what  God  has  commanded; </a:t>
            </a:r>
          </a:p>
          <a:p>
            <a:r>
              <a:rPr lang="en-US" sz="3700">
                <a:solidFill>
                  <a:srgbClr val="252525"/>
                </a:solidFill>
              </a:rPr>
              <a:t>failing  to  come  up  to  God's  standard. </a:t>
            </a:r>
          </a:p>
        </p:txBody>
      </p:sp>
    </p:spTree>
  </p:cSld>
  <p:clrMapOvr>
    <a:masterClrMapping/>
  </p:clrMapOvr>
</p:sld>
</file>

<file path=ppt/slides/slide1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4" id="294"/>
          <p:cNvPicPr>
            <a:picLocks noChangeAspect="true"/>
          </p:cNvPicPr>
          <p:nvPr/>
        </p:nvPicPr>
        <p:blipFill>
          <a:blip r:embed="rId2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4" id="295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Righteousness  is  balancing  God.  You  have  seen </a:t>
            </a:r>
          </a:p>
          <a:p>
            <a:r>
              <a:rPr lang="en-US" sz="3700">
                <a:solidFill>
                  <a:srgbClr val="252525"/>
                </a:solidFill>
              </a:rPr>
              <a:t>the  children  at  play  on  the  See-Saw :  one  child </a:t>
            </a:r>
          </a:p>
          <a:p>
            <a:r>
              <a:rPr lang="en-US" sz="3700">
                <a:solidFill>
                  <a:srgbClr val="252525"/>
                </a:solidFill>
              </a:rPr>
              <a:t>on  one  side  and  another  on  the  other  of  equal </a:t>
            </a:r>
          </a:p>
          <a:p>
            <a:r>
              <a:rPr lang="en-US" sz="3700">
                <a:solidFill>
                  <a:srgbClr val="252525"/>
                </a:solidFill>
              </a:rPr>
              <a:t>weight,  each  one  balancing  the  other.  When  they </a:t>
            </a:r>
          </a:p>
          <a:p>
            <a:r>
              <a:rPr lang="en-US" sz="3700">
                <a:solidFill>
                  <a:srgbClr val="252525"/>
                </a:solidFill>
              </a:rPr>
              <a:t>balance  each  other,  there  is  perfect  harmony — </a:t>
            </a:r>
          </a:p>
          <a:p>
            <a:r>
              <a:rPr lang="en-US" sz="3700">
                <a:solidFill>
                  <a:srgbClr val="252525"/>
                </a:solidFill>
              </a:rPr>
              <a:t>an  easy  swing.  God  in  all  past  ages  demanded </a:t>
            </a:r>
          </a:p>
          <a:p>
            <a:r>
              <a:rPr lang="en-US" sz="3700">
                <a:solidFill>
                  <a:srgbClr val="252525"/>
                </a:solidFill>
              </a:rPr>
              <a:t>of  man  that  he  should  balance  Him;  that  he </a:t>
            </a:r>
          </a:p>
          <a:p>
            <a:r>
              <a:rPr lang="en-US" sz="3700">
                <a:solidFill>
                  <a:srgbClr val="252525"/>
                </a:solidFill>
              </a:rPr>
              <a:t>should  complement  Him,  so  that  there  might  be </a:t>
            </a:r>
          </a:p>
          <a:p>
            <a:r>
              <a:rPr lang="en-US" sz="3700">
                <a:solidFill>
                  <a:srgbClr val="252525"/>
                </a:solidFill>
              </a:rPr>
              <a:t>no  friction  between  heaven  and  earth.    But  man </a:t>
            </a:r>
          </a:p>
        </p:txBody>
      </p:sp>
    </p:spTree>
  </p:cSld>
  <p:clrMapOvr>
    <a:masterClrMapping/>
  </p:clrMapOvr>
</p:sld>
</file>

<file path=ppt/slides/slide1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6" id="296"/>
          <p:cNvPicPr>
            <a:picLocks noChangeAspect="true"/>
          </p:cNvPicPr>
          <p:nvPr/>
        </p:nvPicPr>
        <p:blipFill>
          <a:blip r:embed="rId2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6" id="2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54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was  unable  to  balance  God,  so  Jesus  Christ  came, </a:t>
            </a:r>
          </a:p>
          <a:p>
            <a:r>
              <a:rPr lang="en-US" sz="3700">
                <a:solidFill>
                  <a:srgbClr val="252525"/>
                </a:solidFill>
              </a:rPr>
              <a:t>and  He,  being  God  Himself,  complemented  God, </a:t>
            </a:r>
          </a:p>
          <a:p>
            <a:r>
              <a:rPr lang="en-US" sz="3700">
                <a:solidFill>
                  <a:srgbClr val="252525"/>
                </a:solidFill>
              </a:rPr>
              <a:t>and  thus  an  easy  swing  between  earth  and  heaven </a:t>
            </a:r>
          </a:p>
          <a:p>
            <a:r>
              <a:rPr lang="en-US" sz="3700">
                <a:solidFill>
                  <a:srgbClr val="252525"/>
                </a:solidFill>
              </a:rPr>
              <a:t>was  established  through  Jesus  Christ.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Now,  righteousness  is  just  that  balancing  of </a:t>
            </a:r>
          </a:p>
          <a:p>
            <a:r>
              <a:rPr lang="en-US" sz="3700">
                <a:solidFill>
                  <a:srgbClr val="252525"/>
                </a:solidFill>
              </a:rPr>
              <a:t>God.  Man  cannot  balance  God.  Deity  could </a:t>
            </a:r>
          </a:p>
          <a:p>
            <a:r>
              <a:rPr lang="en-US" sz="3700">
                <a:solidFill>
                  <a:srgbClr val="252525"/>
                </a:solidFill>
              </a:rPr>
              <a:t>only  be  complemented  by  Deity  himself,  other- </a:t>
            </a:r>
          </a:p>
          <a:p>
            <a:r>
              <a:rPr lang="en-US" sz="3700">
                <a:solidFill>
                  <a:srgbClr val="252525"/>
                </a:solidFill>
              </a:rPr>
              <a:t>wise God  would  not  be  God;  He  would  not  be </a:t>
            </a:r>
          </a:p>
          <a:p>
            <a:r>
              <a:rPr lang="en-US" sz="3700">
                <a:solidFill>
                  <a:srgbClr val="252525"/>
                </a:solidFill>
              </a:rPr>
              <a:t>just,  immaculate  and  pure,  spotless  and  holy.  In </a:t>
            </a:r>
          </a:p>
          <a:p>
            <a:r>
              <a:rPr lang="en-US" sz="3700">
                <a:solidFill>
                  <a:srgbClr val="252525"/>
                </a:solidFill>
              </a:rPr>
              <a:t>order  for  Him  to  be  balanced.  He  must  </a:t>
            </a:r>
          </a:p>
        </p:txBody>
      </p:sp>
    </p:spTree>
  </p:cSld>
  <p:clrMapOvr>
    <a:masterClrMapping/>
  </p:clrMapOvr>
</p:sld>
</file>

<file path=ppt/slides/slide1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8" id="298"/>
          <p:cNvPicPr>
            <a:picLocks noChangeAspect="true"/>
          </p:cNvPicPr>
          <p:nvPr/>
        </p:nvPicPr>
        <p:blipFill>
          <a:blip r:embed="rId2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98" id="2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have </a:t>
            </a:r>
          </a:p>
          <a:p>
            <a:r>
              <a:rPr lang="en-US" sz="3700">
                <a:solidFill>
                  <a:srgbClr val="252525"/>
                </a:solidFill>
              </a:rPr>
              <a:t>one  on  the  other  side  just  as  holy,  as  immacu- </a:t>
            </a:r>
          </a:p>
          <a:p>
            <a:r>
              <a:rPr lang="en-US" sz="3700">
                <a:solidFill>
                  <a:srgbClr val="252525"/>
                </a:solidFill>
              </a:rPr>
              <a:t>late, as  sincere,  as  pure,  as  spotless  as  He  Him- </a:t>
            </a:r>
          </a:p>
          <a:p>
            <a:r>
              <a:rPr lang="en-US" sz="3700">
                <a:solidFill>
                  <a:srgbClr val="252525"/>
                </a:solidFill>
              </a:rPr>
              <a:t>self is.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So  God  came  Himself  in  the  person  of  Jesus </a:t>
            </a:r>
          </a:p>
          <a:p>
            <a:r>
              <a:rPr lang="en-US" sz="3700">
                <a:solidFill>
                  <a:srgbClr val="252525"/>
                </a:solidFill>
              </a:rPr>
              <a:t>Christ  and  took  His  place  upon  our  end  of  the </a:t>
            </a:r>
          </a:p>
          <a:p>
            <a:r>
              <a:rPr lang="en-US" sz="3700">
                <a:solidFill>
                  <a:srgbClr val="252525"/>
                </a:solidFill>
              </a:rPr>
              <a:t>"See-Saw,"  and  through  Him  we  obtain  His </a:t>
            </a:r>
          </a:p>
          <a:p>
            <a:r>
              <a:rPr lang="en-US" sz="3700">
                <a:solidFill>
                  <a:srgbClr val="252525"/>
                </a:solidFill>
              </a:rPr>
              <a:t>righteousness  and  are  able  to  complement  Him. </a:t>
            </a:r>
          </a:p>
          <a:p>
            <a:r>
              <a:rPr lang="en-US" sz="3700">
                <a:solidFill>
                  <a:srgbClr val="252525"/>
                </a:solidFill>
              </a:rPr>
              <a:t>God's  demand  of  the  race  is  satisfied  through </a:t>
            </a:r>
          </a:p>
          <a:p>
            <a:r>
              <a:rPr lang="en-US" sz="3700">
                <a:solidFill>
                  <a:srgbClr val="252525"/>
                </a:solidFill>
              </a:rPr>
              <a:t>Christ  when  we  are  in  Him,  and  that  is  the  only </a:t>
            </a:r>
          </a:p>
          <a:p>
            <a:r>
              <a:rPr lang="en-US" sz="3700">
                <a:solidFill>
                  <a:srgbClr val="252525"/>
                </a:solidFill>
              </a:rPr>
              <a:t>way  we  can  satisfy  God,  so  that  without  Christ </a:t>
            </a:r>
          </a:p>
        </p:txBody>
      </p:sp>
    </p:spTree>
  </p:cSld>
  <p:clrMapOvr>
    <a:masterClrMapping/>
  </p:clrMapOvr>
</p:sld>
</file>

<file path=ppt/slides/slide1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0" id="300"/>
          <p:cNvPicPr>
            <a:picLocks noChangeAspect="true"/>
          </p:cNvPicPr>
          <p:nvPr/>
        </p:nvPicPr>
        <p:blipFill>
          <a:blip r:embed="rId30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0" id="30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there  is  no  satisfaction  of  God.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Through  Christ  Jesus  we  can  look  straight  into </a:t>
            </a:r>
          </a:p>
          <a:p>
            <a:r>
              <a:rPr lang="en-US" sz="3700">
                <a:solidFill>
                  <a:srgbClr val="252525"/>
                </a:solidFill>
              </a:rPr>
              <a:t>the  pure  eyes  of  the  Great,  Infinite,  and  Holy </a:t>
            </a:r>
          </a:p>
          <a:p>
            <a:r>
              <a:rPr lang="en-US" sz="3700">
                <a:solidFill>
                  <a:srgbClr val="252525"/>
                </a:solidFill>
              </a:rPr>
              <a:t>God.  Out  of  Jesus  Christ  we  have  no  standing </a:t>
            </a:r>
          </a:p>
          <a:p>
            <a:r>
              <a:rPr lang="en-US" sz="3700">
                <a:solidFill>
                  <a:srgbClr val="252525"/>
                </a:solidFill>
              </a:rPr>
              <a:t>whatever  in  His  pure  presence.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All  failure  to  come  up  to  that  point  is  sin,  and </a:t>
            </a:r>
          </a:p>
          <a:p>
            <a:r>
              <a:rPr lang="en-US" sz="3700">
                <a:solidFill>
                  <a:srgbClr val="252525"/>
                </a:solidFill>
              </a:rPr>
              <a:t>all  violation  of  the  law  is  sin.  What  is  God's </a:t>
            </a:r>
          </a:p>
          <a:p>
            <a:r>
              <a:rPr lang="en-US" sz="3700">
                <a:solidFill>
                  <a:srgbClr val="252525"/>
                </a:solidFill>
              </a:rPr>
              <a:t>attitude  to  this  sin  of  lawlessness,  transgression, </a:t>
            </a:r>
          </a:p>
          <a:p>
            <a:r>
              <a:rPr lang="en-US" sz="3700">
                <a:solidFill>
                  <a:srgbClr val="252525"/>
                </a:solidFill>
              </a:rPr>
              <a:t>and  failure  to  come  up  to  God's  desire  for  holi- </a:t>
            </a:r>
          </a:p>
          <a:p>
            <a:r>
              <a:rPr lang="en-US" sz="3700">
                <a:solidFill>
                  <a:srgbClr val="252525"/>
                </a:solidFill>
              </a:rPr>
              <a:t>ness? You  will  observe  that  it  is  not  said  that </a:t>
            </a:r>
          </a:p>
          <a:p>
            <a:r>
              <a:rPr lang="en-US" sz="3700">
                <a:solidFill>
                  <a:srgbClr val="252525"/>
                </a:solidFill>
              </a:rPr>
              <a:t>the  wrath  of  God  is  revealed  against  </a:t>
            </a:r>
          </a:p>
        </p:txBody>
      </p:sp>
    </p:spTree>
  </p:cSld>
  <p:clrMapOvr>
    <a:masterClrMapping/>
  </p:clrMapOvr>
</p:sld>
</file>

<file path=ppt/slides/slide1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2" id="302"/>
          <p:cNvPicPr>
            <a:picLocks noChangeAspect="true"/>
          </p:cNvPicPr>
          <p:nvPr/>
        </p:nvPicPr>
        <p:blipFill>
          <a:blip r:embed="rId30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2" id="30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man.    God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God's  Attitude  to  Sin  55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has  no  feeling  of  wrath  against  man.  His  wrath </a:t>
            </a:r>
          </a:p>
          <a:p>
            <a:r>
              <a:rPr lang="en-US" sz="3700">
                <a:solidFill>
                  <a:srgbClr val="252525"/>
                </a:solidFill>
              </a:rPr>
              <a:t>is  revealed  against  the  sin  of  man.  He  is  look- </a:t>
            </a:r>
          </a:p>
          <a:p>
            <a:r>
              <a:rPr lang="en-US" sz="3700">
                <a:solidFill>
                  <a:srgbClr val="252525"/>
                </a:solidFill>
              </a:rPr>
              <a:t>ing at  sin,  and  He  hates  sin,  and  the  wrath  of </a:t>
            </a:r>
          </a:p>
          <a:p>
            <a:r>
              <a:rPr lang="en-US" sz="3700">
                <a:solidFill>
                  <a:srgbClr val="252525"/>
                </a:solidFill>
              </a:rPr>
              <a:t>God  is  revealed  against  the  sin  of  man  and  not </a:t>
            </a:r>
          </a:p>
          <a:p>
            <a:r>
              <a:rPr lang="en-US" sz="3700">
                <a:solidFill>
                  <a:srgbClr val="252525"/>
                </a:solidFill>
              </a:rPr>
              <a:t>man  himself.  He  is  love  when  it  comes  to  His </a:t>
            </a:r>
          </a:p>
          <a:p>
            <a:r>
              <a:rPr lang="en-US" sz="3700">
                <a:solidFill>
                  <a:srgbClr val="252525"/>
                </a:solidFill>
              </a:rPr>
              <a:t>attitude  toward  man,  but  He  is  wrath  when  it </a:t>
            </a:r>
          </a:p>
          <a:p>
            <a:r>
              <a:rPr lang="en-US" sz="3700">
                <a:solidFill>
                  <a:srgbClr val="252525"/>
                </a:solidFill>
              </a:rPr>
              <a:t>comes  to  His  attitude  towards  sin,  and  hence  He </a:t>
            </a:r>
          </a:p>
          <a:p>
            <a:r>
              <a:rPr lang="en-US" sz="3700">
                <a:solidFill>
                  <a:srgbClr val="252525"/>
                </a:solidFill>
              </a:rPr>
              <a:t>has  gone  to  work  and  provided  a  way  of  escape </a:t>
            </a:r>
          </a:p>
        </p:txBody>
      </p:sp>
    </p:spTree>
  </p:cSld>
  <p:clrMapOvr>
    <a:masterClrMapping/>
  </p:clrMapOvr>
</p:sld>
</file>

<file path=ppt/slides/slide1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4" id="304"/>
          <p:cNvPicPr>
            <a:picLocks noChangeAspect="true"/>
          </p:cNvPicPr>
          <p:nvPr/>
        </p:nvPicPr>
        <p:blipFill>
          <a:blip r:embed="rId30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4" id="30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from  sin.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There  are  a  great  many  people  who  shrink </a:t>
            </a:r>
          </a:p>
          <a:p>
            <a:r>
              <a:rPr lang="en-US" sz="3700">
                <a:solidFill>
                  <a:srgbClr val="252525"/>
                </a:solidFill>
              </a:rPr>
              <a:t>from  the  idea  that  God  is  a  God  of  wrath.  They </a:t>
            </a:r>
          </a:p>
          <a:p>
            <a:r>
              <a:rPr lang="en-US" sz="3700">
                <a:solidFill>
                  <a:srgbClr val="252525"/>
                </a:solidFill>
              </a:rPr>
              <a:t>are  fond  of  saying  that  God  is  a  God  of  love. </a:t>
            </a:r>
          </a:p>
          <a:p>
            <a:r>
              <a:rPr lang="en-US" sz="3700">
                <a:solidFill>
                  <a:srgbClr val="252525"/>
                </a:solidFill>
              </a:rPr>
              <a:t>And  that  is  God's  normal  condition.  He  is  the </a:t>
            </a:r>
          </a:p>
          <a:p>
            <a:r>
              <a:rPr lang="en-US" sz="3700">
                <a:solidFill>
                  <a:srgbClr val="252525"/>
                </a:solidFill>
              </a:rPr>
              <a:t>very  embodiment  of  love.  God's  wrath  is  against </a:t>
            </a:r>
          </a:p>
          <a:p>
            <a:r>
              <a:rPr lang="en-US" sz="3700">
                <a:solidFill>
                  <a:srgbClr val="252525"/>
                </a:solidFill>
              </a:rPr>
              <a:t>that  which  is  abnormal.  Let  God  be  placed </a:t>
            </a:r>
          </a:p>
          <a:p>
            <a:r>
              <a:rPr lang="en-US" sz="3700">
                <a:solidFill>
                  <a:srgbClr val="252525"/>
                </a:solidFill>
              </a:rPr>
              <a:t>in  His  normal  condition,  and  He  is  love,  and </a:t>
            </a:r>
          </a:p>
          <a:p>
            <a:r>
              <a:rPr lang="en-US" sz="3700">
                <a:solidFill>
                  <a:srgbClr val="252525"/>
                </a:solidFill>
              </a:rPr>
              <a:t>everything  that  issues  from  Him  is  love.  If  man </a:t>
            </a:r>
          </a:p>
          <a:p>
            <a:r>
              <a:rPr lang="en-US" sz="3700">
                <a:solidFill>
                  <a:srgbClr val="252525"/>
                </a:solidFill>
              </a:rPr>
              <a:t>had  not  fallen  in  the  Garden  of  Eden  such  a </a:t>
            </a:r>
          </a:p>
          <a:p>
            <a:r>
              <a:rPr lang="en-US" sz="3700">
                <a:solidFill>
                  <a:srgbClr val="252525"/>
                </a:solidFill>
              </a:rPr>
              <a:t>thing  as  wrath  would  not  have  been  </a:t>
            </a:r>
          </a:p>
        </p:txBody>
      </p:sp>
    </p:spTree>
  </p:cSld>
  <p:clrMapOvr>
    <a:masterClrMapping/>
  </p:clrMapOvr>
</p:sld>
</file>

<file path=ppt/slides/slide1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6" id="306"/>
          <p:cNvPicPr>
            <a:picLocks noChangeAspect="true"/>
          </p:cNvPicPr>
          <p:nvPr/>
        </p:nvPicPr>
        <p:blipFill>
          <a:blip r:embed="rId30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6" id="30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revealed. </a:t>
            </a:r>
          </a:p>
          <a:p>
            <a:r>
              <a:rPr lang="en-US" sz="3700">
                <a:solidFill>
                  <a:srgbClr val="252525"/>
                </a:solidFill>
              </a:rPr>
              <a:t>The  whole  fight  of  God,  from  the  time  that  Adam </a:t>
            </a:r>
          </a:p>
          <a:p>
            <a:r>
              <a:rPr lang="en-US" sz="3700">
                <a:solidFill>
                  <a:srgbClr val="252525"/>
                </a:solidFill>
              </a:rPr>
              <a:t>fell  in  the  Garden  of  Eden  until  Christ  hung  upon </a:t>
            </a:r>
          </a:p>
          <a:p>
            <a:r>
              <a:rPr lang="en-US" sz="3700">
                <a:solidFill>
                  <a:srgbClr val="252525"/>
                </a:solidFill>
              </a:rPr>
              <a:t>the  cross,  was  against  sin.  Love  would  flow  like </a:t>
            </a:r>
          </a:p>
          <a:p>
            <a:r>
              <a:rPr lang="en-US" sz="3700">
                <a:solidFill>
                  <a:srgbClr val="252525"/>
                </a:solidFill>
              </a:rPr>
              <a:t>the  stream  that  trickles  down  the  mountain  side </a:t>
            </a:r>
          </a:p>
          <a:p>
            <a:r>
              <a:rPr lang="en-US" sz="3700">
                <a:solidFill>
                  <a:srgbClr val="252525"/>
                </a:solidFill>
              </a:rPr>
              <a:t>if  it  were  not  for  sin,  and  wrath  is  revealed </a:t>
            </a:r>
          </a:p>
          <a:p>
            <a:r>
              <a:rPr lang="en-US" sz="3700">
                <a:solidFill>
                  <a:srgbClr val="252525"/>
                </a:solidFill>
              </a:rPr>
              <a:t>against  "all  ungodliness  and  unrighteousness  of </a:t>
            </a:r>
          </a:p>
          <a:p>
            <a:r>
              <a:rPr lang="en-US" sz="3700">
                <a:solidFill>
                  <a:srgbClr val="252525"/>
                </a:solidFill>
              </a:rPr>
              <a:t>man."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Some  people  think  that  it  is  unreasonable  for </a:t>
            </a:r>
          </a:p>
          <a:p>
            <a:r>
              <a:rPr lang="en-US" sz="3700">
                <a:solidFill>
                  <a:srgbClr val="252525"/>
                </a:solidFill>
              </a:rPr>
              <a:t>God  thus  to  look  upon  sin.  The  reasonableness </a:t>
            </a:r>
          </a:p>
          <a:p>
            <a:r>
              <a:rPr lang="en-US" sz="3700">
                <a:solidFill>
                  <a:srgbClr val="252525"/>
                </a:solidFill>
              </a:rPr>
              <a:t>lies  in  the  fact  that  God  tried  man  by  provid- </a:t>
            </a:r>
          </a:p>
        </p:txBody>
      </p:sp>
    </p:spTree>
  </p:cSld>
  <p:clrMapOvr>
    <a:masterClrMapping/>
  </p:clrMapOvr>
</p:sld>
</file>

<file path=ppt/slides/slide1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8" id="308"/>
          <p:cNvPicPr>
            <a:picLocks noChangeAspect="true"/>
          </p:cNvPicPr>
          <p:nvPr/>
        </p:nvPicPr>
        <p:blipFill>
          <a:blip r:embed="rId30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08" id="30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ing everything  that  was  necessary  to  overcome </a:t>
            </a:r>
          </a:p>
          <a:p>
            <a:r>
              <a:rPr lang="en-US" sz="3700">
                <a:solidFill>
                  <a:srgbClr val="252525"/>
                </a:solidFill>
              </a:rPr>
              <a:t>this  state  of  abnormality.     He  provided:     First,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56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law.  Man  violated  that.  Second,  God  provided </a:t>
            </a:r>
          </a:p>
          <a:p>
            <a:r>
              <a:rPr lang="en-US" sz="3700">
                <a:solidFill>
                  <a:srgbClr val="252525"/>
                </a:solidFill>
              </a:rPr>
              <a:t>instruction  in  his  inner  conscience,  and  man  went </a:t>
            </a:r>
          </a:p>
          <a:p>
            <a:r>
              <a:rPr lang="en-US" sz="3700">
                <a:solidFill>
                  <a:srgbClr val="252525"/>
                </a:solidFill>
              </a:rPr>
              <a:t>back  on  that.  Third,  instruction  with  reference </a:t>
            </a:r>
          </a:p>
          <a:p>
            <a:r>
              <a:rPr lang="en-US" sz="3700">
                <a:solidFill>
                  <a:srgbClr val="252525"/>
                </a:solidFill>
              </a:rPr>
              <a:t>to  nature,  and  he  went  back  on  that.  Then  man's </a:t>
            </a:r>
          </a:p>
          <a:p>
            <a:r>
              <a:rPr lang="en-US" sz="3700">
                <a:solidFill>
                  <a:srgbClr val="252525"/>
                </a:solidFill>
              </a:rPr>
              <a:t>conduct  itself  is  sufficient  to  justify  the  wrath </a:t>
            </a:r>
          </a:p>
          <a:p>
            <a:r>
              <a:rPr lang="en-US" sz="3700">
                <a:solidFill>
                  <a:srgbClr val="252525"/>
                </a:solidFill>
              </a:rPr>
              <a:t>of  God  against  his  doings.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"The  wrath  of  God  is  revealed  against  </a:t>
            </a:r>
          </a:p>
        </p:txBody>
      </p:sp>
    </p:spTree>
  </p:cSld>
  <p:clrMapOvr>
    <a:masterClrMapping/>
  </p:clrMapOvr>
</p:sld>
</file>

<file path=ppt/slides/slide1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0" id="310"/>
          <p:cNvPicPr>
            <a:picLocks noChangeAspect="true"/>
          </p:cNvPicPr>
          <p:nvPr/>
        </p:nvPicPr>
        <p:blipFill>
          <a:blip r:embed="rId3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0" id="3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all  un- </a:t>
            </a:r>
          </a:p>
          <a:p>
            <a:r>
              <a:rPr lang="en-US" sz="3700">
                <a:solidFill>
                  <a:srgbClr val="252525"/>
                </a:solidFill>
              </a:rPr>
              <a:t>godliness of  men,  because  that  which  may  be </a:t>
            </a:r>
          </a:p>
          <a:p>
            <a:r>
              <a:rPr lang="en-US" sz="3700">
                <a:solidFill>
                  <a:srgbClr val="252525"/>
                </a:solidFill>
              </a:rPr>
              <a:t>known  of  God  is  manifest  in  them ;  for  God  mani- </a:t>
            </a:r>
          </a:p>
          <a:p>
            <a:r>
              <a:rPr lang="en-US" sz="3700">
                <a:solidFill>
                  <a:srgbClr val="252525"/>
                </a:solidFill>
              </a:rPr>
              <a:t>fested it  unto  them.  For  the  invisible  things  of </a:t>
            </a:r>
          </a:p>
          <a:p>
            <a:r>
              <a:rPr lang="en-US" sz="3700">
                <a:solidFill>
                  <a:srgbClr val="252525"/>
                </a:solidFill>
              </a:rPr>
              <a:t>Him  since  the  creation  of  the  world  are  clearly </a:t>
            </a:r>
          </a:p>
          <a:p>
            <a:r>
              <a:rPr lang="en-US" sz="3700">
                <a:solidFill>
                  <a:srgbClr val="252525"/>
                </a:solidFill>
              </a:rPr>
              <a:t>seen,  being  perceived  through  the  things  that  are </a:t>
            </a:r>
          </a:p>
          <a:p>
            <a:r>
              <a:rPr lang="en-US" sz="3700">
                <a:solidFill>
                  <a:srgbClr val="252525"/>
                </a:solidFill>
              </a:rPr>
              <a:t>made."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 have  here  God  justifying  His  wrath  upon </a:t>
            </a:r>
          </a:p>
          <a:p>
            <a:r>
              <a:rPr lang="en-US" sz="3700">
                <a:solidFill>
                  <a:srgbClr val="252525"/>
                </a:solidFill>
              </a:rPr>
              <a:t>the  ground  of  His  revelation  of  law.  Then  there </a:t>
            </a:r>
          </a:p>
          <a:p>
            <a:r>
              <a:rPr lang="en-US" sz="3700">
                <a:solidFill>
                  <a:srgbClr val="252525"/>
                </a:solidFill>
              </a:rPr>
              <a:t>is  the  second  revelation  of  Himself  in  the  inner </a:t>
            </a:r>
          </a:p>
          <a:p>
            <a:r>
              <a:rPr lang="en-US" sz="3700">
                <a:solidFill>
                  <a:srgbClr val="252525"/>
                </a:solidFill>
              </a:rPr>
              <a:t>conscience  of  men,  that  which  God  has  revealed </a:t>
            </a:r>
          </a:p>
        </p:txBody>
      </p:sp>
    </p:spTree>
  </p:cSld>
  <p:clrMapOvr>
    <a:masterClrMapping/>
  </p:clrMapOvr>
</p:sld>
</file>

<file path=ppt/slides/slide1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2" id="312"/>
          <p:cNvPicPr>
            <a:picLocks noChangeAspect="true"/>
          </p:cNvPicPr>
          <p:nvPr/>
        </p:nvPicPr>
        <p:blipFill>
          <a:blip r:embed="rId31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2" id="31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in  them;  for  God  manifested  Himself  to  them. </a:t>
            </a:r>
          </a:p>
          <a:p>
            <a:r>
              <a:rPr lang="en-US" sz="3700">
                <a:solidFill>
                  <a:srgbClr val="252525"/>
                </a:solidFill>
              </a:rPr>
              <a:t>You  will  understand  that  the  Apostle  is  speaking </a:t>
            </a:r>
          </a:p>
          <a:p>
            <a:r>
              <a:rPr lang="en-US" sz="3700">
                <a:solidFill>
                  <a:srgbClr val="252525"/>
                </a:solidFill>
              </a:rPr>
              <a:t>of  heathen  men  and  women,  who  had  never </a:t>
            </a:r>
          </a:p>
          <a:p>
            <a:r>
              <a:rPr lang="en-US" sz="3700">
                <a:solidFill>
                  <a:srgbClr val="252525"/>
                </a:solidFill>
              </a:rPr>
              <a:t>known  of  God.  He  is  setting  up  the  claim  that </a:t>
            </a:r>
          </a:p>
          <a:p>
            <a:r>
              <a:rPr lang="en-US" sz="3700">
                <a:solidFill>
                  <a:srgbClr val="252525"/>
                </a:solidFill>
              </a:rPr>
              <a:t>they  are  without  excuse  because,  though  they </a:t>
            </a:r>
          </a:p>
          <a:p>
            <a:r>
              <a:rPr lang="en-US" sz="3700">
                <a:solidFill>
                  <a:srgbClr val="252525"/>
                </a:solidFill>
              </a:rPr>
              <a:t>have  not  heard  of  God  and  have  not  had  the </a:t>
            </a:r>
          </a:p>
          <a:p>
            <a:r>
              <a:rPr lang="en-US" sz="3700">
                <a:solidFill>
                  <a:srgbClr val="252525"/>
                </a:solidFill>
              </a:rPr>
              <a:t>law  of  God,  they  have  had  God's  revelation  of </a:t>
            </a:r>
          </a:p>
          <a:p>
            <a:r>
              <a:rPr lang="en-US" sz="3700">
                <a:solidFill>
                  <a:srgbClr val="252525"/>
                </a:solidFill>
              </a:rPr>
              <a:t>Himself  in  their  inner  conscience.  He  has  mani- </a:t>
            </a:r>
          </a:p>
          <a:p>
            <a:r>
              <a:rPr lang="en-US" sz="3700">
                <a:solidFill>
                  <a:srgbClr val="252525"/>
                </a:solidFill>
              </a:rPr>
              <a:t>fested Himself  in  them,  and  then,  also,  because </a:t>
            </a:r>
          </a:p>
          <a:p>
            <a:r>
              <a:rPr lang="en-US" sz="3700">
                <a:solidFill>
                  <a:srgbClr val="252525"/>
                </a:solidFill>
              </a:rPr>
              <a:t>of  "The  invisible  things  of  Him  since  the  creation </a:t>
            </a:r>
          </a:p>
          <a:p>
            <a:r>
              <a:rPr lang="en-US" sz="3700">
                <a:solidFill>
                  <a:srgbClr val="252525"/>
                </a:solidFill>
              </a:rPr>
              <a:t>of  the  world  being  clearly  seen."  The  </a:t>
            </a:r>
          </a:p>
        </p:txBody>
      </p:sp>
    </p:spTree>
  </p:cSld>
  <p:clrMapOvr>
    <a:masterClrMapping/>
  </p:clrMapOvr>
</p:sld>
</file>

<file path=ppt/slides/slide1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4" id="314"/>
          <p:cNvPicPr>
            <a:picLocks noChangeAspect="true"/>
          </p:cNvPicPr>
          <p:nvPr/>
        </p:nvPicPr>
        <p:blipFill>
          <a:blip r:embed="rId3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4" id="3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Apostle </a:t>
            </a:r>
          </a:p>
          <a:p>
            <a:r>
              <a:rPr lang="en-US" sz="3700">
                <a:solidFill>
                  <a:srgbClr val="252525"/>
                </a:solidFill>
              </a:rPr>
              <a:t>here  sets  up  the  second  plea  for  justifying  the </a:t>
            </a:r>
          </a:p>
          <a:p>
            <a:r>
              <a:rPr lang="en-US" sz="3700">
                <a:solidFill>
                  <a:srgbClr val="252525"/>
                </a:solidFill>
              </a:rPr>
              <a:t>wrath  of  God  upon  the  ground  that  God  has  given </a:t>
            </a:r>
          </a:p>
          <a:p>
            <a:r>
              <a:rPr lang="en-US" sz="3700">
                <a:solidFill>
                  <a:srgbClr val="252525"/>
                </a:solidFill>
              </a:rPr>
              <a:t>them  enough,  in  the  things  that  He  has  created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God's  Attitude  to  Sin  57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about  them,  the  visible  things,  enough  to  remind </a:t>
            </a:r>
          </a:p>
          <a:p>
            <a:r>
              <a:rPr lang="en-US" sz="3700">
                <a:solidFill>
                  <a:srgbClr val="252525"/>
                </a:solidFill>
              </a:rPr>
              <a:t>them  of  the  existence  of  the  invisible.  So  he </a:t>
            </a:r>
          </a:p>
          <a:p>
            <a:r>
              <a:rPr lang="en-US" sz="3700">
                <a:solidFill>
                  <a:srgbClr val="252525"/>
                </a:solidFill>
              </a:rPr>
              <a:t>argues,  ''they  are  without  excuse."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Then,  take  their  conduct.  This  is  sufficient  to </a:t>
            </a:r>
          </a:p>
          <a:p>
            <a:r>
              <a:rPr lang="en-US" sz="3700">
                <a:solidFill>
                  <a:srgbClr val="252525"/>
                </a:solidFill>
              </a:rPr>
              <a:t>justify  God's  wrath,  and  when  coupled  with  His </a:t>
            </a:r>
          </a:p>
        </p:txBody>
      </p:sp>
    </p:spTree>
  </p:cSld>
  <p:clrMapOvr>
    <a:masterClrMapping/>
  </p:clrMapOvr>
</p:sld>
</file>

<file path=ppt/slides/slide1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6" id="316"/>
          <p:cNvPicPr>
            <a:picLocks noChangeAspect="true"/>
          </p:cNvPicPr>
          <p:nvPr/>
        </p:nvPicPr>
        <p:blipFill>
          <a:blip r:embed="rId31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6" id="31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revelation,  it  more  than  justifies  the  wrath  of </a:t>
            </a:r>
          </a:p>
          <a:p>
            <a:r>
              <a:rPr lang="en-US" sz="3700">
                <a:solidFill>
                  <a:srgbClr val="252525"/>
                </a:solidFill>
              </a:rPr>
              <a:t>God,  because  that  ''knowing  God  they  glorify </a:t>
            </a:r>
          </a:p>
          <a:p>
            <a:r>
              <a:rPr lang="en-US" sz="3700">
                <a:solidFill>
                  <a:srgbClr val="252525"/>
                </a:solidFill>
              </a:rPr>
              <a:t>Him  not  as  God,  neither  give  thanks,  but  be- </a:t>
            </a:r>
          </a:p>
          <a:p>
            <a:r>
              <a:rPr lang="en-US" sz="3700">
                <a:solidFill>
                  <a:srgbClr val="252525"/>
                </a:solidFill>
              </a:rPr>
              <a:t>come vain  in  their  reasonings,  and  their  foolish </a:t>
            </a:r>
          </a:p>
          <a:p>
            <a:r>
              <a:rPr lang="en-US" sz="3700">
                <a:solidFill>
                  <a:srgbClr val="252525"/>
                </a:solidFill>
              </a:rPr>
              <a:t>heart  was  darkened.  Professing  themselves  to </a:t>
            </a:r>
          </a:p>
          <a:p>
            <a:r>
              <a:rPr lang="en-US" sz="3700">
                <a:solidFill>
                  <a:srgbClr val="252525"/>
                </a:solidFill>
              </a:rPr>
              <a:t>be  wise,  they  became  fools,  and  changed  the  glory </a:t>
            </a:r>
          </a:p>
          <a:p>
            <a:r>
              <a:rPr lang="en-US" sz="3700">
                <a:solidFill>
                  <a:srgbClr val="252525"/>
                </a:solidFill>
              </a:rPr>
              <a:t>of  the  incorruptible  God  for  the  likeness  of  an </a:t>
            </a:r>
          </a:p>
          <a:p>
            <a:r>
              <a:rPr lang="en-US" sz="3700">
                <a:solidFill>
                  <a:srgbClr val="252525"/>
                </a:solidFill>
              </a:rPr>
              <a:t>image  of  corruptible  man,  and  of  birds,  and  four- </a:t>
            </a:r>
          </a:p>
          <a:p>
            <a:r>
              <a:rPr lang="en-US" sz="3700">
                <a:solidFill>
                  <a:srgbClr val="252525"/>
                </a:solidFill>
              </a:rPr>
              <a:t>footed  beasts  and  creeping  things."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There  are  five  things  here  specified  in  this  bill </a:t>
            </a:r>
          </a:p>
          <a:p>
            <a:r>
              <a:rPr lang="en-US" sz="3700">
                <a:solidFill>
                  <a:srgbClr val="252525"/>
                </a:solidFill>
              </a:rPr>
              <a:t>of  indictment.  First,  they  glorified  not  </a:t>
            </a:r>
          </a:p>
        </p:txBody>
      </p:sp>
    </p:spTree>
  </p:cSld>
  <p:clrMapOvr>
    <a:masterClrMapping/>
  </p:clrMapOvr>
</p:sld>
</file>

<file path=ppt/slides/slide1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8" id="318"/>
          <p:cNvPicPr>
            <a:picLocks noChangeAspect="true"/>
          </p:cNvPicPr>
          <p:nvPr/>
        </p:nvPicPr>
        <p:blipFill>
          <a:blip r:embed="rId31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18" id="31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God.  Sec- </a:t>
            </a:r>
          </a:p>
          <a:p>
            <a:r>
              <a:rPr lang="en-US" sz="3700">
                <a:solidFill>
                  <a:srgbClr val="252525"/>
                </a:solidFill>
              </a:rPr>
              <a:t>ond, they  gave  no  thanks.  Third,  they  became </a:t>
            </a:r>
          </a:p>
          <a:p>
            <a:r>
              <a:rPr lang="en-US" sz="3700">
                <a:solidFill>
                  <a:srgbClr val="252525"/>
                </a:solidFill>
              </a:rPr>
              <a:t>vain  in  their  reasonings.  Fourth,  their  hearts </a:t>
            </a:r>
          </a:p>
          <a:p>
            <a:r>
              <a:rPr lang="en-US" sz="3700">
                <a:solidFill>
                  <a:srgbClr val="252525"/>
                </a:solidFill>
              </a:rPr>
              <a:t>became  darkened.  Fifth,  they  became  idolatrous. </a:t>
            </a:r>
          </a:p>
          <a:p>
            <a:r>
              <a:rPr lang="en-US" sz="3700">
                <a:solidFill>
                  <a:srgbClr val="252525"/>
                </a:solidFill>
              </a:rPr>
              <a:t>Note  that  he  starts  out  with  the  assertion  that </a:t>
            </a:r>
          </a:p>
          <a:p>
            <a:r>
              <a:rPr lang="en-US" sz="3700">
                <a:solidFill>
                  <a:srgbClr val="252525"/>
                </a:solidFill>
              </a:rPr>
              <a:t>they  knew  God.  They  might  deny  it,  but  they </a:t>
            </a:r>
          </a:p>
          <a:p>
            <a:r>
              <a:rPr lang="en-US" sz="3700">
                <a:solidFill>
                  <a:srgbClr val="252525"/>
                </a:solidFill>
              </a:rPr>
              <a:t>knew  Him.  They  knew  Him  by  the  revelation </a:t>
            </a:r>
          </a:p>
          <a:p>
            <a:r>
              <a:rPr lang="en-US" sz="3700">
                <a:solidFill>
                  <a:srgbClr val="252525"/>
                </a:solidFill>
              </a:rPr>
              <a:t>in  His  law.  The  Jews  knew  all  about  that.  At </a:t>
            </a:r>
          </a:p>
          <a:p>
            <a:r>
              <a:rPr lang="en-US" sz="3700">
                <a:solidFill>
                  <a:srgbClr val="252525"/>
                </a:solidFill>
              </a:rPr>
              <a:t>that  time  Jerusalem  was  largely  inhabited  by </a:t>
            </a:r>
          </a:p>
          <a:p>
            <a:r>
              <a:rPr lang="en-US" sz="3700">
                <a:solidFill>
                  <a:srgbClr val="252525"/>
                </a:solidFill>
              </a:rPr>
              <a:t>Jews,  and  Jews  formed  the  pillars  of  the  Church </a:t>
            </a:r>
          </a:p>
          <a:p>
            <a:r>
              <a:rPr lang="en-US" sz="3700">
                <a:solidFill>
                  <a:srgbClr val="252525"/>
                </a:solidFill>
              </a:rPr>
              <a:t>in  Rome.  It  was  through  the  efforts  of  the  Jews </a:t>
            </a:r>
          </a:p>
        </p:txBody>
      </p:sp>
    </p:spTree>
  </p:cSld>
  <p:clrMapOvr>
    <a:masterClrMapping/>
  </p:clrMapOvr>
</p:sld>
</file>

<file path=ppt/slides/slide1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0" id="320"/>
          <p:cNvPicPr>
            <a:picLocks noChangeAspect="true"/>
          </p:cNvPicPr>
          <p:nvPr/>
        </p:nvPicPr>
        <p:blipFill>
          <a:blip r:embed="rId32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0" id="32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that  the  Church  in  Rome  was  established.  So </a:t>
            </a:r>
          </a:p>
          <a:p>
            <a:r>
              <a:rPr lang="en-US" sz="3700">
                <a:solidFill>
                  <a:srgbClr val="252525"/>
                </a:solidFill>
              </a:rPr>
              <a:t>they  had  the  revelation  of  God  in  His  law.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Then,  those  who  had  not  heard  of  God  had </a:t>
            </a:r>
          </a:p>
          <a:p>
            <a:r>
              <a:rPr lang="en-US" sz="3700">
                <a:solidFill>
                  <a:srgbClr val="252525"/>
                </a:solidFill>
              </a:rPr>
              <a:t>had  the  revelation  of  God  in  their  consciences. </a:t>
            </a:r>
          </a:p>
          <a:p>
            <a:r>
              <a:rPr lang="en-US" sz="3700">
                <a:solidFill>
                  <a:srgbClr val="252525"/>
                </a:solidFill>
              </a:rPr>
              <a:t>Paul  does  not  stop  to  expound  conscience.     He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58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states  a  simple  fact  and  leaves  it  for  us  to  con- </a:t>
            </a:r>
          </a:p>
          <a:p>
            <a:r>
              <a:rPr lang="en-US" sz="3700">
                <a:solidFill>
                  <a:srgbClr val="252525"/>
                </a:solidFill>
              </a:rPr>
              <a:t>sider ourselves.  So  he  says  they  knew  God,  and </a:t>
            </a:r>
          </a:p>
          <a:p>
            <a:r>
              <a:rPr lang="en-US" sz="3700">
                <a:solidFill>
                  <a:srgbClr val="252525"/>
                </a:solidFill>
              </a:rPr>
              <a:t>yet  in  spite  of  the  fact  that  they  knew  God  they </a:t>
            </a:r>
          </a:p>
        </p:txBody>
      </p:sp>
    </p:spTree>
  </p:cSld>
  <p:clrMapOvr>
    <a:masterClrMapping/>
  </p:clrMapOvr>
</p:sld>
</file>

<file path=ppt/slides/slide1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2" id="322"/>
          <p:cNvPicPr>
            <a:picLocks noChangeAspect="true"/>
          </p:cNvPicPr>
          <p:nvPr/>
        </p:nvPicPr>
        <p:blipFill>
          <a:blip r:embed="rId32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2" id="32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were  guilty  of  those  things  that  he  mentions. </a:t>
            </a:r>
          </a:p>
          <a:p>
            <a:r>
              <a:rPr lang="en-US" sz="3700">
                <a:solidFill>
                  <a:srgbClr val="252525"/>
                </a:solidFill>
              </a:rPr>
              <a:t>Note  the  gradation  of  it.  "They  glorified  not </a:t>
            </a:r>
          </a:p>
          <a:p>
            <a:r>
              <a:rPr lang="en-US" sz="3700">
                <a:solidFill>
                  <a:srgbClr val="252525"/>
                </a:solidFill>
              </a:rPr>
              <a:t>God."  They  knew  Him,  but  did  not  glorify  Him. </a:t>
            </a:r>
          </a:p>
          <a:p>
            <a:r>
              <a:rPr lang="en-US" sz="3700">
                <a:solidFill>
                  <a:srgbClr val="252525"/>
                </a:solidFill>
              </a:rPr>
              <a:t>Oh,  how  easy  for  us  to  forget  God!  I  have </a:t>
            </a:r>
          </a:p>
          <a:p>
            <a:r>
              <a:rPr lang="en-US" sz="3700">
                <a:solidFill>
                  <a:srgbClr val="252525"/>
                </a:solidFill>
              </a:rPr>
              <a:t>never  been  so  pessimistic  as  I  am  at  this </a:t>
            </a:r>
          </a:p>
          <a:p>
            <a:r>
              <a:rPr lang="en-US" sz="3700">
                <a:solidFill>
                  <a:srgbClr val="252525"/>
                </a:solidFill>
              </a:rPr>
              <a:t>minute  with  respect  to  the  existence  of  sin  in  the </a:t>
            </a:r>
          </a:p>
          <a:p>
            <a:r>
              <a:rPr lang="en-US" sz="3700">
                <a:solidFill>
                  <a:srgbClr val="252525"/>
                </a:solidFill>
              </a:rPr>
              <a:t>world,  and  the  vilest  sort  of  sin.  It  grows  out  of </a:t>
            </a:r>
          </a:p>
          <a:p>
            <a:r>
              <a:rPr lang="en-US" sz="3700">
                <a:solidFill>
                  <a:srgbClr val="252525"/>
                </a:solidFill>
              </a:rPr>
              <a:t>the  great  prosperous  wave  that  has  been  for  so </a:t>
            </a:r>
          </a:p>
          <a:p>
            <a:r>
              <a:rPr lang="en-US" sz="3700">
                <a:solidFill>
                  <a:srgbClr val="252525"/>
                </a:solidFill>
              </a:rPr>
              <a:t>long  a  time  sweeping  over  this  country.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Failing  to  glorify  God,  see  the  next  step.  Of </a:t>
            </a:r>
          </a:p>
          <a:p>
            <a:r>
              <a:rPr lang="en-US" sz="3700">
                <a:solidFill>
                  <a:srgbClr val="252525"/>
                </a:solidFill>
              </a:rPr>
              <a:t>course,  they  ''neither  gave  thanks."  </a:t>
            </a:r>
          </a:p>
        </p:txBody>
      </p:sp>
    </p:spTree>
  </p:cSld>
  <p:clrMapOvr>
    <a:masterClrMapping/>
  </p:clrMapOvr>
</p:sld>
</file>

<file path=ppt/slides/slide1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4" id="324"/>
          <p:cNvPicPr>
            <a:picLocks noChangeAspect="true"/>
          </p:cNvPicPr>
          <p:nvPr/>
        </p:nvPicPr>
        <p:blipFill>
          <a:blip r:embed="rId32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4" id="32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When  God </a:t>
            </a:r>
          </a:p>
          <a:p>
            <a:r>
              <a:rPr lang="en-US" sz="3700">
                <a:solidFill>
                  <a:srgbClr val="252525"/>
                </a:solidFill>
              </a:rPr>
              <a:t>slips  out  of  our  minds,  there  is  not  any  need  for </a:t>
            </a:r>
          </a:p>
          <a:p>
            <a:r>
              <a:rPr lang="en-US" sz="3700">
                <a:solidFill>
                  <a:srgbClr val="252525"/>
                </a:solidFill>
              </a:rPr>
              <a:t>thanks,  and  so  they  ceased  to  give  thanks.  To- </a:t>
            </a:r>
          </a:p>
          <a:p>
            <a:r>
              <a:rPr lang="en-US" sz="3700">
                <a:solidFill>
                  <a:srgbClr val="252525"/>
                </a:solidFill>
              </a:rPr>
              <a:t>day we  can  hardly  get  enough  people  together </a:t>
            </a:r>
          </a:p>
          <a:p>
            <a:r>
              <a:rPr lang="en-US" sz="3700">
                <a:solidFill>
                  <a:srgbClr val="252525"/>
                </a:solidFill>
              </a:rPr>
              <a:t>in  prayer  meeting  to  hold  down  the  benches.  A </a:t>
            </a:r>
          </a:p>
          <a:p>
            <a:r>
              <a:rPr lang="en-US" sz="3700">
                <a:solidFill>
                  <a:srgbClr val="252525"/>
                </a:solidFill>
              </a:rPr>
              <a:t>thankless  age  is  this  in  which  we  live.  God  has </a:t>
            </a:r>
          </a:p>
          <a:p>
            <a:r>
              <a:rPr lang="en-US" sz="3700">
                <a:solidFill>
                  <a:srgbClr val="252525"/>
                </a:solidFill>
              </a:rPr>
              <a:t>been  lost  sight  of.  Sin  is  on  the  rage  and  even </a:t>
            </a:r>
          </a:p>
          <a:p>
            <a:r>
              <a:rPr lang="en-US" sz="3700">
                <a:solidFill>
                  <a:srgbClr val="252525"/>
                </a:solidFill>
              </a:rPr>
              <a:t>God's  people  are  failing  to  give  thanks.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  the  next  step:  "They  became  vain  in </a:t>
            </a:r>
          </a:p>
          <a:p>
            <a:r>
              <a:rPr lang="en-US" sz="3700">
                <a:solidFill>
                  <a:srgbClr val="252525"/>
                </a:solidFill>
              </a:rPr>
              <a:t>their  reasonings."  This  was  the  time  when  Rome </a:t>
            </a:r>
          </a:p>
          <a:p>
            <a:r>
              <a:rPr lang="en-US" sz="3700">
                <a:solidFill>
                  <a:srgbClr val="252525"/>
                </a:solidFill>
              </a:rPr>
              <a:t>lifted  her  proud  head  and  defied  the  world  with </a:t>
            </a:r>
          </a:p>
        </p:txBody>
      </p:sp>
    </p:spTree>
  </p:cSld>
  <p:clrMapOvr>
    <a:masterClrMapping/>
  </p:clrMapOvr>
</p:sld>
</file>

<file path=ppt/slides/slide1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6" id="326"/>
          <p:cNvPicPr>
            <a:picLocks noChangeAspect="true"/>
          </p:cNvPicPr>
          <p:nvPr/>
        </p:nvPicPr>
        <p:blipFill>
          <a:blip r:embed="rId32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6" id="32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her  philosophy,  when  they  became  so  ambitious </a:t>
            </a:r>
          </a:p>
          <a:p>
            <a:r>
              <a:rPr lang="en-US" sz="3700">
                <a:solidFill>
                  <a:srgbClr val="252525"/>
                </a:solidFill>
              </a:rPr>
              <a:t>in  the  world  of  letters,  and  especially  in  the  world </a:t>
            </a:r>
          </a:p>
          <a:p>
            <a:r>
              <a:rPr lang="en-US" sz="3700">
                <a:solidFill>
                  <a:srgbClr val="252525"/>
                </a:solidFill>
              </a:rPr>
              <a:t>of  philosophy,  that  they  became  worshipers  of </a:t>
            </a:r>
          </a:p>
          <a:p>
            <a:r>
              <a:rPr lang="en-US" sz="3700">
                <a:solidFill>
                  <a:srgbClr val="252525"/>
                </a:solidFill>
              </a:rPr>
              <a:t>their  intellects,  and  during  that  period  developed </a:t>
            </a:r>
          </a:p>
          <a:p>
            <a:r>
              <a:rPr lang="en-US" sz="3700">
                <a:solidFill>
                  <a:srgbClr val="252525"/>
                </a:solidFill>
              </a:rPr>
              <a:t>some  of  the  most  gigantic  reasoners  that  the </a:t>
            </a:r>
          </a:p>
          <a:p>
            <a:r>
              <a:rPr lang="en-US" sz="3700">
                <a:solidFill>
                  <a:srgbClr val="252525"/>
                </a:solidFill>
              </a:rPr>
              <a:t>world  has  ever  seen,  and  they  became  wild  over </a:t>
            </a:r>
          </a:p>
          <a:p>
            <a:r>
              <a:rPr lang="en-US" sz="3700">
                <a:solidFill>
                  <a:srgbClr val="252525"/>
                </a:solidFill>
              </a:rPr>
              <a:t>the  reasoning  of  their  minds.     They  overlooked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God's  Attitude  to  Sin  59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God,  stopped  giving  thanks,  and  became  wor- </a:t>
            </a:r>
          </a:p>
          <a:p>
            <a:r>
              <a:rPr lang="en-US" sz="3700">
                <a:solidFill>
                  <a:srgbClr val="252525"/>
                </a:solidFill>
              </a:rPr>
              <a:t>shipers of  their  own  intellects. </a:t>
            </a:r>
          </a:p>
        </p:txBody>
      </p:sp>
    </p:spTree>
  </p:cSld>
  <p:clrMapOvr>
    <a:masterClrMapping/>
  </p:clrMapOvr>
</p:sld>
</file>

<file path=ppt/slides/slide1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8" id="328"/>
          <p:cNvPicPr>
            <a:picLocks noChangeAspect="true"/>
          </p:cNvPicPr>
          <p:nvPr/>
        </p:nvPicPr>
        <p:blipFill>
          <a:blip r:embed="rId32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28" id="329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Is  this  not  true  of  us  to-day  ?  We  see  it  every- </a:t>
            </a:r>
          </a:p>
          <a:p>
            <a:r>
              <a:rPr lang="en-US" sz="3700">
                <a:solidFill>
                  <a:srgbClr val="252525"/>
                </a:solidFill>
              </a:rPr>
              <a:t>where. In  the  Sunday-school  class,  in  the  pulpit, </a:t>
            </a:r>
          </a:p>
          <a:p>
            <a:r>
              <a:rPr lang="en-US" sz="3700">
                <a:solidFill>
                  <a:srgbClr val="252525"/>
                </a:solidFill>
              </a:rPr>
              <a:t>in  the  demands  of  the  pew  upon  the  pulpit,  in </a:t>
            </a:r>
          </a:p>
          <a:p>
            <a:r>
              <a:rPr lang="en-US" sz="3700">
                <a:solidFill>
                  <a:srgbClr val="252525"/>
                </a:solidFill>
              </a:rPr>
              <a:t>our  theological  seminaries,  in  our  colleges  and </a:t>
            </a:r>
          </a:p>
          <a:p>
            <a:r>
              <a:rPr lang="en-US" sz="3700">
                <a:solidFill>
                  <a:srgbClr val="252525"/>
                </a:solidFill>
              </a:rPr>
              <a:t>universities.  The  world  seems  to  have  gone  wild </a:t>
            </a:r>
          </a:p>
          <a:p>
            <a:r>
              <a:rPr lang="en-US" sz="3700">
                <a:solidFill>
                  <a:srgbClr val="252525"/>
                </a:solidFill>
              </a:rPr>
              <a:t>after  the  reasonings  of  men.  But  men  are  not </a:t>
            </a:r>
          </a:p>
          <a:p>
            <a:r>
              <a:rPr lang="en-US" sz="3700">
                <a:solidFill>
                  <a:srgbClr val="252525"/>
                </a:solidFill>
              </a:rPr>
              <a:t>saved  by  philosophy.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mind  itself  is  depraved.  When  Adam </a:t>
            </a:r>
          </a:p>
          <a:p>
            <a:r>
              <a:rPr lang="en-US" sz="3700">
                <a:solidFill>
                  <a:srgbClr val="252525"/>
                </a:solidFill>
              </a:rPr>
              <a:t>went  down,  he  went  down  in  mind,  body,  and </a:t>
            </a:r>
          </a:p>
          <a:p>
            <a:r>
              <a:rPr lang="en-US" sz="3700">
                <a:solidFill>
                  <a:srgbClr val="252525"/>
                </a:solidFill>
              </a:rPr>
              <a:t>soul,  and  the  only  way  by  which  the  mind  can </a:t>
            </a:r>
          </a:p>
        </p:txBody>
      </p:sp>
    </p:spTree>
  </p:cSld>
  <p:clrMapOvr>
    <a:masterClrMapping/>
  </p:clrMapOvr>
</p:sld>
</file>

<file path=ppt/slides/slide1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0" id="330"/>
          <p:cNvPicPr>
            <a:picLocks noChangeAspect="true"/>
          </p:cNvPicPr>
          <p:nvPr/>
        </p:nvPicPr>
        <p:blipFill>
          <a:blip r:embed="rId33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0" id="33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be  redeemed  is  through  the  blood  of  the  atone- </a:t>
            </a:r>
          </a:p>
          <a:p>
            <a:r>
              <a:rPr lang="en-US" sz="3700">
                <a:solidFill>
                  <a:srgbClr val="252525"/>
                </a:solidFill>
              </a:rPr>
              <a:t>ment. I  do  not  care  anything  about  the  philoso- </a:t>
            </a:r>
          </a:p>
          <a:p>
            <a:r>
              <a:rPr lang="en-US" sz="3700">
                <a:solidFill>
                  <a:srgbClr val="252525"/>
                </a:solidFill>
              </a:rPr>
              <a:t>phy of  men,  unless  it  is  a  philosophy  that  has </a:t>
            </a:r>
          </a:p>
          <a:p>
            <a:r>
              <a:rPr lang="en-US" sz="3700">
                <a:solidFill>
                  <a:srgbClr val="252525"/>
                </a:solidFill>
              </a:rPr>
              <a:t>been  redeemed  by  Jesus  Christ.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Then,  take  the  next  step:  "Their  hearts  were </a:t>
            </a:r>
          </a:p>
          <a:p>
            <a:r>
              <a:rPr lang="en-US" sz="3700">
                <a:solidFill>
                  <a:srgbClr val="252525"/>
                </a:solidFill>
              </a:rPr>
              <a:t>darkened."  When  they  lived  in  the  head,  they </a:t>
            </a:r>
          </a:p>
          <a:p>
            <a:r>
              <a:rPr lang="en-US" sz="3700">
                <a:solidFill>
                  <a:srgbClr val="252525"/>
                </a:solidFill>
              </a:rPr>
              <a:t>moved  out  of  the  heart.  When  man  moves  out </a:t>
            </a:r>
          </a:p>
          <a:p>
            <a:r>
              <a:rPr lang="en-US" sz="3700">
                <a:solidFill>
                  <a:srgbClr val="252525"/>
                </a:solidFill>
              </a:rPr>
              <a:t>of  the  heart  chamber  and  moves  into  the  head </a:t>
            </a:r>
          </a:p>
          <a:p>
            <a:r>
              <a:rPr lang="en-US" sz="3700">
                <a:solidFill>
                  <a:srgbClr val="252525"/>
                </a:solidFill>
              </a:rPr>
              <a:t>chamber,  there  is  not  anything  left  in  the  heart </a:t>
            </a:r>
          </a:p>
          <a:p>
            <a:r>
              <a:rPr lang="en-US" sz="3700">
                <a:solidFill>
                  <a:srgbClr val="252525"/>
                </a:solidFill>
              </a:rPr>
              <a:t>chamber,  and  a  vacuum  cannot  exist.  Something </a:t>
            </a:r>
          </a:p>
          <a:p>
            <a:r>
              <a:rPr lang="en-US" sz="3700">
                <a:solidFill>
                  <a:srgbClr val="252525"/>
                </a:solidFill>
              </a:rPr>
              <a:t>has  got  to  go  in  there,  and  the  devil  </a:t>
            </a:r>
          </a:p>
        </p:txBody>
      </p:sp>
    </p:spTree>
  </p:cSld>
  <p:clrMapOvr>
    <a:masterClrMapping/>
  </p:clrMapOvr>
</p:sld>
</file>

<file path=ppt/slides/slide1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2" id="332"/>
          <p:cNvPicPr>
            <a:picLocks noChangeAspect="true"/>
          </p:cNvPicPr>
          <p:nvPr/>
        </p:nvPicPr>
        <p:blipFill>
          <a:blip r:embed="rId33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2" id="33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takes  up  his </a:t>
            </a:r>
          </a:p>
          <a:p>
            <a:r>
              <a:rPr lang="en-US" sz="3700">
                <a:solidFill>
                  <a:srgbClr val="252525"/>
                </a:solidFill>
              </a:rPr>
              <a:t>abode  and  that  heart  gets  filled  with  everything </a:t>
            </a:r>
          </a:p>
          <a:p>
            <a:r>
              <a:rPr lang="en-US" sz="3700">
                <a:solidFill>
                  <a:srgbClr val="252525"/>
                </a:solidFill>
              </a:rPr>
              <a:t>that  is  contrary  to  the  highest  demands,  so  that </a:t>
            </a:r>
          </a:p>
          <a:p>
            <a:r>
              <a:rPr lang="en-US" sz="3700">
                <a:solidFill>
                  <a:srgbClr val="252525"/>
                </a:solidFill>
              </a:rPr>
              <a:t>it  becomes  darkened.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  might  as  well  try  to  fly  to  the  sun  as  to </a:t>
            </a:r>
          </a:p>
          <a:p>
            <a:r>
              <a:rPr lang="en-US" sz="3700">
                <a:solidFill>
                  <a:srgbClr val="252525"/>
                </a:solidFill>
              </a:rPr>
              <a:t>appeal  to  the  heart  of  a  fellow  that  has  moved </a:t>
            </a:r>
          </a:p>
          <a:p>
            <a:r>
              <a:rPr lang="en-US" sz="3700">
                <a:solidFill>
                  <a:srgbClr val="252525"/>
                </a:solidFill>
              </a:rPr>
              <a:t>up  into  his  brain.  His  heart  has  become  dark- </a:t>
            </a:r>
          </a:p>
          <a:p>
            <a:r>
              <a:rPr lang="en-US" sz="3700">
                <a:solidFill>
                  <a:srgbClr val="252525"/>
                </a:solidFill>
              </a:rPr>
              <a:t>ened. His  heart  eyes  have  gone  out.  If  he  sees </a:t>
            </a:r>
          </a:p>
          <a:p>
            <a:r>
              <a:rPr lang="en-US" sz="3700">
                <a:solidFill>
                  <a:srgbClr val="252525"/>
                </a:solidFill>
              </a:rPr>
              <a:t>suffering  it  makes  no  impression.     That  senti-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6o     Salvation  and  the  Old  Theology </a:t>
            </a:r>
          </a:p>
        </p:txBody>
      </p:sp>
    </p:spTree>
  </p:cSld>
  <p:clrMapOvr>
    <a:masterClrMapping/>
  </p:clrMapOvr>
</p:sld>
</file>

<file path=ppt/slides/slide1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4" id="334"/>
          <p:cNvPicPr>
            <a:picLocks noChangeAspect="true"/>
          </p:cNvPicPr>
          <p:nvPr/>
        </p:nvPicPr>
        <p:blipFill>
          <a:blip r:embed="rId33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4" id="33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mental  side  of  his  nature  has  become  blurred, </a:t>
            </a:r>
          </a:p>
          <a:p>
            <a:r>
              <a:rPr lang="en-US" sz="3700">
                <a:solidFill>
                  <a:srgbClr val="252525"/>
                </a:solidFill>
              </a:rPr>
              <a:t>and  that  is  the  description  of  the  age  in  which </a:t>
            </a:r>
          </a:p>
          <a:p>
            <a:r>
              <a:rPr lang="en-US" sz="3700">
                <a:solidFill>
                  <a:srgbClr val="252525"/>
                </a:solidFill>
              </a:rPr>
              <a:t>we  live  to-day.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And  then  comes  the  fifth  and  last  step — idola- </a:t>
            </a:r>
          </a:p>
          <a:p>
            <a:r>
              <a:rPr lang="en-US" sz="3700">
                <a:solidFill>
                  <a:srgbClr val="252525"/>
                </a:solidFill>
              </a:rPr>
              <a:t>try. There  is  no  other  place  to  land.  They  have </a:t>
            </a:r>
          </a:p>
          <a:p>
            <a:r>
              <a:rPr lang="en-US" sz="3700">
                <a:solidFill>
                  <a:srgbClr val="252525"/>
                </a:solidFill>
              </a:rPr>
              <a:t>either  got  to  go  back  and  re-state  their  theological </a:t>
            </a:r>
          </a:p>
          <a:p>
            <a:r>
              <a:rPr lang="en-US" sz="3700">
                <a:solidFill>
                  <a:srgbClr val="252525"/>
                </a:solidFill>
              </a:rPr>
              <a:t>position,  or  else  go  into  idolatry.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There  are  many  people  that  are  in  lands  of </a:t>
            </a:r>
          </a:p>
          <a:p>
            <a:r>
              <a:rPr lang="en-US" sz="3700">
                <a:solidFill>
                  <a:srgbClr val="252525"/>
                </a:solidFill>
              </a:rPr>
              <a:t>idolatry  because  they  were  born  there,  but  there </a:t>
            </a:r>
          </a:p>
          <a:p>
            <a:r>
              <a:rPr lang="en-US" sz="3700">
                <a:solidFill>
                  <a:srgbClr val="252525"/>
                </a:solidFill>
              </a:rPr>
              <a:t>are  many  people  here  in  our  own  country  who </a:t>
            </a:r>
          </a:p>
          <a:p>
            <a:r>
              <a:rPr lang="en-US" sz="3700">
                <a:solidFill>
                  <a:srgbClr val="252525"/>
                </a:solidFill>
              </a:rPr>
              <a:t>might  as  well  be  there.  It  is  just  as  </a:t>
            </a:r>
          </a:p>
        </p:txBody>
      </p:sp>
    </p:spTree>
  </p:cSld>
  <p:clrMapOvr>
    <a:masterClrMapping/>
  </p:clrMapOvr>
</p:sld>
</file>

<file path=ppt/slides/slide1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6" id="336"/>
          <p:cNvPicPr>
            <a:picLocks noChangeAspect="true"/>
          </p:cNvPicPr>
          <p:nvPr/>
        </p:nvPicPr>
        <p:blipFill>
          <a:blip r:embed="rId33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6" id="33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much  a </a:t>
            </a:r>
          </a:p>
          <a:p>
            <a:r>
              <a:rPr lang="en-US" sz="3700">
                <a:solidFill>
                  <a:srgbClr val="252525"/>
                </a:solidFill>
              </a:rPr>
              <a:t>species  of  idolatry  to  worship  the  parrot  or  horse, </a:t>
            </a:r>
          </a:p>
          <a:p>
            <a:r>
              <a:rPr lang="en-US" sz="3700">
                <a:solidFill>
                  <a:srgbClr val="252525"/>
                </a:solidFill>
              </a:rPr>
              <a:t>or  anything  else,  as  it  is  to  set  up  an  image  and </a:t>
            </a:r>
          </a:p>
          <a:p>
            <a:r>
              <a:rPr lang="en-US" sz="3700">
                <a:solidFill>
                  <a:srgbClr val="252525"/>
                </a:solidFill>
              </a:rPr>
              <a:t>worship  it.  They  allow  these  things  to  come  in </a:t>
            </a:r>
          </a:p>
          <a:p>
            <a:r>
              <a:rPr lang="en-US" sz="3700">
                <a:solidFill>
                  <a:srgbClr val="252525"/>
                </a:solidFill>
              </a:rPr>
              <a:t>and  take  the  place  of  God.  They  pay  more  at- </a:t>
            </a:r>
          </a:p>
          <a:p>
            <a:r>
              <a:rPr lang="en-US" sz="3700">
                <a:solidFill>
                  <a:srgbClr val="252525"/>
                </a:solidFill>
              </a:rPr>
              <a:t>tention to  these  things  than  they  do  to  God.  They </a:t>
            </a:r>
          </a:p>
          <a:p>
            <a:r>
              <a:rPr lang="en-US" sz="3700">
                <a:solidFill>
                  <a:srgbClr val="252525"/>
                </a:solidFill>
              </a:rPr>
              <a:t>are  more  careful  with  respect  to  things  of  this </a:t>
            </a:r>
          </a:p>
          <a:p>
            <a:r>
              <a:rPr lang="en-US" sz="3700">
                <a:solidFill>
                  <a:srgbClr val="252525"/>
                </a:solidFill>
              </a:rPr>
              <a:t>earth  than  to  those  things  that  pertain  to </a:t>
            </a:r>
          </a:p>
          <a:p>
            <a:r>
              <a:rPr lang="en-US" sz="3700">
                <a:solidFill>
                  <a:srgbClr val="252525"/>
                </a:solidFill>
              </a:rPr>
              <a:t>heaven.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Look  for  a  moment  at  the  manner  in  which </a:t>
            </a:r>
          </a:p>
          <a:p>
            <a:r>
              <a:rPr lang="en-US" sz="3700">
                <a:solidFill>
                  <a:srgbClr val="252525"/>
                </a:solidFill>
              </a:rPr>
              <a:t>God's  wrath  reveals  itself.  "Where  God  gave </a:t>
            </a:r>
          </a:p>
        </p:txBody>
      </p:sp>
    </p:spTree>
  </p:cSld>
  <p:clrMapOvr>
    <a:masterClrMapping/>
  </p:clrMapOvr>
</p:sld>
</file>

<file path=ppt/slides/slide1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8" id="338"/>
          <p:cNvPicPr>
            <a:picLocks noChangeAspect="true"/>
          </p:cNvPicPr>
          <p:nvPr/>
        </p:nvPicPr>
        <p:blipFill>
          <a:blip r:embed="rId33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38" id="33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them  up  in  the  lusts  of  their  hearts."  That  is </a:t>
            </a:r>
          </a:p>
          <a:p>
            <a:r>
              <a:rPr lang="en-US" sz="3700">
                <a:solidFill>
                  <a:srgbClr val="252525"/>
                </a:solidFill>
              </a:rPr>
              <a:t>not  God's  wrath.  That  is  the  revelation  of  God's </a:t>
            </a:r>
          </a:p>
          <a:p>
            <a:r>
              <a:rPr lang="en-US" sz="3700">
                <a:solidFill>
                  <a:srgbClr val="252525"/>
                </a:solidFill>
              </a:rPr>
              <a:t>wrath.  For,  after  all,  the  definition  of  wrath  is </a:t>
            </a:r>
          </a:p>
          <a:p>
            <a:r>
              <a:rPr lang="en-US" sz="3700">
                <a:solidFill>
                  <a:srgbClr val="252525"/>
                </a:solidFill>
              </a:rPr>
              <a:t>''the  opposite  of  love."  God  is  normally  love. </a:t>
            </a:r>
          </a:p>
          <a:p>
            <a:r>
              <a:rPr lang="en-US" sz="3700">
                <a:solidFill>
                  <a:srgbClr val="252525"/>
                </a:solidFill>
              </a:rPr>
              <a:t>The  opposite  of  that  is  wrath.  God  may  be  ex- </a:t>
            </a:r>
          </a:p>
          <a:p>
            <a:r>
              <a:rPr lang="en-US" sz="3700">
                <a:solidFill>
                  <a:srgbClr val="252525"/>
                </a:solidFill>
              </a:rPr>
              <a:t>pressing His  love  in  an  earthquake,  though  we </a:t>
            </a:r>
          </a:p>
          <a:p>
            <a:r>
              <a:rPr lang="en-US" sz="3700">
                <a:solidFill>
                  <a:srgbClr val="252525"/>
                </a:solidFill>
              </a:rPr>
              <a:t>are  not  able  to  see  it.  He  expresses  it  in  thou- </a:t>
            </a:r>
          </a:p>
          <a:p>
            <a:r>
              <a:rPr lang="en-US" sz="3700">
                <a:solidFill>
                  <a:srgbClr val="252525"/>
                </a:solidFill>
              </a:rPr>
              <a:t>sands of  ways,  and  we  want  to  see  just  how  He </a:t>
            </a:r>
          </a:p>
          <a:p>
            <a:r>
              <a:rPr lang="en-US" sz="3700">
                <a:solidFill>
                  <a:srgbClr val="252525"/>
                </a:solidFill>
              </a:rPr>
              <a:t>revealed  His  wrath  then.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He  gave  them  up.    How  I  should  hate  to  feel </a:t>
            </a:r>
          </a:p>
        </p:txBody>
      </p:sp>
    </p:spTree>
  </p:cSld>
  <p:clrMapOvr>
    <a:masterClrMapping/>
  </p:clrMapOvr>
</p:sld>
</file>

<file path=ppt/slides/slide1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0" id="340"/>
          <p:cNvPicPr>
            <a:picLocks noChangeAspect="true"/>
          </p:cNvPicPr>
          <p:nvPr/>
        </p:nvPicPr>
        <p:blipFill>
          <a:blip r:embed="rId34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0" id="34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God's  Attitude  to  Sin  6 1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that  God  had  given  me  up,  or  had  given  my </a:t>
            </a:r>
          </a:p>
          <a:p>
            <a:r>
              <a:rPr lang="en-US" sz="3700">
                <a:solidFill>
                  <a:srgbClr val="252525"/>
                </a:solidFill>
              </a:rPr>
              <a:t>town  up,  or  had  given  my  race  up.  Have  you </a:t>
            </a:r>
          </a:p>
          <a:p>
            <a:r>
              <a:rPr lang="en-US" sz="3700">
                <a:solidFill>
                  <a:srgbClr val="252525"/>
                </a:solidFill>
              </a:rPr>
              <a:t>ever  stopped  to  think  of  what  it  would  mean  for </a:t>
            </a:r>
          </a:p>
          <a:p>
            <a:r>
              <a:rPr lang="en-US" sz="3700">
                <a:solidFill>
                  <a:srgbClr val="252525"/>
                </a:solidFill>
              </a:rPr>
              <a:t>God  to  take  His  hands  off  and  let  you  go  ac- </a:t>
            </a:r>
          </a:p>
          <a:p>
            <a:r>
              <a:rPr lang="en-US" sz="3700">
                <a:solidFill>
                  <a:srgbClr val="252525"/>
                </a:solidFill>
              </a:rPr>
              <a:t>cording to  the  natural  bent  of  life?  That  is  ex- </a:t>
            </a:r>
          </a:p>
          <a:p>
            <a:r>
              <a:rPr lang="en-US" sz="3700">
                <a:solidFill>
                  <a:srgbClr val="252525"/>
                </a:solidFill>
              </a:rPr>
              <a:t>actly what  God  did.    He  gave  the  race  up.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Now,  in  what  particular  did  He  give  the  race </a:t>
            </a:r>
          </a:p>
          <a:p>
            <a:r>
              <a:rPr lang="en-US" sz="3700">
                <a:solidFill>
                  <a:srgbClr val="252525"/>
                </a:solidFill>
              </a:rPr>
              <a:t>up?  ''In  the  lusts  of  their  hearts  unto  unclean- </a:t>
            </a:r>
          </a:p>
          <a:p>
            <a:r>
              <a:rPr lang="en-US" sz="3700">
                <a:solidFill>
                  <a:srgbClr val="252525"/>
                </a:solidFill>
              </a:rPr>
              <a:t>ness."  That  is  how  God  did  it.  That  is  </a:t>
            </a:r>
          </a:p>
        </p:txBody>
      </p:sp>
    </p:spTree>
  </p:cSld>
  <p:clrMapOvr>
    <a:masterClrMapping/>
  </p:clrMapOvr>
</p:sld>
</file>

<file path=ppt/slides/slide1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2" id="342"/>
          <p:cNvPicPr>
            <a:picLocks noChangeAspect="true"/>
          </p:cNvPicPr>
          <p:nvPr/>
        </p:nvPicPr>
        <p:blipFill>
          <a:blip r:embed="rId34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2" id="34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  way </a:t>
            </a:r>
          </a:p>
          <a:p>
            <a:r>
              <a:rPr lang="en-US" sz="3700">
                <a:solidFill>
                  <a:srgbClr val="252525"/>
                </a:solidFill>
              </a:rPr>
              <a:t>He  revealed  His  wrath  for  the  time  being.  That </a:t>
            </a:r>
          </a:p>
          <a:p>
            <a:r>
              <a:rPr lang="en-US" sz="3700">
                <a:solidFill>
                  <a:srgbClr val="252525"/>
                </a:solidFill>
              </a:rPr>
              <a:t>is  the  way  He  revealed  Himself  to  them  in  the </a:t>
            </a:r>
          </a:p>
          <a:p>
            <a:r>
              <a:rPr lang="en-US" sz="3700">
                <a:solidFill>
                  <a:srgbClr val="252525"/>
                </a:solidFill>
              </a:rPr>
              <a:t>age  in  which  they  lived,  and  He  does  it  in  the </a:t>
            </a:r>
          </a:p>
          <a:p>
            <a:r>
              <a:rPr lang="en-US" sz="3700">
                <a:solidFill>
                  <a:srgbClr val="252525"/>
                </a:solidFill>
              </a:rPr>
              <a:t>age  in  which  we  live,  if  we  fail  to  avail  ourselves </a:t>
            </a:r>
          </a:p>
          <a:p>
            <a:r>
              <a:rPr lang="en-US" sz="3700">
                <a:solidFill>
                  <a:srgbClr val="252525"/>
                </a:solidFill>
              </a:rPr>
              <a:t>of  the  way  of  escape.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There  are  four  things  here.  First,  that  God </a:t>
            </a:r>
          </a:p>
          <a:p>
            <a:r>
              <a:rPr lang="en-US" sz="3700">
                <a:solidFill>
                  <a:srgbClr val="252525"/>
                </a:solidFill>
              </a:rPr>
              <a:t>gave  them  up  in  their  hearts.  God  turned  their </a:t>
            </a:r>
          </a:p>
          <a:p>
            <a:r>
              <a:rPr lang="en-US" sz="3700">
                <a:solidFill>
                  <a:srgbClr val="252525"/>
                </a:solidFill>
              </a:rPr>
              <a:t>hearts  loose.  He  took  His  hands  off  and  said, </a:t>
            </a:r>
          </a:p>
          <a:p>
            <a:r>
              <a:rPr lang="en-US" sz="3700">
                <a:solidFill>
                  <a:srgbClr val="252525"/>
                </a:solidFill>
              </a:rPr>
              <a:t>"Go  on  and  love  everything  that  the  natural,  vile </a:t>
            </a:r>
          </a:p>
          <a:p>
            <a:r>
              <a:rPr lang="en-US" sz="3700">
                <a:solidFill>
                  <a:srgbClr val="252525"/>
                </a:solidFill>
              </a:rPr>
              <a:t>man  wants  to  love.  I  have  got  my  hands  off, </a:t>
            </a:r>
          </a:p>
        </p:txBody>
      </p:sp>
    </p:spTree>
  </p:cSld>
  <p:clrMapOvr>
    <a:masterClrMapping/>
  </p:clrMapOvr>
</p:sld>
</file>

<file path=ppt/slides/slide1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4" id="344"/>
          <p:cNvPicPr>
            <a:picLocks noChangeAspect="true"/>
          </p:cNvPicPr>
          <p:nvPr/>
        </p:nvPicPr>
        <p:blipFill>
          <a:blip r:embed="rId34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4" id="34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and  you  can  go  now."  That  is  the  way  God </a:t>
            </a:r>
          </a:p>
          <a:p>
            <a:r>
              <a:rPr lang="en-US" sz="3700">
                <a:solidFill>
                  <a:srgbClr val="252525"/>
                </a:solidFill>
              </a:rPr>
              <a:t>revealed  His  wrath — by  turning  man  loose.  Man </a:t>
            </a:r>
          </a:p>
          <a:p>
            <a:r>
              <a:rPr lang="en-US" sz="3700">
                <a:solidFill>
                  <a:srgbClr val="252525"/>
                </a:solidFill>
              </a:rPr>
              <a:t>had  failed  to  avail  himself  of  the  remedy  for </a:t>
            </a:r>
          </a:p>
          <a:p>
            <a:r>
              <a:rPr lang="en-US" sz="3700">
                <a:solidFill>
                  <a:srgbClr val="252525"/>
                </a:solidFill>
              </a:rPr>
              <a:t>his  salvation.  God  had  tried  and  tried,  and  men </a:t>
            </a:r>
          </a:p>
          <a:p>
            <a:r>
              <a:rPr lang="en-US" sz="3700">
                <a:solidFill>
                  <a:srgbClr val="252525"/>
                </a:solidFill>
              </a:rPr>
              <a:t>had  wandered  off  purposely,  and  so  God  gave </a:t>
            </a:r>
          </a:p>
          <a:p>
            <a:r>
              <a:rPr lang="en-US" sz="3700">
                <a:solidFill>
                  <a:srgbClr val="252525"/>
                </a:solidFill>
              </a:rPr>
              <a:t>them  up,  and  their  hearts  became  darkened.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  He  took  His  hands  off  their  bodies. </a:t>
            </a:r>
          </a:p>
          <a:p>
            <a:r>
              <a:rPr lang="en-US" sz="3700">
                <a:solidFill>
                  <a:srgbClr val="252525"/>
                </a:solidFill>
              </a:rPr>
              <a:t>After  that  He  took  His  hands  off  their  passions, </a:t>
            </a:r>
          </a:p>
          <a:p>
            <a:r>
              <a:rPr lang="en-US" sz="3700">
                <a:solidFill>
                  <a:srgbClr val="252525"/>
                </a:solidFill>
              </a:rPr>
              <a:t>and  that  awful  description  of  the  outcome  is  such </a:t>
            </a:r>
          </a:p>
          <a:p>
            <a:r>
              <a:rPr lang="en-US" sz="3700">
                <a:solidFill>
                  <a:srgbClr val="252525"/>
                </a:solidFill>
              </a:rPr>
              <a:t>that  I  cannot  comment  on  it.  And  then  God </a:t>
            </a:r>
          </a:p>
        </p:txBody>
      </p:sp>
    </p:spTree>
  </p:cSld>
  <p:clrMapOvr>
    <a:masterClrMapping/>
  </p:clrMapOvr>
</p:sld>
</file>

<file path=ppt/slides/slide1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6" id="346"/>
          <p:cNvPicPr>
            <a:picLocks noChangeAspect="true"/>
          </p:cNvPicPr>
          <p:nvPr/>
        </p:nvPicPr>
        <p:blipFill>
          <a:blip r:embed="rId34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6" id="34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gave  them  up  unto  a  reprobate  mind.  What </a:t>
            </a:r>
          </a:p>
          <a:p>
            <a:r>
              <a:rPr lang="en-US" sz="3700">
                <a:solidFill>
                  <a:srgbClr val="252525"/>
                </a:solidFill>
              </a:rPr>
              <a:t>does  he  mean  by  a  reprobate  mind?    The  word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62 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reprobate  comes  from  the  words  re,  pro,  and </a:t>
            </a:r>
          </a:p>
          <a:p>
            <a:r>
              <a:rPr lang="en-US" sz="3700">
                <a:solidFill>
                  <a:srgbClr val="252525"/>
                </a:solidFill>
              </a:rPr>
              <a:t>hare,  which  mean  this,  "rejection  after  a  second </a:t>
            </a:r>
          </a:p>
          <a:p>
            <a:r>
              <a:rPr lang="en-US" sz="3700">
                <a:solidFill>
                  <a:srgbClr val="252525"/>
                </a:solidFill>
              </a:rPr>
              <a:t>trial."  God  had  given  the  race  two  great  chances </a:t>
            </a:r>
          </a:p>
          <a:p>
            <a:r>
              <a:rPr lang="en-US" sz="3700">
                <a:solidFill>
                  <a:srgbClr val="252525"/>
                </a:solidFill>
              </a:rPr>
              <a:t>for  redemption,  and  the  race  had  failed.  First, </a:t>
            </a:r>
          </a:p>
          <a:p>
            <a:r>
              <a:rPr lang="en-US" sz="3700">
                <a:solidFill>
                  <a:srgbClr val="252525"/>
                </a:solidFill>
              </a:rPr>
              <a:t>they  refused  the  chance  of  law,  then  they  refused </a:t>
            </a:r>
          </a:p>
          <a:p>
            <a:r>
              <a:rPr lang="en-US" sz="3700">
                <a:solidFill>
                  <a:srgbClr val="252525"/>
                </a:solidFill>
              </a:rPr>
              <a:t>the  chance  in  revelation.  They  turned  their </a:t>
            </a:r>
          </a:p>
          <a:p>
            <a:r>
              <a:rPr lang="en-US" sz="3700">
                <a:solidFill>
                  <a:srgbClr val="252525"/>
                </a:solidFill>
              </a:rPr>
              <a:t>backs  on  both,  and  God  turned  them  </a:t>
            </a:r>
          </a:p>
        </p:txBody>
      </p:sp>
    </p:spTree>
  </p:cSld>
  <p:clrMapOvr>
    <a:masterClrMapping/>
  </p:clrMapOvr>
</p:sld>
</file>

<file path=ppt/slides/slide1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8" id="348"/>
          <p:cNvPicPr>
            <a:picLocks noChangeAspect="true"/>
          </p:cNvPicPr>
          <p:nvPr/>
        </p:nvPicPr>
        <p:blipFill>
          <a:blip r:embed="rId34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48" id="34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loose.  He </a:t>
            </a:r>
          </a:p>
          <a:p>
            <a:r>
              <a:rPr lang="en-US" sz="3700">
                <a:solidFill>
                  <a:srgbClr val="252525"/>
                </a:solidFill>
              </a:rPr>
              <a:t>tells  us  the  results  of  having  a  reprobate  mind, </a:t>
            </a:r>
          </a:p>
          <a:p>
            <a:r>
              <a:rPr lang="en-US" sz="3700">
                <a:solidFill>
                  <a:srgbClr val="252525"/>
                </a:solidFill>
              </a:rPr>
              <a:t>"Being  filled  with  all  unrighteousness,  wicked- </a:t>
            </a:r>
          </a:p>
          <a:p>
            <a:r>
              <a:rPr lang="en-US" sz="3700">
                <a:solidFill>
                  <a:srgbClr val="252525"/>
                </a:solidFill>
              </a:rPr>
              <a:t>ness, covetousness,"  etc.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My!  what  a  picture  that  is!  And  yet  that  is </a:t>
            </a:r>
          </a:p>
          <a:p>
            <a:r>
              <a:rPr lang="en-US" sz="3700">
                <a:solidFill>
                  <a:srgbClr val="252525"/>
                </a:solidFill>
              </a:rPr>
              <a:t>a  picture  of  the  race.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Let  us  go  just  a  step  further  and  see  something </a:t>
            </a:r>
          </a:p>
          <a:p>
            <a:r>
              <a:rPr lang="en-US" sz="3700">
                <a:solidFill>
                  <a:srgbClr val="252525"/>
                </a:solidFill>
              </a:rPr>
              <a:t>of  the  manner  of  God's  wrath  revealed  in  the </a:t>
            </a:r>
          </a:p>
          <a:p>
            <a:r>
              <a:rPr lang="en-US" sz="3700">
                <a:solidFill>
                  <a:srgbClr val="252525"/>
                </a:solidFill>
              </a:rPr>
              <a:t>future.  We  have  been  considering  the  manner </a:t>
            </a:r>
          </a:p>
          <a:p>
            <a:r>
              <a:rPr lang="en-US" sz="3700">
                <a:solidFill>
                  <a:srgbClr val="252525"/>
                </a:solidFill>
              </a:rPr>
              <a:t>of  God's  wrath  revealed  for  them  at  the  pres- </a:t>
            </a:r>
          </a:p>
          <a:p>
            <a:r>
              <a:rPr lang="en-US" sz="3700">
                <a:solidFill>
                  <a:srgbClr val="252525"/>
                </a:solidFill>
              </a:rPr>
              <a:t>ent time.  Now  for  the  future  we  have  this: </a:t>
            </a:r>
          </a:p>
        </p:txBody>
      </p:sp>
    </p:spTree>
  </p:cSld>
  <p:clrMapOvr>
    <a:masterClrMapping/>
  </p:clrMapOvr>
</p:sld>
</file>

<file path=ppt/slides/slide1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0" id="350"/>
          <p:cNvPicPr>
            <a:picLocks noChangeAspect="true"/>
          </p:cNvPicPr>
          <p:nvPr/>
        </p:nvPicPr>
        <p:blipFill>
          <a:blip r:embed="rId35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0" id="35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Judgment.  God  visits  His  wrath  upon  us  at  the </a:t>
            </a:r>
          </a:p>
          <a:p>
            <a:r>
              <a:rPr lang="en-US" sz="3700">
                <a:solidFill>
                  <a:srgbClr val="252525"/>
                </a:solidFill>
              </a:rPr>
              <a:t>present  time.  We  have  seen  the  manner  of  the </a:t>
            </a:r>
          </a:p>
          <a:p>
            <a:r>
              <a:rPr lang="en-US" sz="3700">
                <a:solidFill>
                  <a:srgbClr val="252525"/>
                </a:solidFill>
              </a:rPr>
              <a:t>visitation  of  His  wrath,  that  He  turns  loose  our </a:t>
            </a:r>
          </a:p>
          <a:p>
            <a:r>
              <a:rPr lang="en-US" sz="3700">
                <a:solidFill>
                  <a:srgbClr val="252525"/>
                </a:solidFill>
              </a:rPr>
              <a:t>hearts;  that  He  lets  them  run  wild;  turns  loose </a:t>
            </a:r>
          </a:p>
          <a:p>
            <a:r>
              <a:rPr lang="en-US" sz="3700">
                <a:solidFill>
                  <a:srgbClr val="252525"/>
                </a:solidFill>
              </a:rPr>
              <a:t>our  bodies,  turns  loose  our  passions,  and  gives </a:t>
            </a:r>
          </a:p>
          <a:p>
            <a:r>
              <a:rPr lang="en-US" sz="3700">
                <a:solidFill>
                  <a:srgbClr val="252525"/>
                </a:solidFill>
              </a:rPr>
              <a:t>us  over  to  the  natural  workings  of  a  reprobate </a:t>
            </a:r>
          </a:p>
          <a:p>
            <a:r>
              <a:rPr lang="en-US" sz="3700">
                <a:solidFill>
                  <a:srgbClr val="252525"/>
                </a:solidFill>
              </a:rPr>
              <a:t>mind.  For  the  future,  God  reserves  judgment. </a:t>
            </a:r>
          </a:p>
          <a:p>
            <a:r>
              <a:rPr lang="en-US" sz="3700">
                <a:solidFill>
                  <a:srgbClr val="252525"/>
                </a:solidFill>
              </a:rPr>
              <a:t>There  are  just  four  things  that  I  want  we  should </a:t>
            </a:r>
          </a:p>
          <a:p>
            <a:r>
              <a:rPr lang="en-US" sz="3700">
                <a:solidFill>
                  <a:srgbClr val="252525"/>
                </a:solidFill>
              </a:rPr>
              <a:t>see: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First,  it  is  a  judgment  according  to  truth.  I </a:t>
            </a:r>
          </a:p>
          <a:p>
            <a:r>
              <a:rPr lang="en-US" sz="3700">
                <a:solidFill>
                  <a:srgbClr val="252525"/>
                </a:solidFill>
              </a:rPr>
              <a:t>remember  a  cartoon  I  once  saw  of  a  </a:t>
            </a:r>
          </a:p>
        </p:txBody>
      </p:sp>
    </p:spTree>
  </p:cSld>
  <p:clrMapOvr>
    <a:masterClrMapping/>
  </p:clrMapOvr>
</p:sld>
</file>

<file path=ppt/slides/slide1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2" id="352"/>
          <p:cNvPicPr>
            <a:picLocks noChangeAspect="true"/>
          </p:cNvPicPr>
          <p:nvPr/>
        </p:nvPicPr>
        <p:blipFill>
          <a:blip r:embed="rId35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2" id="35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young </a:t>
            </a:r>
          </a:p>
          <a:p>
            <a:r>
              <a:rPr lang="en-US" sz="3700">
                <a:solidFill>
                  <a:srgbClr val="252525"/>
                </a:solidFill>
              </a:rPr>
              <a:t>preacher.  He  had  just  returned  from  a  theologi- </a:t>
            </a:r>
          </a:p>
          <a:p>
            <a:r>
              <a:rPr lang="en-US" sz="3700">
                <a:solidFill>
                  <a:srgbClr val="252525"/>
                </a:solidFill>
              </a:rPr>
              <a:t>cal seminary  with  his  theological  degree,  and  he </a:t>
            </a:r>
          </a:p>
          <a:p>
            <a:r>
              <a:rPr lang="en-US" sz="3700">
                <a:solidFill>
                  <a:srgbClr val="252525"/>
                </a:solidFill>
              </a:rPr>
              <a:t>was  making  his  first  sermon,  and  had  taken  for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God's  Attitude  to  Sin  63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his  subject,  "Truth."  On  one  side  of  him  was </a:t>
            </a:r>
          </a:p>
          <a:p>
            <a:r>
              <a:rPr lang="en-US" sz="3700">
                <a:solidFill>
                  <a:srgbClr val="252525"/>
                </a:solidFill>
              </a:rPr>
              <a:t>a  great  pile  of  books,  and  in  his  hand  a  pen. </a:t>
            </a:r>
          </a:p>
          <a:p>
            <a:r>
              <a:rPr lang="en-US" sz="3700">
                <a:solidFill>
                  <a:srgbClr val="252525"/>
                </a:solidFill>
              </a:rPr>
              <a:t>He  had  just  written  his  subject.  His  first  di- </a:t>
            </a:r>
          </a:p>
          <a:p>
            <a:r>
              <a:rPr lang="en-US" sz="3700">
                <a:solidFill>
                  <a:srgbClr val="252525"/>
                </a:solidFill>
              </a:rPr>
              <a:t>vision was,  "What  is  Truth  ?"  And  he  was  look- </a:t>
            </a:r>
          </a:p>
          <a:p>
            <a:r>
              <a:rPr lang="en-US" sz="3700">
                <a:solidFill>
                  <a:srgbClr val="252525"/>
                </a:solidFill>
              </a:rPr>
              <a:t>ing at  that  pile  of  books  to  find  the  answer  to </a:t>
            </a:r>
          </a:p>
        </p:txBody>
      </p:sp>
    </p:spTree>
  </p:cSld>
  <p:clrMapOvr>
    <a:masterClrMapping/>
  </p:clrMapOvr>
</p:sld>
</file>

<file path=ppt/slides/slide1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4" id="354"/>
          <p:cNvPicPr>
            <a:picLocks noChangeAspect="true"/>
          </p:cNvPicPr>
          <p:nvPr/>
        </p:nvPicPr>
        <p:blipFill>
          <a:blip r:embed="rId35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4" id="35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that  question.  Just  over  him  was  an  angel,  hold- </a:t>
            </a:r>
          </a:p>
          <a:p>
            <a:r>
              <a:rPr lang="en-US" sz="3700">
                <a:solidFill>
                  <a:srgbClr val="252525"/>
                </a:solidFill>
              </a:rPr>
              <a:t>ing in  one  hand  a  Bible,  and  with  her  other  she </a:t>
            </a:r>
          </a:p>
          <a:p>
            <a:r>
              <a:rPr lang="en-US" sz="3700">
                <a:solidFill>
                  <a:srgbClr val="252525"/>
                </a:solidFill>
              </a:rPr>
              <a:t>was  pointing  to  it,  and  saying,  "Thy  word  is </a:t>
            </a:r>
          </a:p>
          <a:p>
            <a:r>
              <a:rPr lang="en-US" sz="3700">
                <a:solidFill>
                  <a:srgbClr val="252525"/>
                </a:solidFill>
              </a:rPr>
              <a:t>truth."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 are  to  be  judged  according  to  truth.  What </a:t>
            </a:r>
          </a:p>
          <a:p>
            <a:r>
              <a:rPr lang="en-US" sz="3700">
                <a:solidFill>
                  <a:srgbClr val="252525"/>
                </a:solidFill>
              </a:rPr>
              <a:t>is  truth  ?  The  truth  of  God  revealed  in  the  Bible. </a:t>
            </a:r>
          </a:p>
          <a:p>
            <a:r>
              <a:rPr lang="en-US" sz="3700">
                <a:solidFill>
                  <a:srgbClr val="252525"/>
                </a:solidFill>
              </a:rPr>
              <a:t>I  do  not  say  that  there  is  no  truth  in  the  works </a:t>
            </a:r>
          </a:p>
          <a:p>
            <a:r>
              <a:rPr lang="en-US" sz="3700">
                <a:solidFill>
                  <a:srgbClr val="252525"/>
                </a:solidFill>
              </a:rPr>
              <a:t>of  science,  for  there  is;  but  it  is  not  by  that </a:t>
            </a:r>
          </a:p>
          <a:p>
            <a:r>
              <a:rPr lang="en-US" sz="3700">
                <a:solidFill>
                  <a:srgbClr val="252525"/>
                </a:solidFill>
              </a:rPr>
              <a:t>truth  that  we  are  to  be  judged.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Apostle  Paul  was  trying  to  make  them </a:t>
            </a:r>
          </a:p>
          <a:p>
            <a:r>
              <a:rPr lang="en-US" sz="3700">
                <a:solidFill>
                  <a:srgbClr val="252525"/>
                </a:solidFill>
              </a:rPr>
              <a:t>see  that  in  the  last  day  we  shall  be  </a:t>
            </a:r>
          </a:p>
        </p:txBody>
      </p:sp>
    </p:spTree>
  </p:cSld>
  <p:clrMapOvr>
    <a:masterClrMapping/>
  </p:clrMapOvr>
</p:sld>
</file>

<file path=ppt/slides/slide1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6" id="356"/>
          <p:cNvPicPr>
            <a:picLocks noChangeAspect="true"/>
          </p:cNvPicPr>
          <p:nvPr/>
        </p:nvPicPr>
        <p:blipFill>
          <a:blip r:embed="rId35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6" id="35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judged  ac- </a:t>
            </a:r>
          </a:p>
          <a:p>
            <a:r>
              <a:rPr lang="en-US" sz="3700">
                <a:solidFill>
                  <a:srgbClr val="252525"/>
                </a:solidFill>
              </a:rPr>
              <a:t>cording to  the  Bible,  and  the  truth  of  God  in </a:t>
            </a:r>
          </a:p>
          <a:p>
            <a:r>
              <a:rPr lang="en-US" sz="3700">
                <a:solidFill>
                  <a:srgbClr val="252525"/>
                </a:solidFill>
              </a:rPr>
              <a:t>our  hearts.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  you  will  see  that  it  is  a  judgment  ac- </a:t>
            </a:r>
          </a:p>
          <a:p>
            <a:r>
              <a:rPr lang="en-US" sz="3700">
                <a:solidFill>
                  <a:srgbClr val="252525"/>
                </a:solidFill>
              </a:rPr>
              <a:t>cording to  works.  They  are  to  be  judged  ac- </a:t>
            </a:r>
          </a:p>
          <a:p>
            <a:r>
              <a:rPr lang="en-US" sz="3700">
                <a:solidFill>
                  <a:srgbClr val="252525"/>
                </a:solidFill>
              </a:rPr>
              <a:t>cording to  what  they  have  done,  and  accord- </a:t>
            </a:r>
          </a:p>
          <a:p>
            <a:r>
              <a:rPr lang="en-US" sz="3700">
                <a:solidFill>
                  <a:srgbClr val="252525"/>
                </a:solidFill>
              </a:rPr>
              <a:t>ing to  what  they  have  not  done.  It  is  a  judg- </a:t>
            </a:r>
          </a:p>
          <a:p>
            <a:r>
              <a:rPr lang="en-US" sz="3700">
                <a:solidFill>
                  <a:srgbClr val="252525"/>
                </a:solidFill>
              </a:rPr>
              <a:t>ment without  respect  to  persons.  That  is  stated </a:t>
            </a:r>
          </a:p>
          <a:p>
            <a:r>
              <a:rPr lang="en-US" sz="3700">
                <a:solidFill>
                  <a:srgbClr val="252525"/>
                </a:solidFill>
              </a:rPr>
              <a:t>to  adjust  the  relationship  between  the  Jew  and </a:t>
            </a:r>
          </a:p>
          <a:p>
            <a:r>
              <a:rPr lang="en-US" sz="3700">
                <a:solidFill>
                  <a:srgbClr val="252525"/>
                </a:solidFill>
              </a:rPr>
              <a:t>the  Gentile.  It  is  a  judgment  according  to  the </a:t>
            </a:r>
          </a:p>
          <a:p>
            <a:r>
              <a:rPr lang="en-US" sz="3700">
                <a:solidFill>
                  <a:srgbClr val="252525"/>
                </a:solidFill>
              </a:rPr>
              <a:t>law  and  revelation,  whether  it  is  the  revela- </a:t>
            </a:r>
          </a:p>
        </p:txBody>
      </p:sp>
    </p:spTree>
  </p:cSld>
  <p:clrMapOvr>
    <a:masterClrMapping/>
  </p:clrMapOvr>
</p:sld>
</file>

<file path=ppt/slides/slide1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8" id="358"/>
          <p:cNvPicPr>
            <a:picLocks noChangeAspect="true"/>
          </p:cNvPicPr>
          <p:nvPr/>
        </p:nvPicPr>
        <p:blipFill>
          <a:blip r:embed="rId35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58" id="35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tion of  the  law  to  the  Jew  or  to  the  Gentile. </a:t>
            </a:r>
          </a:p>
          <a:p>
            <a:r>
              <a:rPr lang="en-US" sz="3700">
                <a:solidFill>
                  <a:srgbClr val="252525"/>
                </a:solidFill>
              </a:rPr>
              <a:t>The  law  and  the  revelation,  whether  it  is  the </a:t>
            </a:r>
          </a:p>
          <a:p>
            <a:r>
              <a:rPr lang="en-US" sz="3700">
                <a:solidFill>
                  <a:srgbClr val="252525"/>
                </a:solidFill>
              </a:rPr>
              <a:t>revelation  of  God  in  the  law  or  the  revelation  of </a:t>
            </a:r>
          </a:p>
          <a:p>
            <a:r>
              <a:rPr lang="en-US" sz="3700">
                <a:solidFill>
                  <a:srgbClr val="252525"/>
                </a:solidFill>
              </a:rPr>
              <a:t>God  and  the  law  in  their  inner  consciences </a:t>
            </a:r>
          </a:p>
          <a:p>
            <a:r>
              <a:rPr lang="en-US" sz="3700">
                <a:solidFill>
                  <a:srgbClr val="252525"/>
                </a:solidFill>
              </a:rPr>
              <a:t>and  in  nature,  is  the  same  truth  provided  for  in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64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word  of  God,  and  they  are  to  be  held  in </a:t>
            </a:r>
          </a:p>
          <a:p>
            <a:r>
              <a:rPr lang="en-US" sz="3700">
                <a:solidFill>
                  <a:srgbClr val="252525"/>
                </a:solidFill>
              </a:rPr>
              <a:t>rigid  judgment  by  it.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What  about  the  heathen  to-day  that  do  not </a:t>
            </a:r>
          </a:p>
          <a:p>
            <a:r>
              <a:rPr lang="en-US" sz="3700">
                <a:solidFill>
                  <a:srgbClr val="252525"/>
                </a:solidFill>
              </a:rPr>
              <a:t>know  anything  about  the  Gospel.  They  </a:t>
            </a:r>
          </a:p>
        </p:txBody>
      </p:sp>
    </p:spTree>
  </p:cSld>
  <p:clrMapOvr>
    <a:masterClrMapping/>
  </p:clrMapOvr>
</p:sld>
</file>

<file path=ppt/slides/slide1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0" id="360"/>
          <p:cNvPicPr>
            <a:picLocks noChangeAspect="true"/>
          </p:cNvPicPr>
          <p:nvPr/>
        </p:nvPicPr>
        <p:blipFill>
          <a:blip r:embed="rId36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0" id="36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have  got </a:t>
            </a:r>
          </a:p>
          <a:p>
            <a:r>
              <a:rPr lang="en-US" sz="3700">
                <a:solidFill>
                  <a:srgbClr val="252525"/>
                </a:solidFill>
              </a:rPr>
              <a:t>to  stand  the  test  of  the  truth.  The  heathen  to- </a:t>
            </a:r>
          </a:p>
          <a:p>
            <a:r>
              <a:rPr lang="en-US" sz="3700">
                <a:solidFill>
                  <a:srgbClr val="252525"/>
                </a:solidFill>
              </a:rPr>
              <a:t>day have  the  same  revelation  that  they  had  then </a:t>
            </a:r>
          </a:p>
          <a:p>
            <a:r>
              <a:rPr lang="en-US" sz="3700">
                <a:solidFill>
                  <a:srgbClr val="252525"/>
                </a:solidFill>
              </a:rPr>
              <a:t>in  their  inner  consciences.  They  have  something </a:t>
            </a:r>
          </a:p>
          <a:p>
            <a:r>
              <a:rPr lang="en-US" sz="3700">
                <a:solidFill>
                  <a:srgbClr val="252525"/>
                </a:solidFill>
              </a:rPr>
              <a:t>within  them  that  tells  them  of  a  standard  that </a:t>
            </a:r>
          </a:p>
          <a:p>
            <a:r>
              <a:rPr lang="en-US" sz="3700">
                <a:solidFill>
                  <a:srgbClr val="252525"/>
                </a:solidFill>
              </a:rPr>
              <a:t>they  are  to  live  up  to.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Then,  you  will  see  that  it  is  a  judgment  ac- </a:t>
            </a:r>
          </a:p>
          <a:p>
            <a:r>
              <a:rPr lang="en-US" sz="3700">
                <a:solidFill>
                  <a:srgbClr val="252525"/>
                </a:solidFill>
              </a:rPr>
              <a:t>cording to  Paul  himself.  This  gives  me  such  a </a:t>
            </a:r>
          </a:p>
          <a:p>
            <a:r>
              <a:rPr lang="en-US" sz="3700">
                <a:solidFill>
                  <a:srgbClr val="252525"/>
                </a:solidFill>
              </a:rPr>
              <a:t>good  chance  to  say  what  I  want  to  say.  Some </a:t>
            </a:r>
          </a:p>
          <a:p>
            <a:r>
              <a:rPr lang="en-US" sz="3700">
                <a:solidFill>
                  <a:srgbClr val="252525"/>
                </a:solidFill>
              </a:rPr>
              <a:t>people  say  to  me,  ''Show  me  what  Jesus  said. </a:t>
            </a:r>
          </a:p>
          <a:p>
            <a:r>
              <a:rPr lang="en-US" sz="3700">
                <a:solidFill>
                  <a:srgbClr val="252525"/>
                </a:solidFill>
              </a:rPr>
              <a:t>Do  not  show  me  what  Paul  said."  Let  me  say </a:t>
            </a:r>
          </a:p>
        </p:txBody>
      </p:sp>
    </p:spTree>
  </p:cSld>
  <p:clrMapOvr>
    <a:masterClrMapping/>
  </p:clrMapOvr>
</p:sld>
</file>

<file path=ppt/slides/slide1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2" id="362"/>
          <p:cNvPicPr>
            <a:picLocks noChangeAspect="true"/>
          </p:cNvPicPr>
          <p:nvPr/>
        </p:nvPicPr>
        <p:blipFill>
          <a:blip r:embed="rId36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2" id="36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that  the  words  of  Jesus  have  no  more  weight </a:t>
            </a:r>
          </a:p>
          <a:p>
            <a:r>
              <a:rPr lang="en-US" sz="3700">
                <a:solidFill>
                  <a:srgbClr val="252525"/>
                </a:solidFill>
              </a:rPr>
              <a:t>in  the  scripture  than  the  words  of  Paul.  Paul </a:t>
            </a:r>
          </a:p>
          <a:p>
            <a:r>
              <a:rPr lang="en-US" sz="3700">
                <a:solidFill>
                  <a:srgbClr val="252525"/>
                </a:solidFill>
              </a:rPr>
              <a:t>was  inspired  to  say  what  he  said  by  the  same </a:t>
            </a:r>
          </a:p>
          <a:p>
            <a:r>
              <a:rPr lang="en-US" sz="3700">
                <a:solidFill>
                  <a:srgbClr val="252525"/>
                </a:solidFill>
              </a:rPr>
              <a:t>Spirit  that  inspired  Jesus.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last  thought  is  the  reiteration  of  the  uni- </a:t>
            </a:r>
          </a:p>
          <a:p>
            <a:r>
              <a:rPr lang="en-US" sz="3700">
                <a:solidFill>
                  <a:srgbClr val="252525"/>
                </a:solidFill>
              </a:rPr>
              <a:t>versality of  sin  and  the  insufficiency  of  the  law </a:t>
            </a:r>
          </a:p>
          <a:p>
            <a:r>
              <a:rPr lang="en-US" sz="3700">
                <a:solidFill>
                  <a:srgbClr val="252525"/>
                </a:solidFill>
              </a:rPr>
              <a:t>to  save,  and  all  that  you  need  to  do  is  to  read, </a:t>
            </a:r>
          </a:p>
          <a:p>
            <a:r>
              <a:rPr lang="en-US" sz="3700">
                <a:solidFill>
                  <a:srgbClr val="252525"/>
                </a:solidFill>
              </a:rPr>
              <a:t>"There  is  none  righteous,  no,  not  one."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This  is  exactly  where  the  world  stood  at  the </a:t>
            </a:r>
          </a:p>
          <a:p>
            <a:r>
              <a:rPr lang="en-US" sz="3700">
                <a:solidFill>
                  <a:srgbClr val="252525"/>
                </a:solidFill>
              </a:rPr>
              <a:t>time  when  the  provision  for  the  world's  salva- </a:t>
            </a:r>
          </a:p>
          <a:p>
            <a:r>
              <a:rPr lang="en-US" sz="3700">
                <a:solidFill>
                  <a:srgbClr val="252525"/>
                </a:solidFill>
              </a:rPr>
              <a:t>tion culminated  in  the  crucifixion  of  </a:t>
            </a:r>
          </a:p>
        </p:txBody>
      </p:sp>
    </p:spTree>
  </p:cSld>
  <p:clrMapOvr>
    <a:masterClrMapping/>
  </p:clrMapOvr>
</p:sld>
</file>

<file path=ppt/slides/slide1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4" id="364"/>
          <p:cNvPicPr>
            <a:picLocks noChangeAspect="true"/>
          </p:cNvPicPr>
          <p:nvPr/>
        </p:nvPicPr>
        <p:blipFill>
          <a:blip r:embed="rId36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4" id="36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Jesus. </a:t>
            </a:r>
          </a:p>
          <a:p>
            <a:r>
              <a:rPr lang="en-US" sz="3700">
                <a:solidFill>
                  <a:srgbClr val="252525"/>
                </a:solidFill>
              </a:rPr>
              <a:t>What  an  awful  picture !  How  black  and  hideous ! </a:t>
            </a:r>
          </a:p>
          <a:p>
            <a:r>
              <a:rPr lang="en-US" sz="3700">
                <a:solidFill>
                  <a:srgbClr val="252525"/>
                </a:solidFill>
              </a:rPr>
              <a:t>The  whole  world  in  sin,  and  not  one  in  the  great </a:t>
            </a:r>
          </a:p>
          <a:p>
            <a:r>
              <a:rPr lang="en-US" sz="3700">
                <a:solidFill>
                  <a:srgbClr val="252525"/>
                </a:solidFill>
              </a:rPr>
              <a:t>universe  of  God  that  did  good.  And  yet  people </a:t>
            </a:r>
          </a:p>
          <a:p>
            <a:r>
              <a:rPr lang="en-US" sz="3700">
                <a:solidFill>
                  <a:srgbClr val="252525"/>
                </a:solidFill>
              </a:rPr>
              <a:t>say,  "I  do  not  see  any  need  of  Christ.  I  believe </a:t>
            </a:r>
          </a:p>
          <a:p>
            <a:r>
              <a:rPr lang="en-US" sz="3700">
                <a:solidFill>
                  <a:srgbClr val="252525"/>
                </a:solidFill>
              </a:rPr>
              <a:t>that  all  that  religion  is,  is  doing  good  to  your </a:t>
            </a:r>
          </a:p>
          <a:p>
            <a:r>
              <a:rPr lang="en-US" sz="3700">
                <a:solidFill>
                  <a:srgbClr val="252525"/>
                </a:solidFill>
              </a:rPr>
              <a:t>fellow  man  and  living  right."     For  four  thou-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God's  Attitude  to  Sin  65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sand  years  God  had  been  searching  to  find  one </a:t>
            </a:r>
          </a:p>
          <a:p>
            <a:r>
              <a:rPr lang="en-US" sz="3700">
                <a:solidFill>
                  <a:srgbClr val="252525"/>
                </a:solidFill>
              </a:rPr>
              <a:t>good  man,  and  finally  wound  up  by  saying, </a:t>
            </a:r>
          </a:p>
        </p:txBody>
      </p:sp>
    </p:spTree>
  </p:cSld>
  <p:clrMapOvr>
    <a:masterClrMapping/>
  </p:clrMapOvr>
</p:sld>
</file>

<file path=ppt/slides/slide1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6" id="366"/>
          <p:cNvPicPr>
            <a:picLocks noChangeAspect="true"/>
          </p:cNvPicPr>
          <p:nvPr/>
        </p:nvPicPr>
        <p:blipFill>
          <a:blip r:embed="rId36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6" id="36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'There  is  none  righteous,  no,  not  one."  Man </a:t>
            </a:r>
          </a:p>
          <a:p>
            <a:r>
              <a:rPr lang="en-US" sz="3700">
                <a:solidFill>
                  <a:srgbClr val="252525"/>
                </a:solidFill>
              </a:rPr>
              <a:t>failed  in  Eden.  He  failed  to  keep  the  law.  He </a:t>
            </a:r>
          </a:p>
          <a:p>
            <a:r>
              <a:rPr lang="en-US" sz="3700">
                <a:solidFill>
                  <a:srgbClr val="252525"/>
                </a:solidFill>
              </a:rPr>
              <a:t>failed  to  respond  to  the  dictates  of  his  inner  con- </a:t>
            </a:r>
          </a:p>
          <a:p>
            <a:r>
              <a:rPr lang="en-US" sz="3700">
                <a:solidFill>
                  <a:srgbClr val="252525"/>
                </a:solidFill>
              </a:rPr>
              <a:t>science; failed  to  see  Him  in  the  things  that </a:t>
            </a:r>
          </a:p>
          <a:p>
            <a:r>
              <a:rPr lang="en-US" sz="3700">
                <a:solidFill>
                  <a:srgbClr val="252525"/>
                </a:solidFill>
              </a:rPr>
              <a:t>He  had  made.  God  then  turned  him  loose  and </a:t>
            </a:r>
          </a:p>
          <a:p>
            <a:r>
              <a:rPr lang="en-US" sz="3700">
                <a:solidFill>
                  <a:srgbClr val="252525"/>
                </a:solidFill>
              </a:rPr>
              <a:t>he  went  to  the  bad.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With  unbridled  hearts  they  loved  everything </a:t>
            </a:r>
          </a:p>
          <a:p>
            <a:r>
              <a:rPr lang="en-US" sz="3700">
                <a:solidFill>
                  <a:srgbClr val="252525"/>
                </a:solidFill>
              </a:rPr>
              <a:t>that  was  impure.  With  unbridled  passions  they </a:t>
            </a:r>
          </a:p>
          <a:p>
            <a:r>
              <a:rPr lang="en-US" sz="3700">
                <a:solidFill>
                  <a:srgbClr val="252525"/>
                </a:solidFill>
              </a:rPr>
              <a:t>went  worse  than  wild.  With  a  reprobate  mind </a:t>
            </a:r>
          </a:p>
          <a:p>
            <a:r>
              <a:rPr lang="en-US" sz="3700">
                <a:solidFill>
                  <a:srgbClr val="252525"/>
                </a:solidFill>
              </a:rPr>
              <a:t>they  had  put  themselves  on  a  plane  with  the </a:t>
            </a:r>
          </a:p>
          <a:p>
            <a:r>
              <a:rPr lang="en-US" sz="3700">
                <a:solidFill>
                  <a:srgbClr val="252525"/>
                </a:solidFill>
              </a:rPr>
              <a:t>brute.  And  the  world  at  large  is  right  </a:t>
            </a:r>
          </a:p>
        </p:txBody>
      </p:sp>
    </p:spTree>
  </p:cSld>
  <p:clrMapOvr>
    <a:masterClrMapping/>
  </p:clrMapOvr>
</p:sld>
</file>

<file path=ppt/slides/slide1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8" id="368"/>
          <p:cNvPicPr>
            <a:picLocks noChangeAspect="true"/>
          </p:cNvPicPr>
          <p:nvPr/>
        </p:nvPicPr>
        <p:blipFill>
          <a:blip r:embed="rId36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68" id="36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there  to- </a:t>
            </a:r>
          </a:p>
          <a:p>
            <a:r>
              <a:rPr lang="en-US" sz="3700">
                <a:solidFill>
                  <a:srgbClr val="252525"/>
                </a:solidFill>
              </a:rPr>
              <a:t>day. You  need  not  talk  to  me  about  this  world </a:t>
            </a:r>
          </a:p>
          <a:p>
            <a:r>
              <a:rPr lang="en-US" sz="3700">
                <a:solidFill>
                  <a:srgbClr val="252525"/>
                </a:solidFill>
              </a:rPr>
              <a:t>getting  better.  Some  are  getting  better,  and  some </a:t>
            </a:r>
          </a:p>
          <a:p>
            <a:r>
              <a:rPr lang="en-US" sz="3700">
                <a:solidFill>
                  <a:srgbClr val="252525"/>
                </a:solidFill>
              </a:rPr>
              <a:t>are  getting  worse.  There  are  we  to-day.  Oh, </a:t>
            </a:r>
          </a:p>
          <a:p>
            <a:r>
              <a:rPr lang="en-US" sz="3700">
                <a:solidFill>
                  <a:srgbClr val="252525"/>
                </a:solidFill>
              </a:rPr>
              <a:t>that  hopeless  picture!  What  a  picture  of  cor- </a:t>
            </a:r>
          </a:p>
          <a:p>
            <a:r>
              <a:rPr lang="en-US" sz="3700">
                <a:solidFill>
                  <a:srgbClr val="252525"/>
                </a:solidFill>
              </a:rPr>
              <a:t>ruption Jesus  looked  down  on  when  He  started </a:t>
            </a:r>
          </a:p>
          <a:p>
            <a:r>
              <a:rPr lang="en-US" sz="3700">
                <a:solidFill>
                  <a:srgbClr val="252525"/>
                </a:solidFill>
              </a:rPr>
              <a:t>from  His  father's  throne  to  do  the  work  of </a:t>
            </a:r>
          </a:p>
          <a:p>
            <a:r>
              <a:rPr lang="en-US" sz="3700">
                <a:solidFill>
                  <a:srgbClr val="252525"/>
                </a:solidFill>
              </a:rPr>
              <a:t>human  redemption!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VII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GOD'S  PROVISION  FOR  SALVATION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Ch.  3:21-5:11 </a:t>
            </a:r>
          </a:p>
        </p:txBody>
      </p:sp>
    </p:spTree>
  </p:cSld>
  <p:clrMapOvr>
    <a:masterClrMapping/>
  </p:clrMapOvr>
</p:sld>
</file>

<file path=ppt/slides/slide1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0" id="370"/>
          <p:cNvPicPr>
            <a:picLocks noChangeAspect="true"/>
          </p:cNvPicPr>
          <p:nvPr/>
        </p:nvPicPr>
        <p:blipFill>
          <a:blip r:embed="rId37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0" id="371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I.  The  Nature  of  Salvation.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Of  God.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Apart  from  the  Law.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Witnessed  by  the  Law  and  the  Prophets.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II.  The  Application.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By  Faith.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In  Jesus  Christ.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Unto  All  that  Believe.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III.  The  Method.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Justification. </a:t>
            </a:r>
          </a:p>
        </p:txBody>
      </p:sp>
    </p:spTree>
  </p:cSld>
  <p:clrMapOvr>
    <a:masterClrMapping/>
  </p:clrMapOvr>
</p:sld>
</file>

<file path=ppt/slides/slide1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2" id="372"/>
          <p:cNvPicPr>
            <a:picLocks noChangeAspect="true"/>
          </p:cNvPicPr>
          <p:nvPr/>
        </p:nvPicPr>
        <p:blipFill>
          <a:blip r:embed="rId37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2" id="373"/>
          <p:cNvSpPr txBox="true"/>
          <p:nvPr/>
        </p:nvSpPr>
        <p:spPr>
          <a:xfrm>
            <a:off x="5930900" y="1320800"/>
            <a:ext cx="11887200" cy="15735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2.  Redemption."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Propitiation.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IV.  The  Illustration.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Abraham.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David.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V.  The  Results.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1.  Peace.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2.  Rejoicing  in  Hope.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3.  Rejoicing  in  Tribulation.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We   have    dealt   with   God's   attitude   to   sin, </a:t>
            </a:r>
          </a:p>
        </p:txBody>
      </p:sp>
    </p:spTree>
  </p:cSld>
  <p:clrMapOvr>
    <a:masterClrMapping/>
  </p:clrMapOvr>
</p:sld>
</file>

<file path=ppt/slides/slide1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4" id="374"/>
          <p:cNvPicPr>
            <a:picLocks noChangeAspect="true"/>
          </p:cNvPicPr>
          <p:nvPr/>
        </p:nvPicPr>
        <p:blipFill>
          <a:blip r:embed="rId37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4" id="37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taking  up  the  hopeless  condition  of  the  race ;  that </a:t>
            </a:r>
          </a:p>
          <a:p>
            <a:r>
              <a:rPr lang="en-US" sz="3700">
                <a:solidFill>
                  <a:srgbClr val="252525"/>
                </a:solidFill>
              </a:rPr>
              <a:t>everything  that  could  be  tried  for  the  redemp- </a:t>
            </a:r>
          </a:p>
          <a:p>
            <a:r>
              <a:rPr lang="en-US" sz="3700">
                <a:solidFill>
                  <a:srgbClr val="252525"/>
                </a:solidFill>
              </a:rPr>
              <a:t>66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God's  Provision  for  Salvation      67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tion  of  the  race  had  been  tried,  and  man  had </a:t>
            </a:r>
          </a:p>
          <a:p>
            <a:r>
              <a:rPr lang="en-US" sz="3700">
                <a:solidFill>
                  <a:srgbClr val="252525"/>
                </a:solidFill>
              </a:rPr>
              <a:t>failed  at  every  point,  so  that  there  was  none  good, </a:t>
            </a:r>
          </a:p>
          <a:p>
            <a:r>
              <a:rPr lang="en-US" sz="3700">
                <a:solidFill>
                  <a:srgbClr val="252525"/>
                </a:solidFill>
              </a:rPr>
              <a:t>no  not  one.  We  now  take  up  the  other  side  of </a:t>
            </a:r>
          </a:p>
          <a:p>
            <a:r>
              <a:rPr lang="en-US" sz="3700">
                <a:solidFill>
                  <a:srgbClr val="252525"/>
                </a:solidFill>
              </a:rPr>
              <a:t>the  picture,  the  side  of  salvation,  and  we  find </a:t>
            </a:r>
          </a:p>
          <a:p>
            <a:r>
              <a:rPr lang="en-US" sz="3700">
                <a:solidFill>
                  <a:srgbClr val="252525"/>
                </a:solidFill>
              </a:rPr>
              <a:t>in  verse  21  the  nature  of  this  salvation,  and  it  is </a:t>
            </a:r>
          </a:p>
          <a:p>
            <a:r>
              <a:rPr lang="en-US" sz="3700">
                <a:solidFill>
                  <a:srgbClr val="252525"/>
                </a:solidFill>
              </a:rPr>
              <a:t>so  clearly  stated  that  it  hardly  needs  to  be  ex- </a:t>
            </a:r>
          </a:p>
        </p:txBody>
      </p:sp>
    </p:spTree>
  </p:cSld>
  <p:clrMapOvr>
    <a:masterClrMapping/>
  </p:clrMapOvr>
</p:sld>
</file>

<file path=ppt/slides/slide1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6" id="376"/>
          <p:cNvPicPr>
            <a:picLocks noChangeAspect="true"/>
          </p:cNvPicPr>
          <p:nvPr/>
        </p:nvPicPr>
        <p:blipFill>
          <a:blip r:embed="rId37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6" id="37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pounded at  all.  "But  now  apart  from  the  law </a:t>
            </a:r>
          </a:p>
          <a:p>
            <a:r>
              <a:rPr lang="en-US" sz="3700">
                <a:solidFill>
                  <a:srgbClr val="252525"/>
                </a:solidFill>
              </a:rPr>
              <a:t>a  righteousness  of  God  hath  been  manifested,  be- </a:t>
            </a:r>
          </a:p>
          <a:p>
            <a:r>
              <a:rPr lang="en-US" sz="3700">
                <a:solidFill>
                  <a:srgbClr val="252525"/>
                </a:solidFill>
              </a:rPr>
              <a:t>ing witnessed  by  the  law  and  the  prophets ;  even </a:t>
            </a:r>
          </a:p>
          <a:p>
            <a:r>
              <a:rPr lang="en-US" sz="3700">
                <a:solidFill>
                  <a:srgbClr val="252525"/>
                </a:solidFill>
              </a:rPr>
              <a:t>the  righteousness  of  God  through  faith  in  Jesus </a:t>
            </a:r>
          </a:p>
          <a:p>
            <a:r>
              <a:rPr lang="en-US" sz="3700">
                <a:solidFill>
                  <a:srgbClr val="252525"/>
                </a:solidFill>
              </a:rPr>
              <a:t>Christ  unto  all  them  that  believe."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You  see,  in  looking  at  the  nature  of  this  sal- </a:t>
            </a:r>
          </a:p>
          <a:p>
            <a:r>
              <a:rPr lang="en-US" sz="3700">
                <a:solidFill>
                  <a:srgbClr val="252525"/>
                </a:solidFill>
              </a:rPr>
              <a:t>vation, that  it  is,  first,  "of  God."  Please  bear </a:t>
            </a:r>
          </a:p>
          <a:p>
            <a:r>
              <a:rPr lang="en-US" sz="3700">
                <a:solidFill>
                  <a:srgbClr val="252525"/>
                </a:solidFill>
              </a:rPr>
              <a:t>in  mind  the  necessity  for  that  kind  of  salvation. </a:t>
            </a:r>
          </a:p>
          <a:p>
            <a:r>
              <a:rPr lang="en-US" sz="3700">
                <a:solidFill>
                  <a:srgbClr val="252525"/>
                </a:solidFill>
              </a:rPr>
              <a:t>The  necessity  for  it  grows  out  of  the  fact  that </a:t>
            </a:r>
          </a:p>
          <a:p>
            <a:r>
              <a:rPr lang="en-US" sz="3700">
                <a:solidFill>
                  <a:srgbClr val="252525"/>
                </a:solidFill>
              </a:rPr>
              <a:t>then,  as  to-day,  man  is  fond  of  working  out  for </a:t>
            </a:r>
          </a:p>
          <a:p>
            <a:r>
              <a:rPr lang="en-US" sz="3700">
                <a:solidFill>
                  <a:srgbClr val="252525"/>
                </a:solidFill>
              </a:rPr>
              <a:t>himself  a  theory  of  salvation,  a  theory  </a:t>
            </a:r>
          </a:p>
        </p:txBody>
      </p:sp>
    </p:spTree>
  </p:cSld>
  <p:clrMapOvr>
    <a:masterClrMapping/>
  </p:clrMapOvr>
</p:sld>
</file>

<file path=ppt/slides/slide1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8" id="378"/>
          <p:cNvPicPr>
            <a:picLocks noChangeAspect="true"/>
          </p:cNvPicPr>
          <p:nvPr/>
        </p:nvPicPr>
        <p:blipFill>
          <a:blip r:embed="rId37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78" id="37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which </a:t>
            </a:r>
          </a:p>
          <a:p>
            <a:r>
              <a:rPr lang="en-US" sz="3700">
                <a:solidFill>
                  <a:srgbClr val="252525"/>
                </a:solidFill>
              </a:rPr>
              <a:t>suits  his  own  mind.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There  are  those  who  are*  holding  to-day  to  sal- </a:t>
            </a:r>
          </a:p>
          <a:p>
            <a:r>
              <a:rPr lang="en-US" sz="3700">
                <a:solidFill>
                  <a:srgbClr val="252525"/>
                </a:solidFill>
              </a:rPr>
              <a:t>vation by  character.  They  hold  that  man  is  saved </a:t>
            </a:r>
          </a:p>
          <a:p>
            <a:r>
              <a:rPr lang="en-US" sz="3700">
                <a:solidFill>
                  <a:srgbClr val="252525"/>
                </a:solidFill>
              </a:rPr>
              <a:t>through  obedience  to  the  law ;  by  being  good,  and </a:t>
            </a:r>
          </a:p>
          <a:p>
            <a:r>
              <a:rPr lang="en-US" sz="3700">
                <a:solidFill>
                  <a:srgbClr val="252525"/>
                </a:solidFill>
              </a:rPr>
              <a:t>kind,  and  considerate,  and  honest,  and  just  in  his </a:t>
            </a:r>
          </a:p>
          <a:p>
            <a:r>
              <a:rPr lang="en-US" sz="3700">
                <a:solidFill>
                  <a:srgbClr val="252525"/>
                </a:solidFill>
              </a:rPr>
              <a:t>relation  to  his  fellow  man;  hence,  they  are </a:t>
            </a:r>
          </a:p>
          <a:p>
            <a:r>
              <a:rPr lang="en-US" sz="3700">
                <a:solidFill>
                  <a:srgbClr val="252525"/>
                </a:solidFill>
              </a:rPr>
              <a:t>preaching  a  Christless  salvation.  They  use </a:t>
            </a:r>
          </a:p>
          <a:p>
            <a:r>
              <a:rPr lang="en-US" sz="3700">
                <a:solidFill>
                  <a:srgbClr val="252525"/>
                </a:solidFill>
              </a:rPr>
              <a:t>Christ  only  as  a  type,  as  a  pattern  to  fashion </a:t>
            </a:r>
          </a:p>
          <a:p>
            <a:r>
              <a:rPr lang="en-US" sz="3700">
                <a:solidFill>
                  <a:srgbClr val="252525"/>
                </a:solidFill>
              </a:rPr>
              <a:t>their  lives  by.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Then,  there  is  another  school  of  teachers, </a:t>
            </a:r>
          </a:p>
        </p:txBody>
      </p:sp>
    </p:spTree>
  </p:cSld>
  <p:clrMapOvr>
    <a:masterClrMapping/>
  </p:clrMapOvr>
</p:sld>
</file>

<file path=ppt/slides/slide1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0" id="380"/>
          <p:cNvPicPr>
            <a:picLocks noChangeAspect="true"/>
          </p:cNvPicPr>
          <p:nvPr/>
        </p:nvPicPr>
        <p:blipFill>
          <a:blip r:embed="rId38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0" id="38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teaching  salvation  by  the  church;  that  all  that </a:t>
            </a:r>
          </a:p>
          <a:p>
            <a:r>
              <a:rPr lang="en-US" sz="3700">
                <a:solidFill>
                  <a:srgbClr val="252525"/>
                </a:solidFill>
              </a:rPr>
              <a:t>one  has  to  do  to  be  saved  is  to  come  into  the </a:t>
            </a:r>
          </a:p>
          <a:p>
            <a:r>
              <a:rPr lang="en-US" sz="3700">
                <a:solidFill>
                  <a:srgbClr val="252525"/>
                </a:solidFill>
              </a:rPr>
              <a:t>Church  and  subscribe  to  its  rules  and  regulations, </a:t>
            </a:r>
          </a:p>
          <a:p>
            <a:r>
              <a:rPr lang="en-US" sz="3700">
                <a:solidFill>
                  <a:srgbClr val="252525"/>
                </a:solidFill>
              </a:rPr>
              <a:t>and  to  go  through  with  its  ordinances.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68  Salvation  and  the  Old  Theology- </a:t>
            </a:r>
          </a:p>
          <a:p>
            <a:r>
              <a:rPr lang="en-US" sz="3700">
                <a:solidFill>
                  <a:srgbClr val="252525"/>
                </a:solidFill>
              </a:rPr>
              <a:t>There  are  those  who  teach  salvation  by  con- </a:t>
            </a:r>
          </a:p>
          <a:p>
            <a:r>
              <a:rPr lang="en-US" sz="3700">
                <a:solidFill>
                  <a:srgbClr val="252525"/>
                </a:solidFill>
              </a:rPr>
              <a:t>science; that  all  one  has  to  do  is  to  so  live  as </a:t>
            </a:r>
          </a:p>
          <a:p>
            <a:r>
              <a:rPr lang="en-US" sz="3700">
                <a:solidFill>
                  <a:srgbClr val="252525"/>
                </a:solidFill>
              </a:rPr>
              <a:t>not  to  wound  his  conscience.  They  don't  see  that </a:t>
            </a:r>
          </a:p>
          <a:p>
            <a:r>
              <a:rPr lang="en-US" sz="3700">
                <a:solidFill>
                  <a:srgbClr val="252525"/>
                </a:solidFill>
              </a:rPr>
              <a:t>conscience  failed  in  the  Garden  of  Eden,  just  as </a:t>
            </a:r>
          </a:p>
          <a:p>
            <a:r>
              <a:rPr lang="en-US" sz="3700">
                <a:solidFill>
                  <a:srgbClr val="252525"/>
                </a:solidFill>
              </a:rPr>
              <a:t>all  else  failed.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Then,  there  are  those  who  are  teaching  </a:t>
            </a:r>
          </a:p>
        </p:txBody>
      </p:sp>
    </p:spTree>
  </p:cSld>
  <p:clrMapOvr>
    <a:masterClrMapping/>
  </p:clrMapOvr>
</p:sld>
</file>

<file path=ppt/slides/slide1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2" id="382"/>
          <p:cNvPicPr>
            <a:picLocks noChangeAspect="true"/>
          </p:cNvPicPr>
          <p:nvPr/>
        </p:nvPicPr>
        <p:blipFill>
          <a:blip r:embed="rId38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2" id="38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salva- </a:t>
            </a:r>
          </a:p>
          <a:p>
            <a:r>
              <a:rPr lang="en-US" sz="3700">
                <a:solidFill>
                  <a:srgbClr val="252525"/>
                </a:solidFill>
              </a:rPr>
              <a:t>tion through  the  worship  of  various  idols  and </a:t>
            </a:r>
          </a:p>
          <a:p>
            <a:r>
              <a:rPr lang="en-US" sz="3700">
                <a:solidFill>
                  <a:srgbClr val="252525"/>
                </a:solidFill>
              </a:rPr>
              <a:t>images ;  heathen,  we  call  them.  And  so  we  might </a:t>
            </a:r>
          </a:p>
          <a:p>
            <a:r>
              <a:rPr lang="en-US" sz="3700">
                <a:solidFill>
                  <a:srgbClr val="252525"/>
                </a:solidFill>
              </a:rPr>
              <a:t>go  on,  naming  various  schools  of  teachers  who </a:t>
            </a:r>
          </a:p>
          <a:p>
            <a:r>
              <a:rPr lang="en-US" sz="3700">
                <a:solidFill>
                  <a:srgbClr val="252525"/>
                </a:solidFill>
              </a:rPr>
              <a:t>teach  salvation.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If  you  will  take  the  pains  to  look  into  it,  you </a:t>
            </a:r>
          </a:p>
          <a:p>
            <a:r>
              <a:rPr lang="en-US" sz="3700">
                <a:solidFill>
                  <a:srgbClr val="252525"/>
                </a:solidFill>
              </a:rPr>
              <a:t>will  find  that  the  biggest  word  in  any  language, </a:t>
            </a:r>
          </a:p>
          <a:p>
            <a:r>
              <a:rPr lang="en-US" sz="3700">
                <a:solidFill>
                  <a:srgbClr val="252525"/>
                </a:solidFill>
              </a:rPr>
              <a:t>among  any  people  on  this  earth,  is  the  word  sal- </a:t>
            </a:r>
          </a:p>
          <a:p>
            <a:r>
              <a:rPr lang="en-US" sz="3700">
                <a:solidFill>
                  <a:srgbClr val="252525"/>
                </a:solidFill>
              </a:rPr>
              <a:t>vation. It  may  be  approached  from  different </a:t>
            </a:r>
          </a:p>
          <a:p>
            <a:r>
              <a:rPr lang="en-US" sz="3700">
                <a:solidFill>
                  <a:srgbClr val="252525"/>
                </a:solidFill>
              </a:rPr>
              <a:t>standpoints ;  it  may  be  approached  with  different </a:t>
            </a:r>
          </a:p>
          <a:p>
            <a:r>
              <a:rPr lang="en-US" sz="3700">
                <a:solidFill>
                  <a:srgbClr val="252525"/>
                </a:solidFill>
              </a:rPr>
              <a:t>meanings  and  different  understandings  with  dif- </a:t>
            </a:r>
          </a:p>
        </p:txBody>
      </p:sp>
    </p:spTree>
  </p:cSld>
  <p:clrMapOvr>
    <a:masterClrMapping/>
  </p:clrMapOvr>
</p:sld>
</file>

<file path=ppt/slides/slide1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4" id="384"/>
          <p:cNvPicPr>
            <a:picLocks noChangeAspect="true"/>
          </p:cNvPicPr>
          <p:nvPr/>
        </p:nvPicPr>
        <p:blipFill>
          <a:blip r:embed="rId38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4" id="38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ferent people,  but  after  all,  the  one  great  thought </a:t>
            </a:r>
          </a:p>
          <a:p>
            <a:r>
              <a:rPr lang="en-US" sz="3700">
                <a:solidFill>
                  <a:srgbClr val="252525"/>
                </a:solidFill>
              </a:rPr>
              <a:t>of  the  world  is  salvation — how  to  get  men  saved. </a:t>
            </a:r>
          </a:p>
          <a:p>
            <a:r>
              <a:rPr lang="en-US" sz="3700">
                <a:solidFill>
                  <a:srgbClr val="252525"/>
                </a:solidFill>
              </a:rPr>
              <a:t>Saved  from  what  we  call  sin;  saved  from  bad </a:t>
            </a:r>
          </a:p>
          <a:p>
            <a:r>
              <a:rPr lang="en-US" sz="3700">
                <a:solidFill>
                  <a:srgbClr val="252525"/>
                </a:solidFill>
              </a:rPr>
              <a:t>living  and  made  more  righteous  and  holy  in </a:t>
            </a:r>
          </a:p>
          <a:p>
            <a:r>
              <a:rPr lang="en-US" sz="3700">
                <a:solidFill>
                  <a:srgbClr val="252525"/>
                </a:solidFill>
              </a:rPr>
              <a:t>life  and  conduct,  in  thought  and  deportment.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All  this  is  the  one  great  thought  of  the  world. </a:t>
            </a:r>
          </a:p>
          <a:p>
            <a:r>
              <a:rPr lang="en-US" sz="3700">
                <a:solidFill>
                  <a:srgbClr val="252525"/>
                </a:solidFill>
              </a:rPr>
              <a:t>In  some  sections  of  the  world  they  are  trying </a:t>
            </a:r>
          </a:p>
          <a:p>
            <a:r>
              <a:rPr lang="en-US" sz="3700">
                <a:solidFill>
                  <a:srgbClr val="252525"/>
                </a:solidFill>
              </a:rPr>
              <a:t>to  solve  the  great  salvation  problem  by  educa- </a:t>
            </a:r>
          </a:p>
          <a:p>
            <a:r>
              <a:rPr lang="en-US" sz="3700">
                <a:solidFill>
                  <a:srgbClr val="252525"/>
                </a:solidFill>
              </a:rPr>
              <a:t>tion, and  in  other  sections  they  are  trying  it  by </a:t>
            </a:r>
          </a:p>
          <a:p>
            <a:r>
              <a:rPr lang="en-US" sz="3700">
                <a:solidFill>
                  <a:srgbClr val="252525"/>
                </a:solidFill>
              </a:rPr>
              <a:t>legal  processes.  In  one  way  or  another,  human- </a:t>
            </a:r>
          </a:p>
        </p:txBody>
      </p:sp>
    </p:spTree>
  </p:cSld>
  <p:clrMapOvr>
    <a:masterClrMapping/>
  </p:clrMapOvr>
</p:sld>
</file>

<file path=ppt/slides/slide1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6" id="386"/>
          <p:cNvPicPr>
            <a:picLocks noChangeAspect="true"/>
          </p:cNvPicPr>
          <p:nvPr/>
        </p:nvPicPr>
        <p:blipFill>
          <a:blip r:embed="rId38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6" id="38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ity everywhere  is  giving  itself  to  what  we  call </a:t>
            </a:r>
          </a:p>
          <a:p>
            <a:r>
              <a:rPr lang="en-US" sz="3700">
                <a:solidFill>
                  <a:srgbClr val="252525"/>
                </a:solidFill>
              </a:rPr>
              <a:t>salvation;  it  has  always  been  so,  and  men  have </a:t>
            </a:r>
          </a:p>
          <a:p>
            <a:r>
              <a:rPr lang="en-US" sz="3700">
                <a:solidFill>
                  <a:srgbClr val="252525"/>
                </a:solidFill>
              </a:rPr>
              <a:t>always  been  at  work  upon  it.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Apostle  Paul,  in  writing  this  Epistle,  calls </a:t>
            </a:r>
          </a:p>
          <a:p>
            <a:r>
              <a:rPr lang="en-US" sz="3700">
                <a:solidFill>
                  <a:srgbClr val="252525"/>
                </a:solidFill>
              </a:rPr>
              <a:t>attention  to  the  fact  that  he,  as  the  ambassador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God's  Provision  for  Salvation     69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of  God,  is  holding  up  to  them  a  salvation  that  is </a:t>
            </a:r>
          </a:p>
          <a:p>
            <a:r>
              <a:rPr lang="en-US" sz="3700">
                <a:solidFill>
                  <a:srgbClr val="252525"/>
                </a:solidFill>
              </a:rPr>
              <a:t>of  God ;  God  is  its  author,  not  man ;  and  that </a:t>
            </a:r>
          </a:p>
          <a:p>
            <a:r>
              <a:rPr lang="en-US" sz="3700">
                <a:solidFill>
                  <a:srgbClr val="252525"/>
                </a:solidFill>
              </a:rPr>
              <a:t>is  the  salvation  we  need  to-day,  and  that  is  the </a:t>
            </a:r>
          </a:p>
          <a:p>
            <a:r>
              <a:rPr lang="en-US" sz="3700">
                <a:solidFill>
                  <a:srgbClr val="252525"/>
                </a:solidFill>
              </a:rPr>
              <a:t>salvation  we  are  here  to  teach,  and  </a:t>
            </a:r>
          </a:p>
        </p:txBody>
      </p:sp>
    </p:spTree>
  </p:cSld>
  <p:clrMapOvr>
    <a:masterClrMapping/>
  </p:clrMapOvr>
</p:sld>
</file>

<file path=ppt/slides/slide1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8" id="388"/>
          <p:cNvPicPr>
            <a:picLocks noChangeAspect="true"/>
          </p:cNvPicPr>
          <p:nvPr/>
        </p:nvPicPr>
        <p:blipFill>
          <a:blip r:embed="rId38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88" id="38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that  is  the  sal- </a:t>
            </a:r>
          </a:p>
          <a:p>
            <a:r>
              <a:rPr lang="en-US" sz="3700">
                <a:solidFill>
                  <a:srgbClr val="252525"/>
                </a:solidFill>
              </a:rPr>
              <a:t>vation that  the  Church  has  got  to  stand  for.  The </a:t>
            </a:r>
          </a:p>
          <a:p>
            <a:r>
              <a:rPr lang="en-US" sz="3700">
                <a:solidFill>
                  <a:srgbClr val="252525"/>
                </a:solidFill>
              </a:rPr>
              <a:t>time  has  come  when  the  cry  of  the  Church  must </a:t>
            </a:r>
          </a:p>
          <a:p>
            <a:r>
              <a:rPr lang="en-US" sz="3700">
                <a:solidFill>
                  <a:srgbClr val="252525"/>
                </a:solidFill>
              </a:rPr>
              <a:t>be  "Back  to  God."  See  what  God  has  said  about </a:t>
            </a:r>
          </a:p>
          <a:p>
            <a:r>
              <a:rPr lang="en-US" sz="3700">
                <a:solidFill>
                  <a:srgbClr val="252525"/>
                </a:solidFill>
              </a:rPr>
              <a:t>this,  and  if  God  has  said,  then  that  is  enough.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Then  you  will  see  in  the  second  place  that  it </a:t>
            </a:r>
          </a:p>
          <a:p>
            <a:r>
              <a:rPr lang="en-US" sz="3700">
                <a:solidFill>
                  <a:srgbClr val="252525"/>
                </a:solidFill>
              </a:rPr>
              <a:t>is  "apart  from  the  law."  You  are  not  to  under- </a:t>
            </a:r>
          </a:p>
          <a:p>
            <a:r>
              <a:rPr lang="en-US" sz="3700">
                <a:solidFill>
                  <a:srgbClr val="252525"/>
                </a:solidFill>
              </a:rPr>
              <a:t>stand that  this  is  intended  to  abrogate  law.  He </a:t>
            </a:r>
          </a:p>
          <a:p>
            <a:r>
              <a:rPr lang="en-US" sz="3700">
                <a:solidFill>
                  <a:srgbClr val="252525"/>
                </a:solidFill>
              </a:rPr>
              <a:t>never  could  abrogate  law.  He  came  to  fulfill  the </a:t>
            </a:r>
          </a:p>
          <a:p>
            <a:r>
              <a:rPr lang="en-US" sz="3700">
                <a:solidFill>
                  <a:srgbClr val="252525"/>
                </a:solidFill>
              </a:rPr>
              <a:t>law ;  the  salvation  of  God  is  apart  from  the  law </a:t>
            </a:r>
          </a:p>
          <a:p>
            <a:r>
              <a:rPr lang="en-US" sz="3700">
                <a:solidFill>
                  <a:srgbClr val="252525"/>
                </a:solidFill>
              </a:rPr>
              <a:t>only  in  this  sense,  that  it  takes  hold  of  </a:t>
            </a:r>
          </a:p>
        </p:txBody>
      </p:sp>
    </p:spTree>
  </p:cSld>
  <p:clrMapOvr>
    <a:masterClrMapping/>
  </p:clrMapOvr>
</p:sld>
</file>

<file path=ppt/slides/slide1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0" id="390"/>
          <p:cNvPicPr>
            <a:picLocks noChangeAspect="true"/>
          </p:cNvPicPr>
          <p:nvPr/>
        </p:nvPicPr>
        <p:blipFill>
          <a:blip r:embed="rId39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0" id="39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man  at </a:t>
            </a:r>
          </a:p>
          <a:p>
            <a:r>
              <a:rPr lang="en-US" sz="3700">
                <a:solidFill>
                  <a:srgbClr val="252525"/>
                </a:solidFill>
              </a:rPr>
              <a:t>the  point  where  law  failed  to  touch  him.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In  other  words,  the  salvation  of  God  is  not  a </a:t>
            </a:r>
          </a:p>
          <a:p>
            <a:r>
              <a:rPr lang="en-US" sz="3700">
                <a:solidFill>
                  <a:srgbClr val="252525"/>
                </a:solidFill>
              </a:rPr>
              <a:t>salvation  that  can  be  obtained  by  one  through </a:t>
            </a:r>
          </a:p>
          <a:p>
            <a:r>
              <a:rPr lang="en-US" sz="3700">
                <a:solidFill>
                  <a:srgbClr val="252525"/>
                </a:solidFill>
              </a:rPr>
              <a:t>obedience  to  certain  legal  requirements,  but  the </a:t>
            </a:r>
          </a:p>
          <a:p>
            <a:r>
              <a:rPr lang="en-US" sz="3700">
                <a:solidFill>
                  <a:srgbClr val="252525"/>
                </a:solidFill>
              </a:rPr>
              <a:t>law  of  God  is  to  be  to  the  man  who  is  saved  by </a:t>
            </a:r>
          </a:p>
          <a:p>
            <a:r>
              <a:rPr lang="en-US" sz="3700">
                <a:solidFill>
                  <a:srgbClr val="252525"/>
                </a:solidFill>
              </a:rPr>
              <a:t>the  salvation  of  God  the  outcome  of  his  salvation.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Let  us  thoroughly  understand  what  the  Apos- </a:t>
            </a:r>
          </a:p>
          <a:p>
            <a:r>
              <a:rPr lang="en-US" sz="3700">
                <a:solidFill>
                  <a:srgbClr val="252525"/>
                </a:solidFill>
              </a:rPr>
              <a:t>tle Paul  means  here,  because  if  there  is  one  weak </a:t>
            </a:r>
          </a:p>
          <a:p>
            <a:r>
              <a:rPr lang="en-US" sz="3700">
                <a:solidFill>
                  <a:srgbClr val="252525"/>
                </a:solidFill>
              </a:rPr>
              <a:t>point  in  our  Church  system,  it  is  this  point. </a:t>
            </a:r>
          </a:p>
        </p:txBody>
      </p:sp>
    </p:spTree>
  </p:cSld>
  <p:clrMapOvr>
    <a:masterClrMapping/>
  </p:clrMapOvr>
</p:sld>
</file>

<file path=ppt/slides/slide1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2" id="392"/>
          <p:cNvPicPr>
            <a:picLocks noChangeAspect="true"/>
          </p:cNvPicPr>
          <p:nvPr/>
        </p:nvPicPr>
        <p:blipFill>
          <a:blip r:embed="rId39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2" id="39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There  is  the  biggest  mistaken  conception  imagi- </a:t>
            </a:r>
          </a:p>
          <a:p>
            <a:r>
              <a:rPr lang="en-US" sz="3700">
                <a:solidFill>
                  <a:srgbClr val="252525"/>
                </a:solidFill>
              </a:rPr>
              <a:t>nable in  the  minds  of  the  world  with  respect  to </a:t>
            </a:r>
          </a:p>
          <a:p>
            <a:r>
              <a:rPr lang="en-US" sz="3700">
                <a:solidFill>
                  <a:srgbClr val="252525"/>
                </a:solidFill>
              </a:rPr>
              <a:t>what  salvation  is.  It  is  strange  to  me  after  all </a:t>
            </a:r>
          </a:p>
          <a:p>
            <a:r>
              <a:rPr lang="en-US" sz="3700">
                <a:solidFill>
                  <a:srgbClr val="252525"/>
                </a:solidFill>
              </a:rPr>
              <a:t>the  teaching  for  all  the  past  ages  of  the  Church, </a:t>
            </a:r>
          </a:p>
          <a:p>
            <a:r>
              <a:rPr lang="en-US" sz="3700">
                <a:solidFill>
                  <a:srgbClr val="252525"/>
                </a:solidFill>
              </a:rPr>
              <a:t>that  there  should  be  such  a  vast  amount  of  ig- </a:t>
            </a:r>
          </a:p>
          <a:p>
            <a:r>
              <a:rPr lang="en-US" sz="3700">
                <a:solidFill>
                  <a:srgbClr val="252525"/>
                </a:solidFill>
              </a:rPr>
              <a:t>norance about  this.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Apostle  Paul  says,  "This  salvation  that </a:t>
            </a:r>
          </a:p>
          <a:p>
            <a:r>
              <a:rPr lang="en-US" sz="3700">
                <a:solidFill>
                  <a:srgbClr val="252525"/>
                </a:solidFill>
              </a:rPr>
              <a:t>is  of  God  is  not  a  salvation  that  can  be  obtained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"JO    Salvation  and  the  Old  Theology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by  obeying  the  requirements  of  the  law,  </a:t>
            </a:r>
          </a:p>
        </p:txBody>
      </p:sp>
    </p:spTree>
  </p:cSld>
  <p:clrMapOvr>
    <a:masterClrMapping/>
  </p:clrMapOvr>
</p:sld>
</file>

<file path=ppt/slides/slide1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4" id="394"/>
          <p:cNvPicPr>
            <a:picLocks noChangeAspect="true"/>
          </p:cNvPicPr>
          <p:nvPr/>
        </p:nvPicPr>
        <p:blipFill>
          <a:blip r:embed="rId39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4" id="39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lest  you </a:t>
            </a:r>
          </a:p>
          <a:p>
            <a:r>
              <a:rPr lang="en-US" sz="3700">
                <a:solidFill>
                  <a:srgbClr val="252525"/>
                </a:solidFill>
              </a:rPr>
              <a:t>should  have  something  to  boast  of ;  but  it  is  a  sal- </a:t>
            </a:r>
          </a:p>
          <a:p>
            <a:r>
              <a:rPr lang="en-US" sz="3700">
                <a:solidFill>
                  <a:srgbClr val="252525"/>
                </a:solidFill>
              </a:rPr>
              <a:t>vation apart  from  the  law ;  it  is  a  salvation  abso- </a:t>
            </a:r>
          </a:p>
          <a:p>
            <a:r>
              <a:rPr lang="en-US" sz="3700">
                <a:solidFill>
                  <a:srgbClr val="252525"/>
                </a:solidFill>
              </a:rPr>
              <a:t>lutely independent  of  the  law.  It  is  not  some- </a:t>
            </a:r>
          </a:p>
          <a:p>
            <a:r>
              <a:rPr lang="en-US" sz="3700">
                <a:solidFill>
                  <a:srgbClr val="252525"/>
                </a:solidFill>
              </a:rPr>
              <a:t>thing that  you  can  work  out,  or  work  yourself </a:t>
            </a:r>
          </a:p>
          <a:p>
            <a:r>
              <a:rPr lang="en-US" sz="3700">
                <a:solidFill>
                  <a:srgbClr val="252525"/>
                </a:solidFill>
              </a:rPr>
              <a:t>up  to,  but  something  that  you  accept  by  faith, </a:t>
            </a:r>
          </a:p>
          <a:p>
            <a:r>
              <a:rPr lang="en-US" sz="3700">
                <a:solidFill>
                  <a:srgbClr val="252525"/>
                </a:solidFill>
              </a:rPr>
              <a:t>and  then  the  law  is  the  outworking  of  the  salva- </a:t>
            </a:r>
          </a:p>
          <a:p>
            <a:r>
              <a:rPr lang="en-US" sz="3700">
                <a:solidFill>
                  <a:srgbClr val="252525"/>
                </a:solidFill>
              </a:rPr>
              <a:t>tion principle  that  is  within  by  faith."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Some  people  imagine  that  because  of  this  state- </a:t>
            </a:r>
          </a:p>
          <a:p>
            <a:r>
              <a:rPr lang="en-US" sz="3700">
                <a:solidFill>
                  <a:srgbClr val="252525"/>
                </a:solidFill>
              </a:rPr>
              <a:t>ment, they  are  at  liberty  to  go  right  on  and  vio- </a:t>
            </a:r>
          </a:p>
          <a:p>
            <a:r>
              <a:rPr lang="en-US" sz="3700">
                <a:solidFill>
                  <a:srgbClr val="252525"/>
                </a:solidFill>
              </a:rPr>
              <a:t>late the  law  as  they  please.  But  that  is  not  the </a:t>
            </a:r>
          </a:p>
        </p:txBody>
      </p:sp>
    </p:spTree>
  </p:cSld>
  <p:clrMapOvr>
    <a:masterClrMapping/>
  </p:clrMapOvr>
</p:sld>
</file>

<file path=ppt/slides/slide1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6" id="396"/>
          <p:cNvPicPr>
            <a:picLocks noChangeAspect="true"/>
          </p:cNvPicPr>
          <p:nvPr/>
        </p:nvPicPr>
        <p:blipFill>
          <a:blip r:embed="rId39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6" id="39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teaching  of  the  Apostle.  It  is  not  apart  from </a:t>
            </a:r>
          </a:p>
          <a:p>
            <a:r>
              <a:rPr lang="en-US" sz="3700">
                <a:solidFill>
                  <a:srgbClr val="252525"/>
                </a:solidFill>
              </a:rPr>
              <a:t>the  law  in  that  sense.  There  is  not  a  single  re- </a:t>
            </a:r>
          </a:p>
          <a:p>
            <a:r>
              <a:rPr lang="en-US" sz="3700">
                <a:solidFill>
                  <a:srgbClr val="252525"/>
                </a:solidFill>
              </a:rPr>
              <a:t>quirement of  the  ten  commandments  that  the </a:t>
            </a:r>
          </a:p>
          <a:p>
            <a:r>
              <a:rPr lang="en-US" sz="3700">
                <a:solidFill>
                  <a:srgbClr val="252525"/>
                </a:solidFill>
              </a:rPr>
              <a:t>Apostle  Paul  does  not  intend  to  incorporate  into </a:t>
            </a:r>
          </a:p>
          <a:p>
            <a:r>
              <a:rPr lang="en-US" sz="3700">
                <a:solidFill>
                  <a:srgbClr val="252525"/>
                </a:solidFill>
              </a:rPr>
              <a:t>the  Christian's  life.  You  cannot  violate  the  Sat)- </a:t>
            </a:r>
          </a:p>
          <a:p>
            <a:r>
              <a:rPr lang="en-US" sz="3700">
                <a:solidFill>
                  <a:srgbClr val="252525"/>
                </a:solidFill>
              </a:rPr>
              <a:t>bath  because  you  have  become  a  Christian;  you </a:t>
            </a:r>
          </a:p>
          <a:p>
            <a:r>
              <a:rPr lang="en-US" sz="3700">
                <a:solidFill>
                  <a:srgbClr val="252525"/>
                </a:solidFill>
              </a:rPr>
              <a:t>cannot  kill  because  you  have  have  become  a </a:t>
            </a:r>
          </a:p>
          <a:p>
            <a:r>
              <a:rPr lang="en-US" sz="3700">
                <a:solidFill>
                  <a:srgbClr val="252525"/>
                </a:solidFill>
              </a:rPr>
              <a:t>Christian;  you  cannot  commit  adultery  because </a:t>
            </a:r>
          </a:p>
          <a:p>
            <a:r>
              <a:rPr lang="en-US" sz="3700">
                <a:solidFill>
                  <a:srgbClr val="252525"/>
                </a:solidFill>
              </a:rPr>
              <a:t>you  have  become  a  Christian.  There  is  not  one </a:t>
            </a:r>
          </a:p>
          <a:p>
            <a:r>
              <a:rPr lang="en-US" sz="3700">
                <a:solidFill>
                  <a:srgbClr val="252525"/>
                </a:solidFill>
              </a:rPr>
              <a:t>single  requirement  that  is  not  binding  upon  the </a:t>
            </a:r>
          </a:p>
          <a:p>
            <a:r>
              <a:rPr lang="en-US" sz="3700">
                <a:solidFill>
                  <a:srgbClr val="252525"/>
                </a:solidFill>
              </a:rPr>
              <a:t>Christian,  but  the  whole  decalogue  does </a:t>
            </a:r>
          </a:p>
        </p:txBody>
      </p:sp>
    </p:spTree>
  </p:cSld>
  <p:clrMapOvr>
    <a:masterClrMapping/>
  </p:clrMapOvr>
</p:sld>
</file>

<file path=ppt/slides/slide1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8" id="398"/>
          <p:cNvPicPr>
            <a:picLocks noChangeAspect="true"/>
          </p:cNvPicPr>
          <p:nvPr/>
        </p:nvPicPr>
        <p:blipFill>
          <a:blip r:embed="rId39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398" id="39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 not  lead </a:t>
            </a:r>
          </a:p>
          <a:p>
            <a:r>
              <a:rPr lang="en-US" sz="3700">
                <a:solidFill>
                  <a:srgbClr val="252525"/>
                </a:solidFill>
              </a:rPr>
              <a:t>one  step  toward  becoming  a  Christian,  for  salva- </a:t>
            </a:r>
          </a:p>
          <a:p>
            <a:r>
              <a:rPr lang="en-US" sz="3700">
                <a:solidFill>
                  <a:srgbClr val="252525"/>
                </a:solidFill>
              </a:rPr>
              <a:t>tion is  apart  from  the  law.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The  law  is  binding  on  you  only  in  the  sense </a:t>
            </a:r>
          </a:p>
          <a:p>
            <a:r>
              <a:rPr lang="en-US" sz="3700">
                <a:solidFill>
                  <a:srgbClr val="252525"/>
                </a:solidFill>
              </a:rPr>
              <a:t>that  when  you  are  saved  you  are  mastered  by </a:t>
            </a:r>
          </a:p>
          <a:p>
            <a:r>
              <a:rPr lang="en-US" sz="3700">
                <a:solidFill>
                  <a:srgbClr val="252525"/>
                </a:solidFill>
              </a:rPr>
              <a:t>Christ,  and  everything  that  is  right,  Jesus  Christ, </a:t>
            </a:r>
          </a:p>
          <a:p>
            <a:r>
              <a:rPr lang="en-US" sz="3700">
                <a:solidFill>
                  <a:srgbClr val="252525"/>
                </a:solidFill>
              </a:rPr>
              <a:t>as  your  master,  binds  upon  yo…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