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23749000" cy="168021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3.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8" Type="http://schemas.openxmlformats.org/officeDocument/2006/relationships/image" Target="../media/image8.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13" Type="http://schemas.openxmlformats.org/officeDocument/2006/relationships/image" Target="../media/image13.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16" Type="http://schemas.openxmlformats.org/officeDocument/2006/relationships/image" Target="../media/image16.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18" Type="http://schemas.openxmlformats.org/officeDocument/2006/relationships/image" Target="../media/image18.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0" Type="http://schemas.openxmlformats.org/officeDocument/2006/relationships/image" Target="../media/image20.png"/><Relationship Id="rId21" Type="http://schemas.openxmlformats.org/officeDocument/2006/relationships/image" Target="../media/image21.png"/><Relationship Id="rId22" Type="http://schemas.openxmlformats.org/officeDocument/2006/relationships/image" Target="../media/image22.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1" id="2"/>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r>
              <a:rPr lang="en-US" sz="3700">
                <a:solidFill>
                  <a:srgbClr val="252525"/>
                </a:solidFill>
              </a:rPr>
              <a:t>&lt;[</a:t>
            </a:r>
            <a:r>
              <a:rPr lang="en-US" sz="3700">
                <a:solidFill>
                  <a:srgbClr val="9933FF"/>
                </a:solidFill>
              </a:rPr>
              <a:t>GOD</a:t>
            </a:r>
            <a:r>
              <a:rPr lang="en-US" sz="3700">
                <a:solidFill>
                  <a:srgbClr val="252525"/>
                </a:solidFill>
              </a:rPr>
              <a:t>]</a:t>
            </a:r>
            <a:r>
              <a:rPr lang="en-US" sz="3700">
                <a:solidFill>
                  <a:srgbClr val="1A693A"/>
                </a:solidFill>
              </a:rPr>
              <a:t>&gt;[</a:t>
            </a:r>
          </a:p>
          <a:p>
            <a:r>
              <a:rPr lang="en-US" sz="3700">
                <a:solidFill>
                  <a:srgbClr val="252525"/>
                </a:solidFill>
              </a:rPr>
              <a:t>    </a:t>
            </a:r>
          </a:p>
          <a:p>
            <a:r>
              <a:rPr lang="en-US" sz="3700">
                <a:solidFill>
                  <a:srgbClr val="252525"/>
                </a:solidFill>
              </a:rPr>
              <a:t/>
            </a:r>
          </a:p>
          <a:p>
            <a:r>
              <a:rPr lang="en-US" sz="5000"/>
              <a:t>  </a:t>
            </a:r>
          </a:p>
          <a:p>
            <a:r>
              <a:rPr lang="en-US" sz="3700">
                <a:solidFill>
                  <a:srgbClr val="252525"/>
                </a:solidFill>
              </a:rPr>
              <a:t> ^</a:t>
            </a:r>
            <a:r>
              <a:rPr lang="en-US" sz="3700">
                <a:solidFill>
                  <a:srgbClr val="1447FF"/>
                </a:solidFill>
              </a:rPr>
              <a:t>[JESUS]^</a:t>
            </a:r>
          </a:p>
          <a:p>
            <a:r>
              <a:rPr lang="en-US" sz="5000"/>
              <a:t>  </a:t>
            </a:r>
          </a:p>
          <a:p>
            <a:r>
              <a:rPr lang="en-US" sz="3700">
                <a:solidFill>
                  <a:srgbClr val="252525"/>
                </a:solidFill>
              </a:rPr>
              <a:t>                </a:t>
            </a:r>
            <a:r>
              <a:rPr lang="en-US" sz="3700">
                <a:solidFill>
                  <a:srgbClr val="3F8881"/>
                </a:solidFill>
              </a:rPr>
              <a:t>WHAT TO DO NOW</a:t>
            </a:r>
          </a:p>
          <a:p>
            <a:r>
              <a:rPr lang="en-US" sz="5000"/>
              <a:t>  </a:t>
            </a:r>
          </a:p>
          <a:p>
            <a:r>
              <a:rPr lang="en-US" sz="3700">
                <a:solidFill>
                  <a:srgbClr val="3F8881"/>
                </a:solidFill>
              </a:rPr>
              <a:t>     </a:t>
            </a:r>
            <a:r>
              <a:rPr lang="en-US" sz="3700">
                <a:solidFill>
                  <a:srgbClr val="3396FF"/>
                </a:solidFill>
              </a:rPr>
              <a:t>These are some steps that  I must begin </a:t>
            </a:r>
          </a:p>
          <a:p>
            <a:r>
              <a:rPr lang="en-US" sz="3700">
                <a:solidFill>
                  <a:srgbClr val="3396FF"/>
                </a:solidFill>
              </a:rPr>
              <a:t>    Without delay to take on a daily basis so</a:t>
            </a:r>
          </a:p>
          <a:p>
            <a:r>
              <a:rPr lang="en-US" sz="3700">
                <a:solidFill>
                  <a:srgbClr val="3396FF"/>
                </a:solidFill>
              </a:rPr>
              <a:t>I will grow to be a giant in Christ.</a:t>
            </a:r>
          </a:p>
          <a:p>
            <a:r>
              <a:rPr lang="en-US" sz="3700">
                <a:solidFill>
                  <a:srgbClr val="9933FF"/>
                </a:solidFill>
              </a:rPr>
              <a:t>&lt;</a:t>
            </a:r>
          </a:p>
          <a:p>
            <a:r>
              <a:rPr lang="en-US" sz="3700">
                <a:solidFill>
                  <a:srgbClr val="3396FF"/>
                </a:solidFill>
              </a:rPr>
              <a:t>GOD has done His part and will do all HE has </a:t>
            </a:r>
            <a:r>
              <a:rPr lang="en-US" sz="3700">
                <a:solidFill>
                  <a:srgbClr val="3396FF"/>
                </a:solidFill>
              </a:rPr>
              <a:t>to do to make me a victorious Christian ✝️ but I have got to do my own part faithfully.</a:t>
            </a:r>
          </a:p>
          <a:p>
            <a:r>
              <a:rPr lang="en-US" sz="3700">
                <a:solidFill>
                  <a:srgbClr val="9933FF"/>
                </a:solidFill>
              </a:rPr>
              <a:t>&gt;</a:t>
            </a:r>
          </a:p>
          <a:p>
            <a:r>
              <a:rPr lang="en-US" sz="3700">
                <a:solidFill>
                  <a:srgbClr val="3396FF"/>
                </a:solidFill>
              </a:rPr>
              <a:t>         </a:t>
            </a:r>
            <a:r>
              <a:rPr lang="en-US" sz="3700">
                <a:solidFill>
                  <a:srgbClr val="FF3636"/>
                </a:solidFill>
              </a:rPr>
              <a:t>[STEP ONE: PUT OFF THE OLD MAN]</a:t>
            </a:r>
          </a:p>
          <a:p>
            <a:r>
              <a:rPr lang="en-US" sz="3700">
                <a:solidFill>
                  <a:srgbClr val="3396FF"/>
                </a:solidFill>
              </a:rPr>
              <a:t> </a:t>
            </a:r>
          </a:p>
          <a:p>
            <a:r>
              <a:rPr lang="en-US" sz="3700">
                <a:solidFill>
                  <a:srgbClr val="3396FF"/>
                </a:solidFill>
              </a:rPr>
              <a:t>     Ephesians4:22</a:t>
            </a:r>
          </a:p>
        </p:txBody>
      </p:sp>
      <p:pic>
        <p:nvPicPr>
          <p:cNvPr name="Picture 3" id="3"/>
          <p:cNvPicPr>
            <a:picLocks noChangeAspect="true"/>
          </p:cNvPicPr>
          <p:nvPr/>
        </p:nvPicPr>
        <p:blipFill>
          <a:blip r:embed="rId3"/>
          <a:stretch>
            <a:fillRect/>
          </a:stretch>
        </p:blipFill>
        <p:spPr>
          <a:xfrm>
            <a:off x="6451600" y="1841500"/>
            <a:ext cx="2298700" cy="21717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1" id="2"/>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3396FF"/>
                </a:solidFill>
              </a:rPr>
              <a:t>                             (That ye PUT OFF  concerning the former conversation or manner of life the old man which is corrupt according to the deceitful lusts.)</a:t>
            </a:r>
          </a:p>
          <a:p>
            <a:r>
              <a:rPr lang="en-US" sz="5000"/>
              <a:t>  </a:t>
            </a:r>
          </a:p>
          <a:p>
            <a:r>
              <a:rPr lang="en-US" sz="5000"/>
              <a:t>  </a:t>
            </a:r>
          </a:p>
          <a:p>
            <a:r>
              <a:rPr lang="en-US" sz="3700">
                <a:solidFill>
                  <a:srgbClr val="3396FF"/>
                </a:solidFill>
              </a:rPr>
              <a:t>Colossians 3:5-9</a:t>
            </a:r>
          </a:p>
          <a:p>
            <a:r>
              <a:rPr lang="en-US" sz="3700">
                <a:solidFill>
                  <a:srgbClr val="3396FF"/>
                </a:solidFill>
              </a:rPr>
              <a:t>                           </a:t>
            </a:r>
            <a:r>
              <a:rPr lang="en-US" sz="3700">
                <a:solidFill>
                  <a:srgbClr val="FFCB30"/>
                </a:solidFill>
              </a:rPr>
              <a:t>(</a:t>
            </a:r>
            <a:r>
              <a:rPr lang="en-US" sz="3700">
                <a:solidFill>
                  <a:srgbClr val="3396FF"/>
                </a:solidFill>
              </a:rPr>
              <a:t>Mortify therefore your </a:t>
            </a:r>
            <a:r>
              <a:rPr lang="en-US" sz="3700">
                <a:solidFill>
                  <a:srgbClr val="3396FF"/>
                </a:solidFill>
              </a:rPr>
              <a:t>members which are upon the earth; fornication, uncleanness, inordinate affection, evil concupiscence, and covetousness, which is idolatry:</a:t>
            </a:r>
          </a:p>
          <a:p>
            <a:r>
              <a:rPr lang="en-US" sz="5000"/>
              <a:t>  </a:t>
            </a:r>
          </a:p>
          <a:p>
            <a:r>
              <a:rPr lang="en-US" sz="3700">
                <a:solidFill>
                  <a:srgbClr val="3396FF"/>
                </a:solidFill>
              </a:rPr>
              <a:t>For which things' sake the wrath of God cometh on the children of disobedience:</a:t>
            </a:r>
          </a:p>
          <a:p>
            <a:r>
              <a:rPr lang="en-US" sz="5000"/>
              <a:t>  </a:t>
            </a:r>
          </a:p>
          <a:p>
            <a:r>
              <a:rPr lang="en-US" sz="3700">
                <a:solidFill>
                  <a:srgbClr val="3396FF"/>
                </a:solidFill>
              </a:rPr>
              <a:t>In the which ye also walked some time, when ye lived in them.</a:t>
            </a:r>
          </a:p>
          <a:p>
            <a:r>
              <a:rPr lang="en-US" sz="5000"/>
              <a:t>  </a:t>
            </a:r>
          </a:p>
          <a:p>
            <a:r>
              <a:rPr lang="en-US" sz="3700">
                <a:solidFill>
                  <a:srgbClr val="3396FF"/>
                </a:solidFill>
              </a:rPr>
              <a:t>But now ye also put off all these; anger, wrath, malice, blasphemy, filthy </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1" id="2"/>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3396FF"/>
                </a:solidFill>
              </a:rPr>
              <a:t>communication out of your mouth.</a:t>
            </a:r>
          </a:p>
          <a:p>
            <a:r>
              <a:rPr lang="en-US" sz="5000"/>
              <a:t>  </a:t>
            </a:r>
          </a:p>
          <a:p>
            <a:r>
              <a:rPr lang="en-US" sz="3700">
                <a:solidFill>
                  <a:srgbClr val="3396FF"/>
                </a:solidFill>
              </a:rPr>
              <a:t>Lie not one to another, seeing that ye have </a:t>
            </a:r>
            <a:r>
              <a:rPr lang="en-US" sz="3700">
                <a:solidFill>
                  <a:srgbClr val="3396FF"/>
                </a:solidFill>
              </a:rPr>
              <a:t>put off the old man with his deeds;</a:t>
            </a:r>
            <a:r>
              <a:rPr lang="en-US" sz="3700">
                <a:solidFill>
                  <a:srgbClr val="FFCB30"/>
                </a:solidFill>
              </a:rPr>
              <a:t>)</a:t>
            </a:r>
          </a:p>
          <a:p>
            <a:r>
              <a:rPr lang="en-US" sz="5000"/>
              <a:t>  </a:t>
            </a:r>
          </a:p>
          <a:p>
            <a:r>
              <a:rPr lang="en-US" sz="5000"/>
              <a:t>  </a:t>
            </a:r>
          </a:p>
          <a:p>
            <a:r>
              <a:rPr lang="en-US" sz="3700">
                <a:solidFill>
                  <a:srgbClr val="252525"/>
                </a:solidFill>
              </a:rPr>
              <a:t>           { off the old man with his deeds.}</a:t>
            </a:r>
          </a:p>
          <a:p>
            <a:r>
              <a:rPr lang="en-US" sz="5000"/>
              <a:t>  </a:t>
            </a:r>
          </a:p>
          <a:p>
            <a:r>
              <a:rPr lang="en-US" sz="3700">
                <a:solidFill>
                  <a:srgbClr val="1447FF"/>
                </a:solidFill>
              </a:rPr>
              <a:t>◇</a:t>
            </a:r>
            <a:r>
              <a:rPr lang="en-US" sz="3700">
                <a:solidFill>
                  <a:srgbClr val="1447FF"/>
                </a:solidFill>
              </a:rPr>
              <a:t> These words make it plain that it is my duty to restrain my members from doing what I used to do in the past. That would be impossible for an unregenerate man to do but NOT for me. For the seed of GOD has come inside me at the time I became born-again. How do I then mortifying my members? It done not mean that I kill myself or cut my members off. Not at all. </a:t>
            </a:r>
            <a:r>
              <a:rPr lang="en-US" sz="3700">
                <a:solidFill>
                  <a:srgbClr val="F7EB00"/>
                </a:solidFill>
              </a:rPr>
              <a:t>◇</a:t>
            </a:r>
          </a:p>
          <a:p>
            <a:r>
              <a:rPr lang="en-US" sz="3700">
                <a:solidFill>
                  <a:srgbClr val="1447FF"/>
                </a:solidFill>
              </a:rPr>
              <a:t>  </a:t>
            </a:r>
          </a:p>
          <a:p>
            <a:r>
              <a:rPr lang="en-US" sz="5000"/>
              <a:t>  </a:t>
            </a:r>
          </a:p>
          <a:p>
            <a:r>
              <a:rPr lang="en-US" sz="3700">
                <a:solidFill>
                  <a:srgbClr val="1447FF"/>
                </a:solidFill>
              </a:rPr>
              <a:t>  Romans 6:1014</a:t>
            </a:r>
          </a:p>
          <a:p>
            <a:r>
              <a:rPr lang="en-US" sz="3700">
                <a:solidFill>
                  <a:srgbClr val="1447FF"/>
                </a:solidFill>
              </a:rPr>
              <a:t>                           </a:t>
            </a:r>
            <a:r>
              <a:rPr lang="en-US" sz="3700">
                <a:solidFill>
                  <a:srgbClr val="1447FF"/>
                </a:solidFill>
              </a:rPr>
              <a:t>(</a:t>
            </a:r>
            <a:r>
              <a:rPr lang="en-US" sz="3700">
                <a:solidFill>
                  <a:srgbClr val="1447FF"/>
                </a:solidFill>
              </a:rPr>
              <a:t>For in that he died, he died </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1" id="2"/>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1447FF"/>
                </a:solidFill>
              </a:rPr>
              <a:t>unto sin once: but in that he liveth, he liveth unto God.</a:t>
            </a:r>
          </a:p>
          <a:p>
            <a:r>
              <a:rPr lang="en-US" sz="5000"/>
              <a:t>  </a:t>
            </a:r>
          </a:p>
          <a:p>
            <a:r>
              <a:rPr lang="en-US" sz="3700">
                <a:solidFill>
                  <a:srgbClr val="1447FF"/>
                </a:solidFill>
              </a:rPr>
              <a:t>Likewise reckon ye also yourselves to be dead indeed unto sin, but alive unto God through Jesus Christ our Lord.</a:t>
            </a:r>
          </a:p>
          <a:p>
            <a:r>
              <a:rPr lang="en-US" sz="5000"/>
              <a:t>  </a:t>
            </a:r>
          </a:p>
          <a:p>
            <a:r>
              <a:rPr lang="en-US" sz="3700">
                <a:solidFill>
                  <a:srgbClr val="1447FF"/>
                </a:solidFill>
              </a:rPr>
              <a:t>Let not sin therefore reign in your mortal body, that ye should obey it in the lusts thereof.</a:t>
            </a:r>
          </a:p>
          <a:p>
            <a:r>
              <a:rPr lang="en-US" sz="5000"/>
              <a:t>  </a:t>
            </a:r>
          </a:p>
          <a:p>
            <a:r>
              <a:rPr lang="en-US" sz="3700">
                <a:solidFill>
                  <a:srgbClr val="1447FF"/>
                </a:solidFill>
              </a:rPr>
              <a:t>Neither yield ye your members as instruments of unrighteousness unto sin: but yield yourselves unto God, as those that are alive from the dead, and your members as instruments of righteousness unto God.</a:t>
            </a:r>
          </a:p>
          <a:p>
            <a:r>
              <a:rPr lang="en-US" sz="5000"/>
              <a:t>  </a:t>
            </a:r>
          </a:p>
          <a:p>
            <a:r>
              <a:rPr lang="en-US" sz="3700">
                <a:solidFill>
                  <a:srgbClr val="1447FF"/>
                </a:solidFill>
              </a:rPr>
              <a:t>For sin shall not have dominion over you: for </a:t>
            </a:r>
            <a:r>
              <a:rPr lang="en-US" sz="3700">
                <a:solidFill>
                  <a:srgbClr val="1447FF"/>
                </a:solidFill>
              </a:rPr>
              <a:t>ye are not under the law, but under grace.</a:t>
            </a:r>
            <a:r>
              <a:rPr lang="en-US" sz="3700">
                <a:solidFill>
                  <a:srgbClr val="1447FF"/>
                </a:solidFill>
              </a:rPr>
              <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1" id="2"/>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3396FF"/>
                </a:solidFill>
              </a:rPr>
              <a:t>  There are THREE WORDS I want myself notice and focus on in this passage. They hold the key to putting off the old man.</a:t>
            </a:r>
          </a:p>
          <a:p>
            <a:r>
              <a:rPr lang="en-US" sz="5000"/>
              <a:t>  </a:t>
            </a:r>
          </a:p>
          <a:p>
            <a:r>
              <a:rPr lang="en-US" sz="3700">
                <a:solidFill>
                  <a:srgbClr val="3396FF"/>
                </a:solidFill>
              </a:rPr>
              <a:t>      </a:t>
            </a:r>
            <a:r>
              <a:rPr lang="en-US" sz="3700">
                <a:solidFill>
                  <a:srgbClr val="FF3636"/>
                </a:solidFill>
              </a:rPr>
              <a:t>(@)    </a:t>
            </a:r>
            <a:r>
              <a:rPr lang="en-US" sz="3700">
                <a:solidFill>
                  <a:srgbClr val="3396FF"/>
                </a:solidFill>
              </a:rPr>
              <a:t>REVKON</a:t>
            </a:r>
          </a:p>
          <a:p>
            <a:r>
              <a:rPr lang="en-US" sz="3700">
                <a:solidFill>
                  <a:srgbClr val="3396FF"/>
                </a:solidFill>
              </a:rPr>
              <a:t>       </a:t>
            </a:r>
            <a:r>
              <a:rPr lang="en-US" sz="3700">
                <a:solidFill>
                  <a:srgbClr val="FFCB30"/>
                </a:solidFill>
              </a:rPr>
              <a:t>(b)     </a:t>
            </a:r>
            <a:r>
              <a:rPr lang="en-US" sz="3700">
                <a:solidFill>
                  <a:srgbClr val="3396FF"/>
                </a:solidFill>
              </a:rPr>
              <a:t>LET</a:t>
            </a:r>
          </a:p>
          <a:p>
            <a:r>
              <a:rPr lang="en-US" sz="3700">
                <a:solidFill>
                  <a:srgbClr val="3396FF"/>
                </a:solidFill>
              </a:rPr>
              <a:t>        </a:t>
            </a:r>
            <a:r>
              <a:rPr lang="en-US" sz="3700">
                <a:solidFill>
                  <a:srgbClr val="F7EB00"/>
                </a:solidFill>
              </a:rPr>
              <a:t>(C)     </a:t>
            </a:r>
            <a:r>
              <a:rPr lang="en-US" sz="3700">
                <a:solidFill>
                  <a:srgbClr val="3396FF"/>
                </a:solidFill>
              </a:rPr>
              <a:t>PRESENT</a:t>
            </a:r>
          </a:p>
          <a:p>
            <a:r>
              <a:rPr lang="en-US" sz="3700">
                <a:solidFill>
                  <a:srgbClr val="3396FF"/>
                </a:solidFill>
              </a:rPr>
              <a:t> *The three  words place the responsibility squarely on my shoulders.</a:t>
            </a:r>
            <a:r>
              <a:rPr lang="en-US" sz="3700">
                <a:solidFill>
                  <a:srgbClr val="4EF591"/>
                </a:solidFill>
              </a:rPr>
              <a:t>*</a:t>
            </a:r>
          </a:p>
          <a:p>
            <a:r>
              <a:rPr lang="en-US" sz="5000"/>
              <a:t>  </a:t>
            </a:r>
          </a:p>
          <a:p>
            <a:r>
              <a:rPr lang="en-US" sz="5000"/>
              <a:t>  </a:t>
            </a:r>
          </a:p>
          <a:p>
            <a:r>
              <a:rPr lang="en-US" sz="3700">
                <a:solidFill>
                  <a:srgbClr val="3396FF"/>
                </a:solidFill>
              </a:rPr>
              <a:t> ^Let me examine each one.^</a:t>
            </a:r>
          </a:p>
          <a:p>
            <a:r>
              <a:rPr lang="en-US" sz="3700">
                <a:solidFill>
                  <a:srgbClr val="3396FF"/>
                </a:solidFill>
              </a:rPr>
              <a:t> </a:t>
            </a:r>
          </a:p>
          <a:p>
            <a:r>
              <a:rPr lang="en-US" sz="3700">
                <a:solidFill>
                  <a:srgbClr val="3396FF"/>
                </a:solidFill>
              </a:rPr>
              <a:t>   </a:t>
            </a:r>
            <a:r>
              <a:rPr lang="en-US" sz="3700">
                <a:solidFill>
                  <a:srgbClr val="9933FF"/>
                </a:solidFill>
              </a:rPr>
              <a:t>■</a:t>
            </a:r>
            <a:r>
              <a:rPr lang="en-US" sz="3700">
                <a:solidFill>
                  <a:srgbClr val="3396FF"/>
                </a:solidFill>
              </a:rPr>
              <a:t> RECKON: To reckon means  to count or assume </a:t>
            </a:r>
          </a:p>
        </p:txBody>
      </p:sp>
      <p:pic>
        <p:nvPicPr>
          <p:cNvPr name="Picture 8" id="8"/>
          <p:cNvPicPr>
            <a:picLocks noChangeAspect="true"/>
          </p:cNvPicPr>
          <p:nvPr/>
        </p:nvPicPr>
        <p:blipFill>
          <a:blip r:embed="rId8"/>
          <a:stretch>
            <a:fillRect/>
          </a:stretch>
        </p:blipFill>
        <p:spPr>
          <a:xfrm>
            <a:off x="6451600" y="317500"/>
            <a:ext cx="4229100" cy="42291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1" id="2"/>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3396FF"/>
                </a:solidFill>
              </a:rPr>
              <a:t> It involves my will and it is two-fold </a:t>
            </a:r>
            <a:r>
              <a:rPr lang="en-US" sz="3700">
                <a:solidFill>
                  <a:srgbClr val="3396FF"/>
                </a:solidFill>
              </a:rPr>
              <a:t>reckoning.</a:t>
            </a:r>
          </a:p>
          <a:p>
            <a:r>
              <a:rPr lang="en-US" sz="3700">
                <a:solidFill>
                  <a:srgbClr val="3396FF"/>
                </a:solidFill>
              </a:rPr>
              <a:t> </a:t>
            </a:r>
          </a:p>
          <a:p>
            <a:r>
              <a:rPr lang="en-US" sz="3700">
                <a:solidFill>
                  <a:srgbClr val="3396FF"/>
                </a:solidFill>
              </a:rPr>
              <a:t>First RECKON MYSELF DEAD TO SIN.</a:t>
            </a:r>
          </a:p>
          <a:p>
            <a:r>
              <a:rPr lang="en-US" sz="3700">
                <a:solidFill>
                  <a:srgbClr val="3396FF"/>
                </a:solidFill>
              </a:rPr>
              <a:t> There is a difference between 'dead in sin' and 'dead to sin' An unregenerated man is 'dead in sin' Let JESUS CHRIST  help me a little: Suppose there is a dead man's body lying on the ground; and a fly began to hover around the ear of that  body; will the body respond to the presence of the fly? Certainly not! That body is dead to the fly. The fly CAN NOT get a response from that body. Can  that body (because it cannot </a:t>
            </a:r>
            <a:r>
              <a:rPr lang="en-US" sz="3700">
                <a:solidFill>
                  <a:srgbClr val="3396FF"/>
                </a:solidFill>
              </a:rPr>
              <a:t>respond to the fly) claim the fly is not existing. No, since the man is dead. Logic-understand-by-me°</a:t>
            </a:r>
          </a:p>
          <a:p>
            <a:r>
              <a:rPr lang="en-US" sz="5000"/>
              <a:t>  </a:t>
            </a:r>
          </a:p>
          <a:p>
            <a:r>
              <a:rPr lang="en-US" sz="5000"/>
              <a:t>  </a:t>
            </a:r>
          </a:p>
          <a:p>
            <a:r>
              <a:rPr lang="en-US" sz="3700">
                <a:solidFill>
                  <a:srgbClr val="3396FF"/>
                </a:solidFill>
              </a:rPr>
              <a:t>Sin, like that fly, is not supposed to get any </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1" id="2"/>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3396FF"/>
                </a:solidFill>
              </a:rPr>
              <a:t>response or reaction from me because I have legally died with Christ. The only way sin in actual life situation will not get any reaction from Me is by a CONSIOUS RECKONING OF MYSELF AS DEADTO SIN. Not that I reckon myself dead to people but to sin or the temptation to sin. But this reckoning cannot </a:t>
            </a:r>
            <a:r>
              <a:rPr lang="en-US" sz="3700">
                <a:solidFill>
                  <a:srgbClr val="3396FF"/>
                </a:solidFill>
              </a:rPr>
              <a:t>s u c c e e d      u n l e s s    I     a d d     to   it   t h e     C O M P L E M E N T A R Y     R E C K O N I N G    O F      MYSELF AS LIVING TO GOD!</a:t>
            </a:r>
          </a:p>
          <a:p>
            <a:r>
              <a:rPr lang="en-US" sz="3700">
                <a:solidFill>
                  <a:srgbClr val="3396FF"/>
                </a:solidFill>
              </a:rPr>
              <a:t>    </a:t>
            </a:r>
          </a:p>
          <a:p>
            <a:r>
              <a:rPr lang="en-US" sz="3700">
                <a:solidFill>
                  <a:srgbClr val="3396FF"/>
                </a:solidFill>
              </a:rPr>
              <a:t>*</a:t>
            </a:r>
          </a:p>
          <a:p>
            <a:r>
              <a:rPr lang="en-US" sz="3700">
                <a:solidFill>
                  <a:srgbClr val="3396FF"/>
                </a:solidFill>
              </a:rPr>
              <a:t>If as there is the temptation of Satan to sin, there is the prompting of GOD  to holiness.  I are now to  consciously  reckon myself  or consciously make myself available or open to </a:t>
            </a:r>
            <a:r>
              <a:rPr lang="en-US" sz="3700">
                <a:solidFill>
                  <a:srgbClr val="3396FF"/>
                </a:solidFill>
              </a:rPr>
              <a:t>the prompting of GOD to holiness.</a:t>
            </a:r>
          </a:p>
          <a:p>
            <a:r>
              <a:rPr lang="en-US" sz="5000"/>
              <a:t>  </a:t>
            </a:r>
          </a:p>
          <a:p>
            <a:r>
              <a:rPr lang="en-US" sz="3700">
                <a:solidFill>
                  <a:srgbClr val="3396FF"/>
                </a:solidFill>
              </a:rPr>
              <a:t> 1 Corinthians </a:t>
            </a:r>
            <a:r>
              <a:rPr lang="en-US" sz="3700">
                <a:solidFill>
                  <a:srgbClr val="3396FF"/>
                </a:solidFill>
              </a:rPr>
              <a:t>10:13</a:t>
            </a:r>
          </a:p>
          <a:p>
            <a:r>
              <a:rPr lang="en-US" sz="3700">
                <a:solidFill>
                  <a:srgbClr val="3396FF"/>
                </a:solidFill>
              </a:rPr>
              <a:t>                                 </a:t>
            </a:r>
            <a:r>
              <a:rPr lang="en-US" sz="3700">
                <a:solidFill>
                  <a:srgbClr val="9933FF"/>
                </a:solidFill>
              </a:rPr>
              <a:t>(</a:t>
            </a:r>
            <a:r>
              <a:rPr lang="en-US" sz="3700">
                <a:solidFill>
                  <a:srgbClr val="3396FF"/>
                </a:solidFill>
              </a:rPr>
              <a:t>There hath no </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1" id="2"/>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3396FF"/>
                </a:solidFill>
              </a:rPr>
              <a:t>temptation taken you but such as is common to man: but God is faithful, who will not suffer you to be tempted above that ye are </a:t>
            </a:r>
            <a:r>
              <a:rPr lang="en-US" sz="3700">
                <a:solidFill>
                  <a:srgbClr val="3396FF"/>
                </a:solidFill>
              </a:rPr>
              <a:t>able; but will with the temptation also make a way to escape, that ye may be able to bear it.</a:t>
            </a:r>
            <a:r>
              <a:rPr lang="en-US" sz="3700">
                <a:solidFill>
                  <a:srgbClr val="9933FF"/>
                </a:solidFill>
              </a:rPr>
              <a:t>)</a:t>
            </a:r>
          </a:p>
          <a:p>
            <a:r>
              <a:rPr lang="en-US" sz="5000"/>
              <a:t>  </a:t>
            </a:r>
          </a:p>
          <a:p>
            <a:r>
              <a:rPr lang="en-US" sz="5000"/>
              <a:t>  </a:t>
            </a:r>
          </a:p>
          <a:p>
            <a:r>
              <a:rPr lang="en-US" sz="3700">
                <a:solidFill>
                  <a:srgbClr val="3396FF"/>
                </a:solidFill>
              </a:rPr>
              <a:t>DO I SEE IT? The way of escape is always there anytime I was tempted BUT I have to take that way of escape. GOD  WILL not force it on me. What it means is: I don't have to yield to the temptation. It is not wrong to be tempted but it is not only wrong not to </a:t>
            </a:r>
            <a:r>
              <a:rPr lang="en-US" sz="3700">
                <a:solidFill>
                  <a:srgbClr val="3396FF"/>
                </a:solidFill>
              </a:rPr>
              <a:t>take the way of escape provided but to yield to the temptation is very foolish and  beneath my new status in CHRIST.</a:t>
            </a:r>
            <a:r>
              <a:rPr lang="en-US" sz="3700">
                <a:solidFill>
                  <a:srgbClr val="4EF591"/>
                </a:solidFill>
              </a:rPr>
              <a:t>■</a:t>
            </a:r>
          </a:p>
          <a:p>
            <a:r>
              <a:rPr lang="en-US" sz="5000"/>
              <a:t>  </a:t>
            </a:r>
          </a:p>
          <a:p>
            <a:r>
              <a:rPr lang="en-US" sz="3700">
                <a:solidFill>
                  <a:srgbClr val="3396FF"/>
                </a:solidFill>
              </a:rPr>
              <a:t>                            ^......^</a:t>
            </a:r>
          </a:p>
          <a:p>
            <a:r>
              <a:rPr lang="en-US" sz="5000"/>
              <a:t>  </a:t>
            </a:r>
          </a:p>
          <a:p>
            <a:r>
              <a:rPr lang="en-US" sz="3700">
                <a:solidFill>
                  <a:srgbClr val="3396FF"/>
                </a:solidFill>
              </a:rPr>
              <a:t> </a:t>
            </a:r>
            <a:r>
              <a:rPr lang="en-US" sz="3700">
                <a:solidFill>
                  <a:srgbClr val="1447FF"/>
                </a:solidFill>
              </a:rPr>
              <a:t>■</a:t>
            </a:r>
            <a:r>
              <a:rPr lang="en-US" sz="3700">
                <a:solidFill>
                  <a:srgbClr val="3396FF"/>
                </a:solidFill>
              </a:rPr>
              <a:t>    LET: This  is to say, the right to permit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1" id="2"/>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3396FF"/>
                </a:solidFill>
              </a:rPr>
              <a:t>or allow  either righteousness or sin to reign in my body is mine. Do not ALLOW  that temptation to gain a foothold in my mind or emotions. </a:t>
            </a:r>
          </a:p>
          <a:p>
            <a:r>
              <a:rPr lang="en-US" sz="3700">
                <a:solidFill>
                  <a:srgbClr val="1447FF"/>
                </a:solidFill>
              </a:rPr>
              <a:t>■</a:t>
            </a:r>
          </a:p>
          <a:p>
            <a:r>
              <a:rPr lang="en-US" sz="3700">
                <a:solidFill>
                  <a:srgbClr val="1447FF"/>
                </a:solidFill>
              </a:rPr>
              <a:t> </a:t>
            </a:r>
          </a:p>
          <a:p>
            <a:r>
              <a:rPr lang="en-US" sz="3700">
                <a:solidFill>
                  <a:srgbClr val="252525"/>
                </a:solidFill>
              </a:rPr>
              <a:t/>
            </a:r>
            <a:r>
              <a:rPr lang="en-US" sz="3700">
                <a:solidFill>
                  <a:srgbClr val="1447FF"/>
                </a:solidFill>
              </a:rPr>
              <a:t>           ^****^</a:t>
            </a:r>
          </a:p>
          <a:p>
            <a:r>
              <a:rPr lang="en-US" sz="3700">
                <a:solidFill>
                  <a:srgbClr val="1447FF"/>
                </a:solidFill>
              </a:rPr>
              <a:t>   </a:t>
            </a:r>
          </a:p>
          <a:p>
            <a:r>
              <a:rPr lang="en-US" sz="5000"/>
              <a:t>  </a:t>
            </a:r>
          </a:p>
          <a:p>
            <a:r>
              <a:rPr lang="en-US" sz="3700">
                <a:solidFill>
                  <a:srgbClr val="3396FF"/>
                </a:solidFill>
              </a:rPr>
              <a:t>  PRESENT: Look at this world🌎. It connects an act of presentation. I present or yield my members to GOD as consciously as I reckon them dead to sin and alive to GOD. It is a question  of my Will.  My Will to present my members to GOD  for HIM to use for righteous action. What  JESUS means is this: </a:t>
            </a:r>
          </a:p>
        </p:txBody>
      </p:sp>
      <p:pic>
        <p:nvPicPr>
          <p:cNvPr name="Picture 13" id="13"/>
          <p:cNvPicPr>
            <a:picLocks noChangeAspect="true"/>
          </p:cNvPicPr>
          <p:nvPr/>
        </p:nvPicPr>
        <p:blipFill>
          <a:blip r:embed="rId13"/>
          <a:stretch>
            <a:fillRect/>
          </a:stretch>
        </p:blipFill>
        <p:spPr>
          <a:xfrm>
            <a:off x="6451600" y="4864100"/>
            <a:ext cx="3251200" cy="33782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1" id="2"/>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3396FF"/>
                </a:solidFill>
              </a:rPr>
              <a:t>I DON'T  REALLY HAVE TO LOOK AT THAT </a:t>
            </a:r>
            <a:r>
              <a:rPr lang="en-US" sz="3700">
                <a:solidFill>
                  <a:srgbClr val="3396FF"/>
                </a:solidFill>
              </a:rPr>
              <a:t>SIGHT THAT IS TEMPTING I NOW NOR DO I NEED TO LISTEN WITH MY EAR TO THAT GOSSIP OR MUSIC! I can then present my eyes to GOD to look at another wholesome </a:t>
            </a:r>
            <a:r>
              <a:rPr lang="en-US" sz="3700">
                <a:solidFill>
                  <a:srgbClr val="3396FF"/>
                </a:solidFill>
              </a:rPr>
              <a:t>sight.  Let JESUS give me two examples in the Bible:</a:t>
            </a:r>
          </a:p>
          <a:p>
            <a:r>
              <a:rPr lang="en-US" sz="3700">
                <a:solidFill>
                  <a:srgbClr val="3396FF"/>
                </a:solidFill>
              </a:rPr>
              <a:t>                Job 31:1</a:t>
            </a:r>
          </a:p>
          <a:p>
            <a:r>
              <a:rPr lang="en-US" sz="3700">
                <a:solidFill>
                  <a:srgbClr val="3396FF"/>
                </a:solidFill>
              </a:rPr>
              <a:t>                             &lt;I have made a covenant with my eyes, why them should  I look  intently upon a young woman?&gt;</a:t>
            </a:r>
          </a:p>
          <a:p>
            <a:r>
              <a:rPr lang="en-US" sz="5000"/>
              <a:t>  </a:t>
            </a:r>
          </a:p>
          <a:p>
            <a:r>
              <a:rPr lang="en-US" sz="5000"/>
              <a:t>  </a:t>
            </a:r>
          </a:p>
          <a:p>
            <a:r>
              <a:rPr lang="en-US" sz="3700">
                <a:solidFill>
                  <a:srgbClr val="3396FF"/>
                </a:solidFill>
              </a:rPr>
              <a:t>                 Psalm 101:3a</a:t>
            </a:r>
          </a:p>
          <a:p>
            <a:r>
              <a:rPr lang="en-US" sz="3700">
                <a:solidFill>
                  <a:srgbClr val="3396FF"/>
                </a:solidFill>
              </a:rPr>
              <a:t>                                      &lt;I will set no wicked things before my eyes...&gt;</a:t>
            </a:r>
          </a:p>
          <a:p>
            <a:r>
              <a:rPr lang="en-US" sz="5000"/>
              <a:t>  </a:t>
            </a:r>
          </a:p>
          <a:p>
            <a:r>
              <a:rPr lang="en-US" sz="5000"/>
              <a:t>  </a:t>
            </a:r>
          </a:p>
          <a:p>
            <a:r>
              <a:rPr lang="en-US" sz="3700">
                <a:solidFill>
                  <a:srgbClr val="3396FF"/>
                </a:solidFill>
              </a:rPr>
              <a:t>I see, it is a question of choice.  I choose to present those members of my body to </a:t>
            </a:r>
            <a:r>
              <a:rPr lang="en-US" sz="3700">
                <a:solidFill>
                  <a:srgbClr val="9933FF"/>
                </a:solidFill>
              </a:rPr>
              <a:t>GOD</a:t>
            </a:r>
            <a:r>
              <a:rPr lang="en-US" sz="3700">
                <a:solidFill>
                  <a:srgbClr val="3396FF"/>
                </a:solidFill>
              </a:rPr>
              <a: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1" id="2"/>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p>
          <a:p>
            <a:r>
              <a:rPr lang="en-US" sz="3700">
                <a:solidFill>
                  <a:srgbClr val="3396FF"/>
                </a:solidFill>
              </a:rPr>
              <a:t> I have got to make a clean break with  ALL  that I know to be sinful. All sinful relationships and associations of the past have got to be done away with</a:t>
            </a:r>
            <a:r>
              <a:rPr lang="en-US" sz="3700">
                <a:solidFill>
                  <a:srgbClr val="252525"/>
                </a:solidFill>
              </a:rPr>
              <a:t>.</a:t>
            </a:r>
          </a:p>
          <a:p>
            <a:r>
              <a:rPr lang="en-US" sz="3700">
                <a:solidFill>
                  <a:srgbClr val="252525"/>
                </a:solidFill>
              </a:rPr>
              <a:t>   </a:t>
            </a:r>
          </a:p>
        </p:txBody>
      </p:sp>
      <p:pic>
        <p:nvPicPr>
          <p:cNvPr name="Picture 16" id="16"/>
          <p:cNvPicPr>
            <a:picLocks noChangeAspect="true"/>
          </p:cNvPicPr>
          <p:nvPr/>
        </p:nvPicPr>
        <p:blipFill>
          <a:blip r:embed="rId16"/>
          <a:stretch>
            <a:fillRect/>
          </a:stretch>
        </p:blipFill>
        <p:spPr>
          <a:xfrm>
            <a:off x="6451600" y="317500"/>
            <a:ext cx="10820400" cy="20066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1" id="2"/>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p>
          <a:p>
            <a:r>
              <a:rPr lang="en-US" sz="3700">
                <a:solidFill>
                  <a:srgbClr val="252525"/>
                </a:solidFill>
              </a:rPr>
              <a:t>  </a:t>
            </a:r>
          </a:p>
        </p:txBody>
      </p:sp>
      <p:pic>
        <p:nvPicPr>
          <p:cNvPr name="Picture 18" id="18"/>
          <p:cNvPicPr>
            <a:picLocks noChangeAspect="true"/>
          </p:cNvPicPr>
          <p:nvPr/>
        </p:nvPicPr>
        <p:blipFill>
          <a:blip r:embed="rId18"/>
          <a:stretch>
            <a:fillRect/>
          </a:stretch>
        </p:blipFill>
        <p:spPr>
          <a:xfrm>
            <a:off x="6451600" y="317500"/>
            <a:ext cx="10820400" cy="144145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1" id="2"/>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r>
            <a:r>
              <a:rPr lang="en-US" sz="3700">
                <a:solidFill>
                  <a:srgbClr val="252525"/>
                </a:solidFill>
              </a:rPr>
              <a:t/>
            </a:r>
          </a:p>
          <a:p>
            <a:r>
              <a:rPr lang="en-US" sz="5000"/>
              <a:t>  </a:t>
            </a:r>
          </a:p>
          <a:p>
            <a:r>
              <a:rPr lang="en-US" sz="5000"/>
              <a:t>  </a:t>
            </a:r>
          </a:p>
          <a:p>
            <a:r>
              <a:rPr lang="en-US" sz="5000"/>
              <a:t>  </a:t>
            </a:r>
          </a:p>
          <a:p>
            <a:r>
              <a:rPr lang="en-US" sz="3700">
                <a:solidFill>
                  <a:srgbClr val="3396FF"/>
                </a:solidFill>
              </a:rPr>
              <a:t> </a:t>
            </a:r>
          </a:p>
        </p:txBody>
      </p:sp>
      <p:pic>
        <p:nvPicPr>
          <p:cNvPr name="Picture 20" id="20"/>
          <p:cNvPicPr>
            <a:picLocks noChangeAspect="true"/>
          </p:cNvPicPr>
          <p:nvPr/>
        </p:nvPicPr>
        <p:blipFill>
          <a:blip r:embed="rId20"/>
          <a:stretch>
            <a:fillRect/>
          </a:stretch>
        </p:blipFill>
        <p:spPr>
          <a:xfrm>
            <a:off x="6451600" y="317500"/>
            <a:ext cx="10820400" cy="10820400"/>
          </a:xfrm>
          <a:prstGeom prst="rect">
            <a:avLst/>
          </a:prstGeom>
        </p:spPr>
      </p:pic>
      <p:pic>
        <p:nvPicPr>
          <p:cNvPr name="Picture 21" id="21"/>
          <p:cNvPicPr>
            <a:picLocks noChangeAspect="true"/>
          </p:cNvPicPr>
          <p:nvPr/>
        </p:nvPicPr>
        <p:blipFill>
          <a:blip r:embed="rId21"/>
          <a:stretch>
            <a:fillRect/>
          </a:stretch>
        </p:blipFill>
        <p:spPr>
          <a:xfrm>
            <a:off x="6451600" y="11353800"/>
            <a:ext cx="241300" cy="241300"/>
          </a:xfrm>
          <a:prstGeom prst="rect">
            <a:avLst/>
          </a:prstGeom>
        </p:spPr>
      </p:pic>
      <p:pic>
        <p:nvPicPr>
          <p:cNvPr name="Picture 22" id="22"/>
          <p:cNvPicPr>
            <a:picLocks noChangeAspect="true"/>
          </p:cNvPicPr>
          <p:nvPr/>
        </p:nvPicPr>
        <p:blipFill>
          <a:blip r:embed="rId22"/>
          <a:stretch>
            <a:fillRect/>
          </a:stretch>
        </p:blipFill>
        <p:spPr>
          <a:xfrm>
            <a:off x="5930900" y="0"/>
            <a:ext cx="11887200" cy="16802100"/>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1" id="2"/>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