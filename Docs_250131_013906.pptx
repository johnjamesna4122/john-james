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entation.xml" ContentType="application/vnd.openxmlformats-officedocument.presentationml.presentation.main+xml"/>
  <Override PartName="/ppt/presProps.xml" ContentType="application/vnd.openxmlformats-officedocument.presentationml.presPro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Lst>
  <p:sldSz cx="23749000" cy="168021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 Type="http://schemas.openxmlformats.org/officeDocument/2006/relationships/presProps" Target="presProps.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 Type="http://schemas.openxmlformats.org/officeDocument/2006/relationships/viewProps" Target="viewProps.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 Type="http://schemas.openxmlformats.org/officeDocument/2006/relationships/theme" Target="theme/theme1.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 Type="http://schemas.openxmlformats.org/officeDocument/2006/relationships/tableStyles" Target="tableStyles.xml"/><Relationship Id="rId50" Type="http://schemas.openxmlformats.org/officeDocument/2006/relationships/slide" Target="slides/slide45.xml"/><Relationship Id="rId51" Type="http://schemas.openxmlformats.org/officeDocument/2006/relationships/slide" Target="slides/slide46.xml"/><Relationship Id="rId52" Type="http://schemas.openxmlformats.org/officeDocument/2006/relationships/slide" Target="slides/slide47.xml"/><Relationship Id="rId53" Type="http://schemas.openxmlformats.org/officeDocument/2006/relationships/slide" Target="slides/slide48.xml"/><Relationship Id="rId54" Type="http://schemas.openxmlformats.org/officeDocument/2006/relationships/slide" Target="slides/slide49.xml"/><Relationship Id="rId55" Type="http://schemas.openxmlformats.org/officeDocument/2006/relationships/slide" Target="slides/slide50.xml"/><Relationship Id="rId56" Type="http://schemas.openxmlformats.org/officeDocument/2006/relationships/slide" Target="slides/slide51.xml"/><Relationship Id="rId57" Type="http://schemas.openxmlformats.org/officeDocument/2006/relationships/slide" Target="slides/slide52.xml"/><Relationship Id="rId58" Type="http://schemas.openxmlformats.org/officeDocument/2006/relationships/slide" Target="slides/slide53.xml"/><Relationship Id="rId59" Type="http://schemas.openxmlformats.org/officeDocument/2006/relationships/slide" Target="slides/slide54.xml"/><Relationship Id="rId6" Type="http://schemas.openxmlformats.org/officeDocument/2006/relationships/slide" Target="slides/slide1.xml"/><Relationship Id="rId60" Type="http://schemas.openxmlformats.org/officeDocument/2006/relationships/slide" Target="slides/slide55.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7.xml"/><Relationship Id="rId6" Type="http://schemas.openxmlformats.org/officeDocument/2006/relationships/image" Target="../media/image6.png"/></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7.xml"/><Relationship Id="rId8" Type="http://schemas.openxmlformats.org/officeDocument/2006/relationships/image" Target="../media/image8.png"/></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7.xml"/><Relationship Id="rId10" Type="http://schemas.openxmlformats.org/officeDocument/2006/relationships/image" Target="../media/image10.png"/></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7.xml"/><Relationship Id="rId12" Type="http://schemas.openxmlformats.org/officeDocument/2006/relationships/image" Target="../media/image12.png"/></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7.xml"/><Relationship Id="rId14" Type="http://schemas.openxmlformats.org/officeDocument/2006/relationships/image" Target="../media/image14.png"/></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7.xml"/><Relationship Id="rId16" Type="http://schemas.openxmlformats.org/officeDocument/2006/relationships/image" Target="../media/image16.png"/></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7.xml"/><Relationship Id="rId18" Type="http://schemas.openxmlformats.org/officeDocument/2006/relationships/image" Target="../media/image18.png"/></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7.xml"/><Relationship Id="rId20" Type="http://schemas.openxmlformats.org/officeDocument/2006/relationships/image" Target="../media/image20.png"/></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7.xml"/><Relationship Id="rId22" Type="http://schemas.openxmlformats.org/officeDocument/2006/relationships/image" Target="../media/image22.png"/></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7.xml"/><Relationship Id="rId24" Type="http://schemas.openxmlformats.org/officeDocument/2006/relationships/image" Target="../media/image24.png"/></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7.xml"/><Relationship Id="rId26" Type="http://schemas.openxmlformats.org/officeDocument/2006/relationships/image" Target="../media/image26.png"/></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7.xml"/><Relationship Id="rId28" Type="http://schemas.openxmlformats.org/officeDocument/2006/relationships/image" Target="../media/image28.png"/></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7.xml"/><Relationship Id="rId30" Type="http://schemas.openxmlformats.org/officeDocument/2006/relationships/image" Target="../media/image30.png"/></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7.xml"/><Relationship Id="rId32" Type="http://schemas.openxmlformats.org/officeDocument/2006/relationships/image" Target="../media/image32.png"/></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7.xml"/><Relationship Id="rId34" Type="http://schemas.openxmlformats.org/officeDocument/2006/relationships/image" Target="../media/image34.png"/></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7.xml"/><Relationship Id="rId36" Type="http://schemas.openxmlformats.org/officeDocument/2006/relationships/image" Target="../media/image36.png"/></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7.xml"/><Relationship Id="rId38" Type="http://schemas.openxmlformats.org/officeDocument/2006/relationships/image" Target="../media/image38.png"/></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7.xml"/><Relationship Id="rId40" Type="http://schemas.openxmlformats.org/officeDocument/2006/relationships/image" Target="../media/image40.png"/></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7.xml"/><Relationship Id="rId42" Type="http://schemas.openxmlformats.org/officeDocument/2006/relationships/image" Target="../media/image42.png"/></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7.xml"/><Relationship Id="rId44" Type="http://schemas.openxmlformats.org/officeDocument/2006/relationships/image" Target="../media/image44.png"/></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7.xml"/><Relationship Id="rId46" Type="http://schemas.openxmlformats.org/officeDocument/2006/relationships/image" Target="../media/image46.png"/></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7.xml"/><Relationship Id="rId48" Type="http://schemas.openxmlformats.org/officeDocument/2006/relationships/image" Target="../media/image48.png"/></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7.xml"/><Relationship Id="rId50" Type="http://schemas.openxmlformats.org/officeDocument/2006/relationships/image" Target="../media/image50.png"/></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7.xml"/><Relationship Id="rId52" Type="http://schemas.openxmlformats.org/officeDocument/2006/relationships/image" Target="../media/image52.png"/></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7.xml"/><Relationship Id="rId54" Type="http://schemas.openxmlformats.org/officeDocument/2006/relationships/image" Target="../media/image54.png"/></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7.xml"/><Relationship Id="rId56" Type="http://schemas.openxmlformats.org/officeDocument/2006/relationships/image" Target="../media/image56.png"/></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7.xml"/><Relationship Id="rId58" Type="http://schemas.openxmlformats.org/officeDocument/2006/relationships/image" Target="../media/image58.png"/></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7.xml"/><Relationship Id="rId60" Type="http://schemas.openxmlformats.org/officeDocument/2006/relationships/image" Target="../media/image60.png"/></Relationships>
</file>

<file path=ppt/slides/_rels/slide31.xml.rels><?xml version="1.0" encoding="UTF-8" standalone="yes"?><Relationships xmlns="http://schemas.openxmlformats.org/package/2006/relationships"><Relationship Id="rId1" Type="http://schemas.openxmlformats.org/officeDocument/2006/relationships/slideLayout" Target="../slideLayouts/slideLayout7.xml"/><Relationship Id="rId62" Type="http://schemas.openxmlformats.org/officeDocument/2006/relationships/image" Target="../media/image62.png"/></Relationships>
</file>

<file path=ppt/slides/_rels/slide32.xml.rels><?xml version="1.0" encoding="UTF-8" standalone="yes"?><Relationships xmlns="http://schemas.openxmlformats.org/package/2006/relationships"><Relationship Id="rId1" Type="http://schemas.openxmlformats.org/officeDocument/2006/relationships/slideLayout" Target="../slideLayouts/slideLayout7.xml"/><Relationship Id="rId64" Type="http://schemas.openxmlformats.org/officeDocument/2006/relationships/image" Target="../media/image64.png"/></Relationships>
</file>

<file path=ppt/slides/_rels/slide33.xml.rels><?xml version="1.0" encoding="UTF-8" standalone="yes"?><Relationships xmlns="http://schemas.openxmlformats.org/package/2006/relationships"><Relationship Id="rId1" Type="http://schemas.openxmlformats.org/officeDocument/2006/relationships/slideLayout" Target="../slideLayouts/slideLayout7.xml"/><Relationship Id="rId66" Type="http://schemas.openxmlformats.org/officeDocument/2006/relationships/image" Target="../media/image66.png"/></Relationships>
</file>

<file path=ppt/slides/_rels/slide34.xml.rels><?xml version="1.0" encoding="UTF-8" standalone="yes"?><Relationships xmlns="http://schemas.openxmlformats.org/package/2006/relationships"><Relationship Id="rId1" Type="http://schemas.openxmlformats.org/officeDocument/2006/relationships/slideLayout" Target="../slideLayouts/slideLayout7.xml"/><Relationship Id="rId68" Type="http://schemas.openxmlformats.org/officeDocument/2006/relationships/image" Target="../media/image68.png"/></Relationships>
</file>

<file path=ppt/slides/_rels/slide35.xml.rels><?xml version="1.0" encoding="UTF-8" standalone="yes"?><Relationships xmlns="http://schemas.openxmlformats.org/package/2006/relationships"><Relationship Id="rId1" Type="http://schemas.openxmlformats.org/officeDocument/2006/relationships/slideLayout" Target="../slideLayouts/slideLayout7.xml"/><Relationship Id="rId70" Type="http://schemas.openxmlformats.org/officeDocument/2006/relationships/image" Target="../media/image70.png"/></Relationships>
</file>

<file path=ppt/slides/_rels/slide36.xml.rels><?xml version="1.0" encoding="UTF-8" standalone="yes"?><Relationships xmlns="http://schemas.openxmlformats.org/package/2006/relationships"><Relationship Id="rId1" Type="http://schemas.openxmlformats.org/officeDocument/2006/relationships/slideLayout" Target="../slideLayouts/slideLayout7.xml"/><Relationship Id="rId72" Type="http://schemas.openxmlformats.org/officeDocument/2006/relationships/image" Target="../media/image72.png"/></Relationships>
</file>

<file path=ppt/slides/_rels/slide37.xml.rels><?xml version="1.0" encoding="UTF-8" standalone="yes"?><Relationships xmlns="http://schemas.openxmlformats.org/package/2006/relationships"><Relationship Id="rId1" Type="http://schemas.openxmlformats.org/officeDocument/2006/relationships/slideLayout" Target="../slideLayouts/slideLayout7.xml"/><Relationship Id="rId74" Type="http://schemas.openxmlformats.org/officeDocument/2006/relationships/image" Target="../media/image74.png"/></Relationships>
</file>

<file path=ppt/slides/_rels/slide38.xml.rels><?xml version="1.0" encoding="UTF-8" standalone="yes"?><Relationships xmlns="http://schemas.openxmlformats.org/package/2006/relationships"><Relationship Id="rId1" Type="http://schemas.openxmlformats.org/officeDocument/2006/relationships/slideLayout" Target="../slideLayouts/slideLayout7.xml"/><Relationship Id="rId76" Type="http://schemas.openxmlformats.org/officeDocument/2006/relationships/image" Target="../media/image76.png"/></Relationships>
</file>

<file path=ppt/slides/_rels/slide39.xml.rels><?xml version="1.0" encoding="UTF-8" standalone="yes"?><Relationships xmlns="http://schemas.openxmlformats.org/package/2006/relationships"><Relationship Id="rId1" Type="http://schemas.openxmlformats.org/officeDocument/2006/relationships/slideLayout" Target="../slideLayouts/slideLayout7.xml"/><Relationship Id="rId78" Type="http://schemas.openxmlformats.org/officeDocument/2006/relationships/image" Target="../media/image78.png"/></Relationships>
</file>

<file path=ppt/slides/_rels/slide40.xml.rels><?xml version="1.0" encoding="UTF-8" standalone="yes"?><Relationships xmlns="http://schemas.openxmlformats.org/package/2006/relationships"><Relationship Id="rId1" Type="http://schemas.openxmlformats.org/officeDocument/2006/relationships/slideLayout" Target="../slideLayouts/slideLayout7.xml"/><Relationship Id="rId80" Type="http://schemas.openxmlformats.org/officeDocument/2006/relationships/image" Target="../media/image80.png"/></Relationships>
</file>

<file path=ppt/slides/_rels/slide41.xml.rels><?xml version="1.0" encoding="UTF-8" standalone="yes"?><Relationships xmlns="http://schemas.openxmlformats.org/package/2006/relationships"><Relationship Id="rId1" Type="http://schemas.openxmlformats.org/officeDocument/2006/relationships/slideLayout" Target="../slideLayouts/slideLayout7.xml"/><Relationship Id="rId82" Type="http://schemas.openxmlformats.org/officeDocument/2006/relationships/image" Target="../media/image82.png"/></Relationships>
</file>

<file path=ppt/slides/_rels/slide42.xml.rels><?xml version="1.0" encoding="UTF-8" standalone="yes"?><Relationships xmlns="http://schemas.openxmlformats.org/package/2006/relationships"><Relationship Id="rId1" Type="http://schemas.openxmlformats.org/officeDocument/2006/relationships/slideLayout" Target="../slideLayouts/slideLayout7.xml"/><Relationship Id="rId84" Type="http://schemas.openxmlformats.org/officeDocument/2006/relationships/image" Target="../media/image84.png"/></Relationships>
</file>

<file path=ppt/slides/_rels/slide43.xml.rels><?xml version="1.0" encoding="UTF-8" standalone="yes"?><Relationships xmlns="http://schemas.openxmlformats.org/package/2006/relationships"><Relationship Id="rId1" Type="http://schemas.openxmlformats.org/officeDocument/2006/relationships/slideLayout" Target="../slideLayouts/slideLayout7.xml"/><Relationship Id="rId86" Type="http://schemas.openxmlformats.org/officeDocument/2006/relationships/image" Target="../media/image86.png"/></Relationships>
</file>

<file path=ppt/slides/_rels/slide44.xml.rels><?xml version="1.0" encoding="UTF-8" standalone="yes"?><Relationships xmlns="http://schemas.openxmlformats.org/package/2006/relationships"><Relationship Id="rId1" Type="http://schemas.openxmlformats.org/officeDocument/2006/relationships/slideLayout" Target="../slideLayouts/slideLayout7.xml"/><Relationship Id="rId88" Type="http://schemas.openxmlformats.org/officeDocument/2006/relationships/image" Target="../media/image88.png"/></Relationships>
</file>

<file path=ppt/slides/_rels/slide45.xml.rels><?xml version="1.0" encoding="UTF-8" standalone="yes"?><Relationships xmlns="http://schemas.openxmlformats.org/package/2006/relationships"><Relationship Id="rId1" Type="http://schemas.openxmlformats.org/officeDocument/2006/relationships/slideLayout" Target="../slideLayouts/slideLayout7.xml"/><Relationship Id="rId90" Type="http://schemas.openxmlformats.org/officeDocument/2006/relationships/image" Target="../media/image90.png"/></Relationships>
</file>

<file path=ppt/slides/_rels/slide46.xml.rels><?xml version="1.0" encoding="UTF-8" standalone="yes"?><Relationships xmlns="http://schemas.openxmlformats.org/package/2006/relationships"><Relationship Id="rId1" Type="http://schemas.openxmlformats.org/officeDocument/2006/relationships/slideLayout" Target="../slideLayouts/slideLayout7.xml"/><Relationship Id="rId92" Type="http://schemas.openxmlformats.org/officeDocument/2006/relationships/image" Target="../media/image92.png"/></Relationships>
</file>

<file path=ppt/slides/_rels/slide47.xml.rels><?xml version="1.0" encoding="UTF-8" standalone="yes"?><Relationships xmlns="http://schemas.openxmlformats.org/package/2006/relationships"><Relationship Id="rId1" Type="http://schemas.openxmlformats.org/officeDocument/2006/relationships/slideLayout" Target="../slideLayouts/slideLayout7.xml"/><Relationship Id="rId94" Type="http://schemas.openxmlformats.org/officeDocument/2006/relationships/image" Target="../media/image94.png"/></Relationships>
</file>

<file path=ppt/slides/_rels/slide48.xml.rels><?xml version="1.0" encoding="UTF-8" standalone="yes"?><Relationships xmlns="http://schemas.openxmlformats.org/package/2006/relationships"><Relationship Id="rId1" Type="http://schemas.openxmlformats.org/officeDocument/2006/relationships/slideLayout" Target="../slideLayouts/slideLayout7.xml"/><Relationship Id="rId96" Type="http://schemas.openxmlformats.org/officeDocument/2006/relationships/image" Target="../media/image96.png"/></Relationships>
</file>

<file path=ppt/slides/_rels/slide49.xml.rels><?xml version="1.0" encoding="UTF-8" standalone="yes"?><Relationships xmlns="http://schemas.openxmlformats.org/package/2006/relationships"><Relationship Id="rId1" Type="http://schemas.openxmlformats.org/officeDocument/2006/relationships/slideLayout" Target="../slideLayouts/slideLayout7.xml"/><Relationship Id="rId98" Type="http://schemas.openxmlformats.org/officeDocument/2006/relationships/image" Target="../media/image98.png"/></Relationships>
</file>

<file path=ppt/slides/_rels/slide50.xml.rels><?xml version="1.0" encoding="UTF-8" standalone="yes"?><Relationships xmlns="http://schemas.openxmlformats.org/package/2006/relationships"><Relationship Id="rId1" Type="http://schemas.openxmlformats.org/officeDocument/2006/relationships/slideLayout" Target="../slideLayouts/slideLayout7.xml"/><Relationship Id="rId100" Type="http://schemas.openxmlformats.org/officeDocument/2006/relationships/image" Target="../media/image100.png"/></Relationships>
</file>

<file path=ppt/slides/_rels/slide51.xml.rels><?xml version="1.0" encoding="UTF-8" standalone="yes"?><Relationships xmlns="http://schemas.openxmlformats.org/package/2006/relationships"><Relationship Id="rId1" Type="http://schemas.openxmlformats.org/officeDocument/2006/relationships/slideLayout" Target="../slideLayouts/slideLayout7.xml"/><Relationship Id="rId102" Type="http://schemas.openxmlformats.org/officeDocument/2006/relationships/image" Target="../media/image102.png"/></Relationships>
</file>

<file path=ppt/slides/_rels/slide52.xml.rels><?xml version="1.0" encoding="UTF-8" standalone="yes"?><Relationships xmlns="http://schemas.openxmlformats.org/package/2006/relationships"><Relationship Id="rId1" Type="http://schemas.openxmlformats.org/officeDocument/2006/relationships/slideLayout" Target="../slideLayouts/slideLayout7.xml"/><Relationship Id="rId104" Type="http://schemas.openxmlformats.org/officeDocument/2006/relationships/image" Target="../media/image104.png"/></Relationships>
</file>

<file path=ppt/slides/_rels/slide53.xml.rels><?xml version="1.0" encoding="UTF-8" standalone="yes"?><Relationships xmlns="http://schemas.openxmlformats.org/package/2006/relationships"><Relationship Id="rId1" Type="http://schemas.openxmlformats.org/officeDocument/2006/relationships/slideLayout" Target="../slideLayouts/slideLayout7.xml"/><Relationship Id="rId106" Type="http://schemas.openxmlformats.org/officeDocument/2006/relationships/image" Target="../media/image106.png"/></Relationships>
</file>

<file path=ppt/slides/_rels/slide54.xml.rels><?xml version="1.0" encoding="UTF-8" standalone="yes"?><Relationships xmlns="http://schemas.openxmlformats.org/package/2006/relationships"><Relationship Id="rId1" Type="http://schemas.openxmlformats.org/officeDocument/2006/relationships/slideLayout" Target="../slideLayouts/slideLayout7.xml"/><Relationship Id="rId108" Type="http://schemas.openxmlformats.org/officeDocument/2006/relationships/image" Target="../media/image108.png"/></Relationships>
</file>

<file path=ppt/slides/_rels/slide55.xml.rels><?xml version="1.0" encoding="UTF-8" standalone="yes"?><Relationships xmlns="http://schemas.openxmlformats.org/package/2006/relationships"><Relationship Id="rId1" Type="http://schemas.openxmlformats.org/officeDocument/2006/relationships/slideLayout" Target="../slideLayouts/slideLayout7.xml"/><Relationship Id="rId110" Type="http://schemas.openxmlformats.org/officeDocument/2006/relationships/image" Target="../media/image110.png"/></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127000"/>
            <a:ext cx="23749000" cy="16548100"/>
          </a:xfrm>
          <a:prstGeom prst="rect">
            <a:avLst/>
          </a:prstGeom>
        </p:spPr>
      </p:pic>
      <p:sp>
        <p:nvSpPr>
          <p:cNvPr name="TextBox 2" id="3"/>
          <p:cNvSpPr txBox="true"/>
          <p:nvPr/>
        </p:nvSpPr>
        <p:spPr>
          <a:xfrm>
            <a:off x="5930900" y="2082800"/>
            <a:ext cx="11887200" cy="14973300"/>
          </a:xfrm>
          <a:prstGeom prst="rect">
            <a:avLst/>
          </a:prstGeom>
        </p:spPr>
        <p:txBody>
          <a:bodyPr anchor="t" rtlCol="false"/>
          <a:lstStyle/>
          <a:p>
            <a:pPr algn="l"/>
            <a:r>
              <a:t/>
            </a:r>
            <a:endParaRPr lang="en-US" sz="1100"/>
          </a:p>
          <a:p>
            <a:r>
              <a:rPr lang="en-US" sz="3700">
                <a:solidFill>
                  <a:srgbClr val="252525"/>
                </a:solidFill>
              </a:rPr>
              <a:t>Docs</a:t>
            </a:r>
          </a:p>
          <a:p>
            <a:r>
              <a:rPr lang="en-US" sz="5000"/>
              <a:t>  </a:t>
            </a:r>
          </a:p>
          <a:p>
            <a:r>
              <a:rPr lang="en-US" sz="5000"/>
              <a:t>  </a:t>
            </a:r>
          </a:p>
          <a:p>
            <a:r>
              <a:rPr lang="en-US" sz="3700">
                <a:solidFill>
                  <a:srgbClr val="252525"/>
                </a:solidFill>
              </a:rPr>
              <a:t>Basics</a:t>
            </a:r>
          </a:p>
          <a:p>
            <a:r>
              <a:rPr lang="en-US" sz="3700">
                <a:solidFill>
                  <a:srgbClr val="252525"/>
                </a:solidFill>
              </a:rPr>
              <a:t>Coding conventions</a:t>
            </a:r>
          </a:p>
          <a:p>
            <a:r>
              <a:rPr lang="en-US" sz="3700">
                <a:solidFill>
                  <a:srgbClr val="252525"/>
                </a:solidFill>
              </a:rPr>
              <a:t>Coding conventions﻿</a:t>
            </a:r>
          </a:p>
          <a:p>
            <a:r>
              <a:rPr lang="en-US" sz="3700">
                <a:solidFill>
                  <a:srgbClr val="252525"/>
                </a:solidFill>
              </a:rPr>
              <a:t>Edit pageLast modified: 30 January 2025</a:t>
            </a:r>
          </a:p>
          <a:p>
            <a:r>
              <a:rPr lang="en-US" sz="3700">
                <a:solidFill>
                  <a:srgbClr val="252525"/>
                </a:solidFill>
              </a:rPr>
              <a:t>Commonly known and easy-to-follow coding conventions are vital for any programming language. Here we provide guidelines on the code style and code organization for projects that use Kotlin.</a:t>
            </a:r>
          </a:p>
          <a:p>
            <a:r>
              <a:rPr lang="en-US" sz="5000"/>
              <a:t>  </a:t>
            </a:r>
          </a:p>
          <a:p>
            <a:r>
              <a:rPr lang="en-US" sz="3700">
                <a:solidFill>
                  <a:srgbClr val="252525"/>
                </a:solidFill>
              </a:rPr>
              <a:t>Configure style in IDE﻿</a:t>
            </a:r>
          </a:p>
          <a:p>
            <a:r>
              <a:rPr lang="en-US" sz="3700">
                <a:solidFill>
                  <a:srgbClr val="252525"/>
                </a:solidFill>
              </a:rPr>
              <a:t>Two most popular IDEs for Kotlin - IntelliJ IDEA and Android Studio provide powerful support for code styling. You can configure them to automatically format your code in consistence with the given </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4" id="4"/>
          <p:cNvPicPr>
            <a:picLocks noChangeAspect="true"/>
          </p:cNvPicPr>
          <p:nvPr/>
        </p:nvPicPr>
        <p:blipFill>
          <a:blip r:embed="rId4"/>
          <a:stretch>
            <a:fillRect/>
          </a:stretch>
        </p:blipFill>
        <p:spPr>
          <a:xfrm>
            <a:off x="0" y="127000"/>
            <a:ext cx="23749000" cy="16548100"/>
          </a:xfrm>
          <a:prstGeom prst="rect">
            <a:avLst/>
          </a:prstGeom>
        </p:spPr>
      </p:pic>
      <p:sp>
        <p:nvSpPr>
          <p:cNvPr name="TextBox 4" id="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code style.</a:t>
            </a:r>
          </a:p>
          <a:p>
            <a:r>
              <a:rPr lang="en-US" sz="5000"/>
              <a:t>  </a:t>
            </a:r>
          </a:p>
          <a:p>
            <a:r>
              <a:rPr lang="en-US" sz="3700">
                <a:solidFill>
                  <a:srgbClr val="252525"/>
                </a:solidFill>
              </a:rPr>
              <a:t>Apply the style guide﻿</a:t>
            </a:r>
          </a:p>
          <a:p>
            <a:r>
              <a:rPr lang="en-US" sz="3700">
                <a:solidFill>
                  <a:srgbClr val="252525"/>
                </a:solidFill>
              </a:rPr>
              <a:t>Go to Settings/Preferences | Editor | Code Style | Kotlin.</a:t>
            </a:r>
          </a:p>
          <a:p>
            <a:r>
              <a:rPr lang="en-US" sz="5000"/>
              <a:t>  </a:t>
            </a:r>
          </a:p>
          <a:p>
            <a:r>
              <a:rPr lang="en-US" sz="3700">
                <a:solidFill>
                  <a:srgbClr val="252525"/>
                </a:solidFill>
              </a:rPr>
              <a:t>Click Set from....</a:t>
            </a:r>
          </a:p>
          <a:p>
            <a:r>
              <a:rPr lang="en-US" sz="5000"/>
              <a:t>  </a:t>
            </a:r>
          </a:p>
          <a:p>
            <a:r>
              <a:rPr lang="en-US" sz="3700">
                <a:solidFill>
                  <a:srgbClr val="252525"/>
                </a:solidFill>
              </a:rPr>
              <a:t>Select Kotlin style guide.</a:t>
            </a:r>
          </a:p>
          <a:p>
            <a:r>
              <a:rPr lang="en-US" sz="5000"/>
              <a:t>  </a:t>
            </a:r>
          </a:p>
          <a:p>
            <a:r>
              <a:rPr lang="en-US" sz="3700">
                <a:solidFill>
                  <a:srgbClr val="252525"/>
                </a:solidFill>
              </a:rPr>
              <a:t>Verify that your code follows the style guide﻿</a:t>
            </a:r>
          </a:p>
          <a:p>
            <a:r>
              <a:rPr lang="en-US" sz="3700">
                <a:solidFill>
                  <a:srgbClr val="252525"/>
                </a:solidFill>
              </a:rPr>
              <a:t>Go to Settings/Preferences | Editor | Inspections | General.</a:t>
            </a:r>
          </a:p>
          <a:p>
            <a:r>
              <a:rPr lang="en-US" sz="5000"/>
              <a:t>  </a:t>
            </a:r>
          </a:p>
          <a:p>
            <a:r>
              <a:rPr lang="en-US" sz="3700">
                <a:solidFill>
                  <a:srgbClr val="252525"/>
                </a:solidFill>
              </a:rPr>
              <a:t>Switch on Incorrect formatting inspection. Additional inspections that verify other issues described in the style guide (such as naming conventions) are enabled by default.</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6" id="6"/>
          <p:cNvPicPr>
            <a:picLocks noChangeAspect="true"/>
          </p:cNvPicPr>
          <p:nvPr/>
        </p:nvPicPr>
        <p:blipFill>
          <a:blip r:embed="rId6"/>
          <a:stretch>
            <a:fillRect/>
          </a:stretch>
        </p:blipFill>
        <p:spPr>
          <a:xfrm>
            <a:off x="0" y="127000"/>
            <a:ext cx="23749000" cy="16548100"/>
          </a:xfrm>
          <a:prstGeom prst="rect">
            <a:avLst/>
          </a:prstGeom>
        </p:spPr>
      </p:pic>
      <p:sp>
        <p:nvSpPr>
          <p:cNvPr name="TextBox 6" id="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Source code organization﻿</a:t>
            </a:r>
          </a:p>
          <a:p>
            <a:r>
              <a:rPr lang="en-US" sz="3700">
                <a:solidFill>
                  <a:srgbClr val="252525"/>
                </a:solidFill>
              </a:rPr>
              <a:t>Directory structure﻿</a:t>
            </a:r>
          </a:p>
          <a:p>
            <a:r>
              <a:rPr lang="en-US" sz="3700">
                <a:solidFill>
                  <a:srgbClr val="252525"/>
                </a:solidFill>
              </a:rPr>
              <a:t>In pure Kotlin projects, the recommended directory structure follows the package structure with the common root package omitted. For example, if all the code in the project is in the org.example.kotlin package and its subpackages, files with the org.example.kotlin package should be placed directly under the source root, and files in org.example.kotlin.network.socket should be in the network/socket subdirectory of the source root.</a:t>
            </a:r>
          </a:p>
          <a:p>
            <a:r>
              <a:rPr lang="en-US" sz="5000"/>
              <a:t>  </a:t>
            </a:r>
          </a:p>
          <a:p>
            <a:r>
              <a:rPr lang="en-US" sz="3700">
                <a:solidFill>
                  <a:srgbClr val="252525"/>
                </a:solidFill>
              </a:rPr>
              <a:t>On JVM: In projects where Kotlin is used together with Java, Kotlin source files should reside in the same source root as the Java source files, and follow the same directory structure: each file should be stored in the directory corresponding to each package statement.</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8" id="8"/>
          <p:cNvPicPr>
            <a:picLocks noChangeAspect="true"/>
          </p:cNvPicPr>
          <p:nvPr/>
        </p:nvPicPr>
        <p:blipFill>
          <a:blip r:embed="rId8"/>
          <a:stretch>
            <a:fillRect/>
          </a:stretch>
        </p:blipFill>
        <p:spPr>
          <a:xfrm>
            <a:off x="0" y="127000"/>
            <a:ext cx="23749000" cy="16548100"/>
          </a:xfrm>
          <a:prstGeom prst="rect">
            <a:avLst/>
          </a:prstGeom>
        </p:spPr>
      </p:pic>
      <p:sp>
        <p:nvSpPr>
          <p:cNvPr name="TextBox 8" id="9"/>
          <p:cNvSpPr txBox="true"/>
          <p:nvPr/>
        </p:nvSpPr>
        <p:spPr>
          <a:xfrm>
            <a:off x="5930900" y="1320800"/>
            <a:ext cx="11887200" cy="15735300"/>
          </a:xfrm>
          <a:prstGeom prst="rect">
            <a:avLst/>
          </a:prstGeom>
        </p:spPr>
        <p:txBody>
          <a:bodyPr anchor="t" rtlCol="false"/>
          <a:lstStyle/>
          <a:p>
            <a:pPr algn="l"/>
            <a:r>
              <a:t/>
            </a:r>
            <a:endParaRPr lang="en-US" sz="1100"/>
          </a:p>
          <a:p>
            <a:r>
              <a:rPr lang="en-US" sz="3700">
                <a:solidFill>
                  <a:srgbClr val="252525"/>
                </a:solidFill>
              </a:rPr>
              <a:t>Source file names﻿</a:t>
            </a:r>
          </a:p>
          <a:p>
            <a:r>
              <a:rPr lang="en-US" sz="3700">
                <a:solidFill>
                  <a:srgbClr val="252525"/>
                </a:solidFill>
              </a:rPr>
              <a:t>If a Kotlin file contains a single class or interface (potentially with related top-level declarations), its name should be the same as the name of the class, with the .kt extension appended. It applies to all types of classes and interfaces. If a file contains multiple classes, or only top-level declarations, choose a name describing what the file contains, and name the file accordingly. Use upper camel case, where the first letter of each word is capitalized. For example, ProcessDeclarations.kt.</a:t>
            </a:r>
          </a:p>
          <a:p>
            <a:r>
              <a:rPr lang="en-US" sz="5000"/>
              <a:t>  </a:t>
            </a:r>
          </a:p>
          <a:p>
            <a:r>
              <a:rPr lang="en-US" sz="3700">
                <a:solidFill>
                  <a:srgbClr val="252525"/>
                </a:solidFill>
              </a:rPr>
              <a:t>The name of the file should describe what the code in the file does. Therefore, you should avoid using meaningless words such as Util in file names.</a:t>
            </a:r>
          </a:p>
          <a:p>
            <a:r>
              <a:rPr lang="en-US" sz="5000"/>
              <a:t>  </a:t>
            </a:r>
          </a:p>
          <a:p>
            <a:r>
              <a:rPr lang="en-US" sz="3700">
                <a:solidFill>
                  <a:srgbClr val="252525"/>
                </a:solidFill>
              </a:rPr>
              <a:t>Multiplatform projects﻿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0" id="10"/>
          <p:cNvPicPr>
            <a:picLocks noChangeAspect="true"/>
          </p:cNvPicPr>
          <p:nvPr/>
        </p:nvPicPr>
        <p:blipFill>
          <a:blip r:embed="rId10"/>
          <a:stretch>
            <a:fillRect/>
          </a:stretch>
        </p:blipFill>
        <p:spPr>
          <a:xfrm>
            <a:off x="0" y="127000"/>
            <a:ext cx="23749000" cy="16548100"/>
          </a:xfrm>
          <a:prstGeom prst="rect">
            <a:avLst/>
          </a:prstGeom>
        </p:spPr>
      </p:pic>
      <p:sp>
        <p:nvSpPr>
          <p:cNvPr name="TextBox 10" id="1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In multiplatform projects, files with top-level declarations in platform-specific source sets should have a suffix associated with the name of the source set. For example:</a:t>
            </a:r>
          </a:p>
          <a:p>
            <a:r>
              <a:rPr lang="en-US" sz="5000"/>
              <a:t>  </a:t>
            </a:r>
          </a:p>
          <a:p>
            <a:r>
              <a:rPr lang="en-US" sz="3700">
                <a:solidFill>
                  <a:srgbClr val="252525"/>
                </a:solidFill>
              </a:rPr>
              <a:t>jvmMain/kotlin/Platform. jvm .kt</a:t>
            </a:r>
          </a:p>
          <a:p>
            <a:r>
              <a:rPr lang="en-US" sz="5000"/>
              <a:t>  </a:t>
            </a:r>
          </a:p>
          <a:p>
            <a:r>
              <a:rPr lang="en-US" sz="3700">
                <a:solidFill>
                  <a:srgbClr val="252525"/>
                </a:solidFill>
              </a:rPr>
              <a:t>androidMain/kotlin/Platform. android .kt</a:t>
            </a:r>
          </a:p>
          <a:p>
            <a:r>
              <a:rPr lang="en-US" sz="5000"/>
              <a:t>  </a:t>
            </a:r>
          </a:p>
          <a:p>
            <a:r>
              <a:rPr lang="en-US" sz="3700">
                <a:solidFill>
                  <a:srgbClr val="252525"/>
                </a:solidFill>
              </a:rPr>
              <a:t>iosMain/kotlin/Platform. ios .kt</a:t>
            </a:r>
          </a:p>
          <a:p>
            <a:r>
              <a:rPr lang="en-US" sz="5000"/>
              <a:t>  </a:t>
            </a:r>
          </a:p>
          <a:p>
            <a:r>
              <a:rPr lang="en-US" sz="3700">
                <a:solidFill>
                  <a:srgbClr val="252525"/>
                </a:solidFill>
              </a:rPr>
              <a:t>As for the common source set, files with top-level declarations should not have a suffix. For example, commonMain/kotlin/Platform.kt.</a:t>
            </a:r>
          </a:p>
          <a:p>
            <a:r>
              <a:rPr lang="en-US" sz="5000"/>
              <a:t>  </a:t>
            </a:r>
          </a:p>
          <a:p>
            <a:r>
              <a:rPr lang="en-US" sz="3700">
                <a:solidFill>
                  <a:srgbClr val="252525"/>
                </a:solidFill>
              </a:rPr>
              <a:t>Technical details﻿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2" id="12"/>
          <p:cNvPicPr>
            <a:picLocks noChangeAspect="true"/>
          </p:cNvPicPr>
          <p:nvPr/>
        </p:nvPicPr>
        <p:blipFill>
          <a:blip r:embed="rId12"/>
          <a:stretch>
            <a:fillRect/>
          </a:stretch>
        </p:blipFill>
        <p:spPr>
          <a:xfrm>
            <a:off x="0" y="127000"/>
            <a:ext cx="23749000" cy="16548100"/>
          </a:xfrm>
          <a:prstGeom prst="rect">
            <a:avLst/>
          </a:prstGeom>
        </p:spPr>
      </p:pic>
      <p:sp>
        <p:nvSpPr>
          <p:cNvPr name="TextBox 12" id="13"/>
          <p:cNvSpPr txBox="true"/>
          <p:nvPr/>
        </p:nvSpPr>
        <p:spPr>
          <a:xfrm>
            <a:off x="5930900" y="5118100"/>
            <a:ext cx="11887200" cy="11938000"/>
          </a:xfrm>
          <a:prstGeom prst="rect">
            <a:avLst/>
          </a:prstGeom>
        </p:spPr>
        <p:txBody>
          <a:bodyPr anchor="t" rtlCol="false"/>
          <a:lstStyle/>
          <a:p>
            <a:pPr algn="l"/>
            <a:r>
              <a:t/>
            </a:r>
            <a:endParaRPr lang="en-US" sz="1100"/>
          </a:p>
          <a:p>
            <a:r>
              <a:rPr lang="en-US" sz="3700">
                <a:solidFill>
                  <a:srgbClr val="252525"/>
                </a:solidFill>
              </a:rPr>
              <a:t>Source file organization﻿</a:t>
            </a:r>
          </a:p>
          <a:p>
            <a:r>
              <a:rPr lang="en-US" sz="3700">
                <a:solidFill>
                  <a:srgbClr val="252525"/>
                </a:solidFill>
              </a:rPr>
              <a:t>Placing multiple declarations (classes, top-level functions or properties) in the same Kotlin source file is encouraged as long as these declarations are closely related to each other semantically, and the file size remains reasonable (not exceeding a few hundred lines).</a:t>
            </a:r>
          </a:p>
          <a:p>
            <a:r>
              <a:rPr lang="en-US" sz="5000"/>
              <a:t>  </a:t>
            </a:r>
          </a:p>
          <a:p>
            <a:r>
              <a:rPr lang="en-US" sz="3700">
                <a:solidFill>
                  <a:srgbClr val="252525"/>
                </a:solidFill>
              </a:rPr>
              <a:t>In particular, when defining extension functions for a class which are relevant for all clients of this class, put them in the same file with the class itself. When defining extension functions that make sense only for a specific client, put them </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4" id="14"/>
          <p:cNvPicPr>
            <a:picLocks noChangeAspect="true"/>
          </p:cNvPicPr>
          <p:nvPr/>
        </p:nvPicPr>
        <p:blipFill>
          <a:blip r:embed="rId14"/>
          <a:stretch>
            <a:fillRect/>
          </a:stretch>
        </p:blipFill>
        <p:spPr>
          <a:xfrm>
            <a:off x="0" y="127000"/>
            <a:ext cx="23749000" cy="16548100"/>
          </a:xfrm>
          <a:prstGeom prst="rect">
            <a:avLst/>
          </a:prstGeom>
        </p:spPr>
      </p:pic>
      <p:sp>
        <p:nvSpPr>
          <p:cNvPr name="TextBox 14" id="1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next to the code of that client. Avoid creating files just to hold all extensions of some class.</a:t>
            </a:r>
          </a:p>
          <a:p>
            <a:r>
              <a:rPr lang="en-US" sz="5000"/>
              <a:t>  </a:t>
            </a:r>
          </a:p>
          <a:p>
            <a:r>
              <a:rPr lang="en-US" sz="3700">
                <a:solidFill>
                  <a:srgbClr val="252525"/>
                </a:solidFill>
              </a:rPr>
              <a:t>Class layout﻿</a:t>
            </a:r>
          </a:p>
          <a:p>
            <a:r>
              <a:rPr lang="en-US" sz="3700">
                <a:solidFill>
                  <a:srgbClr val="252525"/>
                </a:solidFill>
              </a:rPr>
              <a:t>The contents of a class should go in the following order:</a:t>
            </a:r>
          </a:p>
          <a:p>
            <a:r>
              <a:rPr lang="en-US" sz="5000"/>
              <a:t>  </a:t>
            </a:r>
          </a:p>
          <a:p>
            <a:r>
              <a:rPr lang="en-US" sz="3700">
                <a:solidFill>
                  <a:srgbClr val="252525"/>
                </a:solidFill>
              </a:rPr>
              <a:t>Property declarations and initializer blocks</a:t>
            </a:r>
          </a:p>
          <a:p>
            <a:r>
              <a:rPr lang="en-US" sz="5000"/>
              <a:t>  </a:t>
            </a:r>
          </a:p>
          <a:p>
            <a:r>
              <a:rPr lang="en-US" sz="3700">
                <a:solidFill>
                  <a:srgbClr val="252525"/>
                </a:solidFill>
              </a:rPr>
              <a:t>Secondary constructors</a:t>
            </a:r>
          </a:p>
          <a:p>
            <a:r>
              <a:rPr lang="en-US" sz="5000"/>
              <a:t>  </a:t>
            </a:r>
          </a:p>
          <a:p>
            <a:r>
              <a:rPr lang="en-US" sz="3700">
                <a:solidFill>
                  <a:srgbClr val="252525"/>
                </a:solidFill>
              </a:rPr>
              <a:t>Method declarations</a:t>
            </a:r>
          </a:p>
          <a:p>
            <a:r>
              <a:rPr lang="en-US" sz="5000"/>
              <a:t>  </a:t>
            </a:r>
          </a:p>
          <a:p>
            <a:r>
              <a:rPr lang="en-US" sz="3700">
                <a:solidFill>
                  <a:srgbClr val="252525"/>
                </a:solidFill>
              </a:rPr>
              <a:t>Companion object</a:t>
            </a:r>
          </a:p>
          <a:p>
            <a:r>
              <a:rPr lang="en-US" sz="5000"/>
              <a:t>  </a:t>
            </a:r>
          </a:p>
          <a:p>
            <a:r>
              <a:rPr lang="en-US" sz="3700">
                <a:solidFill>
                  <a:srgbClr val="252525"/>
                </a:solidFill>
              </a:rPr>
              <a:t>Do not sort the method declarations alphabetically or by visibility, and do not separate regular methods from extension methods. Instead, put related stuff together, so that someone reading the </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6" id="16"/>
          <p:cNvPicPr>
            <a:picLocks noChangeAspect="true"/>
          </p:cNvPicPr>
          <p:nvPr/>
        </p:nvPicPr>
        <p:blipFill>
          <a:blip r:embed="rId16"/>
          <a:stretch>
            <a:fillRect/>
          </a:stretch>
        </p:blipFill>
        <p:spPr>
          <a:xfrm>
            <a:off x="0" y="127000"/>
            <a:ext cx="23749000" cy="16548100"/>
          </a:xfrm>
          <a:prstGeom prst="rect">
            <a:avLst/>
          </a:prstGeom>
        </p:spPr>
      </p:pic>
      <p:sp>
        <p:nvSpPr>
          <p:cNvPr name="TextBox 16" id="1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class from top to bottom can follow the logic of what's happening. Choose an order (either higher-level stuff first, or vice versa) and stick to it.</a:t>
            </a:r>
          </a:p>
          <a:p>
            <a:r>
              <a:rPr lang="en-US" sz="5000"/>
              <a:t>  </a:t>
            </a:r>
          </a:p>
          <a:p>
            <a:r>
              <a:rPr lang="en-US" sz="3700">
                <a:solidFill>
                  <a:srgbClr val="252525"/>
                </a:solidFill>
              </a:rPr>
              <a:t>Put nested classes next to the code that uses those classes. If the classes are intended to be used externally and aren't referenced inside the class, put them in the end, after the companion object.</a:t>
            </a:r>
          </a:p>
          <a:p>
            <a:r>
              <a:rPr lang="en-US" sz="5000"/>
              <a:t>  </a:t>
            </a:r>
          </a:p>
          <a:p>
            <a:r>
              <a:rPr lang="en-US" sz="3700">
                <a:solidFill>
                  <a:srgbClr val="252525"/>
                </a:solidFill>
              </a:rPr>
              <a:t>Interface implementation layout﻿</a:t>
            </a:r>
          </a:p>
          <a:p>
            <a:r>
              <a:rPr lang="en-US" sz="3700">
                <a:solidFill>
                  <a:srgbClr val="252525"/>
                </a:solidFill>
              </a:rPr>
              <a:t>When implementing an interface, keep the implementing members in the same order as members of the interface (if necessary, interspersed with additional private methods used for the implementation).</a:t>
            </a:r>
          </a:p>
          <a:p>
            <a:r>
              <a:rPr lang="en-US" sz="5000"/>
              <a:t>  </a:t>
            </a:r>
          </a:p>
          <a:p>
            <a:r>
              <a:rPr lang="en-US" sz="3700">
                <a:solidFill>
                  <a:srgbClr val="252525"/>
                </a:solidFill>
              </a:rPr>
              <a:t>Overload layout﻿</a:t>
            </a:r>
          </a:p>
          <a:p>
            <a:r>
              <a:rPr lang="en-US" sz="3700">
                <a:solidFill>
                  <a:srgbClr val="252525"/>
                </a:solidFill>
              </a:rPr>
              <a:t>Always put overloads next to each other in a class.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8" id="18"/>
          <p:cNvPicPr>
            <a:picLocks noChangeAspect="true"/>
          </p:cNvPicPr>
          <p:nvPr/>
        </p:nvPicPr>
        <p:blipFill>
          <a:blip r:embed="rId18"/>
          <a:stretch>
            <a:fillRect/>
          </a:stretch>
        </p:blipFill>
        <p:spPr>
          <a:xfrm>
            <a:off x="0" y="127000"/>
            <a:ext cx="23749000" cy="16548100"/>
          </a:xfrm>
          <a:prstGeom prst="rect">
            <a:avLst/>
          </a:prstGeom>
        </p:spPr>
      </p:pic>
      <p:sp>
        <p:nvSpPr>
          <p:cNvPr name="TextBox 18" id="19"/>
          <p:cNvSpPr txBox="true"/>
          <p:nvPr/>
        </p:nvSpPr>
        <p:spPr>
          <a:xfrm>
            <a:off x="5930900" y="1320800"/>
            <a:ext cx="11887200" cy="15735300"/>
          </a:xfrm>
          <a:prstGeom prst="rect">
            <a:avLst/>
          </a:prstGeom>
        </p:spPr>
        <p:txBody>
          <a:bodyPr anchor="t" rtlCol="false"/>
          <a:lstStyle/>
          <a:p>
            <a:pPr algn="l"/>
            <a:r>
              <a:t/>
            </a:r>
            <a:endParaRPr lang="en-US" sz="1100"/>
          </a:p>
          <a:p>
            <a:r>
              <a:rPr lang="en-US" sz="3700">
                <a:solidFill>
                  <a:srgbClr val="252525"/>
                </a:solidFill>
              </a:rPr>
              <a:t>Naming rules﻿</a:t>
            </a:r>
          </a:p>
          <a:p>
            <a:r>
              <a:rPr lang="en-US" sz="3700">
                <a:solidFill>
                  <a:srgbClr val="252525"/>
                </a:solidFill>
              </a:rPr>
              <a:t>Package and class naming rules in Kotlin are quite simple:</a:t>
            </a:r>
          </a:p>
          <a:p>
            <a:r>
              <a:rPr lang="en-US" sz="5000"/>
              <a:t>  </a:t>
            </a:r>
          </a:p>
          <a:p>
            <a:r>
              <a:rPr lang="en-US" sz="3700">
                <a:solidFill>
                  <a:srgbClr val="252525"/>
                </a:solidFill>
              </a:rPr>
              <a:t>Names of packages are always lowercase and do not use underscores (org.example.project). Using multi-word names is generally discouraged, but if you do need to use multiple words, you can either just concatenate them together or use camel case (org.example.myProject).</a:t>
            </a:r>
          </a:p>
          <a:p>
            <a:r>
              <a:rPr lang="en-US" sz="5000"/>
              <a:t>  </a:t>
            </a:r>
          </a:p>
          <a:p>
            <a:r>
              <a:rPr lang="en-US" sz="3700">
                <a:solidFill>
                  <a:srgbClr val="252525"/>
                </a:solidFill>
              </a:rPr>
              <a:t>Names of classes and objects use upper camel case:</a:t>
            </a:r>
          </a:p>
          <a:p>
            <a:r>
              <a:rPr lang="en-US" sz="5000"/>
              <a:t>  </a:t>
            </a:r>
          </a:p>
          <a:p>
            <a:r>
              <a:rPr lang="en-US" sz="3700">
                <a:solidFill>
                  <a:srgbClr val="252525"/>
                </a:solidFill>
              </a:rPr>
              <a:t>open class DeclarationProcessor { /*...*/ }</a:t>
            </a:r>
          </a:p>
          <a:p>
            <a:r>
              <a:rPr lang="en-US" sz="5000"/>
              <a:t>  </a:t>
            </a:r>
          </a:p>
          <a:p>
            <a:r>
              <a:rPr lang="en-US" sz="3700">
                <a:solidFill>
                  <a:srgbClr val="252525"/>
                </a:solidFill>
              </a:rPr>
              <a:t>object EmptyDeclarationProcessor : DeclarationProcessor() { /*...*/ }</a:t>
            </a:r>
          </a:p>
          <a:p>
            <a:r>
              <a:rPr lang="en-US" sz="3700">
                <a:solidFill>
                  <a:srgbClr val="252525"/>
                </a:solidFill>
              </a:rPr>
              <a:t>Function names﻿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0" id="20"/>
          <p:cNvPicPr>
            <a:picLocks noChangeAspect="true"/>
          </p:cNvPicPr>
          <p:nvPr/>
        </p:nvPicPr>
        <p:blipFill>
          <a:blip r:embed="rId20"/>
          <a:stretch>
            <a:fillRect/>
          </a:stretch>
        </p:blipFill>
        <p:spPr>
          <a:xfrm>
            <a:off x="0" y="127000"/>
            <a:ext cx="23749000" cy="16548100"/>
          </a:xfrm>
          <a:prstGeom prst="rect">
            <a:avLst/>
          </a:prstGeom>
        </p:spPr>
      </p:pic>
      <p:sp>
        <p:nvSpPr>
          <p:cNvPr name="TextBox 20" id="2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Names of functions, properties and local variables start with a lowercase letter and use camel case with no underscores:</a:t>
            </a:r>
          </a:p>
          <a:p>
            <a:r>
              <a:rPr lang="en-US" sz="5000"/>
              <a:t>  </a:t>
            </a:r>
          </a:p>
          <a:p>
            <a:r>
              <a:rPr lang="en-US" sz="3700">
                <a:solidFill>
                  <a:srgbClr val="252525"/>
                </a:solidFill>
              </a:rPr>
              <a:t>fun processDeclarations() { /*...*/ }</a:t>
            </a:r>
          </a:p>
          <a:p>
            <a:r>
              <a:rPr lang="en-US" sz="3700">
                <a:solidFill>
                  <a:srgbClr val="252525"/>
                </a:solidFill>
              </a:rPr>
              <a:t>var declarationCount = 1</a:t>
            </a:r>
          </a:p>
          <a:p>
            <a:r>
              <a:rPr lang="en-US" sz="3700">
                <a:solidFill>
                  <a:srgbClr val="252525"/>
                </a:solidFill>
              </a:rPr>
              <a:t>Exception: factory functions used to create instances of classes can have the same name as the abstract return type:</a:t>
            </a:r>
          </a:p>
          <a:p>
            <a:r>
              <a:rPr lang="en-US" sz="5000"/>
              <a:t>  </a:t>
            </a:r>
          </a:p>
          <a:p>
            <a:r>
              <a:rPr lang="en-US" sz="3700">
                <a:solidFill>
                  <a:srgbClr val="252525"/>
                </a:solidFill>
              </a:rPr>
              <a:t>interface Foo { /*...*/ }</a:t>
            </a:r>
          </a:p>
          <a:p>
            <a:r>
              <a:rPr lang="en-US" sz="5000"/>
              <a:t>  </a:t>
            </a:r>
          </a:p>
          <a:p>
            <a:r>
              <a:rPr lang="en-US" sz="3700">
                <a:solidFill>
                  <a:srgbClr val="252525"/>
                </a:solidFill>
              </a:rPr>
              <a:t>class FooImpl : Foo { /*...*/ }</a:t>
            </a:r>
          </a:p>
          <a:p>
            <a:r>
              <a:rPr lang="en-US" sz="5000"/>
              <a:t>  </a:t>
            </a:r>
          </a:p>
          <a:p>
            <a:r>
              <a:rPr lang="en-US" sz="3700">
                <a:solidFill>
                  <a:srgbClr val="252525"/>
                </a:solidFill>
              </a:rPr>
              <a:t>fun Foo(): Foo { return FooImpl() }</a:t>
            </a:r>
          </a:p>
          <a:p>
            <a:r>
              <a:rPr lang="en-US" sz="3700">
                <a:solidFill>
                  <a:srgbClr val="252525"/>
                </a:solidFill>
              </a:rPr>
              <a:t>Names for test methods﻿</a:t>
            </a:r>
          </a:p>
          <a:p>
            <a:r>
              <a:rPr lang="en-US" sz="3700">
                <a:solidFill>
                  <a:srgbClr val="252525"/>
                </a:solidFill>
              </a:rPr>
              <a:t>In tests (and only in tests), you can use method names with spaces enclosed in backticks. Note that such method names are only supported by Android runtime from API level 30. Underscores in method </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2" id="22"/>
          <p:cNvPicPr>
            <a:picLocks noChangeAspect="true"/>
          </p:cNvPicPr>
          <p:nvPr/>
        </p:nvPicPr>
        <p:blipFill>
          <a:blip r:embed="rId22"/>
          <a:stretch>
            <a:fillRect/>
          </a:stretch>
        </p:blipFill>
        <p:spPr>
          <a:xfrm>
            <a:off x="0" y="127000"/>
            <a:ext cx="23749000" cy="16548100"/>
          </a:xfrm>
          <a:prstGeom prst="rect">
            <a:avLst/>
          </a:prstGeom>
        </p:spPr>
      </p:pic>
      <p:sp>
        <p:nvSpPr>
          <p:cNvPr name="TextBox 22" id="2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names are also allowed in test code.</a:t>
            </a:r>
          </a:p>
          <a:p>
            <a:r>
              <a:rPr lang="en-US" sz="5000"/>
              <a:t>  </a:t>
            </a:r>
          </a:p>
          <a:p>
            <a:r>
              <a:rPr lang="en-US" sz="3700">
                <a:solidFill>
                  <a:srgbClr val="252525"/>
                </a:solidFill>
              </a:rPr>
              <a:t>class MyTestCase {</a:t>
            </a:r>
          </a:p>
          <a:p>
            <a:r>
              <a:rPr lang="en-US" sz="3700">
                <a:solidFill>
                  <a:srgbClr val="252525"/>
                </a:solidFill>
              </a:rPr>
              <a:t>     @Test fun `ensure everything works`() { /*...*/ }</a:t>
            </a:r>
          </a:p>
          <a:p>
            <a:r>
              <a:rPr lang="en-US" sz="5000"/>
              <a:t>  </a:t>
            </a:r>
          </a:p>
          <a:p>
            <a:r>
              <a:rPr lang="en-US" sz="3700">
                <a:solidFill>
                  <a:srgbClr val="252525"/>
                </a:solidFill>
              </a:rPr>
              <a:t>     @Test fun ensureEverythingWorks_onAndroid() { /*...*/ }</a:t>
            </a:r>
          </a:p>
          <a:p>
            <a:r>
              <a:rPr lang="en-US" sz="3700">
                <a:solidFill>
                  <a:srgbClr val="252525"/>
                </a:solidFill>
              </a:rPr>
              <a:t>}</a:t>
            </a:r>
          </a:p>
          <a:p>
            <a:r>
              <a:rPr lang="en-US" sz="3700">
                <a:solidFill>
                  <a:srgbClr val="252525"/>
                </a:solidFill>
              </a:rPr>
              <a:t>Property names﻿</a:t>
            </a:r>
          </a:p>
          <a:p>
            <a:r>
              <a:rPr lang="en-US" sz="3700">
                <a:solidFill>
                  <a:srgbClr val="252525"/>
                </a:solidFill>
              </a:rPr>
              <a:t>Names of constants (properties marked with const, or top-level or object val properties with no custom get function that hold deeply immutable data) should use all uppercase, underscore-separated names following the (screaming snake case) convention:</a:t>
            </a:r>
          </a:p>
          <a:p>
            <a:r>
              <a:rPr lang="en-US" sz="5000"/>
              <a:t>  </a:t>
            </a:r>
          </a:p>
          <a:p>
            <a:r>
              <a:rPr lang="en-US" sz="3700">
                <a:solidFill>
                  <a:srgbClr val="252525"/>
                </a:solidFill>
              </a:rPr>
              <a:t>const val MAX_COUNT = 8</a:t>
            </a:r>
          </a:p>
          <a:p>
            <a:r>
              <a:rPr lang="en-US" sz="3700">
                <a:solidFill>
                  <a:srgbClr val="252525"/>
                </a:solidFill>
              </a:rPr>
              <a:t>val USER_NAME_FIELD = "UserName"</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4" id="24"/>
          <p:cNvPicPr>
            <a:picLocks noChangeAspect="true"/>
          </p:cNvPicPr>
          <p:nvPr/>
        </p:nvPicPr>
        <p:blipFill>
          <a:blip r:embed="rId24"/>
          <a:stretch>
            <a:fillRect/>
          </a:stretch>
        </p:blipFill>
        <p:spPr>
          <a:xfrm>
            <a:off x="0" y="127000"/>
            <a:ext cx="23749000" cy="16548100"/>
          </a:xfrm>
          <a:prstGeom prst="rect">
            <a:avLst/>
          </a:prstGeom>
        </p:spPr>
      </p:pic>
      <p:sp>
        <p:nvSpPr>
          <p:cNvPr name="TextBox 24" id="2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Names of top-level or object properties which hold objects with behavior or mutable data should use camel case names:</a:t>
            </a:r>
          </a:p>
          <a:p>
            <a:r>
              <a:rPr lang="en-US" sz="5000"/>
              <a:t>  </a:t>
            </a:r>
          </a:p>
          <a:p>
            <a:r>
              <a:rPr lang="en-US" sz="3700">
                <a:solidFill>
                  <a:srgbClr val="252525"/>
                </a:solidFill>
              </a:rPr>
              <a:t>val mutableCollection: MutableSet&lt;String&gt; = HashSet()</a:t>
            </a:r>
          </a:p>
          <a:p>
            <a:r>
              <a:rPr lang="en-US" sz="3700">
                <a:solidFill>
                  <a:srgbClr val="252525"/>
                </a:solidFill>
              </a:rPr>
              <a:t>Names of properties holding references to singleton objects can use the same naming style as object declarations:</a:t>
            </a:r>
          </a:p>
          <a:p>
            <a:r>
              <a:rPr lang="en-US" sz="5000"/>
              <a:t>  </a:t>
            </a:r>
          </a:p>
          <a:p>
            <a:r>
              <a:rPr lang="en-US" sz="3700">
                <a:solidFill>
                  <a:srgbClr val="252525"/>
                </a:solidFill>
              </a:rPr>
              <a:t>val PersonComparator: Comparator&lt;Person&gt; = /*...*/</a:t>
            </a:r>
          </a:p>
          <a:p>
            <a:r>
              <a:rPr lang="en-US" sz="3700">
                <a:solidFill>
                  <a:srgbClr val="252525"/>
                </a:solidFill>
              </a:rPr>
              <a:t>For enum constants, it's OK to use either all uppercase, underscore-separated (screaming snake case) names (enum class Color { RED, GREEN }) or upper camel case names, depending on the usage.</a:t>
            </a:r>
          </a:p>
          <a:p>
            <a:r>
              <a:rPr lang="en-US" sz="5000"/>
              <a:t>  </a:t>
            </a:r>
          </a:p>
          <a:p>
            <a:r>
              <a:rPr lang="en-US" sz="3700">
                <a:solidFill>
                  <a:srgbClr val="252525"/>
                </a:solidFill>
              </a:rPr>
              <a:t>Names for backing properties﻿</a:t>
            </a:r>
          </a:p>
          <a:p>
            <a:r>
              <a:rPr lang="en-US" sz="3700">
                <a:solidFill>
                  <a:srgbClr val="252525"/>
                </a:solidFill>
              </a:rPr>
              <a:t>If a class has two properties which are </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6" id="26"/>
          <p:cNvPicPr>
            <a:picLocks noChangeAspect="true"/>
          </p:cNvPicPr>
          <p:nvPr/>
        </p:nvPicPr>
        <p:blipFill>
          <a:blip r:embed="rId26"/>
          <a:stretch>
            <a:fillRect/>
          </a:stretch>
        </p:blipFill>
        <p:spPr>
          <a:xfrm>
            <a:off x="0" y="127000"/>
            <a:ext cx="23749000" cy="16548100"/>
          </a:xfrm>
          <a:prstGeom prst="rect">
            <a:avLst/>
          </a:prstGeom>
        </p:spPr>
      </p:pic>
      <p:sp>
        <p:nvSpPr>
          <p:cNvPr name="TextBox 26" id="2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conceptually the same but one is part of a public API and another is an implementation detail, use an underscore as the prefix for the name of the private property:</a:t>
            </a:r>
          </a:p>
          <a:p>
            <a:r>
              <a:rPr lang="en-US" sz="5000"/>
              <a:t>  </a:t>
            </a:r>
          </a:p>
          <a:p>
            <a:r>
              <a:rPr lang="en-US" sz="3700">
                <a:solidFill>
                  <a:srgbClr val="252525"/>
                </a:solidFill>
              </a:rPr>
              <a:t>class C {</a:t>
            </a:r>
          </a:p>
          <a:p>
            <a:r>
              <a:rPr lang="en-US" sz="3700">
                <a:solidFill>
                  <a:srgbClr val="252525"/>
                </a:solidFill>
              </a:rPr>
              <a:t>    private val _elementList = mutableListOf&lt;Element&gt;()</a:t>
            </a:r>
          </a:p>
          <a:p>
            <a:r>
              <a:rPr lang="en-US" sz="5000"/>
              <a:t>  </a:t>
            </a:r>
          </a:p>
          <a:p>
            <a:r>
              <a:rPr lang="en-US" sz="3700">
                <a:solidFill>
                  <a:srgbClr val="252525"/>
                </a:solidFill>
              </a:rPr>
              <a:t>    val elementList: List&lt;Element&gt;</a:t>
            </a:r>
          </a:p>
          <a:p>
            <a:r>
              <a:rPr lang="en-US" sz="3700">
                <a:solidFill>
                  <a:srgbClr val="252525"/>
                </a:solidFill>
              </a:rPr>
              <a:t>         get() = _elementList</a:t>
            </a:r>
          </a:p>
          <a:p>
            <a:r>
              <a:rPr lang="en-US" sz="3700">
                <a:solidFill>
                  <a:srgbClr val="252525"/>
                </a:solidFill>
              </a:rPr>
              <a:t>}</a:t>
            </a:r>
          </a:p>
          <a:p>
            <a:r>
              <a:rPr lang="en-US" sz="3700">
                <a:solidFill>
                  <a:srgbClr val="252525"/>
                </a:solidFill>
              </a:rPr>
              <a:t>Choose good names﻿</a:t>
            </a:r>
          </a:p>
          <a:p>
            <a:r>
              <a:rPr lang="en-US" sz="3700">
                <a:solidFill>
                  <a:srgbClr val="252525"/>
                </a:solidFill>
              </a:rPr>
              <a:t>The name of a class is usually a noun or a noun phrase explaining what the class is: List, PersonReader.</a:t>
            </a:r>
          </a:p>
          <a:p>
            <a:r>
              <a:rPr lang="en-US" sz="5000"/>
              <a:t>  </a:t>
            </a:r>
          </a:p>
          <a:p>
            <a:r>
              <a:rPr lang="en-US" sz="3700">
                <a:solidFill>
                  <a:srgbClr val="252525"/>
                </a:solidFill>
              </a:rPr>
              <a:t>The name of a method is usually a verb or a verb phrase saying what the method does: close, readPersons. The name </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8" id="28"/>
          <p:cNvPicPr>
            <a:picLocks noChangeAspect="true"/>
          </p:cNvPicPr>
          <p:nvPr/>
        </p:nvPicPr>
        <p:blipFill>
          <a:blip r:embed="rId28"/>
          <a:stretch>
            <a:fillRect/>
          </a:stretch>
        </p:blipFill>
        <p:spPr>
          <a:xfrm>
            <a:off x="0" y="127000"/>
            <a:ext cx="23749000" cy="16548100"/>
          </a:xfrm>
          <a:prstGeom prst="rect">
            <a:avLst/>
          </a:prstGeom>
        </p:spPr>
      </p:pic>
      <p:sp>
        <p:nvSpPr>
          <p:cNvPr name="TextBox 28" id="2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should also suggest if the method is mutating the object or returning a new one. For instance sort is sorting a collection in place, while sorted is returning a sorted copy of the collection.</a:t>
            </a:r>
          </a:p>
          <a:p>
            <a:r>
              <a:rPr lang="en-US" sz="5000"/>
              <a:t>  </a:t>
            </a:r>
          </a:p>
          <a:p>
            <a:r>
              <a:rPr lang="en-US" sz="3700">
                <a:solidFill>
                  <a:srgbClr val="252525"/>
                </a:solidFill>
              </a:rPr>
              <a:t>The names should make it clear what the purpose of the entity is, so it's best to avoid using meaningless words (Manager, Wrapper) in names.</a:t>
            </a:r>
          </a:p>
          <a:p>
            <a:r>
              <a:rPr lang="en-US" sz="5000"/>
              <a:t>  </a:t>
            </a:r>
          </a:p>
          <a:p>
            <a:r>
              <a:rPr lang="en-US" sz="3700">
                <a:solidFill>
                  <a:srgbClr val="252525"/>
                </a:solidFill>
              </a:rPr>
              <a:t>When using an acronym as part of a declaration name, follow these rules:</a:t>
            </a:r>
          </a:p>
          <a:p>
            <a:r>
              <a:rPr lang="en-US" sz="5000"/>
              <a:t>  </a:t>
            </a:r>
          </a:p>
          <a:p>
            <a:r>
              <a:rPr lang="en-US" sz="3700">
                <a:solidFill>
                  <a:srgbClr val="252525"/>
                </a:solidFill>
              </a:rPr>
              <a:t>For two-letter acronyms, use uppercase for both letters. For example, IOStream.</a:t>
            </a:r>
          </a:p>
          <a:p>
            <a:r>
              <a:rPr lang="en-US" sz="5000"/>
              <a:t>  </a:t>
            </a:r>
          </a:p>
          <a:p>
            <a:r>
              <a:rPr lang="en-US" sz="3700">
                <a:solidFill>
                  <a:srgbClr val="252525"/>
                </a:solidFill>
              </a:rPr>
              <a:t>For acronyms longer than two letters, capitalize only the first letter. For example, XmlFormatter or HttpInputStream.</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30" id="30"/>
          <p:cNvPicPr>
            <a:picLocks noChangeAspect="true"/>
          </p:cNvPicPr>
          <p:nvPr/>
        </p:nvPicPr>
        <p:blipFill>
          <a:blip r:embed="rId30"/>
          <a:stretch>
            <a:fillRect/>
          </a:stretch>
        </p:blipFill>
        <p:spPr>
          <a:xfrm>
            <a:off x="0" y="127000"/>
            <a:ext cx="23749000" cy="16548100"/>
          </a:xfrm>
          <a:prstGeom prst="rect">
            <a:avLst/>
          </a:prstGeom>
        </p:spPr>
      </p:pic>
      <p:sp>
        <p:nvSpPr>
          <p:cNvPr name="TextBox 30" id="3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Formatting﻿</a:t>
            </a:r>
          </a:p>
          <a:p>
            <a:r>
              <a:rPr lang="en-US" sz="3700">
                <a:solidFill>
                  <a:srgbClr val="252525"/>
                </a:solidFill>
              </a:rPr>
              <a:t>Indentation﻿</a:t>
            </a:r>
          </a:p>
          <a:p>
            <a:r>
              <a:rPr lang="en-US" sz="3700">
                <a:solidFill>
                  <a:srgbClr val="252525"/>
                </a:solidFill>
              </a:rPr>
              <a:t>Use four spaces for indentation. Do not use tabs.</a:t>
            </a:r>
          </a:p>
          <a:p>
            <a:r>
              <a:rPr lang="en-US" sz="5000"/>
              <a:t>  </a:t>
            </a:r>
          </a:p>
          <a:p>
            <a:r>
              <a:rPr lang="en-US" sz="3700">
                <a:solidFill>
                  <a:srgbClr val="252525"/>
                </a:solidFill>
              </a:rPr>
              <a:t>For curly braces, put the opening brace at the end of the line where the construct begins, and the closing brace on a separate line aligned horizontally with the opening construct.</a:t>
            </a:r>
          </a:p>
          <a:p>
            <a:r>
              <a:rPr lang="en-US" sz="5000"/>
              <a:t>  </a:t>
            </a:r>
          </a:p>
          <a:p>
            <a:r>
              <a:rPr lang="en-US" sz="3700">
                <a:solidFill>
                  <a:srgbClr val="252525"/>
                </a:solidFill>
              </a:rPr>
              <a:t>if (elements != null) {</a:t>
            </a:r>
          </a:p>
          <a:p>
            <a:r>
              <a:rPr lang="en-US" sz="3700">
                <a:solidFill>
                  <a:srgbClr val="252525"/>
                </a:solidFill>
              </a:rPr>
              <a:t>    for (element in elements) {</a:t>
            </a:r>
          </a:p>
          <a:p>
            <a:r>
              <a:rPr lang="en-US" sz="3700">
                <a:solidFill>
                  <a:srgbClr val="252525"/>
                </a:solidFill>
              </a:rPr>
              <a:t>        // ...</a:t>
            </a:r>
          </a:p>
          <a:p>
            <a:r>
              <a:rPr lang="en-US" sz="3700">
                <a:solidFill>
                  <a:srgbClr val="252525"/>
                </a:solidFill>
              </a:rPr>
              <a:t>    }</a:t>
            </a:r>
          </a:p>
          <a:p>
            <a:r>
              <a:rPr lang="en-US" sz="3700">
                <a:solidFill>
                  <a:srgbClr val="252525"/>
                </a:solidFill>
              </a:rPr>
              <a:t>}</a:t>
            </a:r>
          </a:p>
          <a:p>
            <a:r>
              <a:rPr lang="en-US" sz="3700">
                <a:solidFill>
                  <a:srgbClr val="252525"/>
                </a:solidFill>
              </a:rPr>
              <a:t>In Kotlin, semicolons are optional, and therefore line breaks are significant. The language design assumes Java-style braces, and you may encounter surprising behavior if you try to use a different </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32" id="32"/>
          <p:cNvPicPr>
            <a:picLocks noChangeAspect="true"/>
          </p:cNvPicPr>
          <p:nvPr/>
        </p:nvPicPr>
        <p:blipFill>
          <a:blip r:embed="rId32"/>
          <a:stretch>
            <a:fillRect/>
          </a:stretch>
        </p:blipFill>
        <p:spPr>
          <a:xfrm>
            <a:off x="0" y="127000"/>
            <a:ext cx="23749000" cy="16548100"/>
          </a:xfrm>
          <a:prstGeom prst="rect">
            <a:avLst/>
          </a:prstGeom>
        </p:spPr>
      </p:pic>
      <p:sp>
        <p:nvSpPr>
          <p:cNvPr name="TextBox 32" id="3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formatting style.</a:t>
            </a:r>
          </a:p>
          <a:p>
            <a:r>
              <a:rPr lang="en-US" sz="5000"/>
              <a:t>  </a:t>
            </a:r>
          </a:p>
          <a:p>
            <a:r>
              <a:rPr lang="en-US" sz="3700">
                <a:solidFill>
                  <a:srgbClr val="252525"/>
                </a:solidFill>
              </a:rPr>
              <a:t>Horizontal whitespace﻿</a:t>
            </a:r>
          </a:p>
          <a:p>
            <a:r>
              <a:rPr lang="en-US" sz="3700">
                <a:solidFill>
                  <a:srgbClr val="252525"/>
                </a:solidFill>
              </a:rPr>
              <a:t>Put spaces around binary operators (a + b). Exception: don't put spaces around the "range to" operator (0..i).</a:t>
            </a:r>
          </a:p>
          <a:p>
            <a:r>
              <a:rPr lang="en-US" sz="5000"/>
              <a:t>  </a:t>
            </a:r>
          </a:p>
          <a:p>
            <a:r>
              <a:rPr lang="en-US" sz="3700">
                <a:solidFill>
                  <a:srgbClr val="252525"/>
                </a:solidFill>
              </a:rPr>
              <a:t>Do not put spaces around unary operators (a++).</a:t>
            </a:r>
          </a:p>
          <a:p>
            <a:r>
              <a:rPr lang="en-US" sz="5000"/>
              <a:t>  </a:t>
            </a:r>
          </a:p>
          <a:p>
            <a:r>
              <a:rPr lang="en-US" sz="3700">
                <a:solidFill>
                  <a:srgbClr val="252525"/>
                </a:solidFill>
              </a:rPr>
              <a:t>Put spaces between control flow keywords (if, when, for, and while) and the corresponding opening parenthesis.</a:t>
            </a:r>
          </a:p>
          <a:p>
            <a:r>
              <a:rPr lang="en-US" sz="5000"/>
              <a:t>  </a:t>
            </a:r>
          </a:p>
          <a:p>
            <a:r>
              <a:rPr lang="en-US" sz="3700">
                <a:solidFill>
                  <a:srgbClr val="252525"/>
                </a:solidFill>
              </a:rPr>
              <a:t>Do not put a space before an opening parenthesis in a primary constructor declaration, method declaration or method call.</a:t>
            </a:r>
          </a:p>
          <a:p>
            <a:r>
              <a:rPr lang="en-US" sz="5000"/>
              <a:t>  </a:t>
            </a:r>
          </a:p>
          <a:p>
            <a:r>
              <a:rPr lang="en-US" sz="3700">
                <a:solidFill>
                  <a:srgbClr val="252525"/>
                </a:solidFill>
              </a:rPr>
              <a:t>class A(val x: Int)</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34" id="34"/>
          <p:cNvPicPr>
            <a:picLocks noChangeAspect="true"/>
          </p:cNvPicPr>
          <p:nvPr/>
        </p:nvPicPr>
        <p:blipFill>
          <a:blip r:embed="rId34"/>
          <a:stretch>
            <a:fillRect/>
          </a:stretch>
        </p:blipFill>
        <p:spPr>
          <a:xfrm>
            <a:off x="0" y="127000"/>
            <a:ext cx="23749000" cy="16548100"/>
          </a:xfrm>
          <a:prstGeom prst="rect">
            <a:avLst/>
          </a:prstGeom>
        </p:spPr>
      </p:pic>
      <p:sp>
        <p:nvSpPr>
          <p:cNvPr name="TextBox 34" id="3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fun foo(x: Int) { ... }</a:t>
            </a:r>
          </a:p>
          <a:p>
            <a:r>
              <a:rPr lang="en-US" sz="5000"/>
              <a:t>  </a:t>
            </a:r>
          </a:p>
          <a:p>
            <a:r>
              <a:rPr lang="en-US" sz="3700">
                <a:solidFill>
                  <a:srgbClr val="252525"/>
                </a:solidFill>
              </a:rPr>
              <a:t>fun bar() {</a:t>
            </a:r>
          </a:p>
          <a:p>
            <a:r>
              <a:rPr lang="en-US" sz="3700">
                <a:solidFill>
                  <a:srgbClr val="252525"/>
                </a:solidFill>
              </a:rPr>
              <a:t>    foo(1)</a:t>
            </a:r>
          </a:p>
          <a:p>
            <a:r>
              <a:rPr lang="en-US" sz="3700">
                <a:solidFill>
                  <a:srgbClr val="252525"/>
                </a:solidFill>
              </a:rPr>
              <a:t>}</a:t>
            </a:r>
          </a:p>
          <a:p>
            <a:r>
              <a:rPr lang="en-US" sz="3700">
                <a:solidFill>
                  <a:srgbClr val="252525"/>
                </a:solidFill>
              </a:rPr>
              <a:t>Never put a space after (, [, or before ], ).</a:t>
            </a:r>
          </a:p>
          <a:p>
            <a:r>
              <a:rPr lang="en-US" sz="5000"/>
              <a:t>  </a:t>
            </a:r>
          </a:p>
          <a:p>
            <a:r>
              <a:rPr lang="en-US" sz="3700">
                <a:solidFill>
                  <a:srgbClr val="252525"/>
                </a:solidFill>
              </a:rPr>
              <a:t>Never put a space around . or ?.: foo.bar().filter { it &gt; 2 }.joinToString(), foo?.bar().</a:t>
            </a:r>
          </a:p>
          <a:p>
            <a:r>
              <a:rPr lang="en-US" sz="5000"/>
              <a:t>  </a:t>
            </a:r>
          </a:p>
          <a:p>
            <a:r>
              <a:rPr lang="en-US" sz="3700">
                <a:solidFill>
                  <a:srgbClr val="252525"/>
                </a:solidFill>
              </a:rPr>
              <a:t>Put a space after //: // This is a comment.</a:t>
            </a:r>
          </a:p>
          <a:p>
            <a:r>
              <a:rPr lang="en-US" sz="5000"/>
              <a:t>  </a:t>
            </a:r>
          </a:p>
          <a:p>
            <a:r>
              <a:rPr lang="en-US" sz="3700">
                <a:solidFill>
                  <a:srgbClr val="252525"/>
                </a:solidFill>
              </a:rPr>
              <a:t>Do not put spaces around angle brackets used to specify type parameters: class Map&lt;K, V&gt; { ... }.</a:t>
            </a:r>
          </a:p>
          <a:p>
            <a:r>
              <a:rPr lang="en-US" sz="5000"/>
              <a:t>  </a:t>
            </a:r>
          </a:p>
          <a:p>
            <a:r>
              <a:rPr lang="en-US" sz="3700">
                <a:solidFill>
                  <a:srgbClr val="252525"/>
                </a:solidFill>
              </a:rPr>
              <a:t>Do not put spaces around ::: Foo::class, String::length.</a:t>
            </a:r>
          </a:p>
          <a:p>
            <a:r>
              <a:rPr lang="en-US" sz="5000"/>
              <a:t>  </a:t>
            </a:r>
          </a:p>
          <a:p>
            <a:r>
              <a:rPr lang="en-US" sz="3700">
                <a:solidFill>
                  <a:srgbClr val="252525"/>
                </a:solidFill>
              </a:rPr>
              <a:t>Do not put a space before ? used to mark a </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36" id="36"/>
          <p:cNvPicPr>
            <a:picLocks noChangeAspect="true"/>
          </p:cNvPicPr>
          <p:nvPr/>
        </p:nvPicPr>
        <p:blipFill>
          <a:blip r:embed="rId36"/>
          <a:stretch>
            <a:fillRect/>
          </a:stretch>
        </p:blipFill>
        <p:spPr>
          <a:xfrm>
            <a:off x="0" y="127000"/>
            <a:ext cx="23749000" cy="16548100"/>
          </a:xfrm>
          <a:prstGeom prst="rect">
            <a:avLst/>
          </a:prstGeom>
        </p:spPr>
      </p:pic>
      <p:sp>
        <p:nvSpPr>
          <p:cNvPr name="TextBox 36" id="3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nullable type: String?.</a:t>
            </a:r>
          </a:p>
          <a:p>
            <a:r>
              <a:rPr lang="en-US" sz="5000"/>
              <a:t>  </a:t>
            </a:r>
          </a:p>
          <a:p>
            <a:r>
              <a:rPr lang="en-US" sz="3700">
                <a:solidFill>
                  <a:srgbClr val="252525"/>
                </a:solidFill>
              </a:rPr>
              <a:t>As a general rule, avoid horizontal alignment of any kind. Renaming an identifier to a name with a different length should not affect the formatting of either the declaration or any of the usages.</a:t>
            </a:r>
          </a:p>
          <a:p>
            <a:r>
              <a:rPr lang="en-US" sz="5000"/>
              <a:t>  </a:t>
            </a:r>
          </a:p>
          <a:p>
            <a:r>
              <a:rPr lang="en-US" sz="3700">
                <a:solidFill>
                  <a:srgbClr val="252525"/>
                </a:solidFill>
              </a:rPr>
              <a:t>Colon﻿</a:t>
            </a:r>
          </a:p>
          <a:p>
            <a:r>
              <a:rPr lang="en-US" sz="3700">
                <a:solidFill>
                  <a:srgbClr val="252525"/>
                </a:solidFill>
              </a:rPr>
              <a:t>Put a space before : in the following scenarios:</a:t>
            </a:r>
          </a:p>
          <a:p>
            <a:r>
              <a:rPr lang="en-US" sz="5000"/>
              <a:t>  </a:t>
            </a:r>
          </a:p>
          <a:p>
            <a:r>
              <a:rPr lang="en-US" sz="3700">
                <a:solidFill>
                  <a:srgbClr val="252525"/>
                </a:solidFill>
              </a:rPr>
              <a:t>When it's used to separate a type and a supertype.</a:t>
            </a:r>
          </a:p>
          <a:p>
            <a:r>
              <a:rPr lang="en-US" sz="5000"/>
              <a:t>  </a:t>
            </a:r>
          </a:p>
          <a:p>
            <a:r>
              <a:rPr lang="en-US" sz="3700">
                <a:solidFill>
                  <a:srgbClr val="252525"/>
                </a:solidFill>
              </a:rPr>
              <a:t>When delegating to a superclass constructor or a different constructor of the same class.</a:t>
            </a:r>
          </a:p>
          <a:p>
            <a:r>
              <a:rPr lang="en-US" sz="5000"/>
              <a:t>  </a:t>
            </a:r>
          </a:p>
          <a:p>
            <a:r>
              <a:rPr lang="en-US" sz="3700">
                <a:solidFill>
                  <a:srgbClr val="252525"/>
                </a:solidFill>
              </a:rPr>
              <a:t>After the object keyword.</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38" id="38"/>
          <p:cNvPicPr>
            <a:picLocks noChangeAspect="true"/>
          </p:cNvPicPr>
          <p:nvPr/>
        </p:nvPicPr>
        <p:blipFill>
          <a:blip r:embed="rId38"/>
          <a:stretch>
            <a:fillRect/>
          </a:stretch>
        </p:blipFill>
        <p:spPr>
          <a:xfrm>
            <a:off x="0" y="127000"/>
            <a:ext cx="23749000" cy="16548100"/>
          </a:xfrm>
          <a:prstGeom prst="rect">
            <a:avLst/>
          </a:prstGeom>
        </p:spPr>
      </p:pic>
      <p:sp>
        <p:nvSpPr>
          <p:cNvPr name="TextBox 38" id="3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Don't put a space before : when it separates a declaration and its type.</a:t>
            </a:r>
          </a:p>
          <a:p>
            <a:r>
              <a:rPr lang="en-US" sz="5000"/>
              <a:t>  </a:t>
            </a:r>
          </a:p>
          <a:p>
            <a:r>
              <a:rPr lang="en-US" sz="3700">
                <a:solidFill>
                  <a:srgbClr val="252525"/>
                </a:solidFill>
              </a:rPr>
              <a:t>Always put a space after :.</a:t>
            </a:r>
          </a:p>
          <a:p>
            <a:r>
              <a:rPr lang="en-US" sz="5000"/>
              <a:t>  </a:t>
            </a:r>
          </a:p>
          <a:p>
            <a:r>
              <a:rPr lang="en-US" sz="3700">
                <a:solidFill>
                  <a:srgbClr val="252525"/>
                </a:solidFill>
              </a:rPr>
              <a:t>abstract class Foo&lt;out T : Any&gt; : IFoo {</a:t>
            </a:r>
          </a:p>
          <a:p>
            <a:r>
              <a:rPr lang="en-US" sz="3700">
                <a:solidFill>
                  <a:srgbClr val="252525"/>
                </a:solidFill>
              </a:rPr>
              <a:t>    abstract fun foo(a: Int): T</a:t>
            </a:r>
          </a:p>
          <a:p>
            <a:r>
              <a:rPr lang="en-US" sz="3700">
                <a:solidFill>
                  <a:srgbClr val="252525"/>
                </a:solidFill>
              </a:rPr>
              <a:t>}</a:t>
            </a:r>
          </a:p>
          <a:p>
            <a:r>
              <a:rPr lang="en-US" sz="5000"/>
              <a:t>  </a:t>
            </a:r>
          </a:p>
          <a:p>
            <a:r>
              <a:rPr lang="en-US" sz="3700">
                <a:solidFill>
                  <a:srgbClr val="252525"/>
                </a:solidFill>
              </a:rPr>
              <a:t>class FooImpl : Foo() {</a:t>
            </a:r>
          </a:p>
          <a:p>
            <a:r>
              <a:rPr lang="en-US" sz="3700">
                <a:solidFill>
                  <a:srgbClr val="252525"/>
                </a:solidFill>
              </a:rPr>
              <a:t>    constructor(x: String) : this(x) { /*...*/ }</a:t>
            </a:r>
          </a:p>
          <a:p>
            <a:r>
              <a:rPr lang="en-US" sz="5000"/>
              <a:t>  </a:t>
            </a:r>
          </a:p>
          <a:p>
            <a:r>
              <a:rPr lang="en-US" sz="3700">
                <a:solidFill>
                  <a:srgbClr val="252525"/>
                </a:solidFill>
              </a:rPr>
              <a:t>    val x = object : IFoo { /*...*/ }</a:t>
            </a:r>
          </a:p>
          <a:p>
            <a:r>
              <a:rPr lang="en-US" sz="3700">
                <a:solidFill>
                  <a:srgbClr val="252525"/>
                </a:solidFill>
              </a:rPr>
              <a:t>}</a:t>
            </a:r>
          </a:p>
          <a:p>
            <a:r>
              <a:rPr lang="en-US" sz="3700">
                <a:solidFill>
                  <a:srgbClr val="252525"/>
                </a:solidFill>
              </a:rPr>
              <a:t>Class headers﻿</a:t>
            </a:r>
          </a:p>
          <a:p>
            <a:r>
              <a:rPr lang="en-US" sz="3700">
                <a:solidFill>
                  <a:srgbClr val="252525"/>
                </a:solidFill>
              </a:rPr>
              <a:t>Classes with a few primary constructor parameters can be written in a single line:</a:t>
            </a:r>
          </a:p>
          <a:p>
            <a:r>
              <a:rPr lang="en-US" sz="5000"/>
              <a:t>  </a:t>
            </a:r>
          </a:p>
          <a:p>
            <a:r>
              <a:rPr lang="en-US" sz="3700">
                <a:solidFill>
                  <a:srgbClr val="252525"/>
                </a:solidFill>
              </a:rPr>
              <a:t>class Person(id: Int, name: String)</a:t>
            </a:r>
          </a:p>
          <a:p>
            <a:r>
              <a:rPr lang="en-US" sz="3700">
                <a:solidFill>
                  <a:srgbClr val="252525"/>
                </a:solidFill>
              </a:rPr>
              <a:t>Classes with longer headers should be formatted so that each primary </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40" id="40"/>
          <p:cNvPicPr>
            <a:picLocks noChangeAspect="true"/>
          </p:cNvPicPr>
          <p:nvPr/>
        </p:nvPicPr>
        <p:blipFill>
          <a:blip r:embed="rId40"/>
          <a:stretch>
            <a:fillRect/>
          </a:stretch>
        </p:blipFill>
        <p:spPr>
          <a:xfrm>
            <a:off x="0" y="127000"/>
            <a:ext cx="23749000" cy="16548100"/>
          </a:xfrm>
          <a:prstGeom prst="rect">
            <a:avLst/>
          </a:prstGeom>
        </p:spPr>
      </p:pic>
      <p:sp>
        <p:nvSpPr>
          <p:cNvPr name="TextBox 40" id="4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constructor parameter is in a separate line with indentation. Also, the closing parenthesis should be on a new line. If you use inheritance, the superclass constructor call, or the list of implemented interfaces should be located on the same line as the parenthesis:</a:t>
            </a:r>
          </a:p>
          <a:p>
            <a:r>
              <a:rPr lang="en-US" sz="5000"/>
              <a:t>  </a:t>
            </a:r>
          </a:p>
          <a:p>
            <a:r>
              <a:rPr lang="en-US" sz="3700">
                <a:solidFill>
                  <a:srgbClr val="252525"/>
                </a:solidFill>
              </a:rPr>
              <a:t>class Person(</a:t>
            </a:r>
          </a:p>
          <a:p>
            <a:r>
              <a:rPr lang="en-US" sz="3700">
                <a:solidFill>
                  <a:srgbClr val="252525"/>
                </a:solidFill>
              </a:rPr>
              <a:t>    id: Int,</a:t>
            </a:r>
          </a:p>
          <a:p>
            <a:r>
              <a:rPr lang="en-US" sz="3700">
                <a:solidFill>
                  <a:srgbClr val="252525"/>
                </a:solidFill>
              </a:rPr>
              <a:t>    name: String,</a:t>
            </a:r>
          </a:p>
          <a:p>
            <a:r>
              <a:rPr lang="en-US" sz="3700">
                <a:solidFill>
                  <a:srgbClr val="252525"/>
                </a:solidFill>
              </a:rPr>
              <a:t>    surname: String</a:t>
            </a:r>
          </a:p>
          <a:p>
            <a:r>
              <a:rPr lang="en-US" sz="3700">
                <a:solidFill>
                  <a:srgbClr val="252525"/>
                </a:solidFill>
              </a:rPr>
              <a:t>) : Human(id, name) { /*...*/ }</a:t>
            </a:r>
          </a:p>
          <a:p>
            <a:r>
              <a:rPr lang="en-US" sz="3700">
                <a:solidFill>
                  <a:srgbClr val="252525"/>
                </a:solidFill>
              </a:rPr>
              <a:t>For multiple interfaces, the superclass constructor call should be located first and then each interface should be located in a different line:</a:t>
            </a:r>
          </a:p>
          <a:p>
            <a:r>
              <a:rPr lang="en-US" sz="5000"/>
              <a:t>  </a:t>
            </a:r>
          </a:p>
          <a:p>
            <a:r>
              <a:rPr lang="en-US" sz="3700">
                <a:solidFill>
                  <a:srgbClr val="252525"/>
                </a:solidFill>
              </a:rPr>
              <a:t>class Person(</a:t>
            </a:r>
          </a:p>
          <a:p>
            <a:r>
              <a:rPr lang="en-US" sz="3700">
                <a:solidFill>
                  <a:srgbClr val="252525"/>
                </a:solidFill>
              </a:rPr>
              <a:t>    id: Int,</a:t>
            </a:r>
          </a:p>
          <a:p>
            <a:r>
              <a:rPr lang="en-US" sz="3700">
                <a:solidFill>
                  <a:srgbClr val="252525"/>
                </a:solidFill>
              </a:rPr>
              <a:t>    name: String,</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42" id="42"/>
          <p:cNvPicPr>
            <a:picLocks noChangeAspect="true"/>
          </p:cNvPicPr>
          <p:nvPr/>
        </p:nvPicPr>
        <p:blipFill>
          <a:blip r:embed="rId42"/>
          <a:stretch>
            <a:fillRect/>
          </a:stretch>
        </p:blipFill>
        <p:spPr>
          <a:xfrm>
            <a:off x="0" y="127000"/>
            <a:ext cx="23749000" cy="16548100"/>
          </a:xfrm>
          <a:prstGeom prst="rect">
            <a:avLst/>
          </a:prstGeom>
        </p:spPr>
      </p:pic>
      <p:sp>
        <p:nvSpPr>
          <p:cNvPr name="TextBox 42" id="4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surname: String</a:t>
            </a:r>
          </a:p>
          <a:p>
            <a:r>
              <a:rPr lang="en-US" sz="3700">
                <a:solidFill>
                  <a:srgbClr val="252525"/>
                </a:solidFill>
              </a:rPr>
              <a:t>) : Human(id, name),</a:t>
            </a:r>
          </a:p>
          <a:p>
            <a:r>
              <a:rPr lang="en-US" sz="3700">
                <a:solidFill>
                  <a:srgbClr val="252525"/>
                </a:solidFill>
              </a:rPr>
              <a:t>    KotlinMaker { /*...*/ }</a:t>
            </a:r>
          </a:p>
          <a:p>
            <a:r>
              <a:rPr lang="en-US" sz="3700">
                <a:solidFill>
                  <a:srgbClr val="252525"/>
                </a:solidFill>
              </a:rPr>
              <a:t>For classes with a long supertype list, put a line break after the colon and align all supertype names horizontally:</a:t>
            </a:r>
          </a:p>
          <a:p>
            <a:r>
              <a:rPr lang="en-US" sz="5000"/>
              <a:t>  </a:t>
            </a:r>
          </a:p>
          <a:p>
            <a:r>
              <a:rPr lang="en-US" sz="3700">
                <a:solidFill>
                  <a:srgbClr val="252525"/>
                </a:solidFill>
              </a:rPr>
              <a:t>class MyFavouriteVeryLongClassHolder :</a:t>
            </a:r>
          </a:p>
          <a:p>
            <a:r>
              <a:rPr lang="en-US" sz="3700">
                <a:solidFill>
                  <a:srgbClr val="252525"/>
                </a:solidFill>
              </a:rPr>
              <a:t>    MyLongHolder&lt;MyFavouriteVeryLongClass&gt;(),</a:t>
            </a:r>
          </a:p>
          <a:p>
            <a:r>
              <a:rPr lang="en-US" sz="3700">
                <a:solidFill>
                  <a:srgbClr val="252525"/>
                </a:solidFill>
              </a:rPr>
              <a:t>    SomeOtherInterface,</a:t>
            </a:r>
          </a:p>
          <a:p>
            <a:r>
              <a:rPr lang="en-US" sz="3700">
                <a:solidFill>
                  <a:srgbClr val="252525"/>
                </a:solidFill>
              </a:rPr>
              <a:t>    AndAnotherOne {</a:t>
            </a:r>
          </a:p>
          <a:p>
            <a:r>
              <a:rPr lang="en-US" sz="5000"/>
              <a:t>  </a:t>
            </a:r>
          </a:p>
          <a:p>
            <a:r>
              <a:rPr lang="en-US" sz="3700">
                <a:solidFill>
                  <a:srgbClr val="252525"/>
                </a:solidFill>
              </a:rPr>
              <a:t>    fun foo() { /*...*/ }</a:t>
            </a:r>
          </a:p>
          <a:p>
            <a:r>
              <a:rPr lang="en-US" sz="3700">
                <a:solidFill>
                  <a:srgbClr val="252525"/>
                </a:solidFill>
              </a:rPr>
              <a:t>}</a:t>
            </a:r>
          </a:p>
          <a:p>
            <a:r>
              <a:rPr lang="en-US" sz="3700">
                <a:solidFill>
                  <a:srgbClr val="252525"/>
                </a:solidFill>
              </a:rPr>
              <a:t>To clearly separate the class header and body when the class header is long, either put a blank line following the class header (as in the example above), or put the opening curly brace on a separate line:</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44" id="44"/>
          <p:cNvPicPr>
            <a:picLocks noChangeAspect="true"/>
          </p:cNvPicPr>
          <p:nvPr/>
        </p:nvPicPr>
        <p:blipFill>
          <a:blip r:embed="rId44"/>
          <a:stretch>
            <a:fillRect/>
          </a:stretch>
        </p:blipFill>
        <p:spPr>
          <a:xfrm>
            <a:off x="0" y="127000"/>
            <a:ext cx="23749000" cy="16548100"/>
          </a:xfrm>
          <a:prstGeom prst="rect">
            <a:avLst/>
          </a:prstGeom>
        </p:spPr>
      </p:pic>
      <p:sp>
        <p:nvSpPr>
          <p:cNvPr name="TextBox 44" id="45"/>
          <p:cNvSpPr txBox="true"/>
          <p:nvPr/>
        </p:nvSpPr>
        <p:spPr>
          <a:xfrm>
            <a:off x="5930900" y="1320800"/>
            <a:ext cx="11887200" cy="15735300"/>
          </a:xfrm>
          <a:prstGeom prst="rect">
            <a:avLst/>
          </a:prstGeom>
        </p:spPr>
        <p:txBody>
          <a:bodyPr anchor="t" rtlCol="false"/>
          <a:lstStyle/>
          <a:p>
            <a:pPr algn="l"/>
            <a:r>
              <a:t/>
            </a:r>
            <a:endParaRPr lang="en-US" sz="1100"/>
          </a:p>
          <a:p>
            <a:r>
              <a:rPr lang="en-US" sz="3700">
                <a:solidFill>
                  <a:srgbClr val="252525"/>
                </a:solidFill>
              </a:rPr>
              <a:t>class MyFavouriteVeryLongClassHolder :</a:t>
            </a:r>
          </a:p>
          <a:p>
            <a:r>
              <a:rPr lang="en-US" sz="3700">
                <a:solidFill>
                  <a:srgbClr val="252525"/>
                </a:solidFill>
              </a:rPr>
              <a:t>    MyLongHolder&lt;MyFavouriteVeryLongClass&gt;(),</a:t>
            </a:r>
          </a:p>
          <a:p>
            <a:r>
              <a:rPr lang="en-US" sz="3700">
                <a:solidFill>
                  <a:srgbClr val="252525"/>
                </a:solidFill>
              </a:rPr>
              <a:t>    SomeOtherInterface,</a:t>
            </a:r>
          </a:p>
          <a:p>
            <a:r>
              <a:rPr lang="en-US" sz="3700">
                <a:solidFill>
                  <a:srgbClr val="252525"/>
                </a:solidFill>
              </a:rPr>
              <a:t>    AndAnotherOne</a:t>
            </a:r>
          </a:p>
          <a:p>
            <a:r>
              <a:rPr lang="en-US" sz="3700">
                <a:solidFill>
                  <a:srgbClr val="252525"/>
                </a:solidFill>
              </a:rPr>
              <a:t>{</a:t>
            </a:r>
          </a:p>
          <a:p>
            <a:r>
              <a:rPr lang="en-US" sz="3700">
                <a:solidFill>
                  <a:srgbClr val="252525"/>
                </a:solidFill>
              </a:rPr>
              <a:t>    fun foo() { /*...*/ }</a:t>
            </a:r>
          </a:p>
          <a:p>
            <a:r>
              <a:rPr lang="en-US" sz="3700">
                <a:solidFill>
                  <a:srgbClr val="252525"/>
                </a:solidFill>
              </a:rPr>
              <a:t>}</a:t>
            </a:r>
          </a:p>
          <a:p>
            <a:r>
              <a:rPr lang="en-US" sz="3700">
                <a:solidFill>
                  <a:srgbClr val="252525"/>
                </a:solidFill>
              </a:rPr>
              <a:t>Use regular indent (four spaces) for constructor parameters. This ensures that properties declared in the primary constructor have the same indentation as properties declared in the body of a class.</a:t>
            </a:r>
          </a:p>
          <a:p>
            <a:r>
              <a:rPr lang="en-US" sz="5000"/>
              <a:t>  </a:t>
            </a:r>
          </a:p>
          <a:p>
            <a:r>
              <a:rPr lang="en-US" sz="3700">
                <a:solidFill>
                  <a:srgbClr val="252525"/>
                </a:solidFill>
              </a:rPr>
              <a:t>Modifiers order﻿</a:t>
            </a:r>
          </a:p>
          <a:p>
            <a:r>
              <a:rPr lang="en-US" sz="3700">
                <a:solidFill>
                  <a:srgbClr val="252525"/>
                </a:solidFill>
              </a:rPr>
              <a:t>If a declaration has multiple modifiers, always put them in the following order:</a:t>
            </a:r>
          </a:p>
          <a:p>
            <a:r>
              <a:rPr lang="en-US" sz="5000"/>
              <a:t>  </a:t>
            </a:r>
          </a:p>
          <a:p>
            <a:r>
              <a:rPr lang="en-US" sz="3700">
                <a:solidFill>
                  <a:srgbClr val="252525"/>
                </a:solidFill>
              </a:rPr>
              <a:t>public / protected / private / internal</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46" id="46"/>
          <p:cNvPicPr>
            <a:picLocks noChangeAspect="true"/>
          </p:cNvPicPr>
          <p:nvPr/>
        </p:nvPicPr>
        <p:blipFill>
          <a:blip r:embed="rId46"/>
          <a:stretch>
            <a:fillRect/>
          </a:stretch>
        </p:blipFill>
        <p:spPr>
          <a:xfrm>
            <a:off x="0" y="127000"/>
            <a:ext cx="23749000" cy="16548100"/>
          </a:xfrm>
          <a:prstGeom prst="rect">
            <a:avLst/>
          </a:prstGeom>
        </p:spPr>
      </p:pic>
      <p:sp>
        <p:nvSpPr>
          <p:cNvPr name="TextBox 46" id="4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expect / actual</a:t>
            </a:r>
          </a:p>
          <a:p>
            <a:r>
              <a:rPr lang="en-US" sz="3700">
                <a:solidFill>
                  <a:srgbClr val="252525"/>
                </a:solidFill>
              </a:rPr>
              <a:t>final / open / abstract / sealed / const</a:t>
            </a:r>
          </a:p>
          <a:p>
            <a:r>
              <a:rPr lang="en-US" sz="3700">
                <a:solidFill>
                  <a:srgbClr val="252525"/>
                </a:solidFill>
              </a:rPr>
              <a:t>external</a:t>
            </a:r>
          </a:p>
          <a:p>
            <a:r>
              <a:rPr lang="en-US" sz="3700">
                <a:solidFill>
                  <a:srgbClr val="252525"/>
                </a:solidFill>
              </a:rPr>
              <a:t>override</a:t>
            </a:r>
          </a:p>
          <a:p>
            <a:r>
              <a:rPr lang="en-US" sz="3700">
                <a:solidFill>
                  <a:srgbClr val="252525"/>
                </a:solidFill>
              </a:rPr>
              <a:t>lateinit</a:t>
            </a:r>
          </a:p>
          <a:p>
            <a:r>
              <a:rPr lang="en-US" sz="3700">
                <a:solidFill>
                  <a:srgbClr val="252525"/>
                </a:solidFill>
              </a:rPr>
              <a:t>tailrec</a:t>
            </a:r>
          </a:p>
          <a:p>
            <a:r>
              <a:rPr lang="en-US" sz="3700">
                <a:solidFill>
                  <a:srgbClr val="252525"/>
                </a:solidFill>
              </a:rPr>
              <a:t>vararg</a:t>
            </a:r>
          </a:p>
          <a:p>
            <a:r>
              <a:rPr lang="en-US" sz="3700">
                <a:solidFill>
                  <a:srgbClr val="252525"/>
                </a:solidFill>
              </a:rPr>
              <a:t>suspend</a:t>
            </a:r>
          </a:p>
          <a:p>
            <a:r>
              <a:rPr lang="en-US" sz="3700">
                <a:solidFill>
                  <a:srgbClr val="252525"/>
                </a:solidFill>
              </a:rPr>
              <a:t>inner</a:t>
            </a:r>
          </a:p>
          <a:p>
            <a:r>
              <a:rPr lang="en-US" sz="3700">
                <a:solidFill>
                  <a:srgbClr val="252525"/>
                </a:solidFill>
              </a:rPr>
              <a:t>enum / annotation / fun // as a modifier in `fun interface`</a:t>
            </a:r>
          </a:p>
          <a:p>
            <a:r>
              <a:rPr lang="en-US" sz="3700">
                <a:solidFill>
                  <a:srgbClr val="252525"/>
                </a:solidFill>
              </a:rPr>
              <a:t>companion</a:t>
            </a:r>
          </a:p>
          <a:p>
            <a:r>
              <a:rPr lang="en-US" sz="3700">
                <a:solidFill>
                  <a:srgbClr val="252525"/>
                </a:solidFill>
              </a:rPr>
              <a:t>inline / value</a:t>
            </a:r>
          </a:p>
          <a:p>
            <a:r>
              <a:rPr lang="en-US" sz="3700">
                <a:solidFill>
                  <a:srgbClr val="252525"/>
                </a:solidFill>
              </a:rPr>
              <a:t>infix</a:t>
            </a:r>
          </a:p>
          <a:p>
            <a:r>
              <a:rPr lang="en-US" sz="3700">
                <a:solidFill>
                  <a:srgbClr val="252525"/>
                </a:solidFill>
              </a:rPr>
              <a:t>operator</a:t>
            </a:r>
          </a:p>
          <a:p>
            <a:r>
              <a:rPr lang="en-US" sz="3700">
                <a:solidFill>
                  <a:srgbClr val="252525"/>
                </a:solidFill>
              </a:rPr>
              <a:t>data</a:t>
            </a:r>
          </a:p>
          <a:p>
            <a:r>
              <a:rPr lang="en-US" sz="3700">
                <a:solidFill>
                  <a:srgbClr val="252525"/>
                </a:solidFill>
              </a:rPr>
              <a:t>Place all annotations before modifiers:</a:t>
            </a:r>
          </a:p>
          <a:p>
            <a:r>
              <a:rPr lang="en-US" sz="5000"/>
              <a:t>  </a:t>
            </a:r>
          </a:p>
          <a:p>
            <a:r>
              <a:rPr lang="en-US" sz="3700">
                <a:solidFill>
                  <a:srgbClr val="252525"/>
                </a:solidFill>
              </a:rPr>
              <a:t>@Named("Foo")</a:t>
            </a:r>
          </a:p>
          <a:p>
            <a:r>
              <a:rPr lang="en-US" sz="3700">
                <a:solidFill>
                  <a:srgbClr val="252525"/>
                </a:solidFill>
              </a:rPr>
              <a:t>private val foo: Foo</a:t>
            </a:r>
          </a:p>
          <a:p>
            <a:r>
              <a:rPr lang="en-US" sz="3700">
                <a:solidFill>
                  <a:srgbClr val="252525"/>
                </a:solidFill>
              </a:rPr>
              <a:t>Unless you're working on a library, omit </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48" id="48"/>
          <p:cNvPicPr>
            <a:picLocks noChangeAspect="true"/>
          </p:cNvPicPr>
          <p:nvPr/>
        </p:nvPicPr>
        <p:blipFill>
          <a:blip r:embed="rId48"/>
          <a:stretch>
            <a:fillRect/>
          </a:stretch>
        </p:blipFill>
        <p:spPr>
          <a:xfrm>
            <a:off x="0" y="127000"/>
            <a:ext cx="23749000" cy="16548100"/>
          </a:xfrm>
          <a:prstGeom prst="rect">
            <a:avLst/>
          </a:prstGeom>
        </p:spPr>
      </p:pic>
      <p:sp>
        <p:nvSpPr>
          <p:cNvPr name="TextBox 48" id="4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redundant modifiers (for example, public).</a:t>
            </a:r>
          </a:p>
          <a:p>
            <a:r>
              <a:rPr lang="en-US" sz="5000"/>
              <a:t>  </a:t>
            </a:r>
          </a:p>
          <a:p>
            <a:r>
              <a:rPr lang="en-US" sz="3700">
                <a:solidFill>
                  <a:srgbClr val="252525"/>
                </a:solidFill>
              </a:rPr>
              <a:t>Annotations﻿</a:t>
            </a:r>
          </a:p>
          <a:p>
            <a:r>
              <a:rPr lang="en-US" sz="3700">
                <a:solidFill>
                  <a:srgbClr val="252525"/>
                </a:solidFill>
              </a:rPr>
              <a:t>Place annotations on separate lines before the declaration to which they are attached, and with the same indentation:</a:t>
            </a:r>
          </a:p>
          <a:p>
            <a:r>
              <a:rPr lang="en-US" sz="5000"/>
              <a:t>  </a:t>
            </a:r>
          </a:p>
          <a:p>
            <a:r>
              <a:rPr lang="en-US" sz="3700">
                <a:solidFill>
                  <a:srgbClr val="252525"/>
                </a:solidFill>
              </a:rPr>
              <a:t>@Target(AnnotationTarget.PROPERTY)</a:t>
            </a:r>
          </a:p>
          <a:p>
            <a:r>
              <a:rPr lang="en-US" sz="3700">
                <a:solidFill>
                  <a:srgbClr val="252525"/>
                </a:solidFill>
              </a:rPr>
              <a:t>annotation class JsonExclude</a:t>
            </a:r>
          </a:p>
          <a:p>
            <a:r>
              <a:rPr lang="en-US" sz="3700">
                <a:solidFill>
                  <a:srgbClr val="252525"/>
                </a:solidFill>
              </a:rPr>
              <a:t>Annotations without arguments may be placed on the same line:</a:t>
            </a:r>
          </a:p>
          <a:p>
            <a:r>
              <a:rPr lang="en-US" sz="5000"/>
              <a:t>  </a:t>
            </a:r>
          </a:p>
          <a:p>
            <a:r>
              <a:rPr lang="en-US" sz="3700">
                <a:solidFill>
                  <a:srgbClr val="252525"/>
                </a:solidFill>
              </a:rPr>
              <a:t>@JsonExclude @JvmField</a:t>
            </a:r>
          </a:p>
          <a:p>
            <a:r>
              <a:rPr lang="en-US" sz="3700">
                <a:solidFill>
                  <a:srgbClr val="252525"/>
                </a:solidFill>
              </a:rPr>
              <a:t>var x: String</a:t>
            </a:r>
          </a:p>
          <a:p>
            <a:r>
              <a:rPr lang="en-US" sz="3700">
                <a:solidFill>
                  <a:srgbClr val="252525"/>
                </a:solidFill>
              </a:rPr>
              <a:t>A single annotation without arguments may be placed on the same line as the corresponding declaration:</a:t>
            </a:r>
          </a:p>
          <a:p>
            <a:r>
              <a:rPr lang="en-US" sz="5000"/>
              <a:t>  </a:t>
            </a:r>
          </a:p>
          <a:p>
            <a:r>
              <a:rPr lang="en-US" sz="3700">
                <a:solidFill>
                  <a:srgbClr val="252525"/>
                </a:solidFill>
              </a:rPr>
              <a:t>@Test fun foo() { /*...*/ }</a:t>
            </a:r>
          </a:p>
          <a:p>
            <a:r>
              <a:rPr lang="en-US" sz="3700">
                <a:solidFill>
                  <a:srgbClr val="252525"/>
                </a:solidFill>
              </a:rPr>
              <a:t>File annotations﻿</a:t>
            </a:r>
          </a:p>
          <a:p>
            <a:r>
              <a:rPr lang="en-US" sz="3700">
                <a:solidFill>
                  <a:srgbClr val="252525"/>
                </a:solidFill>
              </a:rPr>
              <a:t>File annotations are placed after the file </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50" id="50"/>
          <p:cNvPicPr>
            <a:picLocks noChangeAspect="true"/>
          </p:cNvPicPr>
          <p:nvPr/>
        </p:nvPicPr>
        <p:blipFill>
          <a:blip r:embed="rId50"/>
          <a:stretch>
            <a:fillRect/>
          </a:stretch>
        </p:blipFill>
        <p:spPr>
          <a:xfrm>
            <a:off x="0" y="127000"/>
            <a:ext cx="23749000" cy="16548100"/>
          </a:xfrm>
          <a:prstGeom prst="rect">
            <a:avLst/>
          </a:prstGeom>
        </p:spPr>
      </p:pic>
      <p:sp>
        <p:nvSpPr>
          <p:cNvPr name="TextBox 50" id="5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comment (if any), before the package statement, and are separated from package with a blank line (to emphasize the fact that they target the file and not the package).</a:t>
            </a:r>
          </a:p>
          <a:p>
            <a:r>
              <a:rPr lang="en-US" sz="5000"/>
              <a:t>  </a:t>
            </a:r>
          </a:p>
          <a:p>
            <a:r>
              <a:rPr lang="en-US" sz="3700">
                <a:solidFill>
                  <a:srgbClr val="252525"/>
                </a:solidFill>
              </a:rPr>
              <a:t>/** License, copyright and whatever */</a:t>
            </a:r>
          </a:p>
          <a:p>
            <a:r>
              <a:rPr lang="en-US" sz="3700">
                <a:solidFill>
                  <a:srgbClr val="252525"/>
                </a:solidFill>
              </a:rPr>
              <a:t>@file:JvmName("FooBar")</a:t>
            </a:r>
          </a:p>
          <a:p>
            <a:r>
              <a:rPr lang="en-US" sz="5000"/>
              <a:t>  </a:t>
            </a:r>
          </a:p>
          <a:p>
            <a:r>
              <a:rPr lang="en-US" sz="3700">
                <a:solidFill>
                  <a:srgbClr val="252525"/>
                </a:solidFill>
              </a:rPr>
              <a:t>package foo.bar</a:t>
            </a:r>
          </a:p>
          <a:p>
            <a:r>
              <a:rPr lang="en-US" sz="3700">
                <a:solidFill>
                  <a:srgbClr val="252525"/>
                </a:solidFill>
              </a:rPr>
              <a:t>Functions﻿</a:t>
            </a:r>
          </a:p>
          <a:p>
            <a:r>
              <a:rPr lang="en-US" sz="3700">
                <a:solidFill>
                  <a:srgbClr val="252525"/>
                </a:solidFill>
              </a:rPr>
              <a:t>If the function signature doesn't fit on a single line, use the following syntax:</a:t>
            </a:r>
          </a:p>
          <a:p>
            <a:r>
              <a:rPr lang="en-US" sz="5000"/>
              <a:t>  </a:t>
            </a:r>
          </a:p>
          <a:p>
            <a:r>
              <a:rPr lang="en-US" sz="3700">
                <a:solidFill>
                  <a:srgbClr val="252525"/>
                </a:solidFill>
              </a:rPr>
              <a:t>fun longMethodName(</a:t>
            </a:r>
          </a:p>
          <a:p>
            <a:r>
              <a:rPr lang="en-US" sz="3700">
                <a:solidFill>
                  <a:srgbClr val="252525"/>
                </a:solidFill>
              </a:rPr>
              <a:t>    argument: ArgumentType = defaultValue,</a:t>
            </a:r>
          </a:p>
          <a:p>
            <a:r>
              <a:rPr lang="en-US" sz="3700">
                <a:solidFill>
                  <a:srgbClr val="252525"/>
                </a:solidFill>
              </a:rPr>
              <a:t>    argument2: AnotherArgumentType,</a:t>
            </a:r>
          </a:p>
          <a:p>
            <a:r>
              <a:rPr lang="en-US" sz="3700">
                <a:solidFill>
                  <a:srgbClr val="252525"/>
                </a:solidFill>
              </a:rPr>
              <a:t>): ReturnType {</a:t>
            </a:r>
          </a:p>
          <a:p>
            <a:r>
              <a:rPr lang="en-US" sz="3700">
                <a:solidFill>
                  <a:srgbClr val="252525"/>
                </a:solidFill>
              </a:rPr>
              <a:t>    // body</a:t>
            </a:r>
          </a:p>
          <a:p>
            <a:r>
              <a:rPr lang="en-US" sz="3700">
                <a:solidFill>
                  <a:srgbClr val="252525"/>
                </a:solidFill>
              </a:rPr>
              <a:t>}</a:t>
            </a:r>
          </a:p>
          <a:p>
            <a:r>
              <a:rPr lang="en-US" sz="3700">
                <a:solidFill>
                  <a:srgbClr val="252525"/>
                </a:solidFill>
              </a:rPr>
              <a:t>Use regular indent (four spaces) for </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52" id="52"/>
          <p:cNvPicPr>
            <a:picLocks noChangeAspect="true"/>
          </p:cNvPicPr>
          <p:nvPr/>
        </p:nvPicPr>
        <p:blipFill>
          <a:blip r:embed="rId52"/>
          <a:stretch>
            <a:fillRect/>
          </a:stretch>
        </p:blipFill>
        <p:spPr>
          <a:xfrm>
            <a:off x="0" y="127000"/>
            <a:ext cx="23749000" cy="16548100"/>
          </a:xfrm>
          <a:prstGeom prst="rect">
            <a:avLst/>
          </a:prstGeom>
        </p:spPr>
      </p:pic>
      <p:sp>
        <p:nvSpPr>
          <p:cNvPr name="TextBox 52" id="5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function parameters. It helps ensure consistency with constructor parameters.</a:t>
            </a:r>
          </a:p>
          <a:p>
            <a:r>
              <a:rPr lang="en-US" sz="5000"/>
              <a:t>  </a:t>
            </a:r>
          </a:p>
          <a:p>
            <a:r>
              <a:rPr lang="en-US" sz="3700">
                <a:solidFill>
                  <a:srgbClr val="252525"/>
                </a:solidFill>
              </a:rPr>
              <a:t>Prefer using an expression body for functions with the body consisting of a single expression.</a:t>
            </a:r>
          </a:p>
          <a:p>
            <a:r>
              <a:rPr lang="en-US" sz="5000"/>
              <a:t>  </a:t>
            </a:r>
          </a:p>
          <a:p>
            <a:r>
              <a:rPr lang="en-US" sz="3700">
                <a:solidFill>
                  <a:srgbClr val="252525"/>
                </a:solidFill>
              </a:rPr>
              <a:t>fun foo(): Int {     // bad</a:t>
            </a:r>
          </a:p>
          <a:p>
            <a:r>
              <a:rPr lang="en-US" sz="3700">
                <a:solidFill>
                  <a:srgbClr val="252525"/>
                </a:solidFill>
              </a:rPr>
              <a:t>    return 1</a:t>
            </a:r>
          </a:p>
          <a:p>
            <a:r>
              <a:rPr lang="en-US" sz="3700">
                <a:solidFill>
                  <a:srgbClr val="252525"/>
                </a:solidFill>
              </a:rPr>
              <a:t>}</a:t>
            </a:r>
          </a:p>
          <a:p>
            <a:r>
              <a:rPr lang="en-US" sz="5000"/>
              <a:t>  </a:t>
            </a:r>
          </a:p>
          <a:p>
            <a:r>
              <a:rPr lang="en-US" sz="3700">
                <a:solidFill>
                  <a:srgbClr val="252525"/>
                </a:solidFill>
              </a:rPr>
              <a:t>fun foo() = 1        // good</a:t>
            </a:r>
          </a:p>
          <a:p>
            <a:r>
              <a:rPr lang="en-US" sz="3700">
                <a:solidFill>
                  <a:srgbClr val="252525"/>
                </a:solidFill>
              </a:rPr>
              <a:t>Expression bodies﻿</a:t>
            </a:r>
          </a:p>
          <a:p>
            <a:r>
              <a:rPr lang="en-US" sz="3700">
                <a:solidFill>
                  <a:srgbClr val="252525"/>
                </a:solidFill>
              </a:rPr>
              <a:t>If the function has an expression body whose first line doesn't fit on the same line as the declaration, put the = sign on the first line and indent the expression body by four spaces.</a:t>
            </a:r>
          </a:p>
          <a:p>
            <a:r>
              <a:rPr lang="en-US" sz="5000"/>
              <a:t>  </a:t>
            </a:r>
          </a:p>
          <a:p>
            <a:r>
              <a:rPr lang="en-US" sz="3700">
                <a:solidFill>
                  <a:srgbClr val="252525"/>
                </a:solidFill>
              </a:rPr>
              <a:t>fun f(x: String, y: String, z: String) =</a:t>
            </a:r>
          </a:p>
          <a:p>
            <a:r>
              <a:rPr lang="en-US" sz="3700">
                <a:solidFill>
                  <a:srgbClr val="252525"/>
                </a:solidFill>
              </a:rPr>
              <a:t>    </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54" id="54"/>
          <p:cNvPicPr>
            <a:picLocks noChangeAspect="true"/>
          </p:cNvPicPr>
          <p:nvPr/>
        </p:nvPicPr>
        <p:blipFill>
          <a:blip r:embed="rId54"/>
          <a:stretch>
            <a:fillRect/>
          </a:stretch>
        </p:blipFill>
        <p:spPr>
          <a:xfrm>
            <a:off x="0" y="127000"/>
            <a:ext cx="23749000" cy="16548100"/>
          </a:xfrm>
          <a:prstGeom prst="rect">
            <a:avLst/>
          </a:prstGeom>
        </p:spPr>
      </p:pic>
      <p:sp>
        <p:nvSpPr>
          <p:cNvPr name="TextBox 54" id="5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veryLongFunctionCallWithManyWords(andLongParametersToo(), x, y, z)</a:t>
            </a:r>
          </a:p>
          <a:p>
            <a:r>
              <a:rPr lang="en-US" sz="3700">
                <a:solidFill>
                  <a:srgbClr val="252525"/>
                </a:solidFill>
              </a:rPr>
              <a:t>Properties﻿</a:t>
            </a:r>
          </a:p>
          <a:p>
            <a:r>
              <a:rPr lang="en-US" sz="3700">
                <a:solidFill>
                  <a:srgbClr val="252525"/>
                </a:solidFill>
              </a:rPr>
              <a:t>For very simple read-only properties, consider one-line formatting:</a:t>
            </a:r>
          </a:p>
          <a:p>
            <a:r>
              <a:rPr lang="en-US" sz="5000"/>
              <a:t>  </a:t>
            </a:r>
          </a:p>
          <a:p>
            <a:r>
              <a:rPr lang="en-US" sz="3700">
                <a:solidFill>
                  <a:srgbClr val="252525"/>
                </a:solidFill>
              </a:rPr>
              <a:t>val isEmpty: Boolean get() = size == 0</a:t>
            </a:r>
          </a:p>
          <a:p>
            <a:r>
              <a:rPr lang="en-US" sz="3700">
                <a:solidFill>
                  <a:srgbClr val="252525"/>
                </a:solidFill>
              </a:rPr>
              <a:t>For more complex properties, always put get and set keywords on separate lines:</a:t>
            </a:r>
          </a:p>
          <a:p>
            <a:r>
              <a:rPr lang="en-US" sz="5000"/>
              <a:t>  </a:t>
            </a:r>
          </a:p>
          <a:p>
            <a:r>
              <a:rPr lang="en-US" sz="3700">
                <a:solidFill>
                  <a:srgbClr val="252525"/>
                </a:solidFill>
              </a:rPr>
              <a:t>val foo: String</a:t>
            </a:r>
          </a:p>
          <a:p>
            <a:r>
              <a:rPr lang="en-US" sz="3700">
                <a:solidFill>
                  <a:srgbClr val="252525"/>
                </a:solidFill>
              </a:rPr>
              <a:t>    get() { /*...*/ }</a:t>
            </a:r>
          </a:p>
          <a:p>
            <a:r>
              <a:rPr lang="en-US" sz="3700">
                <a:solidFill>
                  <a:srgbClr val="252525"/>
                </a:solidFill>
              </a:rPr>
              <a:t>For properties with an initializer, if the initializer is long, add a line break after the = sign and indent the initializer by four spaces:</a:t>
            </a:r>
          </a:p>
          <a:p>
            <a:r>
              <a:rPr lang="en-US" sz="5000"/>
              <a:t>  </a:t>
            </a:r>
          </a:p>
          <a:p>
            <a:r>
              <a:rPr lang="en-US" sz="3700">
                <a:solidFill>
                  <a:srgbClr val="252525"/>
                </a:solidFill>
              </a:rPr>
              <a:t>private val defaultCharset: Charset? =</a:t>
            </a:r>
          </a:p>
          <a:p>
            <a:r>
              <a:rPr lang="en-US" sz="3700">
                <a:solidFill>
                  <a:srgbClr val="252525"/>
                </a:solidFill>
              </a:rPr>
              <a:t>    EncodingRegistry.getInstance().getDefaultCharsetForPropertiesFiles(file)</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56" id="56"/>
          <p:cNvPicPr>
            <a:picLocks noChangeAspect="true"/>
          </p:cNvPicPr>
          <p:nvPr/>
        </p:nvPicPr>
        <p:blipFill>
          <a:blip r:embed="rId56"/>
          <a:stretch>
            <a:fillRect/>
          </a:stretch>
        </p:blipFill>
        <p:spPr>
          <a:xfrm>
            <a:off x="0" y="127000"/>
            <a:ext cx="23749000" cy="16548100"/>
          </a:xfrm>
          <a:prstGeom prst="rect">
            <a:avLst/>
          </a:prstGeom>
        </p:spPr>
      </p:pic>
      <p:sp>
        <p:nvSpPr>
          <p:cNvPr name="TextBox 56" id="5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Control flow statements﻿</a:t>
            </a:r>
          </a:p>
          <a:p>
            <a:r>
              <a:rPr lang="en-US" sz="3700">
                <a:solidFill>
                  <a:srgbClr val="252525"/>
                </a:solidFill>
              </a:rPr>
              <a:t>If the condition of an if or when statement is multiline, always use curly braces around the body of the statement. Indent each subsequent line of the condition by four spaces relative to the statement start. Put the closing parentheses of the condition together with the opening curly brace on a separate line:</a:t>
            </a:r>
          </a:p>
          <a:p>
            <a:r>
              <a:rPr lang="en-US" sz="5000"/>
              <a:t>  </a:t>
            </a:r>
          </a:p>
          <a:p>
            <a:r>
              <a:rPr lang="en-US" sz="3700">
                <a:solidFill>
                  <a:srgbClr val="252525"/>
                </a:solidFill>
              </a:rPr>
              <a:t>if (!component.isSyncing &amp;&amp;</a:t>
            </a:r>
          </a:p>
          <a:p>
            <a:r>
              <a:rPr lang="en-US" sz="3700">
                <a:solidFill>
                  <a:srgbClr val="252525"/>
                </a:solidFill>
              </a:rPr>
              <a:t>    !hasAnyKotlinRuntimeInScope(module)</a:t>
            </a:r>
          </a:p>
          <a:p>
            <a:r>
              <a:rPr lang="en-US" sz="3700">
                <a:solidFill>
                  <a:srgbClr val="252525"/>
                </a:solidFill>
              </a:rPr>
              <a:t>) {</a:t>
            </a:r>
          </a:p>
          <a:p>
            <a:r>
              <a:rPr lang="en-US" sz="3700">
                <a:solidFill>
                  <a:srgbClr val="252525"/>
                </a:solidFill>
              </a:rPr>
              <a:t>    return createKotlinNotConfiguredPanel(module)</a:t>
            </a:r>
          </a:p>
          <a:p>
            <a:r>
              <a:rPr lang="en-US" sz="3700">
                <a:solidFill>
                  <a:srgbClr val="252525"/>
                </a:solidFill>
              </a:rPr>
              <a:t>}</a:t>
            </a:r>
          </a:p>
          <a:p>
            <a:r>
              <a:rPr lang="en-US" sz="3700">
                <a:solidFill>
                  <a:srgbClr val="252525"/>
                </a:solidFill>
              </a:rPr>
              <a:t>This helps align the condition and statement bodies.</a:t>
            </a:r>
          </a:p>
          <a:p>
            <a:r>
              <a:rPr lang="en-US" sz="5000"/>
              <a:t>  </a:t>
            </a:r>
          </a:p>
          <a:p>
            <a:r>
              <a:rPr lang="en-US" sz="3700">
                <a:solidFill>
                  <a:srgbClr val="252525"/>
                </a:solidFill>
              </a:rPr>
              <a:t>Put the else, catch, finally keywords, as well as the while keyword of a do-while </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58" id="58"/>
          <p:cNvPicPr>
            <a:picLocks noChangeAspect="true"/>
          </p:cNvPicPr>
          <p:nvPr/>
        </p:nvPicPr>
        <p:blipFill>
          <a:blip r:embed="rId58"/>
          <a:stretch>
            <a:fillRect/>
          </a:stretch>
        </p:blipFill>
        <p:spPr>
          <a:xfrm>
            <a:off x="0" y="127000"/>
            <a:ext cx="23749000" cy="16548100"/>
          </a:xfrm>
          <a:prstGeom prst="rect">
            <a:avLst/>
          </a:prstGeom>
        </p:spPr>
      </p:pic>
      <p:sp>
        <p:nvSpPr>
          <p:cNvPr name="TextBox 58" id="5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loop, on the same line as the preceding curly brace:</a:t>
            </a:r>
          </a:p>
          <a:p>
            <a:r>
              <a:rPr lang="en-US" sz="5000"/>
              <a:t>  </a:t>
            </a:r>
          </a:p>
          <a:p>
            <a:r>
              <a:rPr lang="en-US" sz="3700">
                <a:solidFill>
                  <a:srgbClr val="252525"/>
                </a:solidFill>
              </a:rPr>
              <a:t>if (condition) {</a:t>
            </a:r>
          </a:p>
          <a:p>
            <a:r>
              <a:rPr lang="en-US" sz="3700">
                <a:solidFill>
                  <a:srgbClr val="252525"/>
                </a:solidFill>
              </a:rPr>
              <a:t>    // body</a:t>
            </a:r>
          </a:p>
          <a:p>
            <a:r>
              <a:rPr lang="en-US" sz="3700">
                <a:solidFill>
                  <a:srgbClr val="252525"/>
                </a:solidFill>
              </a:rPr>
              <a:t>} else {</a:t>
            </a:r>
          </a:p>
          <a:p>
            <a:r>
              <a:rPr lang="en-US" sz="3700">
                <a:solidFill>
                  <a:srgbClr val="252525"/>
                </a:solidFill>
              </a:rPr>
              <a:t>    // else part</a:t>
            </a:r>
          </a:p>
          <a:p>
            <a:r>
              <a:rPr lang="en-US" sz="3700">
                <a:solidFill>
                  <a:srgbClr val="252525"/>
                </a:solidFill>
              </a:rPr>
              <a:t>}</a:t>
            </a:r>
          </a:p>
          <a:p>
            <a:r>
              <a:rPr lang="en-US" sz="5000"/>
              <a:t>  </a:t>
            </a:r>
          </a:p>
          <a:p>
            <a:r>
              <a:rPr lang="en-US" sz="3700">
                <a:solidFill>
                  <a:srgbClr val="252525"/>
                </a:solidFill>
              </a:rPr>
              <a:t>try {</a:t>
            </a:r>
          </a:p>
          <a:p>
            <a:r>
              <a:rPr lang="en-US" sz="3700">
                <a:solidFill>
                  <a:srgbClr val="252525"/>
                </a:solidFill>
              </a:rPr>
              <a:t>    // body</a:t>
            </a:r>
          </a:p>
          <a:p>
            <a:r>
              <a:rPr lang="en-US" sz="3700">
                <a:solidFill>
                  <a:srgbClr val="252525"/>
                </a:solidFill>
              </a:rPr>
              <a:t>} finally {</a:t>
            </a:r>
          </a:p>
          <a:p>
            <a:r>
              <a:rPr lang="en-US" sz="3700">
                <a:solidFill>
                  <a:srgbClr val="252525"/>
                </a:solidFill>
              </a:rPr>
              <a:t>    // cleanup</a:t>
            </a:r>
          </a:p>
          <a:p>
            <a:r>
              <a:rPr lang="en-US" sz="3700">
                <a:solidFill>
                  <a:srgbClr val="252525"/>
                </a:solidFill>
              </a:rPr>
              <a:t>}</a:t>
            </a:r>
          </a:p>
          <a:p>
            <a:r>
              <a:rPr lang="en-US" sz="3700">
                <a:solidFill>
                  <a:srgbClr val="252525"/>
                </a:solidFill>
              </a:rPr>
              <a:t>In a when statement, if a branch is more than a single line, consider separating it from adjacent case blocks with a blank line:</a:t>
            </a:r>
          </a:p>
          <a:p>
            <a:r>
              <a:rPr lang="en-US" sz="5000"/>
              <a:t>  </a:t>
            </a:r>
          </a:p>
          <a:p>
            <a:r>
              <a:rPr lang="en-US" sz="3700">
                <a:solidFill>
                  <a:srgbClr val="252525"/>
                </a:solidFill>
              </a:rPr>
              <a:t>private fun parsePropertyValue(propName: String, token: Token) {</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60" id="60"/>
          <p:cNvPicPr>
            <a:picLocks noChangeAspect="true"/>
          </p:cNvPicPr>
          <p:nvPr/>
        </p:nvPicPr>
        <p:blipFill>
          <a:blip r:embed="rId60"/>
          <a:stretch>
            <a:fillRect/>
          </a:stretch>
        </p:blipFill>
        <p:spPr>
          <a:xfrm>
            <a:off x="0" y="127000"/>
            <a:ext cx="23749000" cy="16548100"/>
          </a:xfrm>
          <a:prstGeom prst="rect">
            <a:avLst/>
          </a:prstGeom>
        </p:spPr>
      </p:pic>
      <p:sp>
        <p:nvSpPr>
          <p:cNvPr name="TextBox 60" id="6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when (token) {</a:t>
            </a:r>
          </a:p>
          <a:p>
            <a:r>
              <a:rPr lang="en-US" sz="3700">
                <a:solidFill>
                  <a:srgbClr val="252525"/>
                </a:solidFill>
              </a:rPr>
              <a:t>        is Token.ValueToken -&gt;</a:t>
            </a:r>
          </a:p>
          <a:p>
            <a:r>
              <a:rPr lang="en-US" sz="3700">
                <a:solidFill>
                  <a:srgbClr val="252525"/>
                </a:solidFill>
              </a:rPr>
              <a:t>            callback.visitValue(propName, token.value)</a:t>
            </a:r>
          </a:p>
          <a:p>
            <a:r>
              <a:rPr lang="en-US" sz="5000"/>
              <a:t>  </a:t>
            </a:r>
          </a:p>
          <a:p>
            <a:r>
              <a:rPr lang="en-US" sz="3700">
                <a:solidFill>
                  <a:srgbClr val="252525"/>
                </a:solidFill>
              </a:rPr>
              <a:t>        Token.LBRACE -&gt; { // ...</a:t>
            </a:r>
          </a:p>
          <a:p>
            <a:r>
              <a:rPr lang="en-US" sz="3700">
                <a:solidFill>
                  <a:srgbClr val="252525"/>
                </a:solidFill>
              </a:rPr>
              <a:t>        }</a:t>
            </a:r>
          </a:p>
          <a:p>
            <a:r>
              <a:rPr lang="en-US" sz="3700">
                <a:solidFill>
                  <a:srgbClr val="252525"/>
                </a:solidFill>
              </a:rPr>
              <a:t>    }</a:t>
            </a:r>
          </a:p>
          <a:p>
            <a:r>
              <a:rPr lang="en-US" sz="3700">
                <a:solidFill>
                  <a:srgbClr val="252525"/>
                </a:solidFill>
              </a:rPr>
              <a:t>}</a:t>
            </a:r>
          </a:p>
          <a:p>
            <a:r>
              <a:rPr lang="en-US" sz="3700">
                <a:solidFill>
                  <a:srgbClr val="252525"/>
                </a:solidFill>
              </a:rPr>
              <a:t>Put short branches on the same line as the condition, without braces.</a:t>
            </a:r>
          </a:p>
          <a:p>
            <a:r>
              <a:rPr lang="en-US" sz="5000"/>
              <a:t>  </a:t>
            </a:r>
          </a:p>
          <a:p>
            <a:r>
              <a:rPr lang="en-US" sz="3700">
                <a:solidFill>
                  <a:srgbClr val="252525"/>
                </a:solidFill>
              </a:rPr>
              <a:t>when (foo) {</a:t>
            </a:r>
          </a:p>
          <a:p>
            <a:r>
              <a:rPr lang="en-US" sz="3700">
                <a:solidFill>
                  <a:srgbClr val="252525"/>
                </a:solidFill>
              </a:rPr>
              <a:t>    true -&gt; bar() // good</a:t>
            </a:r>
          </a:p>
          <a:p>
            <a:r>
              <a:rPr lang="en-US" sz="3700">
                <a:solidFill>
                  <a:srgbClr val="252525"/>
                </a:solidFill>
              </a:rPr>
              <a:t>    false -&gt; { baz() } // bad</a:t>
            </a:r>
          </a:p>
          <a:p>
            <a:r>
              <a:rPr lang="en-US" sz="3700">
                <a:solidFill>
                  <a:srgbClr val="252525"/>
                </a:solidFill>
              </a:rPr>
              <a:t>}</a:t>
            </a:r>
          </a:p>
          <a:p>
            <a:r>
              <a:rPr lang="en-US" sz="3700">
                <a:solidFill>
                  <a:srgbClr val="252525"/>
                </a:solidFill>
              </a:rPr>
              <a:t>Method calls﻿</a:t>
            </a:r>
          </a:p>
          <a:p>
            <a:r>
              <a:rPr lang="en-US" sz="3700">
                <a:solidFill>
                  <a:srgbClr val="252525"/>
                </a:solidFill>
              </a:rPr>
              <a:t>In long argument lists, put a line break after the opening parenthesis. Indent arguments by four spaces. Group multiple closely related arguments on the same line.</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62" id="62"/>
          <p:cNvPicPr>
            <a:picLocks noChangeAspect="true"/>
          </p:cNvPicPr>
          <p:nvPr/>
        </p:nvPicPr>
        <p:blipFill>
          <a:blip r:embed="rId62"/>
          <a:stretch>
            <a:fillRect/>
          </a:stretch>
        </p:blipFill>
        <p:spPr>
          <a:xfrm>
            <a:off x="0" y="127000"/>
            <a:ext cx="23749000" cy="16548100"/>
          </a:xfrm>
          <a:prstGeom prst="rect">
            <a:avLst/>
          </a:prstGeom>
        </p:spPr>
      </p:pic>
      <p:sp>
        <p:nvSpPr>
          <p:cNvPr name="TextBox 62" id="63"/>
          <p:cNvSpPr txBox="true"/>
          <p:nvPr/>
        </p:nvSpPr>
        <p:spPr>
          <a:xfrm>
            <a:off x="5930900" y="1320800"/>
            <a:ext cx="11887200" cy="15735300"/>
          </a:xfrm>
          <a:prstGeom prst="rect">
            <a:avLst/>
          </a:prstGeom>
        </p:spPr>
        <p:txBody>
          <a:bodyPr anchor="t" rtlCol="false"/>
          <a:lstStyle/>
          <a:p>
            <a:pPr algn="l"/>
            <a:r>
              <a:t/>
            </a:r>
            <a:endParaRPr lang="en-US" sz="1100"/>
          </a:p>
          <a:p>
            <a:r>
              <a:rPr lang="en-US" sz="3700">
                <a:solidFill>
                  <a:srgbClr val="252525"/>
                </a:solidFill>
              </a:rPr>
              <a:t>drawSquare(</a:t>
            </a:r>
          </a:p>
          <a:p>
            <a:r>
              <a:rPr lang="en-US" sz="3700">
                <a:solidFill>
                  <a:srgbClr val="252525"/>
                </a:solidFill>
              </a:rPr>
              <a:t>    x = 10, y = 10,</a:t>
            </a:r>
          </a:p>
          <a:p>
            <a:r>
              <a:rPr lang="en-US" sz="3700">
                <a:solidFill>
                  <a:srgbClr val="252525"/>
                </a:solidFill>
              </a:rPr>
              <a:t>    width = 100, height = 100,</a:t>
            </a:r>
          </a:p>
          <a:p>
            <a:r>
              <a:rPr lang="en-US" sz="3700">
                <a:solidFill>
                  <a:srgbClr val="252525"/>
                </a:solidFill>
              </a:rPr>
              <a:t>    fill = true</a:t>
            </a:r>
          </a:p>
          <a:p>
            <a:r>
              <a:rPr lang="en-US" sz="3700">
                <a:solidFill>
                  <a:srgbClr val="252525"/>
                </a:solidFill>
              </a:rPr>
              <a:t>)</a:t>
            </a:r>
          </a:p>
          <a:p>
            <a:r>
              <a:rPr lang="en-US" sz="3700">
                <a:solidFill>
                  <a:srgbClr val="252525"/>
                </a:solidFill>
              </a:rPr>
              <a:t>Put spaces around the = sign separating the argument name and value.</a:t>
            </a:r>
          </a:p>
          <a:p>
            <a:r>
              <a:rPr lang="en-US" sz="5000"/>
              <a:t>  </a:t>
            </a:r>
          </a:p>
          <a:p>
            <a:r>
              <a:rPr lang="en-US" sz="3700">
                <a:solidFill>
                  <a:srgbClr val="252525"/>
                </a:solidFill>
              </a:rPr>
              <a:t>Wrap chained calls﻿</a:t>
            </a:r>
          </a:p>
          <a:p>
            <a:r>
              <a:rPr lang="en-US" sz="3700">
                <a:solidFill>
                  <a:srgbClr val="252525"/>
                </a:solidFill>
              </a:rPr>
              <a:t>When wrapping chained calls, put the . character or the ?. operator on the next line, with a single indent:</a:t>
            </a:r>
          </a:p>
          <a:p>
            <a:r>
              <a:rPr lang="en-US" sz="5000"/>
              <a:t>  </a:t>
            </a:r>
          </a:p>
          <a:p>
            <a:r>
              <a:rPr lang="en-US" sz="3700">
                <a:solidFill>
                  <a:srgbClr val="252525"/>
                </a:solidFill>
              </a:rPr>
              <a:t>val anchor = owner</a:t>
            </a:r>
          </a:p>
          <a:p>
            <a:r>
              <a:rPr lang="en-US" sz="3700">
                <a:solidFill>
                  <a:srgbClr val="252525"/>
                </a:solidFill>
              </a:rPr>
              <a:t>    ?.firstChild!!</a:t>
            </a:r>
          </a:p>
          <a:p>
            <a:r>
              <a:rPr lang="en-US" sz="3700">
                <a:solidFill>
                  <a:srgbClr val="252525"/>
                </a:solidFill>
              </a:rPr>
              <a:t>    .siblings(forward = true)</a:t>
            </a:r>
          </a:p>
          <a:p>
            <a:r>
              <a:rPr lang="en-US" sz="3700">
                <a:solidFill>
                  <a:srgbClr val="252525"/>
                </a:solidFill>
              </a:rPr>
              <a:t>    .dropWhile { it is PsiComment || it is PsiWhiteSpace }</a:t>
            </a:r>
          </a:p>
          <a:p>
            <a:r>
              <a:rPr lang="en-US" sz="3700">
                <a:solidFill>
                  <a:srgbClr val="252525"/>
                </a:solidFill>
              </a:rPr>
              <a:t>The first call in the chain should usually have a line break before it, but it's OK to </a:t>
            </a: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64" id="64"/>
          <p:cNvPicPr>
            <a:picLocks noChangeAspect="true"/>
          </p:cNvPicPr>
          <p:nvPr/>
        </p:nvPicPr>
        <p:blipFill>
          <a:blip r:embed="rId64"/>
          <a:stretch>
            <a:fillRect/>
          </a:stretch>
        </p:blipFill>
        <p:spPr>
          <a:xfrm>
            <a:off x="0" y="127000"/>
            <a:ext cx="23749000" cy="16548100"/>
          </a:xfrm>
          <a:prstGeom prst="rect">
            <a:avLst/>
          </a:prstGeom>
        </p:spPr>
      </p:pic>
      <p:sp>
        <p:nvSpPr>
          <p:cNvPr name="TextBox 64" id="6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omit it if the code makes more sense that way.</a:t>
            </a:r>
          </a:p>
          <a:p>
            <a:r>
              <a:rPr lang="en-US" sz="5000"/>
              <a:t>  </a:t>
            </a:r>
          </a:p>
          <a:p>
            <a:r>
              <a:rPr lang="en-US" sz="3700">
                <a:solidFill>
                  <a:srgbClr val="252525"/>
                </a:solidFill>
              </a:rPr>
              <a:t>Lambdas﻿</a:t>
            </a:r>
          </a:p>
          <a:p>
            <a:r>
              <a:rPr lang="en-US" sz="3700">
                <a:solidFill>
                  <a:srgbClr val="252525"/>
                </a:solidFill>
              </a:rPr>
              <a:t>In lambda expressions, spaces should be used around the curly braces, as well as around the arrow which separates the parameters from the body. If a call takes a single lambda, pass it outside parentheses whenever possible.</a:t>
            </a:r>
          </a:p>
          <a:p>
            <a:r>
              <a:rPr lang="en-US" sz="5000"/>
              <a:t>  </a:t>
            </a:r>
          </a:p>
          <a:p>
            <a:r>
              <a:rPr lang="en-US" sz="3700">
                <a:solidFill>
                  <a:srgbClr val="252525"/>
                </a:solidFill>
              </a:rPr>
              <a:t>list.filter { it &gt; 10 }</a:t>
            </a:r>
          </a:p>
          <a:p>
            <a:r>
              <a:rPr lang="en-US" sz="3700">
                <a:solidFill>
                  <a:srgbClr val="252525"/>
                </a:solidFill>
              </a:rPr>
              <a:t>If assigning a label for a lambda, do not put a space between the label and the opening curly brace:</a:t>
            </a:r>
          </a:p>
          <a:p>
            <a:r>
              <a:rPr lang="en-US" sz="5000"/>
              <a:t>  </a:t>
            </a:r>
          </a:p>
          <a:p>
            <a:r>
              <a:rPr lang="en-US" sz="3700">
                <a:solidFill>
                  <a:srgbClr val="252525"/>
                </a:solidFill>
              </a:rPr>
              <a:t>fun foo() {</a:t>
            </a:r>
          </a:p>
          <a:p>
            <a:r>
              <a:rPr lang="en-US" sz="3700">
                <a:solidFill>
                  <a:srgbClr val="252525"/>
                </a:solidFill>
              </a:rPr>
              <a:t>    ints.forEach lit@{</a:t>
            </a:r>
          </a:p>
          <a:p>
            <a:r>
              <a:rPr lang="en-US" sz="3700">
                <a:solidFill>
                  <a:srgbClr val="252525"/>
                </a:solidFill>
              </a:rPr>
              <a:t>        // ...</a:t>
            </a:r>
          </a:p>
          <a:p>
            <a:r>
              <a:rPr lang="en-US" sz="3700">
                <a:solidFill>
                  <a:srgbClr val="252525"/>
                </a:solidFill>
              </a:rPr>
              <a:t>    }</a:t>
            </a:r>
          </a:p>
          <a:p>
            <a:r>
              <a:rPr lang="en-US" sz="3700">
                <a:solidFill>
                  <a:srgbClr val="252525"/>
                </a:solidFill>
              </a:rPr>
              <a:t>}</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66" id="66"/>
          <p:cNvPicPr>
            <a:picLocks noChangeAspect="true"/>
          </p:cNvPicPr>
          <p:nvPr/>
        </p:nvPicPr>
        <p:blipFill>
          <a:blip r:embed="rId66"/>
          <a:stretch>
            <a:fillRect/>
          </a:stretch>
        </p:blipFill>
        <p:spPr>
          <a:xfrm>
            <a:off x="0" y="127000"/>
            <a:ext cx="23749000" cy="16548100"/>
          </a:xfrm>
          <a:prstGeom prst="rect">
            <a:avLst/>
          </a:prstGeom>
        </p:spPr>
      </p:pic>
      <p:sp>
        <p:nvSpPr>
          <p:cNvPr name="TextBox 66" id="6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When declaring parameter names in a multiline lambda, put the names on the first line, followed by the arrow and the newline:</a:t>
            </a:r>
          </a:p>
          <a:p>
            <a:r>
              <a:rPr lang="en-US" sz="5000"/>
              <a:t>  </a:t>
            </a:r>
          </a:p>
          <a:p>
            <a:r>
              <a:rPr lang="en-US" sz="3700">
                <a:solidFill>
                  <a:srgbClr val="252525"/>
                </a:solidFill>
              </a:rPr>
              <a:t>appendCommaSeparated(properties) { prop -&gt;</a:t>
            </a:r>
          </a:p>
          <a:p>
            <a:r>
              <a:rPr lang="en-US" sz="3700">
                <a:solidFill>
                  <a:srgbClr val="252525"/>
                </a:solidFill>
              </a:rPr>
              <a:t>    val propertyValue = prop.get(obj)  // ...</a:t>
            </a:r>
          </a:p>
          <a:p>
            <a:r>
              <a:rPr lang="en-US" sz="3700">
                <a:solidFill>
                  <a:srgbClr val="252525"/>
                </a:solidFill>
              </a:rPr>
              <a:t>}</a:t>
            </a:r>
          </a:p>
          <a:p>
            <a:r>
              <a:rPr lang="en-US" sz="3700">
                <a:solidFill>
                  <a:srgbClr val="252525"/>
                </a:solidFill>
              </a:rPr>
              <a:t>If the parameter list is too long to fit on a line, put the arrow on a separate line:</a:t>
            </a:r>
          </a:p>
          <a:p>
            <a:r>
              <a:rPr lang="en-US" sz="5000"/>
              <a:t>  </a:t>
            </a:r>
          </a:p>
          <a:p>
            <a:r>
              <a:rPr lang="en-US" sz="3700">
                <a:solidFill>
                  <a:srgbClr val="252525"/>
                </a:solidFill>
              </a:rPr>
              <a:t>foo {</a:t>
            </a:r>
          </a:p>
          <a:p>
            <a:r>
              <a:rPr lang="en-US" sz="3700">
                <a:solidFill>
                  <a:srgbClr val="252525"/>
                </a:solidFill>
              </a:rPr>
              <a:t>   context: Context,</a:t>
            </a:r>
          </a:p>
          <a:p>
            <a:r>
              <a:rPr lang="en-US" sz="3700">
                <a:solidFill>
                  <a:srgbClr val="252525"/>
                </a:solidFill>
              </a:rPr>
              <a:t>   environment: Env</a:t>
            </a:r>
          </a:p>
          <a:p>
            <a:r>
              <a:rPr lang="en-US" sz="3700">
                <a:solidFill>
                  <a:srgbClr val="252525"/>
                </a:solidFill>
              </a:rPr>
              <a:t>   -&gt;</a:t>
            </a:r>
          </a:p>
          <a:p>
            <a:r>
              <a:rPr lang="en-US" sz="3700">
                <a:solidFill>
                  <a:srgbClr val="252525"/>
                </a:solidFill>
              </a:rPr>
              <a:t>   context.configureEnv(environment)</a:t>
            </a:r>
          </a:p>
          <a:p>
            <a:r>
              <a:rPr lang="en-US" sz="3700">
                <a:solidFill>
                  <a:srgbClr val="252525"/>
                </a:solidFill>
              </a:rPr>
              <a:t>}</a:t>
            </a:r>
          </a:p>
          <a:p>
            <a:r>
              <a:rPr lang="en-US" sz="3700">
                <a:solidFill>
                  <a:srgbClr val="252525"/>
                </a:solidFill>
              </a:rPr>
              <a:t>Trailing commas﻿</a:t>
            </a:r>
          </a:p>
          <a:p>
            <a:r>
              <a:rPr lang="en-US" sz="3700">
                <a:solidFill>
                  <a:srgbClr val="252525"/>
                </a:solidFill>
              </a:rPr>
              <a:t>A trailing comma is a comma symbol after the last item in a series of elements:</a:t>
            </a: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68" id="68"/>
          <p:cNvPicPr>
            <a:picLocks noChangeAspect="true"/>
          </p:cNvPicPr>
          <p:nvPr/>
        </p:nvPicPr>
        <p:blipFill>
          <a:blip r:embed="rId68"/>
          <a:stretch>
            <a:fillRect/>
          </a:stretch>
        </p:blipFill>
        <p:spPr>
          <a:xfrm>
            <a:off x="0" y="127000"/>
            <a:ext cx="23749000" cy="16548100"/>
          </a:xfrm>
          <a:prstGeom prst="rect">
            <a:avLst/>
          </a:prstGeom>
        </p:spPr>
      </p:pic>
      <p:sp>
        <p:nvSpPr>
          <p:cNvPr name="TextBox 68" id="69"/>
          <p:cNvSpPr txBox="true"/>
          <p:nvPr/>
        </p:nvSpPr>
        <p:spPr>
          <a:xfrm>
            <a:off x="5930900" y="1320800"/>
            <a:ext cx="11887200" cy="15735300"/>
          </a:xfrm>
          <a:prstGeom prst="rect">
            <a:avLst/>
          </a:prstGeom>
        </p:spPr>
        <p:txBody>
          <a:bodyPr anchor="t" rtlCol="false"/>
          <a:lstStyle/>
          <a:p>
            <a:pPr algn="l"/>
            <a:r>
              <a:t/>
            </a:r>
            <a:endParaRPr lang="en-US" sz="1100"/>
          </a:p>
          <a:p>
            <a:r>
              <a:rPr lang="en-US" sz="3700">
                <a:solidFill>
                  <a:srgbClr val="252525"/>
                </a:solidFill>
              </a:rPr>
              <a:t>class Person(</a:t>
            </a:r>
          </a:p>
          <a:p>
            <a:r>
              <a:rPr lang="en-US" sz="3700">
                <a:solidFill>
                  <a:srgbClr val="252525"/>
                </a:solidFill>
              </a:rPr>
              <a:t>    val firstName: String,</a:t>
            </a:r>
          </a:p>
          <a:p>
            <a:r>
              <a:rPr lang="en-US" sz="3700">
                <a:solidFill>
                  <a:srgbClr val="252525"/>
                </a:solidFill>
              </a:rPr>
              <a:t>    val lastName: String,</a:t>
            </a:r>
          </a:p>
          <a:p>
            <a:r>
              <a:rPr lang="en-US" sz="3700">
                <a:solidFill>
                  <a:srgbClr val="252525"/>
                </a:solidFill>
              </a:rPr>
              <a:t>    val age: Int, // trailing comma</a:t>
            </a:r>
          </a:p>
          <a:p>
            <a:r>
              <a:rPr lang="en-US" sz="3700">
                <a:solidFill>
                  <a:srgbClr val="252525"/>
                </a:solidFill>
              </a:rPr>
              <a:t>)</a:t>
            </a:r>
          </a:p>
          <a:p>
            <a:r>
              <a:rPr lang="en-US" sz="3700">
                <a:solidFill>
                  <a:srgbClr val="252525"/>
                </a:solidFill>
              </a:rPr>
              <a:t>Using trailing commas has several benefits:</a:t>
            </a:r>
          </a:p>
          <a:p>
            <a:r>
              <a:rPr lang="en-US" sz="5000"/>
              <a:t>  </a:t>
            </a:r>
          </a:p>
          <a:p>
            <a:r>
              <a:rPr lang="en-US" sz="3700">
                <a:solidFill>
                  <a:srgbClr val="252525"/>
                </a:solidFill>
              </a:rPr>
              <a:t>It makes version-control diffs cleaner – as all the focus is on the changed value.</a:t>
            </a:r>
          </a:p>
          <a:p>
            <a:r>
              <a:rPr lang="en-US" sz="5000"/>
              <a:t>  </a:t>
            </a:r>
          </a:p>
          <a:p>
            <a:r>
              <a:rPr lang="en-US" sz="3700">
                <a:solidFill>
                  <a:srgbClr val="252525"/>
                </a:solidFill>
              </a:rPr>
              <a:t>It makes it easy to add and reorder elements – there is no need to add or delete the comma if you manipulate elements.</a:t>
            </a:r>
          </a:p>
          <a:p>
            <a:r>
              <a:rPr lang="en-US" sz="5000"/>
              <a:t>  </a:t>
            </a:r>
          </a:p>
          <a:p>
            <a:r>
              <a:rPr lang="en-US" sz="3700">
                <a:solidFill>
                  <a:srgbClr val="252525"/>
                </a:solidFill>
              </a:rPr>
              <a:t>It simplifies code generation, for example, for object initializers. The last element can also have a comma.</a:t>
            </a:r>
          </a:p>
        </p:txBody>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70" id="70"/>
          <p:cNvPicPr>
            <a:picLocks noChangeAspect="true"/>
          </p:cNvPicPr>
          <p:nvPr/>
        </p:nvPicPr>
        <p:blipFill>
          <a:blip r:embed="rId70"/>
          <a:stretch>
            <a:fillRect/>
          </a:stretch>
        </p:blipFill>
        <p:spPr>
          <a:xfrm>
            <a:off x="0" y="127000"/>
            <a:ext cx="23749000" cy="16548100"/>
          </a:xfrm>
          <a:prstGeom prst="rect">
            <a:avLst/>
          </a:prstGeom>
        </p:spPr>
      </p:pic>
      <p:sp>
        <p:nvSpPr>
          <p:cNvPr name="TextBox 70" id="7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Trailing commas are entirely optional – your code will still work without them. The Kotlin style guide encourages the use of trailing commas at the declaration site and leaves it at your discretion for the call site.</a:t>
            </a:r>
          </a:p>
          <a:p>
            <a:r>
              <a:rPr lang="en-US" sz="5000"/>
              <a:t>  </a:t>
            </a:r>
          </a:p>
          <a:p>
            <a:r>
              <a:rPr lang="en-US" sz="3700">
                <a:solidFill>
                  <a:srgbClr val="252525"/>
                </a:solidFill>
              </a:rPr>
              <a:t>To enable trailing commas in the IntelliJ IDEA formatter, go to Settings/Preferences | Editor | Code Style | Kotlin, open the Other tab and select the Use trailing comma option.</a:t>
            </a:r>
          </a:p>
          <a:p>
            <a:r>
              <a:rPr lang="en-US" sz="5000"/>
              <a:t>  </a:t>
            </a:r>
          </a:p>
          <a:p>
            <a:r>
              <a:rPr lang="en-US" sz="3700">
                <a:solidFill>
                  <a:srgbClr val="252525"/>
                </a:solidFill>
              </a:rPr>
              <a:t>Enumerations﻿</a:t>
            </a:r>
          </a:p>
          <a:p>
            <a:r>
              <a:rPr lang="en-US" sz="3700">
                <a:solidFill>
                  <a:srgbClr val="252525"/>
                </a:solidFill>
              </a:rPr>
              <a:t>Value arguments﻿</a:t>
            </a:r>
          </a:p>
          <a:p>
            <a:r>
              <a:rPr lang="en-US" sz="3700">
                <a:solidFill>
                  <a:srgbClr val="252525"/>
                </a:solidFill>
              </a:rPr>
              <a:t>Class properties and parameters﻿</a:t>
            </a:r>
          </a:p>
          <a:p>
            <a:r>
              <a:rPr lang="en-US" sz="3700">
                <a:solidFill>
                  <a:srgbClr val="252525"/>
                </a:solidFill>
              </a:rPr>
              <a:t>Function value parameters﻿</a:t>
            </a:r>
          </a:p>
          <a:p>
            <a:r>
              <a:rPr lang="en-US" sz="3700">
                <a:solidFill>
                  <a:srgbClr val="252525"/>
                </a:solidFill>
              </a:rPr>
              <a:t>Parameters with optional type (including setters)﻿</a:t>
            </a:r>
          </a:p>
          <a:p>
            <a:r>
              <a:rPr lang="en-US" sz="3700">
                <a:solidFill>
                  <a:srgbClr val="252525"/>
                </a:solidFill>
              </a:rPr>
              <a:t>Indexing suffix﻿</a:t>
            </a:r>
          </a:p>
          <a:p>
            <a:r>
              <a:rPr lang="en-US" sz="3700">
                <a:solidFill>
                  <a:srgbClr val="252525"/>
                </a:solidFill>
              </a:rPr>
              <a:t>Parameters in lambdas﻿</a:t>
            </a:r>
          </a:p>
          <a:p>
            <a:r>
              <a:rPr lang="en-US" sz="3700">
                <a:solidFill>
                  <a:srgbClr val="252525"/>
                </a:solidFill>
              </a:rPr>
              <a:t>when entry﻿</a:t>
            </a:r>
          </a:p>
        </p:txBody>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72" id="72"/>
          <p:cNvPicPr>
            <a:picLocks noChangeAspect="true"/>
          </p:cNvPicPr>
          <p:nvPr/>
        </p:nvPicPr>
        <p:blipFill>
          <a:blip r:embed="rId72"/>
          <a:stretch>
            <a:fillRect/>
          </a:stretch>
        </p:blipFill>
        <p:spPr>
          <a:xfrm>
            <a:off x="0" y="127000"/>
            <a:ext cx="23749000" cy="16548100"/>
          </a:xfrm>
          <a:prstGeom prst="rect">
            <a:avLst/>
          </a:prstGeom>
        </p:spPr>
      </p:pic>
      <p:sp>
        <p:nvSpPr>
          <p:cNvPr name="TextBox 72" id="7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Collection literals (in annotations)﻿</a:t>
            </a:r>
          </a:p>
          <a:p>
            <a:r>
              <a:rPr lang="en-US" sz="3700">
                <a:solidFill>
                  <a:srgbClr val="252525"/>
                </a:solidFill>
              </a:rPr>
              <a:t>Type arguments﻿</a:t>
            </a:r>
          </a:p>
          <a:p>
            <a:r>
              <a:rPr lang="en-US" sz="3700">
                <a:solidFill>
                  <a:srgbClr val="252525"/>
                </a:solidFill>
              </a:rPr>
              <a:t>Type parameters﻿</a:t>
            </a:r>
          </a:p>
          <a:p>
            <a:r>
              <a:rPr lang="en-US" sz="3700">
                <a:solidFill>
                  <a:srgbClr val="252525"/>
                </a:solidFill>
              </a:rPr>
              <a:t>Destructuring declarations﻿</a:t>
            </a:r>
          </a:p>
          <a:p>
            <a:r>
              <a:rPr lang="en-US" sz="3700">
                <a:solidFill>
                  <a:srgbClr val="252525"/>
                </a:solidFill>
              </a:rPr>
              <a:t>Documentation comments﻿</a:t>
            </a:r>
          </a:p>
          <a:p>
            <a:r>
              <a:rPr lang="en-US" sz="3700">
                <a:solidFill>
                  <a:srgbClr val="252525"/>
                </a:solidFill>
              </a:rPr>
              <a:t>For longer documentation comments, place the opening /** on a separate line and begin each subsequent line with an asterisk:</a:t>
            </a:r>
          </a:p>
          <a:p>
            <a:r>
              <a:rPr lang="en-US" sz="5000"/>
              <a:t>  </a:t>
            </a:r>
          </a:p>
          <a:p>
            <a:r>
              <a:rPr lang="en-US" sz="3700">
                <a:solidFill>
                  <a:srgbClr val="252525"/>
                </a:solidFill>
              </a:rPr>
              <a:t>/**</a:t>
            </a:r>
          </a:p>
          <a:p>
            <a:r>
              <a:rPr lang="en-US" sz="3700">
                <a:solidFill>
                  <a:srgbClr val="252525"/>
                </a:solidFill>
              </a:rPr>
              <a:t> * This is a documentation comment</a:t>
            </a:r>
          </a:p>
          <a:p>
            <a:r>
              <a:rPr lang="en-US" sz="3700">
                <a:solidFill>
                  <a:srgbClr val="252525"/>
                </a:solidFill>
              </a:rPr>
              <a:t> * on multiple lines.</a:t>
            </a:r>
          </a:p>
          <a:p>
            <a:r>
              <a:rPr lang="en-US" sz="3700">
                <a:solidFill>
                  <a:srgbClr val="252525"/>
                </a:solidFill>
              </a:rPr>
              <a:t> */</a:t>
            </a:r>
          </a:p>
          <a:p>
            <a:r>
              <a:rPr lang="en-US" sz="3700">
                <a:solidFill>
                  <a:srgbClr val="252525"/>
                </a:solidFill>
              </a:rPr>
              <a:t>Short comments can be placed on a single line:</a:t>
            </a:r>
          </a:p>
          <a:p>
            <a:r>
              <a:rPr lang="en-US" sz="5000"/>
              <a:t>  </a:t>
            </a:r>
          </a:p>
          <a:p>
            <a:r>
              <a:rPr lang="en-US" sz="3700">
                <a:solidFill>
                  <a:srgbClr val="252525"/>
                </a:solidFill>
              </a:rPr>
              <a:t>/** This is a short documentation comment. */</a:t>
            </a:r>
          </a:p>
          <a:p>
            <a:r>
              <a:rPr lang="en-US" sz="3700">
                <a:solidFill>
                  <a:srgbClr val="252525"/>
                </a:solidFill>
              </a:rPr>
              <a:t>Generally, avoid using @param and @return tags. Instead, incorporate the </a:t>
            </a:r>
          </a:p>
        </p:txBody>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74" id="74"/>
          <p:cNvPicPr>
            <a:picLocks noChangeAspect="true"/>
          </p:cNvPicPr>
          <p:nvPr/>
        </p:nvPicPr>
        <p:blipFill>
          <a:blip r:embed="rId74"/>
          <a:stretch>
            <a:fillRect/>
          </a:stretch>
        </p:blipFill>
        <p:spPr>
          <a:xfrm>
            <a:off x="0" y="127000"/>
            <a:ext cx="23749000" cy="16548100"/>
          </a:xfrm>
          <a:prstGeom prst="rect">
            <a:avLst/>
          </a:prstGeom>
        </p:spPr>
      </p:pic>
      <p:sp>
        <p:nvSpPr>
          <p:cNvPr name="TextBox 74" id="7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description of parameters and return values directly into the documentation comment, and add links to parameters wherever they are mentioned. Use @param and @return only when a lengthy description is required which doesn't fit into the flow of the main text.</a:t>
            </a:r>
          </a:p>
          <a:p>
            <a:r>
              <a:rPr lang="en-US" sz="5000"/>
              <a:t>  </a:t>
            </a:r>
          </a:p>
          <a:p>
            <a:r>
              <a:rPr lang="en-US" sz="3700">
                <a:solidFill>
                  <a:srgbClr val="252525"/>
                </a:solidFill>
              </a:rPr>
              <a:t>// Avoid doing this:</a:t>
            </a:r>
          </a:p>
          <a:p>
            <a:r>
              <a:rPr lang="en-US" sz="5000"/>
              <a:t>  </a:t>
            </a:r>
          </a:p>
          <a:p>
            <a:r>
              <a:rPr lang="en-US" sz="3700">
                <a:solidFill>
                  <a:srgbClr val="252525"/>
                </a:solidFill>
              </a:rPr>
              <a:t>/**</a:t>
            </a:r>
          </a:p>
          <a:p>
            <a:r>
              <a:rPr lang="en-US" sz="3700">
                <a:solidFill>
                  <a:srgbClr val="252525"/>
                </a:solidFill>
              </a:rPr>
              <a:t> * Returns the absolute value of the given number.</a:t>
            </a:r>
          </a:p>
          <a:p>
            <a:r>
              <a:rPr lang="en-US" sz="3700">
                <a:solidFill>
                  <a:srgbClr val="252525"/>
                </a:solidFill>
              </a:rPr>
              <a:t> * @param number The number to return the absolute value for.</a:t>
            </a:r>
          </a:p>
          <a:p>
            <a:r>
              <a:rPr lang="en-US" sz="3700">
                <a:solidFill>
                  <a:srgbClr val="252525"/>
                </a:solidFill>
              </a:rPr>
              <a:t> * @return The absolute value.</a:t>
            </a:r>
          </a:p>
          <a:p>
            <a:r>
              <a:rPr lang="en-US" sz="3700">
                <a:solidFill>
                  <a:srgbClr val="252525"/>
                </a:solidFill>
              </a:rPr>
              <a:t> */</a:t>
            </a:r>
          </a:p>
          <a:p>
            <a:r>
              <a:rPr lang="en-US" sz="3700">
                <a:solidFill>
                  <a:srgbClr val="252525"/>
                </a:solidFill>
              </a:rPr>
              <a:t>fun abs(number: Int): Int { /*...*/ }</a:t>
            </a:r>
          </a:p>
          <a:p>
            <a:r>
              <a:rPr lang="en-US" sz="5000"/>
              <a:t>  </a:t>
            </a:r>
          </a:p>
          <a:p>
            <a:r>
              <a:rPr lang="en-US" sz="3700">
                <a:solidFill>
                  <a:srgbClr val="252525"/>
                </a:solidFill>
              </a:rPr>
              <a:t>// Do this instead:</a:t>
            </a:r>
          </a:p>
        </p:txBody>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76" id="76"/>
          <p:cNvPicPr>
            <a:picLocks noChangeAspect="true"/>
          </p:cNvPicPr>
          <p:nvPr/>
        </p:nvPicPr>
        <p:blipFill>
          <a:blip r:embed="rId76"/>
          <a:stretch>
            <a:fillRect/>
          </a:stretch>
        </p:blipFill>
        <p:spPr>
          <a:xfrm>
            <a:off x="0" y="127000"/>
            <a:ext cx="23749000" cy="16548100"/>
          </a:xfrm>
          <a:prstGeom prst="rect">
            <a:avLst/>
          </a:prstGeom>
        </p:spPr>
      </p:pic>
      <p:sp>
        <p:nvSpPr>
          <p:cNvPr name="TextBox 76" id="7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a:t>
            </a:r>
          </a:p>
          <a:p>
            <a:r>
              <a:rPr lang="en-US" sz="3700">
                <a:solidFill>
                  <a:srgbClr val="252525"/>
                </a:solidFill>
              </a:rPr>
              <a:t> * Returns the absolute value of the given [number].</a:t>
            </a:r>
          </a:p>
          <a:p>
            <a:r>
              <a:rPr lang="en-US" sz="3700">
                <a:solidFill>
                  <a:srgbClr val="252525"/>
                </a:solidFill>
              </a:rPr>
              <a:t> */</a:t>
            </a:r>
          </a:p>
          <a:p>
            <a:r>
              <a:rPr lang="en-US" sz="3700">
                <a:solidFill>
                  <a:srgbClr val="252525"/>
                </a:solidFill>
              </a:rPr>
              <a:t>fun abs(number: Int): Int { /*...*/ }</a:t>
            </a:r>
          </a:p>
          <a:p>
            <a:r>
              <a:rPr lang="en-US" sz="3700">
                <a:solidFill>
                  <a:srgbClr val="252525"/>
                </a:solidFill>
              </a:rPr>
              <a:t>Avoid redundant constructs﻿</a:t>
            </a:r>
          </a:p>
          <a:p>
            <a:r>
              <a:rPr lang="en-US" sz="3700">
                <a:solidFill>
                  <a:srgbClr val="252525"/>
                </a:solidFill>
              </a:rPr>
              <a:t>In general, if a certain syntactic construction in Kotlin is optional and highlighted by the IDE as redundant, you should omit it in your code. Do not leave unnecessary syntactic elements in code just "for clarity".</a:t>
            </a:r>
          </a:p>
          <a:p>
            <a:r>
              <a:rPr lang="en-US" sz="5000"/>
              <a:t>  </a:t>
            </a:r>
          </a:p>
          <a:p>
            <a:r>
              <a:rPr lang="en-US" sz="3700">
                <a:solidFill>
                  <a:srgbClr val="252525"/>
                </a:solidFill>
              </a:rPr>
              <a:t>Unit return type﻿</a:t>
            </a:r>
          </a:p>
          <a:p>
            <a:r>
              <a:rPr lang="en-US" sz="3700">
                <a:solidFill>
                  <a:srgbClr val="252525"/>
                </a:solidFill>
              </a:rPr>
              <a:t>If a function returns Unit, the return type should be omitted:</a:t>
            </a:r>
          </a:p>
          <a:p>
            <a:r>
              <a:rPr lang="en-US" sz="5000"/>
              <a:t>  </a:t>
            </a:r>
          </a:p>
          <a:p>
            <a:r>
              <a:rPr lang="en-US" sz="3700">
                <a:solidFill>
                  <a:srgbClr val="252525"/>
                </a:solidFill>
              </a:rPr>
              <a:t>fun foo() { // ": Unit" is omitted here</a:t>
            </a:r>
          </a:p>
          <a:p>
            <a:r>
              <a:rPr lang="en-US" sz="5000"/>
              <a:t>  </a:t>
            </a:r>
          </a:p>
          <a:p>
            <a:r>
              <a:rPr lang="en-US" sz="3700">
                <a:solidFill>
                  <a:srgbClr val="252525"/>
                </a:solidFill>
              </a:rPr>
              <a:t>}</a:t>
            </a:r>
          </a:p>
          <a:p>
            <a:r>
              <a:rPr lang="en-US" sz="3700">
                <a:solidFill>
                  <a:srgbClr val="252525"/>
                </a:solidFill>
              </a:rPr>
              <a:t>Semicolons﻿</a:t>
            </a:r>
          </a:p>
        </p:txBody>
      </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78" id="78"/>
          <p:cNvPicPr>
            <a:picLocks noChangeAspect="true"/>
          </p:cNvPicPr>
          <p:nvPr/>
        </p:nvPicPr>
        <p:blipFill>
          <a:blip r:embed="rId78"/>
          <a:stretch>
            <a:fillRect/>
          </a:stretch>
        </p:blipFill>
        <p:spPr>
          <a:xfrm>
            <a:off x="0" y="127000"/>
            <a:ext cx="23749000" cy="16548100"/>
          </a:xfrm>
          <a:prstGeom prst="rect">
            <a:avLst/>
          </a:prstGeom>
        </p:spPr>
      </p:pic>
      <p:sp>
        <p:nvSpPr>
          <p:cNvPr name="TextBox 78" id="7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Omit semicolons whenever possible.</a:t>
            </a:r>
          </a:p>
          <a:p>
            <a:r>
              <a:rPr lang="en-US" sz="5000"/>
              <a:t>  </a:t>
            </a:r>
          </a:p>
          <a:p>
            <a:r>
              <a:rPr lang="en-US" sz="3700">
                <a:solidFill>
                  <a:srgbClr val="252525"/>
                </a:solidFill>
              </a:rPr>
              <a:t>String templates﻿</a:t>
            </a:r>
          </a:p>
          <a:p>
            <a:r>
              <a:rPr lang="en-US" sz="3700">
                <a:solidFill>
                  <a:srgbClr val="252525"/>
                </a:solidFill>
              </a:rPr>
              <a:t>Don't use curly braces when inserting a simple variable into a string template. Use curly braces only for longer expressions.</a:t>
            </a:r>
          </a:p>
          <a:p>
            <a:r>
              <a:rPr lang="en-US" sz="5000"/>
              <a:t>  </a:t>
            </a:r>
          </a:p>
          <a:p>
            <a:r>
              <a:rPr lang="en-US" sz="3700">
                <a:solidFill>
                  <a:srgbClr val="252525"/>
                </a:solidFill>
              </a:rPr>
              <a:t>println("$name has ${children.size} children")</a:t>
            </a:r>
          </a:p>
          <a:p>
            <a:r>
              <a:rPr lang="en-US" sz="3700">
                <a:solidFill>
                  <a:srgbClr val="252525"/>
                </a:solidFill>
              </a:rPr>
              <a:t>Idiomatic use of language features﻿</a:t>
            </a:r>
          </a:p>
          <a:p>
            <a:r>
              <a:rPr lang="en-US" sz="3700">
                <a:solidFill>
                  <a:srgbClr val="252525"/>
                </a:solidFill>
              </a:rPr>
              <a:t>Immutability﻿</a:t>
            </a:r>
          </a:p>
          <a:p>
            <a:r>
              <a:rPr lang="en-US" sz="3700">
                <a:solidFill>
                  <a:srgbClr val="252525"/>
                </a:solidFill>
              </a:rPr>
              <a:t>Prefer using immutable data to mutable. Always declare local variables and properties as val rather than var if they are not modified after initialization.</a:t>
            </a:r>
          </a:p>
          <a:p>
            <a:r>
              <a:rPr lang="en-US" sz="5000"/>
              <a:t>  </a:t>
            </a:r>
          </a:p>
          <a:p>
            <a:r>
              <a:rPr lang="en-US" sz="3700">
                <a:solidFill>
                  <a:srgbClr val="252525"/>
                </a:solidFill>
              </a:rPr>
              <a:t>Always use immutable collection interfaces (Collection, List, Set, Map) to declare collections which are not mutated. When using factory functions to create collection instances, always use functions </a:t>
            </a:r>
          </a:p>
        </p:txBody>
      </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80" id="80"/>
          <p:cNvPicPr>
            <a:picLocks noChangeAspect="true"/>
          </p:cNvPicPr>
          <p:nvPr/>
        </p:nvPicPr>
        <p:blipFill>
          <a:blip r:embed="rId80"/>
          <a:stretch>
            <a:fillRect/>
          </a:stretch>
        </p:blipFill>
        <p:spPr>
          <a:xfrm>
            <a:off x="0" y="127000"/>
            <a:ext cx="23749000" cy="16548100"/>
          </a:xfrm>
          <a:prstGeom prst="rect">
            <a:avLst/>
          </a:prstGeom>
        </p:spPr>
      </p:pic>
      <p:sp>
        <p:nvSpPr>
          <p:cNvPr name="TextBox 80" id="8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that return immutable collection types when possible:</a:t>
            </a:r>
          </a:p>
          <a:p>
            <a:r>
              <a:rPr lang="en-US" sz="5000"/>
              <a:t>  </a:t>
            </a:r>
          </a:p>
          <a:p>
            <a:r>
              <a:rPr lang="en-US" sz="3700">
                <a:solidFill>
                  <a:srgbClr val="252525"/>
                </a:solidFill>
              </a:rPr>
              <a:t>// Bad: use of a mutable collection type for value which will not be mutated</a:t>
            </a:r>
          </a:p>
          <a:p>
            <a:r>
              <a:rPr lang="en-US" sz="3700">
                <a:solidFill>
                  <a:srgbClr val="252525"/>
                </a:solidFill>
              </a:rPr>
              <a:t>fun validateValue(actualValue: String, allowedValues: HashSet&lt;String&gt;) { ... }</a:t>
            </a:r>
          </a:p>
          <a:p>
            <a:r>
              <a:rPr lang="en-US" sz="5000"/>
              <a:t>  </a:t>
            </a:r>
          </a:p>
          <a:p>
            <a:r>
              <a:rPr lang="en-US" sz="3700">
                <a:solidFill>
                  <a:srgbClr val="252525"/>
                </a:solidFill>
              </a:rPr>
              <a:t>// Good: immutable collection type used instead</a:t>
            </a:r>
          </a:p>
          <a:p>
            <a:r>
              <a:rPr lang="en-US" sz="3700">
                <a:solidFill>
                  <a:srgbClr val="252525"/>
                </a:solidFill>
              </a:rPr>
              <a:t>fun validateValue(actualValue: String, allowedValues: Set&lt;String&gt;) { ... }</a:t>
            </a:r>
          </a:p>
          <a:p>
            <a:r>
              <a:rPr lang="en-US" sz="5000"/>
              <a:t>  </a:t>
            </a:r>
          </a:p>
          <a:p>
            <a:r>
              <a:rPr lang="en-US" sz="3700">
                <a:solidFill>
                  <a:srgbClr val="252525"/>
                </a:solidFill>
              </a:rPr>
              <a:t>// Bad: arrayListOf() returns ArrayList&lt;T&gt;, which is a mutable collection type</a:t>
            </a:r>
          </a:p>
          <a:p>
            <a:r>
              <a:rPr lang="en-US" sz="3700">
                <a:solidFill>
                  <a:srgbClr val="252525"/>
                </a:solidFill>
              </a:rPr>
              <a:t>val allowedValues = arrayListOf("a", "b", "c")</a:t>
            </a:r>
          </a:p>
          <a:p>
            <a:r>
              <a:rPr lang="en-US" sz="5000"/>
              <a:t>  </a:t>
            </a:r>
          </a:p>
          <a:p>
            <a:r>
              <a:rPr lang="en-US" sz="3700">
                <a:solidFill>
                  <a:srgbClr val="252525"/>
                </a:solidFill>
              </a:rPr>
              <a:t>// Good: listOf() returns List&lt;T&gt;</a:t>
            </a:r>
          </a:p>
          <a:p>
            <a:r>
              <a:rPr lang="en-US" sz="3700">
                <a:solidFill>
                  <a:srgbClr val="252525"/>
                </a:solidFill>
              </a:rPr>
              <a:t>val allowedValues = listOf("a", "b", "c")</a:t>
            </a:r>
          </a:p>
          <a:p>
            <a:r>
              <a:rPr lang="en-US" sz="3700">
                <a:solidFill>
                  <a:srgbClr val="252525"/>
                </a:solidFill>
              </a:rPr>
              <a:t>Default parameter values﻿</a:t>
            </a:r>
          </a:p>
          <a:p>
            <a:r>
              <a:rPr lang="en-US" sz="3700">
                <a:solidFill>
                  <a:srgbClr val="252525"/>
                </a:solidFill>
              </a:rPr>
              <a:t>Prefer declaring functions with default </a:t>
            </a:r>
          </a:p>
        </p:txBody>
      </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82" id="82"/>
          <p:cNvPicPr>
            <a:picLocks noChangeAspect="true"/>
          </p:cNvPicPr>
          <p:nvPr/>
        </p:nvPicPr>
        <p:blipFill>
          <a:blip r:embed="rId82"/>
          <a:stretch>
            <a:fillRect/>
          </a:stretch>
        </p:blipFill>
        <p:spPr>
          <a:xfrm>
            <a:off x="0" y="127000"/>
            <a:ext cx="23749000" cy="16548100"/>
          </a:xfrm>
          <a:prstGeom prst="rect">
            <a:avLst/>
          </a:prstGeom>
        </p:spPr>
      </p:pic>
      <p:sp>
        <p:nvSpPr>
          <p:cNvPr name="TextBox 82" id="8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parameter values to declaring overloaded functions.</a:t>
            </a:r>
          </a:p>
          <a:p>
            <a:r>
              <a:rPr lang="en-US" sz="5000"/>
              <a:t>  </a:t>
            </a:r>
          </a:p>
          <a:p>
            <a:r>
              <a:rPr lang="en-US" sz="3700">
                <a:solidFill>
                  <a:srgbClr val="252525"/>
                </a:solidFill>
              </a:rPr>
              <a:t>// Bad</a:t>
            </a:r>
          </a:p>
          <a:p>
            <a:r>
              <a:rPr lang="en-US" sz="3700">
                <a:solidFill>
                  <a:srgbClr val="252525"/>
                </a:solidFill>
              </a:rPr>
              <a:t>fun foo() = foo("a")</a:t>
            </a:r>
          </a:p>
          <a:p>
            <a:r>
              <a:rPr lang="en-US" sz="3700">
                <a:solidFill>
                  <a:srgbClr val="252525"/>
                </a:solidFill>
              </a:rPr>
              <a:t>fun foo(a: String) { /*...*/ }</a:t>
            </a:r>
          </a:p>
          <a:p>
            <a:r>
              <a:rPr lang="en-US" sz="5000"/>
              <a:t>  </a:t>
            </a:r>
          </a:p>
          <a:p>
            <a:r>
              <a:rPr lang="en-US" sz="3700">
                <a:solidFill>
                  <a:srgbClr val="252525"/>
                </a:solidFill>
              </a:rPr>
              <a:t>// Good</a:t>
            </a:r>
          </a:p>
          <a:p>
            <a:r>
              <a:rPr lang="en-US" sz="3700">
                <a:solidFill>
                  <a:srgbClr val="252525"/>
                </a:solidFill>
              </a:rPr>
              <a:t>fun foo(a: String = "a") { /*...*/ }</a:t>
            </a:r>
          </a:p>
          <a:p>
            <a:r>
              <a:rPr lang="en-US" sz="3700">
                <a:solidFill>
                  <a:srgbClr val="252525"/>
                </a:solidFill>
              </a:rPr>
              <a:t>Type aliases﻿</a:t>
            </a:r>
          </a:p>
          <a:p>
            <a:r>
              <a:rPr lang="en-US" sz="3700">
                <a:solidFill>
                  <a:srgbClr val="252525"/>
                </a:solidFill>
              </a:rPr>
              <a:t>If you have a functional type or a type with type parameters which is used multiple times in a codebase, prefer defining a type alias for it:</a:t>
            </a:r>
          </a:p>
          <a:p>
            <a:r>
              <a:rPr lang="en-US" sz="5000"/>
              <a:t>  </a:t>
            </a:r>
          </a:p>
          <a:p>
            <a:r>
              <a:rPr lang="en-US" sz="3700">
                <a:solidFill>
                  <a:srgbClr val="252525"/>
                </a:solidFill>
              </a:rPr>
              <a:t>typealias MouseClickHandler = (Any, MouseEvent) -&gt; Unit</a:t>
            </a:r>
          </a:p>
          <a:p>
            <a:r>
              <a:rPr lang="en-US" sz="3700">
                <a:solidFill>
                  <a:srgbClr val="252525"/>
                </a:solidFill>
              </a:rPr>
              <a:t>typealias PersonIndex = Map&lt;String, Person&gt;</a:t>
            </a:r>
          </a:p>
          <a:p>
            <a:r>
              <a:rPr lang="en-US" sz="3700">
                <a:solidFill>
                  <a:srgbClr val="252525"/>
                </a:solidFill>
              </a:rPr>
              <a:t>If you use a private or internal type alias for avoiding name collision, prefer the </a:t>
            </a:r>
          </a:p>
        </p:txBody>
      </p:sp>
    </p:spTree>
  </p:cSld>
  <p:clrMapOvr>
    <a:masterClrMapping/>
  </p:clrMapOvr>
</p:sld>
</file>

<file path=ppt/slides/slide4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84" id="84"/>
          <p:cNvPicPr>
            <a:picLocks noChangeAspect="true"/>
          </p:cNvPicPr>
          <p:nvPr/>
        </p:nvPicPr>
        <p:blipFill>
          <a:blip r:embed="rId84"/>
          <a:stretch>
            <a:fillRect/>
          </a:stretch>
        </p:blipFill>
        <p:spPr>
          <a:xfrm>
            <a:off x="0" y="127000"/>
            <a:ext cx="23749000" cy="16548100"/>
          </a:xfrm>
          <a:prstGeom prst="rect">
            <a:avLst/>
          </a:prstGeom>
        </p:spPr>
      </p:pic>
      <p:sp>
        <p:nvSpPr>
          <p:cNvPr name="TextBox 84" id="8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import ... as ... mentioned in Packages and Imports.</a:t>
            </a:r>
          </a:p>
          <a:p>
            <a:r>
              <a:rPr lang="en-US" sz="5000"/>
              <a:t>  </a:t>
            </a:r>
          </a:p>
          <a:p>
            <a:r>
              <a:rPr lang="en-US" sz="3700">
                <a:solidFill>
                  <a:srgbClr val="252525"/>
                </a:solidFill>
              </a:rPr>
              <a:t>Lambda parameters﻿</a:t>
            </a:r>
          </a:p>
          <a:p>
            <a:r>
              <a:rPr lang="en-US" sz="3700">
                <a:solidFill>
                  <a:srgbClr val="252525"/>
                </a:solidFill>
              </a:rPr>
              <a:t>In lambdas which are short and not nested, it's recommended to use the it convention instead of declaring the parameter explicitly. In nested lambdas with parameters, always declare parameters explicitly.</a:t>
            </a:r>
          </a:p>
          <a:p>
            <a:r>
              <a:rPr lang="en-US" sz="5000"/>
              <a:t>  </a:t>
            </a:r>
          </a:p>
          <a:p>
            <a:r>
              <a:rPr lang="en-US" sz="3700">
                <a:solidFill>
                  <a:srgbClr val="252525"/>
                </a:solidFill>
              </a:rPr>
              <a:t>Returns in a lambda﻿</a:t>
            </a:r>
          </a:p>
          <a:p>
            <a:r>
              <a:rPr lang="en-US" sz="3700">
                <a:solidFill>
                  <a:srgbClr val="252525"/>
                </a:solidFill>
              </a:rPr>
              <a:t>Avoid using multiple labeled returns in a lambda. Consider restructuring the lambda so that it will have a single exit point. If that's not possible or not clear enough, consider converting the lambda into an anonymous function.</a:t>
            </a:r>
          </a:p>
          <a:p>
            <a:r>
              <a:rPr lang="en-US" sz="5000"/>
              <a:t>  </a:t>
            </a:r>
          </a:p>
          <a:p>
            <a:r>
              <a:rPr lang="en-US" sz="3700">
                <a:solidFill>
                  <a:srgbClr val="252525"/>
                </a:solidFill>
              </a:rPr>
              <a:t>Do not use a labeled return for the last statement in a lambda.</a:t>
            </a:r>
          </a:p>
        </p:txBody>
      </p:sp>
    </p:spTree>
  </p:cSld>
  <p:clrMapOvr>
    <a:masterClrMapping/>
  </p:clrMapOvr>
</p:sld>
</file>

<file path=ppt/slides/slide4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86" id="86"/>
          <p:cNvPicPr>
            <a:picLocks noChangeAspect="true"/>
          </p:cNvPicPr>
          <p:nvPr/>
        </p:nvPicPr>
        <p:blipFill>
          <a:blip r:embed="rId86"/>
          <a:stretch>
            <a:fillRect/>
          </a:stretch>
        </p:blipFill>
        <p:spPr>
          <a:xfrm>
            <a:off x="0" y="127000"/>
            <a:ext cx="23749000" cy="16548100"/>
          </a:xfrm>
          <a:prstGeom prst="rect">
            <a:avLst/>
          </a:prstGeom>
        </p:spPr>
      </p:pic>
      <p:sp>
        <p:nvSpPr>
          <p:cNvPr name="TextBox 86" id="87"/>
          <p:cNvSpPr txBox="true"/>
          <p:nvPr/>
        </p:nvSpPr>
        <p:spPr>
          <a:xfrm>
            <a:off x="5930900" y="1320800"/>
            <a:ext cx="11887200" cy="15735300"/>
          </a:xfrm>
          <a:prstGeom prst="rect">
            <a:avLst/>
          </a:prstGeom>
        </p:spPr>
        <p:txBody>
          <a:bodyPr anchor="t" rtlCol="false"/>
          <a:lstStyle/>
          <a:p>
            <a:pPr algn="l"/>
            <a:r>
              <a:t/>
            </a:r>
            <a:endParaRPr lang="en-US" sz="1100"/>
          </a:p>
          <a:p>
            <a:r>
              <a:rPr lang="en-US" sz="3700">
                <a:solidFill>
                  <a:srgbClr val="252525"/>
                </a:solidFill>
              </a:rPr>
              <a:t>Named arguments﻿</a:t>
            </a:r>
          </a:p>
          <a:p>
            <a:r>
              <a:rPr lang="en-US" sz="3700">
                <a:solidFill>
                  <a:srgbClr val="252525"/>
                </a:solidFill>
              </a:rPr>
              <a:t>Use the named argument syntax when a method takes multiple parameters of the same primitive type, or for parameters of Boolean type, unless the meaning of all parameters is absolutely clear from context.</a:t>
            </a:r>
          </a:p>
          <a:p>
            <a:r>
              <a:rPr lang="en-US" sz="5000"/>
              <a:t>  </a:t>
            </a:r>
          </a:p>
          <a:p>
            <a:r>
              <a:rPr lang="en-US" sz="3700">
                <a:solidFill>
                  <a:srgbClr val="252525"/>
                </a:solidFill>
              </a:rPr>
              <a:t>drawSquare(x = 10, y = 10, width = 100, height = 100, fill = true)</a:t>
            </a:r>
          </a:p>
          <a:p>
            <a:r>
              <a:rPr lang="en-US" sz="3700">
                <a:solidFill>
                  <a:srgbClr val="252525"/>
                </a:solidFill>
              </a:rPr>
              <a:t>Conditional statements﻿</a:t>
            </a:r>
          </a:p>
          <a:p>
            <a:r>
              <a:rPr lang="en-US" sz="3700">
                <a:solidFill>
                  <a:srgbClr val="252525"/>
                </a:solidFill>
              </a:rPr>
              <a:t>Prefer using the expression form of try, if, and when.</a:t>
            </a:r>
          </a:p>
          <a:p>
            <a:r>
              <a:rPr lang="en-US" sz="5000"/>
              <a:t>  </a:t>
            </a:r>
          </a:p>
          <a:p>
            <a:r>
              <a:rPr lang="en-US" sz="3700">
                <a:solidFill>
                  <a:srgbClr val="252525"/>
                </a:solidFill>
              </a:rPr>
              <a:t>return if (x) foo() else bar()</a:t>
            </a:r>
          </a:p>
          <a:p>
            <a:r>
              <a:rPr lang="en-US" sz="3700">
                <a:solidFill>
                  <a:srgbClr val="252525"/>
                </a:solidFill>
              </a:rPr>
              <a:t>return when(x) {</a:t>
            </a:r>
          </a:p>
          <a:p>
            <a:r>
              <a:rPr lang="en-US" sz="3700">
                <a:solidFill>
                  <a:srgbClr val="252525"/>
                </a:solidFill>
              </a:rPr>
              <a:t>    0 -&gt; "zero"</a:t>
            </a:r>
          </a:p>
          <a:p>
            <a:r>
              <a:rPr lang="en-US" sz="3700">
                <a:solidFill>
                  <a:srgbClr val="252525"/>
                </a:solidFill>
              </a:rPr>
              <a:t>    else -&gt; "nonzero"</a:t>
            </a:r>
          </a:p>
          <a:p>
            <a:r>
              <a:rPr lang="en-US" sz="3700">
                <a:solidFill>
                  <a:srgbClr val="252525"/>
                </a:solidFill>
              </a:rPr>
              <a:t>}</a:t>
            </a:r>
          </a:p>
          <a:p>
            <a:r>
              <a:rPr lang="en-US" sz="3700">
                <a:solidFill>
                  <a:srgbClr val="252525"/>
                </a:solidFill>
              </a:rPr>
              <a:t>The above is preferable to:</a:t>
            </a:r>
          </a:p>
        </p:txBody>
      </p:sp>
    </p:spTree>
  </p:cSld>
  <p:clrMapOvr>
    <a:masterClrMapping/>
  </p:clrMapOvr>
</p:sld>
</file>

<file path=ppt/slides/slide4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88" id="88"/>
          <p:cNvPicPr>
            <a:picLocks noChangeAspect="true"/>
          </p:cNvPicPr>
          <p:nvPr/>
        </p:nvPicPr>
        <p:blipFill>
          <a:blip r:embed="rId88"/>
          <a:stretch>
            <a:fillRect/>
          </a:stretch>
        </p:blipFill>
        <p:spPr>
          <a:xfrm>
            <a:off x="0" y="127000"/>
            <a:ext cx="23749000" cy="16548100"/>
          </a:xfrm>
          <a:prstGeom prst="rect">
            <a:avLst/>
          </a:prstGeom>
        </p:spPr>
      </p:pic>
      <p:sp>
        <p:nvSpPr>
          <p:cNvPr name="TextBox 88" id="89"/>
          <p:cNvSpPr txBox="true"/>
          <p:nvPr/>
        </p:nvSpPr>
        <p:spPr>
          <a:xfrm>
            <a:off x="5930900" y="1320800"/>
            <a:ext cx="11887200" cy="15735300"/>
          </a:xfrm>
          <a:prstGeom prst="rect">
            <a:avLst/>
          </a:prstGeom>
        </p:spPr>
        <p:txBody>
          <a:bodyPr anchor="t" rtlCol="false"/>
          <a:lstStyle/>
          <a:p>
            <a:pPr algn="l"/>
            <a:r>
              <a:t/>
            </a:r>
            <a:endParaRPr lang="en-US" sz="1100"/>
          </a:p>
          <a:p>
            <a:r>
              <a:rPr lang="en-US" sz="3700">
                <a:solidFill>
                  <a:srgbClr val="252525"/>
                </a:solidFill>
              </a:rPr>
              <a:t>if (x)</a:t>
            </a:r>
          </a:p>
          <a:p>
            <a:r>
              <a:rPr lang="en-US" sz="3700">
                <a:solidFill>
                  <a:srgbClr val="252525"/>
                </a:solidFill>
              </a:rPr>
              <a:t>    return foo()</a:t>
            </a:r>
          </a:p>
          <a:p>
            <a:r>
              <a:rPr lang="en-US" sz="3700">
                <a:solidFill>
                  <a:srgbClr val="252525"/>
                </a:solidFill>
              </a:rPr>
              <a:t>else</a:t>
            </a:r>
          </a:p>
          <a:p>
            <a:r>
              <a:rPr lang="en-US" sz="3700">
                <a:solidFill>
                  <a:srgbClr val="252525"/>
                </a:solidFill>
              </a:rPr>
              <a:t>    return bar()</a:t>
            </a:r>
          </a:p>
          <a:p>
            <a:r>
              <a:rPr lang="en-US" sz="3700">
                <a:solidFill>
                  <a:srgbClr val="252525"/>
                </a:solidFill>
              </a:rPr>
              <a:t>when(x) {</a:t>
            </a:r>
          </a:p>
          <a:p>
            <a:r>
              <a:rPr lang="en-US" sz="3700">
                <a:solidFill>
                  <a:srgbClr val="252525"/>
                </a:solidFill>
              </a:rPr>
              <a:t>    0 -&gt; return "zero"</a:t>
            </a:r>
          </a:p>
          <a:p>
            <a:r>
              <a:rPr lang="en-US" sz="3700">
                <a:solidFill>
                  <a:srgbClr val="252525"/>
                </a:solidFill>
              </a:rPr>
              <a:t>    else -&gt; return "nonzero"</a:t>
            </a:r>
          </a:p>
          <a:p>
            <a:r>
              <a:rPr lang="en-US" sz="3700">
                <a:solidFill>
                  <a:srgbClr val="252525"/>
                </a:solidFill>
              </a:rPr>
              <a:t>}</a:t>
            </a:r>
          </a:p>
          <a:p>
            <a:r>
              <a:rPr lang="en-US" sz="3700">
                <a:solidFill>
                  <a:srgbClr val="252525"/>
                </a:solidFill>
              </a:rPr>
              <a:t>if versus when﻿</a:t>
            </a:r>
          </a:p>
          <a:p>
            <a:r>
              <a:rPr lang="en-US" sz="3700">
                <a:solidFill>
                  <a:srgbClr val="252525"/>
                </a:solidFill>
              </a:rPr>
              <a:t>Prefer using if for binary conditions instead of when. For example, use this syntax with if:</a:t>
            </a:r>
          </a:p>
          <a:p>
            <a:r>
              <a:rPr lang="en-US" sz="5000"/>
              <a:t>  </a:t>
            </a:r>
          </a:p>
          <a:p>
            <a:r>
              <a:rPr lang="en-US" sz="3700">
                <a:solidFill>
                  <a:srgbClr val="252525"/>
                </a:solidFill>
              </a:rPr>
              <a:t>if (x == null) ... else ...</a:t>
            </a:r>
          </a:p>
          <a:p>
            <a:r>
              <a:rPr lang="en-US" sz="3700">
                <a:solidFill>
                  <a:srgbClr val="252525"/>
                </a:solidFill>
              </a:rPr>
              <a:t>Instead of this one with when:</a:t>
            </a:r>
          </a:p>
          <a:p>
            <a:r>
              <a:rPr lang="en-US" sz="5000"/>
              <a:t>  </a:t>
            </a:r>
          </a:p>
          <a:p>
            <a:r>
              <a:rPr lang="en-US" sz="3700">
                <a:solidFill>
                  <a:srgbClr val="252525"/>
                </a:solidFill>
              </a:rPr>
              <a:t>when (x) {</a:t>
            </a:r>
          </a:p>
          <a:p>
            <a:r>
              <a:rPr lang="en-US" sz="3700">
                <a:solidFill>
                  <a:srgbClr val="252525"/>
                </a:solidFill>
              </a:rPr>
              <a:t>    null -&gt; // ...</a:t>
            </a:r>
          </a:p>
          <a:p>
            <a:r>
              <a:rPr lang="en-US" sz="3700">
                <a:solidFill>
                  <a:srgbClr val="252525"/>
                </a:solidFill>
              </a:rPr>
              <a:t>    else -&gt; // ...</a:t>
            </a:r>
          </a:p>
          <a:p>
            <a:r>
              <a:rPr lang="en-US" sz="3700">
                <a:solidFill>
                  <a:srgbClr val="252525"/>
                </a:solidFill>
              </a:rPr>
              <a:t>}</a:t>
            </a:r>
          </a:p>
        </p:txBody>
      </p:sp>
    </p:spTree>
  </p:cSld>
  <p:clrMapOvr>
    <a:masterClrMapping/>
  </p:clrMapOvr>
</p:sld>
</file>

<file path=ppt/slides/slide4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90" id="90"/>
          <p:cNvPicPr>
            <a:picLocks noChangeAspect="true"/>
          </p:cNvPicPr>
          <p:nvPr/>
        </p:nvPicPr>
        <p:blipFill>
          <a:blip r:embed="rId90"/>
          <a:stretch>
            <a:fillRect/>
          </a:stretch>
        </p:blipFill>
        <p:spPr>
          <a:xfrm>
            <a:off x="0" y="127000"/>
            <a:ext cx="23749000" cy="16548100"/>
          </a:xfrm>
          <a:prstGeom prst="rect">
            <a:avLst/>
          </a:prstGeom>
        </p:spPr>
      </p:pic>
      <p:sp>
        <p:nvSpPr>
          <p:cNvPr name="TextBox 90" id="9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Prefer using when if there are three or more options.</a:t>
            </a:r>
          </a:p>
          <a:p>
            <a:r>
              <a:rPr lang="en-US" sz="5000"/>
              <a:t>  </a:t>
            </a:r>
          </a:p>
          <a:p>
            <a:r>
              <a:rPr lang="en-US" sz="3700">
                <a:solidFill>
                  <a:srgbClr val="252525"/>
                </a:solidFill>
              </a:rPr>
              <a:t>Guard conditions in when expression﻿</a:t>
            </a:r>
          </a:p>
          <a:p>
            <a:r>
              <a:rPr lang="en-US" sz="3700">
                <a:solidFill>
                  <a:srgbClr val="252525"/>
                </a:solidFill>
              </a:rPr>
              <a:t>Use parentheses when combining multiple boolean expressions in when expressions or statements with guard conditions:</a:t>
            </a:r>
          </a:p>
          <a:p>
            <a:r>
              <a:rPr lang="en-US" sz="5000"/>
              <a:t>  </a:t>
            </a:r>
          </a:p>
          <a:p>
            <a:r>
              <a:rPr lang="en-US" sz="3700">
                <a:solidFill>
                  <a:srgbClr val="252525"/>
                </a:solidFill>
              </a:rPr>
              <a:t>when (status) {</a:t>
            </a:r>
          </a:p>
          <a:p>
            <a:r>
              <a:rPr lang="en-US" sz="3700">
                <a:solidFill>
                  <a:srgbClr val="252525"/>
                </a:solidFill>
              </a:rPr>
              <a:t>    is Status.Ok if (status.info.isEmpty() || status.info.id == null) -&gt; "no information"</a:t>
            </a:r>
          </a:p>
          <a:p>
            <a:r>
              <a:rPr lang="en-US" sz="3700">
                <a:solidFill>
                  <a:srgbClr val="252525"/>
                </a:solidFill>
              </a:rPr>
              <a:t>}</a:t>
            </a:r>
          </a:p>
          <a:p>
            <a:r>
              <a:rPr lang="en-US" sz="3700">
                <a:solidFill>
                  <a:srgbClr val="252525"/>
                </a:solidFill>
              </a:rPr>
              <a:t>Instead of:</a:t>
            </a:r>
          </a:p>
          <a:p>
            <a:r>
              <a:rPr lang="en-US" sz="5000"/>
              <a:t>  </a:t>
            </a:r>
          </a:p>
          <a:p>
            <a:r>
              <a:rPr lang="en-US" sz="3700">
                <a:solidFill>
                  <a:srgbClr val="252525"/>
                </a:solidFill>
              </a:rPr>
              <a:t>when (status) {</a:t>
            </a:r>
          </a:p>
          <a:p>
            <a:r>
              <a:rPr lang="en-US" sz="3700">
                <a:solidFill>
                  <a:srgbClr val="252525"/>
                </a:solidFill>
              </a:rPr>
              <a:t>    is Status.Ok if status.info.isEmpty() || status.info.id == null -&gt; "no information"</a:t>
            </a:r>
          </a:p>
          <a:p>
            <a:r>
              <a:rPr lang="en-US" sz="3700">
                <a:solidFill>
                  <a:srgbClr val="252525"/>
                </a:solidFill>
              </a:rPr>
              <a:t>}</a:t>
            </a:r>
          </a:p>
          <a:p>
            <a:r>
              <a:rPr lang="en-US" sz="3700">
                <a:solidFill>
                  <a:srgbClr val="252525"/>
                </a:solidFill>
              </a:rPr>
              <a:t>Nullable Boolean values in conditions﻿</a:t>
            </a:r>
          </a:p>
          <a:p>
            <a:r>
              <a:rPr lang="en-US" sz="3700">
                <a:solidFill>
                  <a:srgbClr val="252525"/>
                </a:solidFill>
              </a:rPr>
              <a:t>If you need to use a nullable Boolean in a conditional statement, use if (value == </a:t>
            </a:r>
          </a:p>
        </p:txBody>
      </p:sp>
    </p:spTree>
  </p:cSld>
  <p:clrMapOvr>
    <a:masterClrMapping/>
  </p:clrMapOvr>
</p:sld>
</file>

<file path=ppt/slides/slide4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92" id="92"/>
          <p:cNvPicPr>
            <a:picLocks noChangeAspect="true"/>
          </p:cNvPicPr>
          <p:nvPr/>
        </p:nvPicPr>
        <p:blipFill>
          <a:blip r:embed="rId92"/>
          <a:stretch>
            <a:fillRect/>
          </a:stretch>
        </p:blipFill>
        <p:spPr>
          <a:xfrm>
            <a:off x="0" y="127000"/>
            <a:ext cx="23749000" cy="16548100"/>
          </a:xfrm>
          <a:prstGeom prst="rect">
            <a:avLst/>
          </a:prstGeom>
        </p:spPr>
      </p:pic>
      <p:sp>
        <p:nvSpPr>
          <p:cNvPr name="TextBox 92" id="9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true) or if (value == false) checks.</a:t>
            </a:r>
          </a:p>
          <a:p>
            <a:r>
              <a:rPr lang="en-US" sz="5000"/>
              <a:t>  </a:t>
            </a:r>
          </a:p>
          <a:p>
            <a:r>
              <a:rPr lang="en-US" sz="3700">
                <a:solidFill>
                  <a:srgbClr val="252525"/>
                </a:solidFill>
              </a:rPr>
              <a:t>Loops﻿</a:t>
            </a:r>
          </a:p>
          <a:p>
            <a:r>
              <a:rPr lang="en-US" sz="3700">
                <a:solidFill>
                  <a:srgbClr val="252525"/>
                </a:solidFill>
              </a:rPr>
              <a:t>Prefer using higher-order functions (filter, map etc.) to loops. Exception: forEach (prefer using a regular for loop instead, unless the receiver of forEach is nullable or forEach is used as part of a longer call chain).</a:t>
            </a:r>
          </a:p>
          <a:p>
            <a:r>
              <a:rPr lang="en-US" sz="5000"/>
              <a:t>  </a:t>
            </a:r>
          </a:p>
          <a:p>
            <a:r>
              <a:rPr lang="en-US" sz="3700">
                <a:solidFill>
                  <a:srgbClr val="252525"/>
                </a:solidFill>
              </a:rPr>
              <a:t>When making a choice between a complex expression using multiple higher-order functions and a loop, understand the cost of the operations being performed in each case and keep performance considerations in mind.</a:t>
            </a:r>
          </a:p>
          <a:p>
            <a:r>
              <a:rPr lang="en-US" sz="5000"/>
              <a:t>  </a:t>
            </a:r>
          </a:p>
          <a:p>
            <a:r>
              <a:rPr lang="en-US" sz="3700">
                <a:solidFill>
                  <a:srgbClr val="252525"/>
                </a:solidFill>
              </a:rPr>
              <a:t>Loops on ranges﻿</a:t>
            </a:r>
          </a:p>
          <a:p>
            <a:r>
              <a:rPr lang="en-US" sz="3700">
                <a:solidFill>
                  <a:srgbClr val="252525"/>
                </a:solidFill>
              </a:rPr>
              <a:t>Use the ..&lt; operator to loop over an open-ended range:</a:t>
            </a:r>
          </a:p>
        </p:txBody>
      </p:sp>
    </p:spTree>
  </p:cSld>
  <p:clrMapOvr>
    <a:masterClrMapping/>
  </p:clrMapOvr>
</p:sld>
</file>

<file path=ppt/slides/slide4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94" id="94"/>
          <p:cNvPicPr>
            <a:picLocks noChangeAspect="true"/>
          </p:cNvPicPr>
          <p:nvPr/>
        </p:nvPicPr>
        <p:blipFill>
          <a:blip r:embed="rId94"/>
          <a:stretch>
            <a:fillRect/>
          </a:stretch>
        </p:blipFill>
        <p:spPr>
          <a:xfrm>
            <a:off x="0" y="127000"/>
            <a:ext cx="23749000" cy="16548100"/>
          </a:xfrm>
          <a:prstGeom prst="rect">
            <a:avLst/>
          </a:prstGeom>
        </p:spPr>
      </p:pic>
      <p:sp>
        <p:nvSpPr>
          <p:cNvPr name="TextBox 94" id="9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for (i in 0..n - 1) { /*...*/ }  // bad</a:t>
            </a:r>
          </a:p>
          <a:p>
            <a:r>
              <a:rPr lang="en-US" sz="3700">
                <a:solidFill>
                  <a:srgbClr val="252525"/>
                </a:solidFill>
              </a:rPr>
              <a:t>for (i in 0..&lt;n) { /*...*/ }  // good</a:t>
            </a:r>
          </a:p>
          <a:p>
            <a:r>
              <a:rPr lang="en-US" sz="3700">
                <a:solidFill>
                  <a:srgbClr val="252525"/>
                </a:solidFill>
              </a:rPr>
              <a:t>Strings﻿</a:t>
            </a:r>
          </a:p>
          <a:p>
            <a:r>
              <a:rPr lang="en-US" sz="3700">
                <a:solidFill>
                  <a:srgbClr val="252525"/>
                </a:solidFill>
              </a:rPr>
              <a:t>Prefer string templates to string concatenation.</a:t>
            </a:r>
          </a:p>
          <a:p>
            <a:r>
              <a:rPr lang="en-US" sz="5000"/>
              <a:t>  </a:t>
            </a:r>
          </a:p>
          <a:p>
            <a:r>
              <a:rPr lang="en-US" sz="3700">
                <a:solidFill>
                  <a:srgbClr val="252525"/>
                </a:solidFill>
              </a:rPr>
              <a:t>Prefer multiline strings to embedding \n escape sequences into regular string literals.</a:t>
            </a:r>
          </a:p>
          <a:p>
            <a:r>
              <a:rPr lang="en-US" sz="5000"/>
              <a:t>  </a:t>
            </a:r>
          </a:p>
          <a:p>
            <a:r>
              <a:rPr lang="en-US" sz="3700">
                <a:solidFill>
                  <a:srgbClr val="252525"/>
                </a:solidFill>
              </a:rPr>
              <a:t>To maintain indentation in multiline strings, use trimIndent when the resulting string does not require any internal indentation, or trimMargin when internal indentation is required:</a:t>
            </a:r>
          </a:p>
          <a:p>
            <a:r>
              <a:rPr lang="en-US" sz="5000"/>
              <a:t>  </a:t>
            </a:r>
          </a:p>
          <a:p>
            <a:r>
              <a:rPr lang="en-US" sz="3700">
                <a:solidFill>
                  <a:srgbClr val="252525"/>
                </a:solidFill>
              </a:rPr>
              <a:t>println("""</a:t>
            </a:r>
          </a:p>
          <a:p>
            <a:r>
              <a:rPr lang="en-US" sz="3700">
                <a:solidFill>
                  <a:srgbClr val="252525"/>
                </a:solidFill>
              </a:rPr>
              <a:t>    Not</a:t>
            </a:r>
          </a:p>
          <a:p>
            <a:r>
              <a:rPr lang="en-US" sz="3700">
                <a:solidFill>
                  <a:srgbClr val="252525"/>
                </a:solidFill>
              </a:rPr>
              <a:t>    trimmed</a:t>
            </a:r>
          </a:p>
          <a:p>
            <a:r>
              <a:rPr lang="en-US" sz="3700">
                <a:solidFill>
                  <a:srgbClr val="252525"/>
                </a:solidFill>
              </a:rPr>
              <a:t>    text</a:t>
            </a:r>
          </a:p>
          <a:p>
            <a:r>
              <a:rPr lang="en-US" sz="3700">
                <a:solidFill>
                  <a:srgbClr val="252525"/>
                </a:solidFill>
              </a:rPr>
              <a:t>    """</a:t>
            </a:r>
          </a:p>
        </p:txBody>
      </p:sp>
    </p:spTree>
  </p:cSld>
  <p:clrMapOvr>
    <a:masterClrMapping/>
  </p:clrMapOvr>
</p:sld>
</file>

<file path=ppt/slides/slide4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96" id="96"/>
          <p:cNvPicPr>
            <a:picLocks noChangeAspect="true"/>
          </p:cNvPicPr>
          <p:nvPr/>
        </p:nvPicPr>
        <p:blipFill>
          <a:blip r:embed="rId96"/>
          <a:stretch>
            <a:fillRect/>
          </a:stretch>
        </p:blipFill>
        <p:spPr>
          <a:xfrm>
            <a:off x="0" y="127000"/>
            <a:ext cx="23749000" cy="16548100"/>
          </a:xfrm>
          <a:prstGeom prst="rect">
            <a:avLst/>
          </a:prstGeom>
        </p:spPr>
      </p:pic>
      <p:sp>
        <p:nvSpPr>
          <p:cNvPr name="TextBox 96" id="9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a:t>
            </a:r>
          </a:p>
          <a:p>
            <a:r>
              <a:rPr lang="en-US" sz="3700">
                <a:solidFill>
                  <a:srgbClr val="252525"/>
                </a:solidFill>
              </a:rPr>
              <a:t>​</a:t>
            </a:r>
          </a:p>
          <a:p>
            <a:r>
              <a:rPr lang="en-US" sz="3700">
                <a:solidFill>
                  <a:srgbClr val="252525"/>
                </a:solidFill>
              </a:rPr>
              <a:t>println("""</a:t>
            </a:r>
          </a:p>
          <a:p>
            <a:r>
              <a:rPr lang="en-US" sz="3700">
                <a:solidFill>
                  <a:srgbClr val="252525"/>
                </a:solidFill>
              </a:rPr>
              <a:t>    Trimmed</a:t>
            </a:r>
          </a:p>
          <a:p>
            <a:r>
              <a:rPr lang="en-US" sz="3700">
                <a:solidFill>
                  <a:srgbClr val="252525"/>
                </a:solidFill>
              </a:rPr>
              <a:t>    text</a:t>
            </a:r>
          </a:p>
          <a:p>
            <a:r>
              <a:rPr lang="en-US" sz="3700">
                <a:solidFill>
                  <a:srgbClr val="252525"/>
                </a:solidFill>
              </a:rPr>
              <a:t>    """.trimIndent()</a:t>
            </a:r>
          </a:p>
          <a:p>
            <a:r>
              <a:rPr lang="en-US" sz="3700">
                <a:solidFill>
                  <a:srgbClr val="252525"/>
                </a:solidFill>
              </a:rPr>
              <a:t>       )</a:t>
            </a:r>
          </a:p>
          <a:p>
            <a:r>
              <a:rPr lang="en-US" sz="3700">
                <a:solidFill>
                  <a:srgbClr val="252525"/>
                </a:solidFill>
              </a:rPr>
              <a:t>​</a:t>
            </a:r>
          </a:p>
          <a:p>
            <a:r>
              <a:rPr lang="en-US" sz="3700">
                <a:solidFill>
                  <a:srgbClr val="252525"/>
                </a:solidFill>
              </a:rPr>
              <a:t>println()</a:t>
            </a:r>
          </a:p>
          <a:p>
            <a:r>
              <a:rPr lang="en-US" sz="3700">
                <a:solidFill>
                  <a:srgbClr val="252525"/>
                </a:solidFill>
              </a:rPr>
              <a:t>​</a:t>
            </a:r>
          </a:p>
          <a:p>
            <a:r>
              <a:rPr lang="en-US" sz="3700">
                <a:solidFill>
                  <a:srgbClr val="252525"/>
                </a:solidFill>
              </a:rPr>
              <a:t>val a = """Trimmed to margin text:</a:t>
            </a:r>
          </a:p>
          <a:p>
            <a:r>
              <a:rPr lang="en-US" sz="3700">
                <a:solidFill>
                  <a:srgbClr val="252525"/>
                </a:solidFill>
              </a:rPr>
              <a:t>          |if(a &gt; 1) {</a:t>
            </a:r>
          </a:p>
          <a:p>
            <a:r>
              <a:rPr lang="en-US" sz="3700">
                <a:solidFill>
                  <a:srgbClr val="252525"/>
                </a:solidFill>
              </a:rPr>
              <a:t>          |    return a</a:t>
            </a:r>
          </a:p>
          <a:p>
            <a:r>
              <a:rPr lang="en-US" sz="3700">
                <a:solidFill>
                  <a:srgbClr val="252525"/>
                </a:solidFill>
              </a:rPr>
              <a:t>          |}""".trimMargin()</a:t>
            </a:r>
          </a:p>
          <a:p>
            <a:r>
              <a:rPr lang="en-US" sz="3700">
                <a:solidFill>
                  <a:srgbClr val="252525"/>
                </a:solidFill>
              </a:rPr>
              <a:t>​</a:t>
            </a:r>
          </a:p>
          <a:p>
            <a:r>
              <a:rPr lang="en-US" sz="3700">
                <a:solidFill>
                  <a:srgbClr val="252525"/>
                </a:solidFill>
              </a:rPr>
              <a:t>println(a)</a:t>
            </a:r>
          </a:p>
          <a:p>
            <a:r>
              <a:rPr lang="en-US" sz="3700">
                <a:solidFill>
                  <a:srgbClr val="252525"/>
                </a:solidFill>
              </a:rPr>
              <a:t>Open in Playground →</a:t>
            </a:r>
          </a:p>
          <a:p>
            <a:r>
              <a:rPr lang="en-US" sz="3700">
                <a:solidFill>
                  <a:srgbClr val="252525"/>
                </a:solidFill>
              </a:rPr>
              <a:t>Target: JVM</a:t>
            </a:r>
          </a:p>
          <a:p>
            <a:r>
              <a:rPr lang="en-US" sz="3700">
                <a:solidFill>
                  <a:srgbClr val="252525"/>
                </a:solidFill>
              </a:rPr>
              <a:t>Running on v.2.1.10</a:t>
            </a:r>
          </a:p>
          <a:p>
            <a:r>
              <a:rPr lang="en-US" sz="3700">
                <a:solidFill>
                  <a:srgbClr val="252525"/>
                </a:solidFill>
              </a:rPr>
              <a:t>Learn the difference between Java and Kotlin multiline strings.</a:t>
            </a:r>
          </a:p>
        </p:txBody>
      </p:sp>
    </p:spTree>
  </p:cSld>
  <p:clrMapOvr>
    <a:masterClrMapping/>
  </p:clrMapOvr>
</p:sld>
</file>

<file path=ppt/slides/slide4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98" id="98"/>
          <p:cNvPicPr>
            <a:picLocks noChangeAspect="true"/>
          </p:cNvPicPr>
          <p:nvPr/>
        </p:nvPicPr>
        <p:blipFill>
          <a:blip r:embed="rId98"/>
          <a:stretch>
            <a:fillRect/>
          </a:stretch>
        </p:blipFill>
        <p:spPr>
          <a:xfrm>
            <a:off x="0" y="127000"/>
            <a:ext cx="23749000" cy="16548100"/>
          </a:xfrm>
          <a:prstGeom prst="rect">
            <a:avLst/>
          </a:prstGeom>
        </p:spPr>
      </p:pic>
      <p:sp>
        <p:nvSpPr>
          <p:cNvPr name="TextBox 98" id="99"/>
          <p:cNvSpPr txBox="true"/>
          <p:nvPr/>
        </p:nvSpPr>
        <p:spPr>
          <a:xfrm>
            <a:off x="5930900" y="1320800"/>
            <a:ext cx="11887200" cy="15735300"/>
          </a:xfrm>
          <a:prstGeom prst="rect">
            <a:avLst/>
          </a:prstGeom>
        </p:spPr>
        <p:txBody>
          <a:bodyPr anchor="t" rtlCol="false"/>
          <a:lstStyle/>
          <a:p>
            <a:pPr algn="l"/>
            <a:r>
              <a:t/>
            </a:r>
            <a:endParaRPr lang="en-US" sz="1100"/>
          </a:p>
          <a:p>
            <a:r>
              <a:rPr lang="en-US" sz="3700">
                <a:solidFill>
                  <a:srgbClr val="252525"/>
                </a:solidFill>
              </a:rPr>
              <a:t>Functions vs properties﻿</a:t>
            </a:r>
          </a:p>
          <a:p>
            <a:r>
              <a:rPr lang="en-US" sz="3700">
                <a:solidFill>
                  <a:srgbClr val="252525"/>
                </a:solidFill>
              </a:rPr>
              <a:t>In some scenarios, functions with no arguments might be interchangeable with read-only properties. Although the semantics are similar, there are some stylistic conventions on when to prefer one to another.</a:t>
            </a:r>
          </a:p>
          <a:p>
            <a:r>
              <a:rPr lang="en-US" sz="5000"/>
              <a:t>  </a:t>
            </a:r>
          </a:p>
          <a:p>
            <a:r>
              <a:rPr lang="en-US" sz="3700">
                <a:solidFill>
                  <a:srgbClr val="252525"/>
                </a:solidFill>
              </a:rPr>
              <a:t>Prefer a property over a function when the underlying algorithm:</a:t>
            </a:r>
          </a:p>
          <a:p>
            <a:r>
              <a:rPr lang="en-US" sz="5000"/>
              <a:t>  </a:t>
            </a:r>
          </a:p>
          <a:p>
            <a:r>
              <a:rPr lang="en-US" sz="3700">
                <a:solidFill>
                  <a:srgbClr val="252525"/>
                </a:solidFill>
              </a:rPr>
              <a:t>Does not throw.</a:t>
            </a:r>
          </a:p>
          <a:p>
            <a:r>
              <a:rPr lang="en-US" sz="5000"/>
              <a:t>  </a:t>
            </a:r>
          </a:p>
          <a:p>
            <a:r>
              <a:rPr lang="en-US" sz="3700">
                <a:solidFill>
                  <a:srgbClr val="252525"/>
                </a:solidFill>
              </a:rPr>
              <a:t>Is cheap to calculate (or cached on the first run).</a:t>
            </a:r>
          </a:p>
          <a:p>
            <a:r>
              <a:rPr lang="en-US" sz="5000"/>
              <a:t>  </a:t>
            </a:r>
          </a:p>
          <a:p>
            <a:r>
              <a:rPr lang="en-US" sz="3700">
                <a:solidFill>
                  <a:srgbClr val="252525"/>
                </a:solidFill>
              </a:rPr>
              <a:t>Returns the same result over invocations if the object state hasn't changed.</a:t>
            </a:r>
          </a:p>
          <a:p>
            <a:r>
              <a:rPr lang="en-US" sz="5000"/>
              <a:t>  </a:t>
            </a:r>
          </a:p>
          <a:p>
            <a:r>
              <a:rPr lang="en-US" sz="3700">
                <a:solidFill>
                  <a:srgbClr val="252525"/>
                </a:solidFill>
              </a:rPr>
              <a:t>Extension functions﻿</a:t>
            </a:r>
          </a:p>
        </p:txBody>
      </p:sp>
    </p:spTree>
  </p:cSld>
  <p:clrMapOvr>
    <a:masterClrMapping/>
  </p:clrMapOvr>
</p:sld>
</file>

<file path=ppt/slides/slide5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00" id="100"/>
          <p:cNvPicPr>
            <a:picLocks noChangeAspect="true"/>
          </p:cNvPicPr>
          <p:nvPr/>
        </p:nvPicPr>
        <p:blipFill>
          <a:blip r:embed="rId100"/>
          <a:stretch>
            <a:fillRect/>
          </a:stretch>
        </p:blipFill>
        <p:spPr>
          <a:xfrm>
            <a:off x="0" y="127000"/>
            <a:ext cx="23749000" cy="16548100"/>
          </a:xfrm>
          <a:prstGeom prst="rect">
            <a:avLst/>
          </a:prstGeom>
        </p:spPr>
      </p:pic>
      <p:sp>
        <p:nvSpPr>
          <p:cNvPr name="TextBox 100" id="10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Use extension functions liberally. Every time you have a function that works primarily on an object, consider making it an extension function accepting that object as a receiver. To minimize API pollution, restrict the visibility of extension functions as much as it makes sense. As necessary, use local extension functions, member extension functions, or top-level extension functions with private visibility.</a:t>
            </a:r>
          </a:p>
          <a:p>
            <a:r>
              <a:rPr lang="en-US" sz="5000"/>
              <a:t>  </a:t>
            </a:r>
          </a:p>
          <a:p>
            <a:r>
              <a:rPr lang="en-US" sz="3700">
                <a:solidFill>
                  <a:srgbClr val="252525"/>
                </a:solidFill>
              </a:rPr>
              <a:t>Infix functions﻿</a:t>
            </a:r>
          </a:p>
          <a:p>
            <a:r>
              <a:rPr lang="en-US" sz="3700">
                <a:solidFill>
                  <a:srgbClr val="252525"/>
                </a:solidFill>
              </a:rPr>
              <a:t>Declare a function as infix only when it works on two objects which play a similar role. Good examples: and, to, zip. Bad example: add.</a:t>
            </a:r>
          </a:p>
          <a:p>
            <a:r>
              <a:rPr lang="en-US" sz="5000"/>
              <a:t>  </a:t>
            </a:r>
          </a:p>
          <a:p>
            <a:r>
              <a:rPr lang="en-US" sz="3700">
                <a:solidFill>
                  <a:srgbClr val="252525"/>
                </a:solidFill>
              </a:rPr>
              <a:t>Do not declare a method as infix if it mutates the receiver object.</a:t>
            </a:r>
          </a:p>
          <a:p>
            <a:r>
              <a:rPr lang="en-US" sz="5000"/>
              <a:t>  </a:t>
            </a:r>
          </a:p>
          <a:p>
            <a:r>
              <a:rPr lang="en-US" sz="3700">
                <a:solidFill>
                  <a:srgbClr val="252525"/>
                </a:solidFill>
              </a:rPr>
              <a:t>Factory functions﻿</a:t>
            </a:r>
          </a:p>
        </p:txBody>
      </p:sp>
    </p:spTree>
  </p:cSld>
  <p:clrMapOvr>
    <a:masterClrMapping/>
  </p:clrMapOvr>
</p:sld>
</file>

<file path=ppt/slides/slide5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02" id="102"/>
          <p:cNvPicPr>
            <a:picLocks noChangeAspect="true"/>
          </p:cNvPicPr>
          <p:nvPr/>
        </p:nvPicPr>
        <p:blipFill>
          <a:blip r:embed="rId102"/>
          <a:stretch>
            <a:fillRect/>
          </a:stretch>
        </p:blipFill>
        <p:spPr>
          <a:xfrm>
            <a:off x="0" y="127000"/>
            <a:ext cx="23749000" cy="16548100"/>
          </a:xfrm>
          <a:prstGeom prst="rect">
            <a:avLst/>
          </a:prstGeom>
        </p:spPr>
      </p:pic>
      <p:sp>
        <p:nvSpPr>
          <p:cNvPr name="TextBox 102" id="10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If you declare a factory function for a class, avoid giving it the same name as the class itself. Prefer using a distinct name, making it clear why the behavior of the factory function is special. Only if there is really no special semantics, you can use the same name as the class.</a:t>
            </a:r>
          </a:p>
          <a:p>
            <a:r>
              <a:rPr lang="en-US" sz="5000"/>
              <a:t>  </a:t>
            </a:r>
          </a:p>
          <a:p>
            <a:r>
              <a:rPr lang="en-US" sz="3700">
                <a:solidFill>
                  <a:srgbClr val="252525"/>
                </a:solidFill>
              </a:rPr>
              <a:t>class Point(val x: Double, val y: Double) {</a:t>
            </a:r>
          </a:p>
          <a:p>
            <a:r>
              <a:rPr lang="en-US" sz="3700">
                <a:solidFill>
                  <a:srgbClr val="252525"/>
                </a:solidFill>
              </a:rPr>
              <a:t>    companion object {</a:t>
            </a:r>
          </a:p>
          <a:p>
            <a:r>
              <a:rPr lang="en-US" sz="3700">
                <a:solidFill>
                  <a:srgbClr val="252525"/>
                </a:solidFill>
              </a:rPr>
              <a:t>        fun fromPolar(angle: Double, radius: Double) = Point(...)</a:t>
            </a:r>
          </a:p>
          <a:p>
            <a:r>
              <a:rPr lang="en-US" sz="3700">
                <a:solidFill>
                  <a:srgbClr val="252525"/>
                </a:solidFill>
              </a:rPr>
              <a:t>    }</a:t>
            </a:r>
          </a:p>
          <a:p>
            <a:r>
              <a:rPr lang="en-US" sz="3700">
                <a:solidFill>
                  <a:srgbClr val="252525"/>
                </a:solidFill>
              </a:rPr>
              <a:t>}</a:t>
            </a:r>
          </a:p>
          <a:p>
            <a:r>
              <a:rPr lang="en-US" sz="3700">
                <a:solidFill>
                  <a:srgbClr val="252525"/>
                </a:solidFill>
              </a:rPr>
              <a:t>If you have an object with multiple overloaded constructors that don't call different superclass constructors and can't be reduced to a single constructor with default argument values, prefer to replace the overloaded constructors with factory functions.</a:t>
            </a:r>
          </a:p>
        </p:txBody>
      </p:sp>
    </p:spTree>
  </p:cSld>
  <p:clrMapOvr>
    <a:masterClrMapping/>
  </p:clrMapOvr>
</p:sld>
</file>

<file path=ppt/slides/slide5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04" id="104"/>
          <p:cNvPicPr>
            <a:picLocks noChangeAspect="true"/>
          </p:cNvPicPr>
          <p:nvPr/>
        </p:nvPicPr>
        <p:blipFill>
          <a:blip r:embed="rId104"/>
          <a:stretch>
            <a:fillRect/>
          </a:stretch>
        </p:blipFill>
        <p:spPr>
          <a:xfrm>
            <a:off x="0" y="127000"/>
            <a:ext cx="23749000" cy="16548100"/>
          </a:xfrm>
          <a:prstGeom prst="rect">
            <a:avLst/>
          </a:prstGeom>
        </p:spPr>
      </p:pic>
      <p:sp>
        <p:nvSpPr>
          <p:cNvPr name="TextBox 104" id="105"/>
          <p:cNvSpPr txBox="true"/>
          <p:nvPr/>
        </p:nvSpPr>
        <p:spPr>
          <a:xfrm>
            <a:off x="5930900" y="1320800"/>
            <a:ext cx="11887200" cy="15735300"/>
          </a:xfrm>
          <a:prstGeom prst="rect">
            <a:avLst/>
          </a:prstGeom>
        </p:spPr>
        <p:txBody>
          <a:bodyPr anchor="t" rtlCol="false"/>
          <a:lstStyle/>
          <a:p>
            <a:pPr algn="l"/>
            <a:r>
              <a:t/>
            </a:r>
            <a:endParaRPr lang="en-US" sz="1100"/>
          </a:p>
          <a:p>
            <a:r>
              <a:rPr lang="en-US" sz="3700">
                <a:solidFill>
                  <a:srgbClr val="252525"/>
                </a:solidFill>
              </a:rPr>
              <a:t>Platform types﻿</a:t>
            </a:r>
          </a:p>
          <a:p>
            <a:r>
              <a:rPr lang="en-US" sz="3700">
                <a:solidFill>
                  <a:srgbClr val="252525"/>
                </a:solidFill>
              </a:rPr>
              <a:t>A public function/method returning an expression of a platform type must declare its Kotlin type explicitly:</a:t>
            </a:r>
          </a:p>
          <a:p>
            <a:r>
              <a:rPr lang="en-US" sz="5000"/>
              <a:t>  </a:t>
            </a:r>
          </a:p>
          <a:p>
            <a:r>
              <a:rPr lang="en-US" sz="3700">
                <a:solidFill>
                  <a:srgbClr val="252525"/>
                </a:solidFill>
              </a:rPr>
              <a:t>fun apiCall(): String = MyJavaApi.getProperty("name")</a:t>
            </a:r>
          </a:p>
          <a:p>
            <a:r>
              <a:rPr lang="en-US" sz="3700">
                <a:solidFill>
                  <a:srgbClr val="252525"/>
                </a:solidFill>
              </a:rPr>
              <a:t>Any property (package-level or class-level) initialized with an expression of a platform type must declare its Kotlin type explicitly:</a:t>
            </a:r>
          </a:p>
          <a:p>
            <a:r>
              <a:rPr lang="en-US" sz="5000"/>
              <a:t>  </a:t>
            </a:r>
          </a:p>
          <a:p>
            <a:r>
              <a:rPr lang="en-US" sz="3700">
                <a:solidFill>
                  <a:srgbClr val="252525"/>
                </a:solidFill>
              </a:rPr>
              <a:t>class Person {</a:t>
            </a:r>
          </a:p>
          <a:p>
            <a:r>
              <a:rPr lang="en-US" sz="3700">
                <a:solidFill>
                  <a:srgbClr val="252525"/>
                </a:solidFill>
              </a:rPr>
              <a:t>    val name: String = MyJavaApi.getProperty("name")</a:t>
            </a:r>
          </a:p>
          <a:p>
            <a:r>
              <a:rPr lang="en-US" sz="3700">
                <a:solidFill>
                  <a:srgbClr val="252525"/>
                </a:solidFill>
              </a:rPr>
              <a:t>}</a:t>
            </a:r>
          </a:p>
          <a:p>
            <a:r>
              <a:rPr lang="en-US" sz="3700">
                <a:solidFill>
                  <a:srgbClr val="252525"/>
                </a:solidFill>
              </a:rPr>
              <a:t>A local value initialized with an expression of a platform type may or may not have a type declaration:</a:t>
            </a:r>
          </a:p>
          <a:p>
            <a:r>
              <a:rPr lang="en-US" sz="5000"/>
              <a:t>  </a:t>
            </a:r>
          </a:p>
          <a:p>
            <a:r>
              <a:rPr lang="en-US" sz="3700">
                <a:solidFill>
                  <a:srgbClr val="252525"/>
                </a:solidFill>
              </a:rPr>
              <a:t>fun main() {</a:t>
            </a:r>
          </a:p>
        </p:txBody>
      </p:sp>
    </p:spTree>
  </p:cSld>
  <p:clrMapOvr>
    <a:masterClrMapping/>
  </p:clrMapOvr>
</p:sld>
</file>

<file path=ppt/slides/slide5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06" id="106"/>
          <p:cNvPicPr>
            <a:picLocks noChangeAspect="true"/>
          </p:cNvPicPr>
          <p:nvPr/>
        </p:nvPicPr>
        <p:blipFill>
          <a:blip r:embed="rId106"/>
          <a:stretch>
            <a:fillRect/>
          </a:stretch>
        </p:blipFill>
        <p:spPr>
          <a:xfrm>
            <a:off x="0" y="127000"/>
            <a:ext cx="23749000" cy="16548100"/>
          </a:xfrm>
          <a:prstGeom prst="rect">
            <a:avLst/>
          </a:prstGeom>
        </p:spPr>
      </p:pic>
      <p:sp>
        <p:nvSpPr>
          <p:cNvPr name="TextBox 106" id="10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val name = MyJavaApi.getProperty("name")</a:t>
            </a:r>
          </a:p>
          <a:p>
            <a:r>
              <a:rPr lang="en-US" sz="3700">
                <a:solidFill>
                  <a:srgbClr val="252525"/>
                </a:solidFill>
              </a:rPr>
              <a:t>    println(name)</a:t>
            </a:r>
          </a:p>
          <a:p>
            <a:r>
              <a:rPr lang="en-US" sz="3700">
                <a:solidFill>
                  <a:srgbClr val="252525"/>
                </a:solidFill>
              </a:rPr>
              <a:t>}</a:t>
            </a:r>
          </a:p>
          <a:p>
            <a:r>
              <a:rPr lang="en-US" sz="3700">
                <a:solidFill>
                  <a:srgbClr val="252525"/>
                </a:solidFill>
              </a:rPr>
              <a:t>Scope functions apply/with/run/also/let﻿</a:t>
            </a:r>
          </a:p>
          <a:p>
            <a:r>
              <a:rPr lang="en-US" sz="3700">
                <a:solidFill>
                  <a:srgbClr val="252525"/>
                </a:solidFill>
              </a:rPr>
              <a:t>Kotlin provides a set of functions to execute a block of code in the context of a given object: let, run, with, apply, and also. For the guidance on choosing the right scope function for your case, refer to Scope Functions.</a:t>
            </a:r>
          </a:p>
          <a:p>
            <a:r>
              <a:rPr lang="en-US" sz="5000"/>
              <a:t>  </a:t>
            </a:r>
          </a:p>
          <a:p>
            <a:r>
              <a:rPr lang="en-US" sz="3700">
                <a:solidFill>
                  <a:srgbClr val="252525"/>
                </a:solidFill>
              </a:rPr>
              <a:t>Coding conventions for libraries﻿</a:t>
            </a:r>
          </a:p>
          <a:p>
            <a:r>
              <a:rPr lang="en-US" sz="3700">
                <a:solidFill>
                  <a:srgbClr val="252525"/>
                </a:solidFill>
              </a:rPr>
              <a:t>When writing libraries, it's recommended to follow an additional set of rules to ensure API stability:</a:t>
            </a:r>
          </a:p>
          <a:p>
            <a:r>
              <a:rPr lang="en-US" sz="5000"/>
              <a:t>  </a:t>
            </a:r>
          </a:p>
          <a:p>
            <a:r>
              <a:rPr lang="en-US" sz="3700">
                <a:solidFill>
                  <a:srgbClr val="252525"/>
                </a:solidFill>
              </a:rPr>
              <a:t>Always explicitly specify member visibility (to avoid accidentally exposing declarations as public API).</a:t>
            </a:r>
          </a:p>
        </p:txBody>
      </p:sp>
    </p:spTree>
  </p:cSld>
  <p:clrMapOvr>
    <a:masterClrMapping/>
  </p:clrMapOvr>
</p:sld>
</file>

<file path=ppt/slides/slide5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08" id="108"/>
          <p:cNvPicPr>
            <a:picLocks noChangeAspect="true"/>
          </p:cNvPicPr>
          <p:nvPr/>
        </p:nvPicPr>
        <p:blipFill>
          <a:blip r:embed="rId108"/>
          <a:stretch>
            <a:fillRect/>
          </a:stretch>
        </p:blipFill>
        <p:spPr>
          <a:xfrm>
            <a:off x="0" y="127000"/>
            <a:ext cx="23749000" cy="16548100"/>
          </a:xfrm>
          <a:prstGeom prst="rect">
            <a:avLst/>
          </a:prstGeom>
        </p:spPr>
      </p:pic>
      <p:sp>
        <p:nvSpPr>
          <p:cNvPr name="TextBox 108" id="10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Always explicitly specify function return types and property types (to avoid accidentally changing the return type when the implementation changes).</a:t>
            </a:r>
          </a:p>
          <a:p>
            <a:r>
              <a:rPr lang="en-US" sz="5000"/>
              <a:t>  </a:t>
            </a:r>
          </a:p>
          <a:p>
            <a:r>
              <a:rPr lang="en-US" sz="3700">
                <a:solidFill>
                  <a:srgbClr val="252525"/>
                </a:solidFill>
              </a:rPr>
              <a:t>Provide KDoc comments for all public members, except for overrides that do not require any new documentation (to support generating documentation for the library).</a:t>
            </a:r>
          </a:p>
          <a:p>
            <a:r>
              <a:rPr lang="en-US" sz="5000"/>
              <a:t>  </a:t>
            </a:r>
          </a:p>
          <a:p>
            <a:r>
              <a:rPr lang="en-US" sz="3700">
                <a:solidFill>
                  <a:srgbClr val="252525"/>
                </a:solidFill>
              </a:rPr>
              <a:t>Learn more about best practices and ideas to consider when writing an API for your library in the Library authors' guidelines.</a:t>
            </a:r>
          </a:p>
          <a:p>
            <a:r>
              <a:rPr lang="en-US" sz="5000"/>
              <a:t>  </a:t>
            </a:r>
          </a:p>
          <a:p>
            <a:r>
              <a:rPr lang="en-US" sz="3700">
                <a:solidFill>
                  <a:srgbClr val="252525"/>
                </a:solidFill>
              </a:rPr>
              <a:t>Was this page helpful?</a:t>
            </a:r>
          </a:p>
          <a:p>
            <a:r>
              <a:rPr lang="en-US" sz="3700">
                <a:solidFill>
                  <a:srgbClr val="252525"/>
                </a:solidFill>
              </a:rPr>
              <a:t>YesNo</a:t>
            </a:r>
          </a:p>
          <a:p>
            <a:r>
              <a:rPr lang="en-US" sz="3700">
                <a:solidFill>
                  <a:srgbClr val="252525"/>
                </a:solidFill>
              </a:rPr>
              <a:t>Idioms</a:t>
            </a:r>
          </a:p>
          <a:p>
            <a:r>
              <a:rPr lang="en-US" sz="3700">
                <a:solidFill>
                  <a:srgbClr val="252525"/>
                </a:solidFill>
              </a:rPr>
              <a:t>Basic types</a:t>
            </a:r>
          </a:p>
          <a:p>
            <a:r>
              <a:rPr lang="en-US" sz="3700">
                <a:solidFill>
                  <a:srgbClr val="252525"/>
                </a:solidFill>
              </a:rPr>
              <a:t>Contributing to KotlinReleasesPress KitSecurityBlogIssue </a:t>
            </a:r>
          </a:p>
        </p:txBody>
      </p:sp>
    </p:spTree>
  </p:cSld>
  <p:clrMapOvr>
    <a:masterClrMapping/>
  </p:clrMapOvr>
</p:sld>
</file>

<file path=ppt/slides/slide5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10" id="110"/>
          <p:cNvPicPr>
            <a:picLocks noChangeAspect="true"/>
          </p:cNvPicPr>
          <p:nvPr/>
        </p:nvPicPr>
        <p:blipFill>
          <a:blip r:embed="rId110"/>
          <a:stretch>
            <a:fillRect/>
          </a:stretch>
        </p:blipFill>
        <p:spPr>
          <a:xfrm>
            <a:off x="0" y="127000"/>
            <a:ext cx="23749000" cy="16548100"/>
          </a:xfrm>
          <a:prstGeom prst="rect">
            <a:avLst/>
          </a:prstGeom>
        </p:spPr>
      </p:pic>
      <p:sp>
        <p:nvSpPr>
          <p:cNvPr name="TextBox 110" id="11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TrackerCareersKotlin MerchOpt-Out</a:t>
            </a:r>
          </a:p>
          <a:p>
            <a:r>
              <a:rPr lang="en-US" sz="3700">
                <a:solidFill>
                  <a:srgbClr val="252525"/>
                </a:solidFill>
              </a:rPr>
              <a:t>Kotlin™ is protected under the Kotlin Foundation and licensed under the Apache 2 license. Supported and developed by JetBrains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terms:modified xsi:type="dcterms:W3CDTF">2011-08-01T06:04:30Z</dcterms:modified>
  <cp:revision>1</cp:revision>
</cp:coreProperties>
</file>