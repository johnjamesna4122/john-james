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</p:sldIdLst>
  <p:sldSz cx="23749000" cy="168021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100" Type="http://schemas.openxmlformats.org/officeDocument/2006/relationships/slide" Target="slides/slide95.xml"/><Relationship Id="rId101" Type="http://schemas.openxmlformats.org/officeDocument/2006/relationships/slide" Target="slides/slide96.xml"/><Relationship Id="rId102" Type="http://schemas.openxmlformats.org/officeDocument/2006/relationships/slide" Target="slides/slide97.xml"/><Relationship Id="rId103" Type="http://schemas.openxmlformats.org/officeDocument/2006/relationships/slide" Target="slides/slide98.xml"/><Relationship Id="rId104" Type="http://schemas.openxmlformats.org/officeDocument/2006/relationships/slide" Target="slides/slide99.xml"/><Relationship Id="rId105" Type="http://schemas.openxmlformats.org/officeDocument/2006/relationships/slide" Target="slides/slide100.xml"/><Relationship Id="rId106" Type="http://schemas.openxmlformats.org/officeDocument/2006/relationships/slide" Target="slides/slide101.xml"/><Relationship Id="rId107" Type="http://schemas.openxmlformats.org/officeDocument/2006/relationships/slide" Target="slides/slide102.xml"/><Relationship Id="rId108" Type="http://schemas.openxmlformats.org/officeDocument/2006/relationships/slide" Target="slides/slide103.xml"/><Relationship Id="rId109" Type="http://schemas.openxmlformats.org/officeDocument/2006/relationships/slide" Target="slides/slide104.xml"/><Relationship Id="rId11" Type="http://schemas.openxmlformats.org/officeDocument/2006/relationships/slide" Target="slides/slide6.xml"/><Relationship Id="rId110" Type="http://schemas.openxmlformats.org/officeDocument/2006/relationships/slide" Target="slides/slide105.xml"/><Relationship Id="rId111" Type="http://schemas.openxmlformats.org/officeDocument/2006/relationships/slide" Target="slides/slide106.xml"/><Relationship Id="rId112" Type="http://schemas.openxmlformats.org/officeDocument/2006/relationships/slide" Target="slides/slide107.xml"/><Relationship Id="rId113" Type="http://schemas.openxmlformats.org/officeDocument/2006/relationships/slide" Target="slides/slide108.xml"/><Relationship Id="rId114" Type="http://schemas.openxmlformats.org/officeDocument/2006/relationships/slide" Target="slides/slide109.xml"/><Relationship Id="rId115" Type="http://schemas.openxmlformats.org/officeDocument/2006/relationships/slide" Target="slides/slide110.xml"/><Relationship Id="rId116" Type="http://schemas.openxmlformats.org/officeDocument/2006/relationships/slide" Target="slides/slide111.xml"/><Relationship Id="rId117" Type="http://schemas.openxmlformats.org/officeDocument/2006/relationships/slide" Target="slides/slide112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" Type="http://schemas.openxmlformats.org/officeDocument/2006/relationships/presProps" Target="presProps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" Type="http://schemas.openxmlformats.org/officeDocument/2006/relationships/viewProps" Target="viewProps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" Type="http://schemas.openxmlformats.org/officeDocument/2006/relationships/theme" Target="theme/theme1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" Type="http://schemas.openxmlformats.org/officeDocument/2006/relationships/tableStyles" Target="tableStyles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" Type="http://schemas.openxmlformats.org/officeDocument/2006/relationships/slide" Target="slides/slide1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" Type="http://schemas.openxmlformats.org/officeDocument/2006/relationships/slide" Target="slides/slide2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" Type="http://schemas.openxmlformats.org/officeDocument/2006/relationships/slide" Target="slides/slide3.xml"/><Relationship Id="rId80" Type="http://schemas.openxmlformats.org/officeDocument/2006/relationships/slide" Target="slides/slide75.xml"/><Relationship Id="rId81" Type="http://schemas.openxmlformats.org/officeDocument/2006/relationships/slide" Target="slides/slide76.xml"/><Relationship Id="rId82" Type="http://schemas.openxmlformats.org/officeDocument/2006/relationships/slide" Target="slides/slide77.xml"/><Relationship Id="rId83" Type="http://schemas.openxmlformats.org/officeDocument/2006/relationships/slide" Target="slides/slide78.xml"/><Relationship Id="rId84" Type="http://schemas.openxmlformats.org/officeDocument/2006/relationships/slide" Target="slides/slide79.xml"/><Relationship Id="rId85" Type="http://schemas.openxmlformats.org/officeDocument/2006/relationships/slide" Target="slides/slide80.xml"/><Relationship Id="rId86" Type="http://schemas.openxmlformats.org/officeDocument/2006/relationships/slide" Target="slides/slide81.xml"/><Relationship Id="rId87" Type="http://schemas.openxmlformats.org/officeDocument/2006/relationships/slide" Target="slides/slide82.xml"/><Relationship Id="rId88" Type="http://schemas.openxmlformats.org/officeDocument/2006/relationships/slide" Target="slides/slide83.xml"/><Relationship Id="rId89" Type="http://schemas.openxmlformats.org/officeDocument/2006/relationships/slide" Target="slides/slide84.xml"/><Relationship Id="rId9" Type="http://schemas.openxmlformats.org/officeDocument/2006/relationships/slide" Target="slides/slide4.xml"/><Relationship Id="rId90" Type="http://schemas.openxmlformats.org/officeDocument/2006/relationships/slide" Target="slides/slide85.xml"/><Relationship Id="rId91" Type="http://schemas.openxmlformats.org/officeDocument/2006/relationships/slide" Target="slides/slide86.xml"/><Relationship Id="rId92" Type="http://schemas.openxmlformats.org/officeDocument/2006/relationships/slide" Target="slides/slide87.xml"/><Relationship Id="rId93" Type="http://schemas.openxmlformats.org/officeDocument/2006/relationships/slide" Target="slides/slide88.xml"/><Relationship Id="rId94" Type="http://schemas.openxmlformats.org/officeDocument/2006/relationships/slide" Target="slides/slide89.xml"/><Relationship Id="rId95" Type="http://schemas.openxmlformats.org/officeDocument/2006/relationships/slide" Target="slides/slide90.xml"/><Relationship Id="rId96" Type="http://schemas.openxmlformats.org/officeDocument/2006/relationships/slide" Target="slides/slide91.xml"/><Relationship Id="rId97" Type="http://schemas.openxmlformats.org/officeDocument/2006/relationships/slide" Target="slides/slide92.xml"/><Relationship Id="rId98" Type="http://schemas.openxmlformats.org/officeDocument/2006/relationships/slide" Target="slides/slide93.xml"/><Relationship Id="rId99" Type="http://schemas.openxmlformats.org/officeDocument/2006/relationships/slide" Target="slides/slide9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hyperlink" TargetMode="External" Target="https://dn720001.ca.archive.org/0/items/google_privacy_policy_en_eu/google_privacy_policy_en_eu_djvu.txt#:~:text=GOOGLE%20PRIVACY%20POLICY%20%0A%0A%0AWhen,related%20to%20our%20services.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8" Type="http://schemas.openxmlformats.org/officeDocument/2006/relationships/image" Target="../media/image8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0" Type="http://schemas.openxmlformats.org/officeDocument/2006/relationships/image" Target="../media/image10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2" Type="http://schemas.openxmlformats.org/officeDocument/2006/relationships/image" Target="../media/image12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4" Type="http://schemas.openxmlformats.org/officeDocument/2006/relationships/image" Target="../media/image14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6" Type="http://schemas.openxmlformats.org/officeDocument/2006/relationships/image" Target="../media/image16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8" Type="http://schemas.openxmlformats.org/officeDocument/2006/relationships/image" Target="../media/image18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0" Type="http://schemas.openxmlformats.org/officeDocument/2006/relationships/image" Target="../media/image20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2" Type="http://schemas.openxmlformats.org/officeDocument/2006/relationships/image" Target="../media/image22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4" Type="http://schemas.openxmlformats.org/officeDocument/2006/relationships/image" Target="../media/image24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6" Type="http://schemas.openxmlformats.org/officeDocument/2006/relationships/image" Target="../media/image26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8" Type="http://schemas.openxmlformats.org/officeDocument/2006/relationships/image" Target="../media/image28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0" Type="http://schemas.openxmlformats.org/officeDocument/2006/relationships/image" Target="../media/image30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2" Type="http://schemas.openxmlformats.org/officeDocument/2006/relationships/image" Target="../media/image32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4" Type="http://schemas.openxmlformats.org/officeDocument/2006/relationships/image" Target="../media/image34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6" Type="http://schemas.openxmlformats.org/officeDocument/2006/relationships/image" Target="../media/image36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8" Type="http://schemas.openxmlformats.org/officeDocument/2006/relationships/image" Target="../media/image38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0" Type="http://schemas.openxmlformats.org/officeDocument/2006/relationships/image" Target="../media/image40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2" Type="http://schemas.openxmlformats.org/officeDocument/2006/relationships/image" Target="../media/image42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4" Type="http://schemas.openxmlformats.org/officeDocument/2006/relationships/image" Target="../media/image44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6" Type="http://schemas.openxmlformats.org/officeDocument/2006/relationships/image" Target="../media/image46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8" Type="http://schemas.openxmlformats.org/officeDocument/2006/relationships/image" Target="../media/image48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50" Type="http://schemas.openxmlformats.org/officeDocument/2006/relationships/image" Target="../media/image50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52" Type="http://schemas.openxmlformats.org/officeDocument/2006/relationships/image" Target="../media/image52.pn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54" Type="http://schemas.openxmlformats.org/officeDocument/2006/relationships/image" Target="../media/image54.pn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56" Type="http://schemas.openxmlformats.org/officeDocument/2006/relationships/image" Target="../media/image56.png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58" Type="http://schemas.openxmlformats.org/officeDocument/2006/relationships/image" Target="../media/image58.png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60" Type="http://schemas.openxmlformats.org/officeDocument/2006/relationships/image" Target="../media/image60.png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62" Type="http://schemas.openxmlformats.org/officeDocument/2006/relationships/image" Target="../media/image62.png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64" Type="http://schemas.openxmlformats.org/officeDocument/2006/relationships/image" Target="../media/image64.png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66" Type="http://schemas.openxmlformats.org/officeDocument/2006/relationships/image" Target="../media/image66.png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68" Type="http://schemas.openxmlformats.org/officeDocument/2006/relationships/image" Target="../media/image68.png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70" Type="http://schemas.openxmlformats.org/officeDocument/2006/relationships/image" Target="../media/image70.png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72" Type="http://schemas.openxmlformats.org/officeDocument/2006/relationships/image" Target="../media/image72.png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74" Type="http://schemas.openxmlformats.org/officeDocument/2006/relationships/image" Target="../media/image74.png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76" Type="http://schemas.openxmlformats.org/officeDocument/2006/relationships/image" Target="../media/image76.png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78" Type="http://schemas.openxmlformats.org/officeDocument/2006/relationships/image" Target="../media/image78.png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80" Type="http://schemas.openxmlformats.org/officeDocument/2006/relationships/image" Target="../media/image80.png"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82" Type="http://schemas.openxmlformats.org/officeDocument/2006/relationships/image" Target="../media/image82.png"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84" Type="http://schemas.openxmlformats.org/officeDocument/2006/relationships/image" Target="../media/image84.png"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86" Type="http://schemas.openxmlformats.org/officeDocument/2006/relationships/image" Target="../media/image86.png"/></Relationships>
</file>

<file path=ppt/slides/_rels/slide4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88" Type="http://schemas.openxmlformats.org/officeDocument/2006/relationships/image" Target="../media/image88.png"/></Relationships>
</file>

<file path=ppt/slides/_rels/slide4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90" Type="http://schemas.openxmlformats.org/officeDocument/2006/relationships/image" Target="../media/image90.png"/></Relationships>
</file>

<file path=ppt/slides/_rels/slide4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92" Type="http://schemas.openxmlformats.org/officeDocument/2006/relationships/image" Target="../media/image92.png"/></Relationships>
</file>

<file path=ppt/slides/_rels/slide4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94" Type="http://schemas.openxmlformats.org/officeDocument/2006/relationships/image" Target="../media/image94.png"/></Relationships>
</file>

<file path=ppt/slides/_rels/slide4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96" Type="http://schemas.openxmlformats.org/officeDocument/2006/relationships/image" Target="../media/image96.png"/></Relationships>
</file>

<file path=ppt/slides/_rels/slide4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98" Type="http://schemas.openxmlformats.org/officeDocument/2006/relationships/image" Target="../media/image98.png"/></Relationships>
</file>

<file path=ppt/slides/_rels/slide4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00" Type="http://schemas.openxmlformats.org/officeDocument/2006/relationships/image" Target="../media/image100.png"/></Relationships>
</file>

<file path=ppt/slides/_rels/slide5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02" Type="http://schemas.openxmlformats.org/officeDocument/2006/relationships/image" Target="../media/image102.png"/></Relationships>
</file>

<file path=ppt/slides/_rels/slide5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04" Type="http://schemas.openxmlformats.org/officeDocument/2006/relationships/image" Target="../media/image104.png"/></Relationships>
</file>

<file path=ppt/slides/_rels/slide5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06" Type="http://schemas.openxmlformats.org/officeDocument/2006/relationships/image" Target="../media/image106.png"/></Relationships>
</file>

<file path=ppt/slides/_rels/slide5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08" Type="http://schemas.openxmlformats.org/officeDocument/2006/relationships/image" Target="../media/image108.png"/></Relationships>
</file>

<file path=ppt/slides/_rels/slide5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10" Type="http://schemas.openxmlformats.org/officeDocument/2006/relationships/image" Target="../media/image110.png"/></Relationships>
</file>

<file path=ppt/slides/_rels/slide5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12" Type="http://schemas.openxmlformats.org/officeDocument/2006/relationships/image" Target="../media/image112.png"/></Relationships>
</file>

<file path=ppt/slides/_rels/slide5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14" Type="http://schemas.openxmlformats.org/officeDocument/2006/relationships/image" Target="../media/image114.png"/></Relationships>
</file>

<file path=ppt/slides/_rels/slide5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16" Type="http://schemas.openxmlformats.org/officeDocument/2006/relationships/image" Target="../media/image116.png"/></Relationships>
</file>

<file path=ppt/slides/_rels/slide5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18" Type="http://schemas.openxmlformats.org/officeDocument/2006/relationships/image" Target="../media/image118.png"/></Relationships>
</file>

<file path=ppt/slides/_rels/slide5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20" Type="http://schemas.openxmlformats.org/officeDocument/2006/relationships/image" Target="../media/image120.png"/></Relationships>
</file>

<file path=ppt/slides/_rels/slide6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22" Type="http://schemas.openxmlformats.org/officeDocument/2006/relationships/image" Target="../media/image122.png"/></Relationships>
</file>

<file path=ppt/slides/_rels/slide6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24" Type="http://schemas.openxmlformats.org/officeDocument/2006/relationships/image" Target="../media/image124.png"/></Relationships>
</file>

<file path=ppt/slides/_rels/slide6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26" Type="http://schemas.openxmlformats.org/officeDocument/2006/relationships/image" Target="../media/image126.png"/></Relationships>
</file>

<file path=ppt/slides/_rels/slide6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28" Type="http://schemas.openxmlformats.org/officeDocument/2006/relationships/image" Target="../media/image128.png"/></Relationships>
</file>

<file path=ppt/slides/_rels/slide6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30" Type="http://schemas.openxmlformats.org/officeDocument/2006/relationships/image" Target="../media/image130.png"/></Relationships>
</file>

<file path=ppt/slides/_rels/slide6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32" Type="http://schemas.openxmlformats.org/officeDocument/2006/relationships/image" Target="../media/image132.png"/></Relationships>
</file>

<file path=ppt/slides/_rels/slide6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34" Type="http://schemas.openxmlformats.org/officeDocument/2006/relationships/image" Target="../media/image134.png"/></Relationships>
</file>

<file path=ppt/slides/_rels/slide6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36" Type="http://schemas.openxmlformats.org/officeDocument/2006/relationships/image" Target="../media/image136.png"/></Relationships>
</file>

<file path=ppt/slides/_rels/slide6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38" Type="http://schemas.openxmlformats.org/officeDocument/2006/relationships/image" Target="../media/image138.png"/></Relationships>
</file>

<file path=ppt/slides/_rels/slide6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40" Type="http://schemas.openxmlformats.org/officeDocument/2006/relationships/image" Target="../media/image140.png"/></Relationships>
</file>

<file path=ppt/slides/_rels/slide7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42" Type="http://schemas.openxmlformats.org/officeDocument/2006/relationships/image" Target="../media/image142.png"/></Relationships>
</file>

<file path=ppt/slides/_rels/slide7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44" Type="http://schemas.openxmlformats.org/officeDocument/2006/relationships/image" Target="../media/image144.png"/></Relationships>
</file>

<file path=ppt/slides/_rels/slide7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46" Type="http://schemas.openxmlformats.org/officeDocument/2006/relationships/image" Target="../media/image146.png"/></Relationships>
</file>

<file path=ppt/slides/_rels/slide7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48" Type="http://schemas.openxmlformats.org/officeDocument/2006/relationships/image" Target="../media/image148.png"/></Relationships>
</file>

<file path=ppt/slides/_rels/slide7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50" Type="http://schemas.openxmlformats.org/officeDocument/2006/relationships/image" Target="../media/image150.png"/></Relationships>
</file>

<file path=ppt/slides/_rels/slide7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52" Type="http://schemas.openxmlformats.org/officeDocument/2006/relationships/image" Target="../media/image152.png"/></Relationships>
</file>

<file path=ppt/slides/_rels/slide7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54" Type="http://schemas.openxmlformats.org/officeDocument/2006/relationships/image" Target="../media/image154.png"/></Relationships>
</file>

<file path=ppt/slides/_rels/slide7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56" Type="http://schemas.openxmlformats.org/officeDocument/2006/relationships/image" Target="../media/image156.png"/></Relationships>
</file>

<file path=ppt/slides/_rels/slide7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58" Type="http://schemas.openxmlformats.org/officeDocument/2006/relationships/image" Target="../media/image158.png"/></Relationships>
</file>

<file path=ppt/slides/_rels/slide7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60" Type="http://schemas.openxmlformats.org/officeDocument/2006/relationships/image" Target="../media/image160.png"/></Relationships>
</file>

<file path=ppt/slides/_rels/slide8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62" Type="http://schemas.openxmlformats.org/officeDocument/2006/relationships/image" Target="../media/image162.png"/></Relationships>
</file>

<file path=ppt/slides/_rels/slide8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64" Type="http://schemas.openxmlformats.org/officeDocument/2006/relationships/image" Target="../media/image164.png"/></Relationships>
</file>

<file path=ppt/slides/_rels/slide8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66" Type="http://schemas.openxmlformats.org/officeDocument/2006/relationships/image" Target="../media/image166.png"/></Relationships>
</file>

<file path=ppt/slides/_rels/slide8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68" Type="http://schemas.openxmlformats.org/officeDocument/2006/relationships/image" Target="../media/image168.png"/></Relationships>
</file>

<file path=ppt/slides/_rels/slide8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70" Type="http://schemas.openxmlformats.org/officeDocument/2006/relationships/image" Target="../media/image170.png"/></Relationships>
</file>

<file path=ppt/slides/_rels/slide8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72" Type="http://schemas.openxmlformats.org/officeDocument/2006/relationships/image" Target="../media/image172.png"/></Relationships>
</file>

<file path=ppt/slides/_rels/slide8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74" Type="http://schemas.openxmlformats.org/officeDocument/2006/relationships/image" Target="../media/image174.png"/></Relationships>
</file>

<file path=ppt/slides/_rels/slide8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76" Type="http://schemas.openxmlformats.org/officeDocument/2006/relationships/image" Target="../media/image176.png"/></Relationships>
</file>

<file path=ppt/slides/_rels/slide8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78" Type="http://schemas.openxmlformats.org/officeDocument/2006/relationships/image" Target="../media/image178.png"/></Relationships>
</file>

<file path=ppt/slides/_rels/slide8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80" Type="http://schemas.openxmlformats.org/officeDocument/2006/relationships/image" Target="../media/image180.png"/></Relationships>
</file>

<file path=ppt/slides/_rels/slide9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82" Type="http://schemas.openxmlformats.org/officeDocument/2006/relationships/image" Target="../media/image182.png"/></Relationships>
</file>

<file path=ppt/slides/_rels/slide9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84" Type="http://schemas.openxmlformats.org/officeDocument/2006/relationships/image" Target="../media/image184.png"/></Relationships>
</file>

<file path=ppt/slides/_rels/slide9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86" Type="http://schemas.openxmlformats.org/officeDocument/2006/relationships/image" Target="../media/image186.png"/></Relationships>
</file>

<file path=ppt/slides/_rels/slide9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88" Type="http://schemas.openxmlformats.org/officeDocument/2006/relationships/image" Target="../media/image188.png"/></Relationships>
</file>

<file path=ppt/slides/_rels/slide9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90" Type="http://schemas.openxmlformats.org/officeDocument/2006/relationships/image" Target="../media/image190.png"/></Relationships>
</file>

<file path=ppt/slides/_rels/slide9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92" Type="http://schemas.openxmlformats.org/officeDocument/2006/relationships/image" Target="../media/image192.png"/></Relationships>
</file>

<file path=ppt/slides/_rels/slide9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94" Type="http://schemas.openxmlformats.org/officeDocument/2006/relationships/image" Target="../media/image194.png"/></Relationships>
</file>

<file path=ppt/slides/_rels/slide9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96" Type="http://schemas.openxmlformats.org/officeDocument/2006/relationships/image" Target="../media/image196.png"/></Relationships>
</file>

<file path=ppt/slides/_rels/slide9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98" Type="http://schemas.openxmlformats.org/officeDocument/2006/relationships/image" Target="../media/image198.png"/></Relationships>
</file>

<file path=ppt/slides/_rels/slide9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00" Type="http://schemas.openxmlformats.org/officeDocument/2006/relationships/image" Target="../media/image200.png"/></Relationships>
</file>

<file path=ppt/slides/_rels/slide10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02" Type="http://schemas.openxmlformats.org/officeDocument/2006/relationships/image" Target="../media/image202.png"/></Relationships>
</file>

<file path=ppt/slides/_rels/slide10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04" Type="http://schemas.openxmlformats.org/officeDocument/2006/relationships/image" Target="../media/image204.png"/></Relationships>
</file>

<file path=ppt/slides/_rels/slide10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06" Type="http://schemas.openxmlformats.org/officeDocument/2006/relationships/image" Target="../media/image206.png"/></Relationships>
</file>

<file path=ppt/slides/_rels/slide10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08" Type="http://schemas.openxmlformats.org/officeDocument/2006/relationships/image" Target="../media/image208.png"/></Relationships>
</file>

<file path=ppt/slides/_rels/slide10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10" Type="http://schemas.openxmlformats.org/officeDocument/2006/relationships/image" Target="../media/image210.png"/></Relationships>
</file>

<file path=ppt/slides/_rels/slide10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212.png"/></Relationships>
</file>

<file path=ppt/slides/_rels/slide10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14" Type="http://schemas.openxmlformats.org/officeDocument/2006/relationships/image" Target="../media/image214.png"/></Relationships>
</file>

<file path=ppt/slides/_rels/slide10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16" Type="http://schemas.openxmlformats.org/officeDocument/2006/relationships/image" Target="../media/image216.png"/></Relationships>
</file>

<file path=ppt/slides/_rels/slide10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18" Type="http://schemas.openxmlformats.org/officeDocument/2006/relationships/image" Target="../media/image218.png"/></Relationships>
</file>

<file path=ppt/slides/_rels/slide10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20" Type="http://schemas.openxmlformats.org/officeDocument/2006/relationships/image" Target="../media/image220.png"/></Relationships>
</file>

<file path=ppt/slides/_rels/slide1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22" Type="http://schemas.openxmlformats.org/officeDocument/2006/relationships/image" Target="../media/image222.png"/></Relationships>
</file>

<file path=ppt/slides/_rels/slide1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24" Type="http://schemas.openxmlformats.org/officeDocument/2006/relationships/image" Target="../media/image224.png"/></Relationships>
</file>

<file path=ppt/slides/_rels/slide1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26" Type="http://schemas.openxmlformats.org/officeDocument/2006/relationships/image" Target="../media/image226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" id="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/>
            </a:r>
            <a:r>
              <a:rPr lang="en-US" sz="3700">
                <a:solidFill>
                  <a:srgbClr val="252525"/>
                </a:solidFill>
              </a:rPr>
              <a:t>GOOGLE PRIVACY POLICY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When you use our services, you're trusting us with your </a:t>
            </a:r>
          </a:p>
          <a:p>
            <a:r>
              <a:rPr lang="en-US" sz="3700">
                <a:solidFill>
                  <a:srgbClr val="252525"/>
                </a:solidFill>
              </a:rPr>
              <a:t>information. We understand this is a big responsibility and </a:t>
            </a:r>
          </a:p>
          <a:p>
            <a:r>
              <a:rPr lang="en-US" sz="3700">
                <a:solidFill>
                  <a:srgbClr val="252525"/>
                </a:solidFill>
              </a:rPr>
              <a:t>work hard to protect your information and put you in </a:t>
            </a:r>
          </a:p>
          <a:p>
            <a:r>
              <a:rPr lang="en-US" sz="3700">
                <a:solidFill>
                  <a:srgbClr val="252525"/>
                </a:solidFill>
              </a:rPr>
              <a:t>control.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This Privacy Policy is meant to help you understand what information we collect, why we collect it, and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how you can update, manage, export, and </a:t>
            </a:r>
          </a:p>
        </p:txBody>
      </p:sp>
      <p:pic>
        <p:nvPicPr>
          <p:cNvPr name="Picture 4" id="4">
            <a:hlinkClick r:id="rId5"/>
          </p:cNvPr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6451600" y="3175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6" id="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delete your information.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Effective May 25, 2018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Archived versions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We build a range of services that help millions of people daily to explore and interact with the world in new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ways. Our services include: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° Google apps, sites, and devices, like Search, YouTube, and Google Home </a:t>
            </a:r>
          </a:p>
          <a:p>
            <a:r>
              <a:rPr lang="en-US" sz="3700">
                <a:solidFill>
                  <a:srgbClr val="252525"/>
                </a:solidFill>
              </a:rPr>
              <a:t>° Platforms like the Chrome browser and Android operating system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8" id="9"/>
          <p:cNvSpPr txBox="true"/>
          <p:nvPr/>
        </p:nvSpPr>
        <p:spPr>
          <a:xfrm>
            <a:off x="5930900" y="2082800"/>
            <a:ext cx="11887200" cy="14973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° Products that are integrated into third-party apps and sites, like ads and embedded Google Maps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You can use our services in a variety of ways to manage your privacy. For example, you can sign up for a </a:t>
            </a:r>
          </a:p>
          <a:p>
            <a:r>
              <a:rPr lang="en-US" sz="3700">
                <a:solidFill>
                  <a:srgbClr val="252525"/>
                </a:solidFill>
              </a:rPr>
              <a:t>Google Account if you want to create and manage content like emails and photos, or see more relevant </a:t>
            </a:r>
          </a:p>
          <a:p>
            <a:r>
              <a:rPr lang="en-US" sz="3700">
                <a:solidFill>
                  <a:srgbClr val="252525"/>
                </a:solidFill>
              </a:rPr>
              <a:t>search results. And you can use many Google services when you're signed out or without creating an </a:t>
            </a:r>
          </a:p>
          <a:p>
            <a:r>
              <a:rPr lang="en-US" sz="3700">
                <a:solidFill>
                  <a:srgbClr val="252525"/>
                </a:solidFill>
              </a:rPr>
              <a:t>account at all, like searching on Google or watching YouTube videos. You can also choose to browse the </a:t>
            </a:r>
          </a:p>
          <a:p>
            <a:r>
              <a:rPr lang="en-US" sz="3700">
                <a:solidFill>
                  <a:srgbClr val="252525"/>
                </a:solidFill>
              </a:rPr>
              <a:t>web privately using Chrome in Incognito mode. And across our services, you can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0" id="1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adjust your privacy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settings to control what we collect and how your information is used.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To help explain things as clearly as possible, we've added examples, explanatory videos, and definitions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for key terms. And if you have any questions about this Privacy Policy, you can contact us.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INFORMATION GOOGLE COLLECTS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We want you to understand the types of information we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2" id="1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collect as you use our services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We collect information to provide better services to all our users — from figuring out basic stuff like which </a:t>
            </a:r>
          </a:p>
          <a:p>
            <a:r>
              <a:rPr lang="en-US" sz="3700">
                <a:solidFill>
                  <a:srgbClr val="252525"/>
                </a:solidFill>
              </a:rPr>
              <a:t>language you speak, to more complex things like which ads you'll find most useful, the people who matter </a:t>
            </a:r>
          </a:p>
          <a:p>
            <a:r>
              <a:rPr lang="en-US" sz="3700">
                <a:solidFill>
                  <a:srgbClr val="252525"/>
                </a:solidFill>
              </a:rPr>
              <a:t>most to you online, or which YouTube videos you might like. The information Google collects, and how </a:t>
            </a:r>
          </a:p>
          <a:p>
            <a:r>
              <a:rPr lang="en-US" sz="3700">
                <a:solidFill>
                  <a:srgbClr val="252525"/>
                </a:solidFill>
              </a:rPr>
              <a:t>that information is used, depends on how you use our services and how you manage your privacy </a:t>
            </a:r>
          </a:p>
          <a:p>
            <a:r>
              <a:rPr lang="en-US" sz="3700">
                <a:solidFill>
                  <a:srgbClr val="252525"/>
                </a:solidFill>
              </a:rPr>
              <a:t>controls.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When you're not signed in to a Google Account, we store the information we collect with unique identifiers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4" id="1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tied to the browser, application, or device you’re using. This helps us do things like maintain your language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preferences across browsing sessions.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When you're signed in, we also collect information that we store with your Google Account, which we treat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as personal information.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Things you create or provide to us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When you create a Google Account, you provide us with personal information that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6" id="1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includes your name </a:t>
            </a:r>
          </a:p>
          <a:p>
            <a:r>
              <a:rPr lang="en-US" sz="3700">
                <a:solidFill>
                  <a:srgbClr val="252525"/>
                </a:solidFill>
              </a:rPr>
              <a:t>and a password. You can also choose to add a phone number or payment information to your account. </a:t>
            </a:r>
          </a:p>
          <a:p>
            <a:r>
              <a:rPr lang="en-US" sz="3700">
                <a:solidFill>
                  <a:srgbClr val="252525"/>
                </a:solidFill>
              </a:rPr>
              <a:t>Even if you aren't signed in to a Google Account, you might choose to provide us with information — like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an email address to receive updates about our services.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We also collect the content you create, upload, or receive from others when using our services. This </a:t>
            </a:r>
          </a:p>
          <a:p>
            <a:r>
              <a:rPr lang="en-US" sz="3700">
                <a:solidFill>
                  <a:srgbClr val="252525"/>
                </a:solidFill>
              </a:rPr>
              <a:t>includes things like email you write and receive, photos and videos you save, docs and spreadsheets you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8" id="1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8" id="1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create, and comments you make on YouTube videos.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Information we collect as you use our services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Your apps, browsers &amp; devices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We collect information about the apps, browsers, and devices you use to access Google services, which </a:t>
            </a:r>
          </a:p>
          <a:p>
            <a:r>
              <a:rPr lang="en-US" sz="3700">
                <a:solidFill>
                  <a:srgbClr val="252525"/>
                </a:solidFill>
              </a:rPr>
              <a:t>helps us provide features like automatic product updates and dimming your screen if your battery runs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low.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0" id="20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0" id="21"/>
          <p:cNvSpPr txBox="true"/>
          <p:nvPr/>
        </p:nvSpPr>
        <p:spPr>
          <a:xfrm>
            <a:off x="5930900" y="1320800"/>
            <a:ext cx="11887200" cy="15735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The information we collect includes unique identifiers, browser type and settings, device type and </a:t>
            </a:r>
          </a:p>
          <a:p>
            <a:r>
              <a:rPr lang="en-US" sz="3700">
                <a:solidFill>
                  <a:srgbClr val="252525"/>
                </a:solidFill>
              </a:rPr>
              <a:t>settings, operating system, mobile network information including carrier name and phone number, and </a:t>
            </a:r>
          </a:p>
          <a:p>
            <a:r>
              <a:rPr lang="en-US" sz="3700">
                <a:solidFill>
                  <a:srgbClr val="252525"/>
                </a:solidFill>
              </a:rPr>
              <a:t>application version number. We also collect information about the interaction of your apps, browsers, and </a:t>
            </a:r>
          </a:p>
          <a:p>
            <a:r>
              <a:rPr lang="en-US" sz="3700">
                <a:solidFill>
                  <a:srgbClr val="252525"/>
                </a:solidFill>
              </a:rPr>
              <a:t>devices with our services, including IP address, crash reports, system activity, and the date, time, and </a:t>
            </a:r>
          </a:p>
          <a:p>
            <a:r>
              <a:rPr lang="en-US" sz="3700">
                <a:solidFill>
                  <a:srgbClr val="252525"/>
                </a:solidFill>
              </a:rPr>
              <a:t>referrer URL of your request.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We collect this information when a Google service on your device contacts our servers — for example, </a:t>
            </a:r>
          </a:p>
          <a:p>
            <a:r>
              <a:rPr lang="en-US" sz="3700">
                <a:solidFill>
                  <a:srgbClr val="252525"/>
                </a:solidFill>
              </a:rPr>
              <a:t>when you install an app from the Play Store or when a service checks for automatic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2" id="22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2" id="2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updates. If you're </a:t>
            </a:r>
          </a:p>
          <a:p>
            <a:r>
              <a:rPr lang="en-US" sz="3700">
                <a:solidFill>
                  <a:srgbClr val="252525"/>
                </a:solidFill>
              </a:rPr>
              <a:t>using an Android device with Google apps, your device periodically contacts Google servers to provide </a:t>
            </a:r>
          </a:p>
          <a:p>
            <a:r>
              <a:rPr lang="en-US" sz="3700">
                <a:solidFill>
                  <a:srgbClr val="252525"/>
                </a:solidFill>
              </a:rPr>
              <a:t>information about your device and connection to our services. This information includes things like your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device type, carrier name, crash reports, and which apps you've installed.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Your activity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We collect information about your activity in our services, which we use to do things like recommend a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4" id="24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4" id="2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YouTube video you might like. The activity information we collect may include: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° Terms you search for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° Videos you watch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° Views and interactions with content and ads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° Voice and audio information when you use audio features </a:t>
            </a:r>
          </a:p>
          <a:p>
            <a:r>
              <a:rPr lang="en-US" sz="3700">
                <a:solidFill>
                  <a:srgbClr val="252525"/>
                </a:solidFill>
              </a:rPr>
              <a:t>° Purchase activity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° People with whom you communicate or share content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° Activity on third-party sites and apps that use our services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6" id="26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6" id="2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° Chrome browsing history you've synced with your Google Account </a:t>
            </a:r>
          </a:p>
          <a:p>
            <a:r>
              <a:rPr lang="en-US" sz="3700">
                <a:solidFill>
                  <a:srgbClr val="252525"/>
                </a:solidFill>
              </a:rPr>
              <a:t>If you use our services to make and receive calls or send and receive messages, we may collect telephony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log information like your phone number, calling-party number, receiving-party number, forwarding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numbers, time and date of calls and messages, duration of calls, routing information, and types of calls.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You can visit your Google Account to find and manage activity information that’s saved in your account.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8" id="28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8" id="29"/>
          <p:cNvSpPr txBox="true"/>
          <p:nvPr/>
        </p:nvSpPr>
        <p:spPr>
          <a:xfrm>
            <a:off x="5930900" y="1320800"/>
            <a:ext cx="11887200" cy="15735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a Go to Google Account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Your location information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We collect information about your location when you use our services, which helps us offer features like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driving directions for your weekend getaway or showtimes for movies playing near you. </a:t>
            </a:r>
          </a:p>
          <a:p>
            <a:r>
              <a:rPr lang="en-US" sz="3700">
                <a:solidFill>
                  <a:srgbClr val="252525"/>
                </a:solidFill>
              </a:rPr>
              <a:t>Your location can be determined with varying degrees of accuracy by: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° GPS </a:t>
            </a:r>
          </a:p>
          <a:p>
            <a:r>
              <a:rPr lang="en-US" sz="3700">
                <a:solidFill>
                  <a:srgbClr val="252525"/>
                </a:solidFill>
              </a:rPr>
              <a:t>° IP address </a:t>
            </a:r>
          </a:p>
          <a:p>
            <a:r>
              <a:rPr lang="en-US" sz="3700">
                <a:solidFill>
                  <a:srgbClr val="252525"/>
                </a:solidFill>
              </a:rPr>
              <a:t>° Sensor data from your device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0" id="30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0" id="31"/>
          <p:cNvSpPr txBox="true"/>
          <p:nvPr/>
        </p:nvSpPr>
        <p:spPr>
          <a:xfrm>
            <a:off x="5930900" y="2082800"/>
            <a:ext cx="11887200" cy="14973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° Information about things near your device, such as Wi-Fi access points, cell towers, and Bluetooth-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enabled devices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The types of location data we collect depend in part on your device and account settings. For example, </a:t>
            </a:r>
          </a:p>
          <a:p>
            <a:r>
              <a:rPr lang="en-US" sz="3700">
                <a:solidFill>
                  <a:srgbClr val="252525"/>
                </a:solidFill>
              </a:rPr>
              <a:t>you can turn your Android device's location on or off using the device's settings app. You can also turn on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Location History if you want to save and manage your location information in your account.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2" id="32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2" id="33"/>
          <p:cNvSpPr txBox="true"/>
          <p:nvPr/>
        </p:nvSpPr>
        <p:spPr>
          <a:xfrm>
            <a:off x="5930900" y="2082800"/>
            <a:ext cx="11887200" cy="14973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In some circumstances, Google also collects information about you from publicly accessible sources. For </a:t>
            </a:r>
          </a:p>
          <a:p>
            <a:r>
              <a:rPr lang="en-US" sz="3700">
                <a:solidFill>
                  <a:srgbClr val="252525"/>
                </a:solidFill>
              </a:rPr>
              <a:t>example, if your name appears in your local newspaper, Google's Search engine may index that article and </a:t>
            </a:r>
          </a:p>
          <a:p>
            <a:r>
              <a:rPr lang="en-US" sz="3700">
                <a:solidFill>
                  <a:srgbClr val="252525"/>
                </a:solidFill>
              </a:rPr>
              <a:t>display it to other people if they search for your name. We may also collect information about you from </a:t>
            </a:r>
          </a:p>
          <a:p>
            <a:r>
              <a:rPr lang="en-US" sz="3700">
                <a:solidFill>
                  <a:srgbClr val="252525"/>
                </a:solidFill>
              </a:rPr>
              <a:t>trusted partners, including marketing partners who provide us with information about potential </a:t>
            </a:r>
          </a:p>
          <a:p>
            <a:r>
              <a:rPr lang="en-US" sz="3700">
                <a:solidFill>
                  <a:srgbClr val="252525"/>
                </a:solidFill>
              </a:rPr>
              <a:t>customers of our business services, and security partners who provide us with information to protect </a:t>
            </a:r>
          </a:p>
          <a:p>
            <a:r>
              <a:rPr lang="en-US" sz="3700">
                <a:solidFill>
                  <a:srgbClr val="252525"/>
                </a:solidFill>
              </a:rPr>
              <a:t>against abuse. We also receive information from advertisers to provide advertising and research services </a:t>
            </a:r>
          </a:p>
          <a:p>
            <a:r>
              <a:rPr lang="en-US" sz="3700">
                <a:solidFill>
                  <a:srgbClr val="252525"/>
                </a:solidFill>
              </a:rPr>
              <a:t>on their behalf. 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4" id="34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4" id="35"/>
          <p:cNvSpPr txBox="true"/>
          <p:nvPr/>
        </p:nvSpPr>
        <p:spPr>
          <a:xfrm>
            <a:off x="5930900" y="2082800"/>
            <a:ext cx="11887200" cy="14973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We use various technologies to collect and store information, including cookies, pixel tags, local storage,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such as browser web storage or application data caches, databases, and server logs.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WHY GOOGLE COLLECTS DATA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We use data to build better services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We use the information we collect from all our services for the following purposes: 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6" id="36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6" id="3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Provide our services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We use your information to deliver our services, like processing the terms you search for in order to return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results or helping you share content by suggesting recipients from your contacts.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Maintain &amp; improve our services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We also use your information to ensure our services are working as intended, such as tracking outages or </a:t>
            </a:r>
          </a:p>
          <a:p>
            <a:r>
              <a:rPr lang="en-US" sz="3700">
                <a:solidFill>
                  <a:srgbClr val="252525"/>
                </a:solidFill>
              </a:rPr>
              <a:t>troubleshooting issues that you report to us. And we use your information to make improvements to our 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8" id="38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8" id="39"/>
          <p:cNvSpPr txBox="true"/>
          <p:nvPr/>
        </p:nvSpPr>
        <p:spPr>
          <a:xfrm>
            <a:off x="5930900" y="2082800"/>
            <a:ext cx="11887200" cy="14973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services — for example, understanding which search terms are most frequently misspelled helps us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improve spell-check features used across our services.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Develop new services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We use the information we collect in existing services to help us develop new ones. For example, </a:t>
            </a:r>
          </a:p>
          <a:p>
            <a:r>
              <a:rPr lang="en-US" sz="3700">
                <a:solidFill>
                  <a:srgbClr val="252525"/>
                </a:solidFill>
              </a:rPr>
              <a:t>understanding how people organized their photos in Picasa, Google's first photos app, helped us design 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0" id="40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0" id="41"/>
          <p:cNvSpPr txBox="true"/>
          <p:nvPr/>
        </p:nvSpPr>
        <p:spPr>
          <a:xfrm>
            <a:off x="5930900" y="1320800"/>
            <a:ext cx="11887200" cy="15735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and launch Google Photos.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Provide personalized services, including content and ads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We use the information we collect to customize our services for you, including providing </a:t>
            </a:r>
          </a:p>
          <a:p>
            <a:r>
              <a:rPr lang="en-US" sz="3700">
                <a:solidFill>
                  <a:srgbClr val="252525"/>
                </a:solidFill>
              </a:rPr>
              <a:t>recommendations, personalized content, and customized search results. For example, Security Checkup </a:t>
            </a:r>
          </a:p>
          <a:p>
            <a:r>
              <a:rPr lang="en-US" sz="3700">
                <a:solidFill>
                  <a:srgbClr val="252525"/>
                </a:solidFill>
              </a:rPr>
              <a:t>provides security tips adapted to how you use Google products. And Google Play uses information like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apps you've already installed and videos you've watched on YouTube to suggest new 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2" id="42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2" id="4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apps you might like.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Depending on your settings, we may also show you personalized ads based on your interests. For </a:t>
            </a:r>
          </a:p>
          <a:p>
            <a:r>
              <a:rPr lang="en-US" sz="3700">
                <a:solidFill>
                  <a:srgbClr val="252525"/>
                </a:solidFill>
              </a:rPr>
              <a:t>example, if you search for “mountain bikes,” you may see an ad for sports equipment when you're </a:t>
            </a:r>
          </a:p>
          <a:p>
            <a:r>
              <a:rPr lang="en-US" sz="3700">
                <a:solidFill>
                  <a:srgbClr val="252525"/>
                </a:solidFill>
              </a:rPr>
              <a:t>browsing a site that shows ads served by Google. You can control what information we use to show you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ads by visiting your ad settings.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° We don’t show you personalized ads based on sensitive categories, such as race, religion, sexual </a:t>
            </a:r>
          </a:p>
          <a:p>
            <a:r>
              <a:rPr lang="en-US" sz="3700">
                <a:solidFill>
                  <a:srgbClr val="252525"/>
                </a:solidFill>
              </a:rPr>
              <a:t>orientation, or health. 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4" id="44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4" id="45"/>
          <p:cNvSpPr txBox="true"/>
          <p:nvPr/>
        </p:nvSpPr>
        <p:spPr>
          <a:xfrm>
            <a:off x="5930900" y="2082800"/>
            <a:ext cx="11887200" cy="14973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° We don’t share information that personally identifies you with advertisers, such as your name or </a:t>
            </a:r>
          </a:p>
          <a:p>
            <a:r>
              <a:rPr lang="en-US" sz="3700">
                <a:solidFill>
                  <a:srgbClr val="252525"/>
                </a:solidFill>
              </a:rPr>
              <a:t>email, unless you ask us to. For example, if you see an ad for a nearby flower shop and select the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“tap to call” button, well connect your call and may share your phone number with the flower shop.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&gt;l Go to Ad Settings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Measure performance 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6" id="46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6" id="4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We use data for analytics and measurement to understand how our services are used. For example, we </a:t>
            </a:r>
          </a:p>
          <a:p>
            <a:r>
              <a:rPr lang="en-US" sz="3700">
                <a:solidFill>
                  <a:srgbClr val="252525"/>
                </a:solidFill>
              </a:rPr>
              <a:t>analyze data about your visits to our sites to do things like optimize product design. And we also use data </a:t>
            </a:r>
          </a:p>
          <a:p>
            <a:r>
              <a:rPr lang="en-US" sz="3700">
                <a:solidFill>
                  <a:srgbClr val="252525"/>
                </a:solidFill>
              </a:rPr>
              <a:t>about the ads you interact with to help advertisers understand the performance of their ad campaigns. </a:t>
            </a:r>
          </a:p>
          <a:p>
            <a:r>
              <a:rPr lang="en-US" sz="3700">
                <a:solidFill>
                  <a:srgbClr val="252525"/>
                </a:solidFill>
              </a:rPr>
              <a:t>We use a variety of tools to do this, including Google Analytics. When you visit sites that use Google </a:t>
            </a:r>
          </a:p>
          <a:p>
            <a:r>
              <a:rPr lang="en-US" sz="3700">
                <a:solidFill>
                  <a:srgbClr val="252525"/>
                </a:solidFill>
              </a:rPr>
              <a:t>Analytics, Google and a Google Analytics customer may link information about your activity from that site </a:t>
            </a:r>
          </a:p>
          <a:p>
            <a:r>
              <a:rPr lang="en-US" sz="3700">
                <a:solidFill>
                  <a:srgbClr val="252525"/>
                </a:solidFill>
              </a:rPr>
              <a:t>with activity from other sites that use our ad services.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Communicate with you 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8" id="48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8" id="49"/>
          <p:cNvSpPr txBox="true"/>
          <p:nvPr/>
        </p:nvSpPr>
        <p:spPr>
          <a:xfrm>
            <a:off x="5930900" y="1320800"/>
            <a:ext cx="11887200" cy="15735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We use information we collect, like your email address, to interact with you directly. For example, we may </a:t>
            </a:r>
          </a:p>
          <a:p>
            <a:r>
              <a:rPr lang="en-US" sz="3700">
                <a:solidFill>
                  <a:srgbClr val="252525"/>
                </a:solidFill>
              </a:rPr>
              <a:t>send you a notification if we detect suspicious activity, like an attempt to sign in to your Google Account </a:t>
            </a:r>
          </a:p>
          <a:p>
            <a:r>
              <a:rPr lang="en-US" sz="3700">
                <a:solidFill>
                  <a:srgbClr val="252525"/>
                </a:solidFill>
              </a:rPr>
              <a:t>from an unusual location. Or we may let you know about upcoming changes or improvements to our </a:t>
            </a:r>
          </a:p>
          <a:p>
            <a:r>
              <a:rPr lang="en-US" sz="3700">
                <a:solidFill>
                  <a:srgbClr val="252525"/>
                </a:solidFill>
              </a:rPr>
              <a:t>services. And if you contact Google, we'll keep a record of your request in order to help solve any issues </a:t>
            </a:r>
          </a:p>
          <a:p>
            <a:r>
              <a:rPr lang="en-US" sz="3700">
                <a:solidFill>
                  <a:srgbClr val="252525"/>
                </a:solidFill>
              </a:rPr>
              <a:t>you might be facing.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Protect Google, our users, and the public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We use information to help improve the safety and reliability of our services. This 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50" id="50"/>
          <p:cNvPicPr>
            <a:picLocks noChangeAspect="true"/>
          </p:cNvPicPr>
          <p:nvPr/>
        </p:nvPicPr>
        <p:blipFill>
          <a:blip r:embed="rId5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50" id="5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includes detecting, </a:t>
            </a:r>
          </a:p>
          <a:p>
            <a:r>
              <a:rPr lang="en-US" sz="3700">
                <a:solidFill>
                  <a:srgbClr val="252525"/>
                </a:solidFill>
              </a:rPr>
              <a:t>preventing, and responding to fraud, abuse, security risks, and technical issues that could harm Google, </a:t>
            </a:r>
          </a:p>
          <a:p>
            <a:r>
              <a:rPr lang="en-US" sz="3700">
                <a:solidFill>
                  <a:srgbClr val="252525"/>
                </a:solidFill>
              </a:rPr>
              <a:t>our users, or the public.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We use different technologies to process your information for these purposes. We use automated </a:t>
            </a:r>
          </a:p>
          <a:p>
            <a:r>
              <a:rPr lang="en-US" sz="3700">
                <a:solidFill>
                  <a:srgbClr val="252525"/>
                </a:solidFill>
              </a:rPr>
              <a:t>systems that analyze your content to provide you with things like customized search results, personalized </a:t>
            </a:r>
          </a:p>
          <a:p>
            <a:r>
              <a:rPr lang="en-US" sz="3700">
                <a:solidFill>
                  <a:srgbClr val="252525"/>
                </a:solidFill>
              </a:rPr>
              <a:t>ads, or other features tailored to how you use our services. And we analyze your content to help us detect </a:t>
            </a:r>
          </a:p>
          <a:p>
            <a:r>
              <a:rPr lang="en-US" sz="3700">
                <a:solidFill>
                  <a:srgbClr val="252525"/>
                </a:solidFill>
              </a:rPr>
              <a:t>abuse such as spam, malware, and illegal content. We also use algorithms to recognize patterns in data. </a:t>
            </a:r>
          </a:p>
          <a:p>
            <a:r>
              <a:rPr lang="en-US" sz="3700">
                <a:solidFill>
                  <a:srgbClr val="252525"/>
                </a:solidFill>
              </a:rPr>
              <a:t>For example, Google Translate helps people communicate across languages by detecting 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52" id="52"/>
          <p:cNvPicPr>
            <a:picLocks noChangeAspect="true"/>
          </p:cNvPicPr>
          <p:nvPr/>
        </p:nvPicPr>
        <p:blipFill>
          <a:blip r:embed="rId5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52" id="5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common </a:t>
            </a:r>
          </a:p>
          <a:p>
            <a:r>
              <a:rPr lang="en-US" sz="3700">
                <a:solidFill>
                  <a:srgbClr val="252525"/>
                </a:solidFill>
              </a:rPr>
              <a:t>language patterns in phrases you ask it to translate.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We may combine the information we collect among our services and across your devices for the purposes </a:t>
            </a:r>
          </a:p>
          <a:p>
            <a:r>
              <a:rPr lang="en-US" sz="3700">
                <a:solidFill>
                  <a:srgbClr val="252525"/>
                </a:solidFill>
              </a:rPr>
              <a:t>described above. For example, if you watch videos of guitar players on YouTube, you might see an ad for </a:t>
            </a:r>
          </a:p>
          <a:p>
            <a:r>
              <a:rPr lang="en-US" sz="3700">
                <a:solidFill>
                  <a:srgbClr val="252525"/>
                </a:solidFill>
              </a:rPr>
              <a:t>guitar lessons on a site that uses our ad products. Depending on your account settings, your activity on </a:t>
            </a:r>
          </a:p>
          <a:p>
            <a:r>
              <a:rPr lang="en-US" sz="3700">
                <a:solidFill>
                  <a:srgbClr val="252525"/>
                </a:solidFill>
              </a:rPr>
              <a:t>other sites and apps may be associated with your personal information in order to improve Google's </a:t>
            </a:r>
          </a:p>
          <a:p>
            <a:r>
              <a:rPr lang="en-US" sz="3700">
                <a:solidFill>
                  <a:srgbClr val="252525"/>
                </a:solidFill>
              </a:rPr>
              <a:t>services and the ads delivered by Google.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If other users already have your email 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54" id="54"/>
          <p:cNvPicPr>
            <a:picLocks noChangeAspect="true"/>
          </p:cNvPicPr>
          <p:nvPr/>
        </p:nvPicPr>
        <p:blipFill>
          <a:blip r:embed="rId5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54" id="5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address or other information that identifies you, we may show </a:t>
            </a:r>
          </a:p>
          <a:p>
            <a:r>
              <a:rPr lang="en-US" sz="3700">
                <a:solidFill>
                  <a:srgbClr val="252525"/>
                </a:solidFill>
              </a:rPr>
              <a:t>them your publicly visible Google Account information, such as your name and photo. This helps people </a:t>
            </a:r>
          </a:p>
          <a:p>
            <a:r>
              <a:rPr lang="en-US" sz="3700">
                <a:solidFill>
                  <a:srgbClr val="252525"/>
                </a:solidFill>
              </a:rPr>
              <a:t>identify an email coming from you, for example.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We'll ask for your consent before using your information for a purpose that isn’t covered in this Privacy </a:t>
            </a:r>
          </a:p>
          <a:p>
            <a:r>
              <a:rPr lang="en-US" sz="3700">
                <a:solidFill>
                  <a:srgbClr val="252525"/>
                </a:solidFill>
              </a:rPr>
              <a:t>Policy.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YOUR PRIVACY CONTROLS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You have choices regarding the information we collect and </a:t>
            </a:r>
          </a:p>
          <a:p>
            <a:r>
              <a:rPr lang="en-US" sz="3700">
                <a:solidFill>
                  <a:srgbClr val="252525"/>
                </a:solidFill>
              </a:rPr>
              <a:t>how it's used 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56" id="56"/>
          <p:cNvPicPr>
            <a:picLocks noChangeAspect="true"/>
          </p:cNvPicPr>
          <p:nvPr/>
        </p:nvPicPr>
        <p:blipFill>
          <a:blip r:embed="rId5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56" id="57"/>
          <p:cNvSpPr txBox="true"/>
          <p:nvPr/>
        </p:nvSpPr>
        <p:spPr>
          <a:xfrm>
            <a:off x="5930900" y="2082800"/>
            <a:ext cx="11887200" cy="14973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This section describes key controls for managing your privacy across our services. You can also visit the </a:t>
            </a:r>
          </a:p>
          <a:p>
            <a:r>
              <a:rPr lang="en-US" sz="3700">
                <a:solidFill>
                  <a:srgbClr val="252525"/>
                </a:solidFill>
              </a:rPr>
              <a:t>Privacy Checkup, which provides an opportunity to review and adjust important privacy settings. In </a:t>
            </a:r>
          </a:p>
          <a:p>
            <a:r>
              <a:rPr lang="en-US" sz="3700">
                <a:solidFill>
                  <a:srgbClr val="252525"/>
                </a:solidFill>
              </a:rPr>
              <a:t>addition to these tools, we also offer specific privacy settings in our products — you can learn more in our </a:t>
            </a:r>
          </a:p>
          <a:p>
            <a:r>
              <a:rPr lang="en-US" sz="3700">
                <a:solidFill>
                  <a:srgbClr val="252525"/>
                </a:solidFill>
              </a:rPr>
              <a:t>Product Privacy Guide.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= 5 Go to Privacy Checkup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Managing, reviewing, and updating your information 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58" id="58"/>
          <p:cNvPicPr>
            <a:picLocks noChangeAspect="true"/>
          </p:cNvPicPr>
          <p:nvPr/>
        </p:nvPicPr>
        <p:blipFill>
          <a:blip r:embed="rId5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58" id="5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When you're signed in, you can always review and update information by visiting the services you use. For </a:t>
            </a:r>
          </a:p>
          <a:p>
            <a:r>
              <a:rPr lang="en-US" sz="3700">
                <a:solidFill>
                  <a:srgbClr val="252525"/>
                </a:solidFill>
              </a:rPr>
              <a:t>example, Photos and Drive are both designed to help you manage specific types of content you've saved </a:t>
            </a:r>
          </a:p>
          <a:p>
            <a:r>
              <a:rPr lang="en-US" sz="3700">
                <a:solidFill>
                  <a:srgbClr val="252525"/>
                </a:solidFill>
              </a:rPr>
              <a:t>with Google.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We also built a place for you to review and control information saved in your Google Account. Your Google </a:t>
            </a:r>
          </a:p>
          <a:p>
            <a:r>
              <a:rPr lang="en-US" sz="3700">
                <a:solidFill>
                  <a:srgbClr val="252525"/>
                </a:solidFill>
              </a:rPr>
              <a:t>Account includes: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Privacy controls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e f Activity Controls 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60" id="60"/>
          <p:cNvPicPr>
            <a:picLocks noChangeAspect="true"/>
          </p:cNvPicPr>
          <p:nvPr/>
        </p:nvPicPr>
        <p:blipFill>
          <a:blip r:embed="rId6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60" id="6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Decide what types of activity you’d like saved in your account. For example, you can turn on </a:t>
            </a:r>
          </a:p>
          <a:p>
            <a:r>
              <a:rPr lang="en-US" sz="3700">
                <a:solidFill>
                  <a:srgbClr val="252525"/>
                </a:solidFill>
              </a:rPr>
              <a:t>Location History if you want traffic predictions for your daily commute, or you can save your </a:t>
            </a:r>
          </a:p>
          <a:p>
            <a:r>
              <a:rPr lang="en-US" sz="3700">
                <a:solidFill>
                  <a:srgbClr val="252525"/>
                </a:solidFill>
              </a:rPr>
              <a:t>YouTube Watch History to get better video suggestions.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Go to Activity Controls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&gt;l Ad settings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Manage your preferences about the ads shown to you on Google and on sites and apps that </a:t>
            </a:r>
          </a:p>
          <a:p>
            <a:r>
              <a:rPr lang="en-US" sz="3700">
                <a:solidFill>
                  <a:srgbClr val="252525"/>
                </a:solidFill>
              </a:rPr>
              <a:t>partner with Google to show ads. You can modify your interests, choose whether your 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62" id="62"/>
          <p:cNvPicPr>
            <a:picLocks noChangeAspect="true"/>
          </p:cNvPicPr>
          <p:nvPr/>
        </p:nvPicPr>
        <p:blipFill>
          <a:blip r:embed="rId6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62" id="6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personal information is used to make ads more relevant to you, and turn on or off certain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advertising services.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Go to Ad Settings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About you </a:t>
            </a:r>
          </a:p>
          <a:p>
            <a:r>
              <a:rPr lang="en-US" sz="3700">
                <a:solidFill>
                  <a:srgbClr val="252525"/>
                </a:solidFill>
              </a:rPr>
              <a:t>e Q d </a:t>
            </a:r>
          </a:p>
          <a:p>
            <a:r>
              <a:rPr lang="en-US" sz="3700">
                <a:solidFill>
                  <a:srgbClr val="252525"/>
                </a:solidFill>
              </a:rPr>
              <a:t>Control what others see about you across Google services.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Go to About You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Terere Shared endorsements 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64" id="64"/>
          <p:cNvPicPr>
            <a:picLocks noChangeAspect="true"/>
          </p:cNvPicPr>
          <p:nvPr/>
        </p:nvPicPr>
        <p:blipFill>
          <a:blip r:embed="rId6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64" id="65"/>
          <p:cNvSpPr txBox="true"/>
          <p:nvPr/>
        </p:nvSpPr>
        <p:spPr>
          <a:xfrm>
            <a:off x="5930900" y="2082800"/>
            <a:ext cx="11887200" cy="14973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Choose whether your name and photo appear next to your activity, like reviews and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recommendations, that appear in ads.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Go to Shared Endorsements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Information you share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Control whom you share information with through your account on Google+.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Go to Information You Share 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66" id="66"/>
          <p:cNvPicPr>
            <a:picLocks noChangeAspect="true"/>
          </p:cNvPicPr>
          <p:nvPr/>
        </p:nvPicPr>
        <p:blipFill>
          <a:blip r:embed="rId6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66" id="67"/>
          <p:cNvSpPr txBox="true"/>
          <p:nvPr/>
        </p:nvSpPr>
        <p:spPr>
          <a:xfrm>
            <a:off x="5930900" y="1320800"/>
            <a:ext cx="11887200" cy="15735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Ways to review &amp; update your information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anf My Activity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My Activity allows you to review and control data that’s created when you use Google </a:t>
            </a:r>
          </a:p>
          <a:p>
            <a:r>
              <a:rPr lang="en-US" sz="3700">
                <a:solidFill>
                  <a:srgbClr val="252525"/>
                </a:solidFill>
              </a:rPr>
              <a:t>services, like searches you've done or your visits to Google Play. You can browse by date and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by topic, and delete part or all of your activity.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Go to My Activity 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68" id="68"/>
          <p:cNvPicPr>
            <a:picLocks noChangeAspect="true"/>
          </p:cNvPicPr>
          <p:nvPr/>
        </p:nvPicPr>
        <p:blipFill>
          <a:blip r:embed="rId6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68" id="6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J Google Dashboard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Google Dashboard allows you to manage information associated with specific products.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Go to Dashboard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==== Your personal information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Manage your contact information, such as your name, email, and phone number.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Go to Personal Info 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70" id="70"/>
          <p:cNvPicPr>
            <a:picLocks noChangeAspect="true"/>
          </p:cNvPicPr>
          <p:nvPr/>
        </p:nvPicPr>
        <p:blipFill>
          <a:blip r:embed="rId7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70" id="7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When you're signed out, you can manage information associated with your browser or device, including: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° Signed-out search personalization: Choose whether your search activity is used to offer you more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relevant results and recommendations. </a:t>
            </a:r>
          </a:p>
          <a:p>
            <a:r>
              <a:rPr lang="en-US" sz="3700">
                <a:solidFill>
                  <a:srgbClr val="252525"/>
                </a:solidFill>
              </a:rPr>
              <a:t>° YouTube settings: Pause and delete your You Tube Search History and your YouTube Watch History.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° Ad Settings: Manage your preferences about the ads shown to you on Google and on sites and apps 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72" id="72"/>
          <p:cNvPicPr>
            <a:picLocks noChangeAspect="true"/>
          </p:cNvPicPr>
          <p:nvPr/>
        </p:nvPicPr>
        <p:blipFill>
          <a:blip r:embed="rId7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72" id="7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that partner with Google to show ads.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Exporting, removing &amp; deleting your information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You can export a copy of content in your Google Account if you want to back it up or use it with a service </a:t>
            </a:r>
          </a:p>
          <a:p>
            <a:r>
              <a:rPr lang="en-US" sz="3700">
                <a:solidFill>
                  <a:srgbClr val="252525"/>
                </a:solidFill>
              </a:rPr>
              <a:t>outside of Google.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&amp; Export your data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You can also request to remove content from specific Google services based on applicable law. </a:t>
            </a:r>
          </a:p>
          <a:p>
            <a:r>
              <a:rPr lang="en-US" sz="3700">
                <a:solidFill>
                  <a:srgbClr val="252525"/>
                </a:solidFill>
              </a:rPr>
              <a:t>To delete your information, you can: 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74" id="74"/>
          <p:cNvPicPr>
            <a:picLocks noChangeAspect="true"/>
          </p:cNvPicPr>
          <p:nvPr/>
        </p:nvPicPr>
        <p:blipFill>
          <a:blip r:embed="rId7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74" id="75"/>
          <p:cNvSpPr txBox="true"/>
          <p:nvPr/>
        </p:nvSpPr>
        <p:spPr>
          <a:xfrm>
            <a:off x="5930900" y="1320800"/>
            <a:ext cx="11887200" cy="15735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° Delete your content from specific Google services </a:t>
            </a:r>
          </a:p>
          <a:p>
            <a:r>
              <a:rPr lang="en-US" sz="3700">
                <a:solidFill>
                  <a:srgbClr val="252525"/>
                </a:solidFill>
              </a:rPr>
              <a:t>° Search for and then delete specific items from your account using My Activity </a:t>
            </a:r>
          </a:p>
          <a:p>
            <a:r>
              <a:rPr lang="en-US" sz="3700">
                <a:solidFill>
                  <a:srgbClr val="252525"/>
                </a:solidFill>
              </a:rPr>
              <a:t>° Delete specific Google products, including your information associated with those products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° Delete your entire Google Account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R Delete your information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And finally, Inactive Account Manager allows you to give someone else access to parts of your Google </a:t>
            </a:r>
          </a:p>
          <a:p>
            <a:r>
              <a:rPr lang="en-US" sz="3700">
                <a:solidFill>
                  <a:srgbClr val="252525"/>
                </a:solidFill>
              </a:rPr>
              <a:t>Account in case you’re unexpectedly unable to use your account. 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76" id="76"/>
          <p:cNvPicPr>
            <a:picLocks noChangeAspect="true"/>
          </p:cNvPicPr>
          <p:nvPr/>
        </p:nvPicPr>
        <p:blipFill>
          <a:blip r:embed="rId7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76" id="77"/>
          <p:cNvSpPr txBox="true"/>
          <p:nvPr/>
        </p:nvSpPr>
        <p:spPr>
          <a:xfrm>
            <a:off x="5930900" y="2082800"/>
            <a:ext cx="11887200" cy="14973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There are other ways to control the information Google collects whether or not you're signed in to a </a:t>
            </a:r>
          </a:p>
          <a:p>
            <a:r>
              <a:rPr lang="en-US" sz="3700">
                <a:solidFill>
                  <a:srgbClr val="252525"/>
                </a:solidFill>
              </a:rPr>
              <a:t>Google Account, including: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° Browser settings: For example, you can configure your browser to indicate when Google has set a </a:t>
            </a:r>
          </a:p>
          <a:p>
            <a:r>
              <a:rPr lang="en-US" sz="3700">
                <a:solidFill>
                  <a:srgbClr val="252525"/>
                </a:solidFill>
              </a:rPr>
              <a:t>cookie in your browser. You can also configure your browser to block all cookies from a specific </a:t>
            </a:r>
          </a:p>
          <a:p>
            <a:r>
              <a:rPr lang="en-US" sz="3700">
                <a:solidFill>
                  <a:srgbClr val="252525"/>
                </a:solidFill>
              </a:rPr>
              <a:t>domain or all domains. But remember that our services rely on cookies to function properly, for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things like remembering your language preferences. 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78" id="78"/>
          <p:cNvPicPr>
            <a:picLocks noChangeAspect="true"/>
          </p:cNvPicPr>
          <p:nvPr/>
        </p:nvPicPr>
        <p:blipFill>
          <a:blip r:embed="rId7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78" id="79"/>
          <p:cNvSpPr txBox="true"/>
          <p:nvPr/>
        </p:nvSpPr>
        <p:spPr>
          <a:xfrm>
            <a:off x="5930900" y="2082800"/>
            <a:ext cx="11887200" cy="14973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° Device-level settings: Your device may have controls that determine what information we collect. For </a:t>
            </a:r>
          </a:p>
          <a:p>
            <a:r>
              <a:rPr lang="en-US" sz="3700">
                <a:solidFill>
                  <a:srgbClr val="252525"/>
                </a:solidFill>
              </a:rPr>
              <a:t>example, you can modify location settings on your Android device.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SHARING YOUR INFORMATION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When you share your information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Many of our services let you share information with other people, and you have control over how you </a:t>
            </a:r>
          </a:p>
          <a:p>
            <a:r>
              <a:rPr lang="en-US" sz="3700">
                <a:solidFill>
                  <a:srgbClr val="252525"/>
                </a:solidFill>
              </a:rPr>
              <a:t>share. For example, you can share videos on YouTube publicly or you can decide to keep your videos 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80" id="80"/>
          <p:cNvPicPr>
            <a:picLocks noChangeAspect="true"/>
          </p:cNvPicPr>
          <p:nvPr/>
        </p:nvPicPr>
        <p:blipFill>
          <a:blip r:embed="rId8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80" id="8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private. Remember, when you share information publicly, your content may become accessible through </a:t>
            </a:r>
          </a:p>
          <a:p>
            <a:r>
              <a:rPr lang="en-US" sz="3700">
                <a:solidFill>
                  <a:srgbClr val="252525"/>
                </a:solidFill>
              </a:rPr>
              <a:t>search engines, including Google Search.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When you're signed in and interact with some Google services, like leaving comments on a YouTube video </a:t>
            </a:r>
          </a:p>
          <a:p>
            <a:r>
              <a:rPr lang="en-US" sz="3700">
                <a:solidFill>
                  <a:srgbClr val="252525"/>
                </a:solidFill>
              </a:rPr>
              <a:t>or reviewing a song in Play, your name and photo appear next to your activity. We may also display this </a:t>
            </a:r>
          </a:p>
          <a:p>
            <a:r>
              <a:rPr lang="en-US" sz="3700">
                <a:solidFill>
                  <a:srgbClr val="252525"/>
                </a:solidFill>
              </a:rPr>
              <a:t>information in ads depending on your Shared endorsements setting.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When Google shares your information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We do not share your personal information with companies, organizations, or individuals </a:t>
            </a: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82" id="82"/>
          <p:cNvPicPr>
            <a:picLocks noChangeAspect="true"/>
          </p:cNvPicPr>
          <p:nvPr/>
        </p:nvPicPr>
        <p:blipFill>
          <a:blip r:embed="rId8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82" id="8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outside of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Google except in the following cases: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With your consent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We'll share personal information outside of Google when we have your consent. For example, if you use </a:t>
            </a:r>
          </a:p>
          <a:p>
            <a:r>
              <a:rPr lang="en-US" sz="3700">
                <a:solidFill>
                  <a:srgbClr val="252525"/>
                </a:solidFill>
              </a:rPr>
              <a:t>Google Home to request a ride from a ride-sharing service, well get your permission before sharing your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address with that service. We'll ask for your explicit consent to share any sensitive personal information. </a:t>
            </a:r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84" id="84"/>
          <p:cNvPicPr>
            <a:picLocks noChangeAspect="true"/>
          </p:cNvPicPr>
          <p:nvPr/>
        </p:nvPicPr>
        <p:blipFill>
          <a:blip r:embed="rId8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84" id="85"/>
          <p:cNvSpPr txBox="true"/>
          <p:nvPr/>
        </p:nvSpPr>
        <p:spPr>
          <a:xfrm>
            <a:off x="5930900" y="1320800"/>
            <a:ext cx="11887200" cy="15735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With domain administrators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If you're a student or work for an organization that uses Google services (like G Suite), your domain </a:t>
            </a:r>
          </a:p>
          <a:p>
            <a:r>
              <a:rPr lang="en-US" sz="3700">
                <a:solidFill>
                  <a:srgbClr val="252525"/>
                </a:solidFill>
              </a:rPr>
              <a:t>administrator and resellers who manage your account will have access to your Google Account. They </a:t>
            </a:r>
          </a:p>
          <a:p>
            <a:r>
              <a:rPr lang="en-US" sz="3700">
                <a:solidFill>
                  <a:srgbClr val="252525"/>
                </a:solidFill>
              </a:rPr>
              <a:t>may be able to: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° Access and retain information stored in your account, like your email </a:t>
            </a:r>
          </a:p>
          <a:p>
            <a:r>
              <a:rPr lang="en-US" sz="3700">
                <a:solidFill>
                  <a:srgbClr val="252525"/>
                </a:solidFill>
              </a:rPr>
              <a:t>° View statistics regarding your account, like how many apps you install </a:t>
            </a:r>
          </a:p>
          <a:p>
            <a:r>
              <a:rPr lang="en-US" sz="3700">
                <a:solidFill>
                  <a:srgbClr val="252525"/>
                </a:solidFill>
              </a:rPr>
              <a:t>° Change your account password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° Suspend or terminate your account access </a:t>
            </a:r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86" id="86"/>
          <p:cNvPicPr>
            <a:picLocks noChangeAspect="true"/>
          </p:cNvPicPr>
          <p:nvPr/>
        </p:nvPicPr>
        <p:blipFill>
          <a:blip r:embed="rId8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86" id="87"/>
          <p:cNvSpPr txBox="true"/>
          <p:nvPr/>
        </p:nvSpPr>
        <p:spPr>
          <a:xfrm>
            <a:off x="5930900" y="2082800"/>
            <a:ext cx="11887200" cy="14973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° Receive your account information in order to satisfy applicable law, regulation, legal process, or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enforceable governmental request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° Restrict your ability to delete or edit your information or your privacy settings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For external processing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We provide personal information to our affiliates and other trusted businesses or persons to process it for </a:t>
            </a:r>
          </a:p>
          <a:p>
            <a:r>
              <a:rPr lang="en-US" sz="3700">
                <a:solidFill>
                  <a:srgbClr val="252525"/>
                </a:solidFill>
              </a:rPr>
              <a:t>us, based on our instructions and in </a:t>
            </a:r>
          </a:p>
        </p:txBody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88" id="88"/>
          <p:cNvPicPr>
            <a:picLocks noChangeAspect="true"/>
          </p:cNvPicPr>
          <p:nvPr/>
        </p:nvPicPr>
        <p:blipFill>
          <a:blip r:embed="rId8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88" id="8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compliance with our Privacy Policy and any other appropriate </a:t>
            </a:r>
          </a:p>
          <a:p>
            <a:r>
              <a:rPr lang="en-US" sz="3700">
                <a:solidFill>
                  <a:srgbClr val="252525"/>
                </a:solidFill>
              </a:rPr>
              <a:t>confidentiality and security measures. For example, we use service providers to help us with customer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support.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For legal reasons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We will share personal information outside of Google if we have a good-faith belief that access, use,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preservation, or disclosure of the information is reasonably necessary to: </a:t>
            </a:r>
          </a:p>
        </p:txBody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90" id="90"/>
          <p:cNvPicPr>
            <a:picLocks noChangeAspect="true"/>
          </p:cNvPicPr>
          <p:nvPr/>
        </p:nvPicPr>
        <p:blipFill>
          <a:blip r:embed="rId9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90" id="91"/>
          <p:cNvSpPr txBox="true"/>
          <p:nvPr/>
        </p:nvSpPr>
        <p:spPr>
          <a:xfrm>
            <a:off x="5930900" y="1320800"/>
            <a:ext cx="11887200" cy="15735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° Meet any applicable law, regulation, legal process, or enforceable governmental request. We share </a:t>
            </a:r>
          </a:p>
          <a:p>
            <a:r>
              <a:rPr lang="en-US" sz="3700">
                <a:solidFill>
                  <a:srgbClr val="252525"/>
                </a:solidFill>
              </a:rPr>
              <a:t>information about the number and type of requests we receive from governments in our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Transparency Report. </a:t>
            </a:r>
          </a:p>
          <a:p>
            <a:r>
              <a:rPr lang="en-US" sz="3700">
                <a:solidFill>
                  <a:srgbClr val="252525"/>
                </a:solidFill>
              </a:rPr>
              <a:t>° Enforce applicable Terms of Service, including investigation of potential violations. </a:t>
            </a:r>
          </a:p>
          <a:p>
            <a:r>
              <a:rPr lang="en-US" sz="3700">
                <a:solidFill>
                  <a:srgbClr val="252525"/>
                </a:solidFill>
              </a:rPr>
              <a:t>° Detect, prevent, or otherwise address fraud, security, or technical issues.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° Protect against harm to the rights, property or safety of Google, our users, or the public as required </a:t>
            </a:r>
          </a:p>
        </p:txBody>
      </p: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92" id="92"/>
          <p:cNvPicPr>
            <a:picLocks noChangeAspect="true"/>
          </p:cNvPicPr>
          <p:nvPr/>
        </p:nvPicPr>
        <p:blipFill>
          <a:blip r:embed="rId9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92" id="9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or permitted by law.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We may share non-personally identifiable information publicly and with our partners — like publishers, </a:t>
            </a:r>
          </a:p>
          <a:p>
            <a:r>
              <a:rPr lang="en-US" sz="3700">
                <a:solidFill>
                  <a:srgbClr val="252525"/>
                </a:solidFill>
              </a:rPr>
              <a:t>advertisers, developers, or rights holders. For example, we share information publicly to show trends </a:t>
            </a:r>
          </a:p>
          <a:p>
            <a:r>
              <a:rPr lang="en-US" sz="3700">
                <a:solidFill>
                  <a:srgbClr val="252525"/>
                </a:solidFill>
              </a:rPr>
              <a:t>about the general use of our services. We also allow specific partners to collect information from your </a:t>
            </a:r>
          </a:p>
          <a:p>
            <a:r>
              <a:rPr lang="en-US" sz="3700">
                <a:solidFill>
                  <a:srgbClr val="252525"/>
                </a:solidFill>
              </a:rPr>
              <a:t>browser or device for advertising and measurement purposes using their own cookies or similar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technologies.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If Google is involved in a merger, acquisition, </a:t>
            </a:r>
          </a:p>
        </p:txBody>
      </p: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94" id="94"/>
          <p:cNvPicPr>
            <a:picLocks noChangeAspect="true"/>
          </p:cNvPicPr>
          <p:nvPr/>
        </p:nvPicPr>
        <p:blipFill>
          <a:blip r:embed="rId9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94" id="9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or sale of assets, we'll continue to ensure the confidentiality </a:t>
            </a:r>
          </a:p>
          <a:p>
            <a:r>
              <a:rPr lang="en-US" sz="3700">
                <a:solidFill>
                  <a:srgbClr val="252525"/>
                </a:solidFill>
              </a:rPr>
              <a:t>of your personal information and give affected users notice before personal information is transferred or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becomes subject to a different privacy policy.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KEEPING YOUR INFORMATION SECURE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We build security into our services to protect your </a:t>
            </a:r>
          </a:p>
          <a:p>
            <a:r>
              <a:rPr lang="en-US" sz="3700">
                <a:solidFill>
                  <a:srgbClr val="252525"/>
                </a:solidFill>
              </a:rPr>
              <a:t>information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All Google products are built with strong security features that continuously protect </a:t>
            </a:r>
          </a:p>
        </p:txBody>
      </p:sp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96" id="96"/>
          <p:cNvPicPr>
            <a:picLocks noChangeAspect="true"/>
          </p:cNvPicPr>
          <p:nvPr/>
        </p:nvPicPr>
        <p:blipFill>
          <a:blip r:embed="rId9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96" id="9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your information. </a:t>
            </a:r>
          </a:p>
          <a:p>
            <a:r>
              <a:rPr lang="en-US" sz="3700">
                <a:solidFill>
                  <a:srgbClr val="252525"/>
                </a:solidFill>
              </a:rPr>
              <a:t>The insights we gain from maintaining our services help us detect and automatically block security </a:t>
            </a:r>
          </a:p>
          <a:p>
            <a:r>
              <a:rPr lang="en-US" sz="3700">
                <a:solidFill>
                  <a:srgbClr val="252525"/>
                </a:solidFill>
              </a:rPr>
              <a:t>threats from ever reaching you. And if we do detect something risky that we think you should know about,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well notify you and help guide you through steps to stay better protected.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We work hard to protect you and Google from unauthorized access, alteration, disclosure, or destruction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of information we hold, including: </a:t>
            </a:r>
          </a:p>
        </p:txBody>
      </p:sp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98" id="98"/>
          <p:cNvPicPr>
            <a:picLocks noChangeAspect="true"/>
          </p:cNvPicPr>
          <p:nvPr/>
        </p:nvPicPr>
        <p:blipFill>
          <a:blip r:embed="rId9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98" id="9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° We use encryption to keep your data private while in transit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° We offer a range of security features, like Safe Browsing, Security Checkup, and 2 Step Verification to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help you protect your account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° We review our information collection, storage, and processing practices, including physical security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measures, to prevent unauthorized access to our systems </a:t>
            </a:r>
          </a:p>
        </p:txBody>
      </p:sp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00" id="100"/>
          <p:cNvPicPr>
            <a:picLocks noChangeAspect="true"/>
          </p:cNvPicPr>
          <p:nvPr/>
        </p:nvPicPr>
        <p:blipFill>
          <a:blip r:embed="rId10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00" id="10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° We restrict access to personal information to Google employees, contractors, and agents who need </a:t>
            </a:r>
          </a:p>
          <a:p>
            <a:r>
              <a:rPr lang="en-US" sz="3700">
                <a:solidFill>
                  <a:srgbClr val="252525"/>
                </a:solidFill>
              </a:rPr>
              <a:t>that information in order to process it. Anyone with this access is subject to strict contractual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confidentiality obligations and may be disciplined or terminated if they fail to meet these obligations.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EXPORTING &amp; DELETING YOUR INFORMATION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You can export a copy of your information or delete it from </a:t>
            </a:r>
          </a:p>
          <a:p>
            <a:r>
              <a:rPr lang="en-US" sz="3700">
                <a:solidFill>
                  <a:srgbClr val="252525"/>
                </a:solidFill>
              </a:rPr>
              <a:t>your Google Account at any time </a:t>
            </a:r>
          </a:p>
        </p:txBody>
      </p:sp>
    </p:spTree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02" id="102"/>
          <p:cNvPicPr>
            <a:picLocks noChangeAspect="true"/>
          </p:cNvPicPr>
          <p:nvPr/>
        </p:nvPicPr>
        <p:blipFill>
          <a:blip r:embed="rId10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02" id="103"/>
          <p:cNvSpPr txBox="true"/>
          <p:nvPr/>
        </p:nvSpPr>
        <p:spPr>
          <a:xfrm>
            <a:off x="5930900" y="1320800"/>
            <a:ext cx="11887200" cy="15735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You can export a copy of content in your Google Account if you want to back it up or use it with a service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outside of Google.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a Export your data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To delete your information, you can: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° Delete your content from specific Google services </a:t>
            </a:r>
          </a:p>
          <a:p>
            <a:r>
              <a:rPr lang="en-US" sz="3700">
                <a:solidFill>
                  <a:srgbClr val="252525"/>
                </a:solidFill>
              </a:rPr>
              <a:t>° Search for and then delete specific items from your account using My Activity </a:t>
            </a:r>
          </a:p>
          <a:p>
            <a:r>
              <a:rPr lang="en-US" sz="3700">
                <a:solidFill>
                  <a:srgbClr val="252525"/>
                </a:solidFill>
              </a:rPr>
              <a:t>° Delete specific Google products, including your information associated with those </a:t>
            </a:r>
          </a:p>
        </p:txBody>
      </p:sp>
    </p:spTree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04" id="104"/>
          <p:cNvPicPr>
            <a:picLocks noChangeAspect="true"/>
          </p:cNvPicPr>
          <p:nvPr/>
        </p:nvPicPr>
        <p:blipFill>
          <a:blip r:embed="rId10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04" id="10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products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° Delete your entire Google Account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i Delete your information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In some cases, we retain data for limited periods when it needs to be kept for legitimate business or legal </a:t>
            </a:r>
          </a:p>
          <a:p>
            <a:r>
              <a:rPr lang="en-US" sz="3700">
                <a:solidFill>
                  <a:srgbClr val="252525"/>
                </a:solidFill>
              </a:rPr>
              <a:t>purposes. You can read about Google's data retention periods, including how long it takes us to delete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your information.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We try to ensure that our services protect </a:t>
            </a:r>
          </a:p>
        </p:txBody>
      </p:sp>
    </p:spTree>
  </p:cSld>
  <p:clrMapOvr>
    <a:masterClrMapping/>
  </p:clrMapOvr>
</p:sld>
</file>

<file path=ppt/slides/slide5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06" id="106"/>
          <p:cNvPicPr>
            <a:picLocks noChangeAspect="true"/>
          </p:cNvPicPr>
          <p:nvPr/>
        </p:nvPicPr>
        <p:blipFill>
          <a:blip r:embed="rId10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06" id="10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information from accidental or malicious deletion. Because of </a:t>
            </a:r>
          </a:p>
          <a:p>
            <a:r>
              <a:rPr lang="en-US" sz="3700">
                <a:solidFill>
                  <a:srgbClr val="252525"/>
                </a:solidFill>
              </a:rPr>
              <a:t>this, there may be delays between when you delete something and when copies are deleted from our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active and backup systems.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COMPLIANCE &amp; COOPERATION WITH REGULATORS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We regularly review this Privacy Policy and make sure that we process your information in ways that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comply with it. </a:t>
            </a:r>
          </a:p>
        </p:txBody>
      </p:sp>
    </p:spTree>
  </p:cSld>
  <p:clrMapOvr>
    <a:masterClrMapping/>
  </p:clrMapOvr>
</p:sld>
</file>

<file path=ppt/slides/slide5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08" id="108"/>
          <p:cNvPicPr>
            <a:picLocks noChangeAspect="true"/>
          </p:cNvPicPr>
          <p:nvPr/>
        </p:nvPicPr>
        <p:blipFill>
          <a:blip r:embed="rId10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08" id="109"/>
          <p:cNvSpPr txBox="true"/>
          <p:nvPr/>
        </p:nvSpPr>
        <p:spPr>
          <a:xfrm>
            <a:off x="5930900" y="1320800"/>
            <a:ext cx="11887200" cy="15735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Data transfers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We maintain servers around the world and your information may be processed on servers located outside </a:t>
            </a:r>
          </a:p>
          <a:p>
            <a:r>
              <a:rPr lang="en-US" sz="3700">
                <a:solidFill>
                  <a:srgbClr val="252525"/>
                </a:solidFill>
              </a:rPr>
              <a:t>of the country where you live. Data protection laws vary among countries, with some providing more </a:t>
            </a:r>
          </a:p>
          <a:p>
            <a:r>
              <a:rPr lang="en-US" sz="3700">
                <a:solidFill>
                  <a:srgbClr val="252525"/>
                </a:solidFill>
              </a:rPr>
              <a:t>protection than others. Regardless of where your information is processed, we apply the same </a:t>
            </a:r>
          </a:p>
          <a:p>
            <a:r>
              <a:rPr lang="en-US" sz="3700">
                <a:solidFill>
                  <a:srgbClr val="252525"/>
                </a:solidFill>
              </a:rPr>
              <a:t>protections described in this policy. We also comply with certain legal frameworks relating to the transfer </a:t>
            </a:r>
          </a:p>
          <a:p>
            <a:r>
              <a:rPr lang="en-US" sz="3700">
                <a:solidFill>
                  <a:srgbClr val="252525"/>
                </a:solidFill>
              </a:rPr>
              <a:t>of data, such as the EU-US and Swiss-US Privacy Shield Frameworks.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When we receive formal written complaints, </a:t>
            </a:r>
          </a:p>
        </p:txBody>
      </p:sp>
    </p:spTree>
  </p:cSld>
  <p:clrMapOvr>
    <a:masterClrMapping/>
  </p:clrMapOvr>
</p:sld>
</file>

<file path=ppt/slides/slide5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10" id="110"/>
          <p:cNvPicPr>
            <a:picLocks noChangeAspect="true"/>
          </p:cNvPicPr>
          <p:nvPr/>
        </p:nvPicPr>
        <p:blipFill>
          <a:blip r:embed="rId11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10" id="11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we respond by contacting the person who made the </a:t>
            </a:r>
          </a:p>
          <a:p>
            <a:r>
              <a:rPr lang="en-US" sz="3700">
                <a:solidFill>
                  <a:srgbClr val="252525"/>
                </a:solidFill>
              </a:rPr>
              <a:t>complaint. We work with the appropriate regulatory authorities, including local data protection </a:t>
            </a:r>
          </a:p>
          <a:p>
            <a:r>
              <a:rPr lang="en-US" sz="3700">
                <a:solidFill>
                  <a:srgbClr val="252525"/>
                </a:solidFill>
              </a:rPr>
              <a:t>authorities, to resolve any complaints regarding the transfer of your data that we cannot resolve with you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directly.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European requirements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If European Union (EU) data protection law applies to the processing of your information, we provide the </a:t>
            </a:r>
          </a:p>
          <a:p>
            <a:r>
              <a:rPr lang="en-US" sz="3700">
                <a:solidFill>
                  <a:srgbClr val="252525"/>
                </a:solidFill>
              </a:rPr>
              <a:t>controls described in this policy so you can exercise your right to request access to, </a:t>
            </a:r>
          </a:p>
        </p:txBody>
      </p:sp>
    </p:spTree>
  </p:cSld>
  <p:clrMapOvr>
    <a:masterClrMapping/>
  </p:clrMapOvr>
</p:sld>
</file>

<file path=ppt/slides/slide5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12" id="112"/>
          <p:cNvPicPr>
            <a:picLocks noChangeAspect="true"/>
          </p:cNvPicPr>
          <p:nvPr/>
        </p:nvPicPr>
        <p:blipFill>
          <a:blip r:embed="rId11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12" id="11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update, remove, and </a:t>
            </a:r>
          </a:p>
          <a:p>
            <a:r>
              <a:rPr lang="en-US" sz="3700">
                <a:solidFill>
                  <a:srgbClr val="252525"/>
                </a:solidFill>
              </a:rPr>
              <a:t>restrict the processing of your information. You also have the right to object to the processing of your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information or export your information to another service.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We process your information for the purposes described in this policy, based on the following legal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grounds: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With your consent </a:t>
            </a:r>
          </a:p>
        </p:txBody>
      </p:sp>
    </p:spTree>
  </p:cSld>
  <p:clrMapOvr>
    <a:masterClrMapping/>
  </p:clrMapOvr>
</p:sld>
</file>

<file path=ppt/slides/slide5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14" id="114"/>
          <p:cNvPicPr>
            <a:picLocks noChangeAspect="true"/>
          </p:cNvPicPr>
          <p:nvPr/>
        </p:nvPicPr>
        <p:blipFill>
          <a:blip r:embed="rId11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14" id="11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We ask for your agreement to process your information for specific purposes and you have the right to </a:t>
            </a:r>
          </a:p>
          <a:p>
            <a:r>
              <a:rPr lang="en-US" sz="3700">
                <a:solidFill>
                  <a:srgbClr val="252525"/>
                </a:solidFill>
              </a:rPr>
              <a:t>withdraw your consent at any time. For example, we ask for your consent to provide you with </a:t>
            </a:r>
          </a:p>
          <a:p>
            <a:r>
              <a:rPr lang="en-US" sz="3700">
                <a:solidFill>
                  <a:srgbClr val="252525"/>
                </a:solidFill>
              </a:rPr>
              <a:t>personalized services like ads. We also ask for your consent to collect your voice and audio activity for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speech recognition. You can manage these settings in your Google Account.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When were pursuing legitimate interests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We process your information for our legitimate interests and those of third parties while applying </a:t>
            </a:r>
          </a:p>
        </p:txBody>
      </p:sp>
    </p:spTree>
  </p:cSld>
  <p:clrMapOvr>
    <a:masterClrMapping/>
  </p:clrMapOvr>
</p:sld>
</file>

<file path=ppt/slides/slide5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16" id="116"/>
          <p:cNvPicPr>
            <a:picLocks noChangeAspect="true"/>
          </p:cNvPicPr>
          <p:nvPr/>
        </p:nvPicPr>
        <p:blipFill>
          <a:blip r:embed="rId11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16" id="11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appropriate safeguards that protect your privacy. This means that we process your information for </a:t>
            </a:r>
          </a:p>
          <a:p>
            <a:r>
              <a:rPr lang="en-US" sz="3700">
                <a:solidFill>
                  <a:srgbClr val="252525"/>
                </a:solidFill>
              </a:rPr>
              <a:t>things like: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° Providing, maintaining, and improving our services to meet the needs of our users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° Developing new products and features that are useful for our users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° Understanding how people use our services to ensure and improve the performance of our services </a:t>
            </a:r>
          </a:p>
          <a:p>
            <a:r>
              <a:rPr lang="en-US" sz="3700">
                <a:solidFill>
                  <a:srgbClr val="252525"/>
                </a:solidFill>
              </a:rPr>
              <a:t>° Customizing our services to provide you with a better user experience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° Marketing to inform users about our services </a:t>
            </a:r>
          </a:p>
        </p:txBody>
      </p:sp>
    </p:spTree>
  </p:cSld>
  <p:clrMapOvr>
    <a:masterClrMapping/>
  </p:clrMapOvr>
</p:sld>
</file>

<file path=ppt/slides/slide5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18" id="118"/>
          <p:cNvPicPr>
            <a:picLocks noChangeAspect="true"/>
          </p:cNvPicPr>
          <p:nvPr/>
        </p:nvPicPr>
        <p:blipFill>
          <a:blip r:embed="rId11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18" id="11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° Providing advertising to make many of our services freely available for users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° Detecting, preventing, or otherwise addressing fraud, abuse, security, or technical issues with our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services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° Protecting against harm to the rights, property or safety of Google, our users, or the public as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required or permitted by law </a:t>
            </a:r>
          </a:p>
          <a:p>
            <a:r>
              <a:rPr lang="en-US" sz="3700">
                <a:solidFill>
                  <a:srgbClr val="252525"/>
                </a:solidFill>
              </a:rPr>
              <a:t>° Performing research that improves our services for our users and benefits the public </a:t>
            </a:r>
          </a:p>
        </p:txBody>
      </p:sp>
    </p:spTree>
  </p:cSld>
  <p:clrMapOvr>
    <a:masterClrMapping/>
  </p:clrMapOvr>
</p:sld>
</file>

<file path=ppt/slides/slide5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20" id="120"/>
          <p:cNvPicPr>
            <a:picLocks noChangeAspect="true"/>
          </p:cNvPicPr>
          <p:nvPr/>
        </p:nvPicPr>
        <p:blipFill>
          <a:blip r:embed="rId12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20" id="12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° Fulfilling obligations to our partners like developers and rights holders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° Enforcing legal claims, including investigation of potential violations of applicable Terms of Service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When we're providing a service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We process your data to provide a service you’ve asked for under a contract. For example, we process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your payment information when you buy extra storage for Google Drive. </a:t>
            </a:r>
          </a:p>
        </p:txBody>
      </p:sp>
    </p:spTree>
  </p:cSld>
  <p:clrMapOvr>
    <a:masterClrMapping/>
  </p:clrMapOvr>
</p:sld>
</file>

<file path=ppt/slides/slide6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22" id="122"/>
          <p:cNvPicPr>
            <a:picLocks noChangeAspect="true"/>
          </p:cNvPicPr>
          <p:nvPr/>
        </p:nvPicPr>
        <p:blipFill>
          <a:blip r:embed="rId12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22" id="12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When we're complying with legal obligations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We'll process your data when we have a legal obligation to do so, for example, if were responding to legal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process or an enforceable governmental request.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If you have questions, you can contact Google and our data protection office. And you can contact your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local data protection authority if you have concerns regarding your rights under local law. </a:t>
            </a:r>
          </a:p>
        </p:txBody>
      </p:sp>
    </p:spTree>
  </p:cSld>
  <p:clrMapOvr>
    <a:masterClrMapping/>
  </p:clrMapOvr>
</p:sld>
</file>

<file path=ppt/slides/slide6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24" id="124"/>
          <p:cNvPicPr>
            <a:picLocks noChangeAspect="true"/>
          </p:cNvPicPr>
          <p:nvPr/>
        </p:nvPicPr>
        <p:blipFill>
          <a:blip r:embed="rId12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24" id="125"/>
          <p:cNvSpPr txBox="true"/>
          <p:nvPr/>
        </p:nvSpPr>
        <p:spPr>
          <a:xfrm>
            <a:off x="5930900" y="1320800"/>
            <a:ext cx="11887200" cy="15735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ABOUT THIS POLICY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When this policy applies </a:t>
            </a:r>
          </a:p>
          <a:p>
            <a:r>
              <a:rPr lang="en-US" sz="3700">
                <a:solidFill>
                  <a:srgbClr val="252525"/>
                </a:solidFill>
              </a:rPr>
              <a:t>This Privacy Policy applies to all of the services offered by Google LLC and its affiliates, including </a:t>
            </a:r>
          </a:p>
          <a:p>
            <a:r>
              <a:rPr lang="en-US" sz="3700">
                <a:solidFill>
                  <a:srgbClr val="252525"/>
                </a:solidFill>
              </a:rPr>
              <a:t>YouTube, Android, and services offered on third-party sites, such as advertising services. This Privacy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Policy doesn't apply to services that have separate privacy policies that do not incorporate this Privacy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Policy. </a:t>
            </a:r>
          </a:p>
          <a:p>
            <a:r>
              <a:rPr lang="en-US" sz="3700">
                <a:solidFill>
                  <a:srgbClr val="252525"/>
                </a:solidFill>
              </a:rPr>
              <a:t>This Privacy Policy doesn't apply to: </a:t>
            </a:r>
          </a:p>
        </p:txBody>
      </p:sp>
    </p:spTree>
  </p:cSld>
  <p:clrMapOvr>
    <a:masterClrMapping/>
  </p:clrMapOvr>
</p:sld>
</file>

<file path=ppt/slides/slide6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26" id="126"/>
          <p:cNvPicPr>
            <a:picLocks noChangeAspect="true"/>
          </p:cNvPicPr>
          <p:nvPr/>
        </p:nvPicPr>
        <p:blipFill>
          <a:blip r:embed="rId12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26" id="127"/>
          <p:cNvSpPr txBox="true"/>
          <p:nvPr/>
        </p:nvSpPr>
        <p:spPr>
          <a:xfrm>
            <a:off x="5930900" y="1320800"/>
            <a:ext cx="11887200" cy="15735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° The information practices of other companies and organizations that advertise our services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° Services offered by other companies or individuals, including products or sites that may include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Google services, be displayed to you in search results, or be linked from our services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Changes to this policy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We change this Privacy Policy from time to time. We will not reduce your rights under this Privacy Policy </a:t>
            </a:r>
          </a:p>
        </p:txBody>
      </p:sp>
    </p:spTree>
  </p:cSld>
  <p:clrMapOvr>
    <a:masterClrMapping/>
  </p:clrMapOvr>
</p:sld>
</file>

<file path=ppt/slides/slide6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28" id="128"/>
          <p:cNvPicPr>
            <a:picLocks noChangeAspect="true"/>
          </p:cNvPicPr>
          <p:nvPr/>
        </p:nvPicPr>
        <p:blipFill>
          <a:blip r:embed="rId12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28" id="12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without your explicit consent. We always indicate the date the last changes were published and we offer </a:t>
            </a:r>
          </a:p>
          <a:p>
            <a:r>
              <a:rPr lang="en-US" sz="3700">
                <a:solidFill>
                  <a:srgbClr val="252525"/>
                </a:solidFill>
              </a:rPr>
              <a:t>access to archived versions for your review. If changes are significant, we'll provide a more prominent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notice (including, for certain services, email notification of Privacy Policy changes).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RELATED PRIVACY PRACTICES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Specific Google services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The following privacy notices provide additional information about some Google services: </a:t>
            </a:r>
          </a:p>
        </p:txBody>
      </p:sp>
    </p:spTree>
  </p:cSld>
  <p:clrMapOvr>
    <a:masterClrMapping/>
  </p:clrMapOvr>
</p:sld>
</file>

<file path=ppt/slides/slide6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30" id="130"/>
          <p:cNvPicPr>
            <a:picLocks noChangeAspect="true"/>
          </p:cNvPicPr>
          <p:nvPr/>
        </p:nvPicPr>
        <p:blipFill>
          <a:blip r:embed="rId13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30" id="131"/>
          <p:cNvSpPr txBox="true"/>
          <p:nvPr/>
        </p:nvSpPr>
        <p:spPr>
          <a:xfrm>
            <a:off x="5930900" y="2082800"/>
            <a:ext cx="11887200" cy="14973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° Chrome &amp; the Chrome Operating System </a:t>
            </a:r>
          </a:p>
          <a:p>
            <a:r>
              <a:rPr lang="en-US" sz="3700">
                <a:solidFill>
                  <a:srgbClr val="252525"/>
                </a:solidFill>
              </a:rPr>
              <a:t>° Play Books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e Payments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° Fiber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° Project Fi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° G Suite for Education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e YouTube Kids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° Google Accounts Managed with Family Link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Other useful resources </a:t>
            </a:r>
          </a:p>
        </p:txBody>
      </p:sp>
    </p:spTree>
  </p:cSld>
  <p:clrMapOvr>
    <a:masterClrMapping/>
  </p:clrMapOvr>
</p:sld>
</file>

<file path=ppt/slides/slide6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32" id="132"/>
          <p:cNvPicPr>
            <a:picLocks noChangeAspect="true"/>
          </p:cNvPicPr>
          <p:nvPr/>
        </p:nvPicPr>
        <p:blipFill>
          <a:blip r:embed="rId13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32" id="133"/>
          <p:cNvSpPr txBox="true"/>
          <p:nvPr/>
        </p:nvSpPr>
        <p:spPr>
          <a:xfrm>
            <a:off x="5930900" y="1320800"/>
            <a:ext cx="11887200" cy="15735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The following links highlight useful resources for you to learn more about our practices and privacy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settings.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° Your Google Account is home to many of the settings you can use to manage your account </a:t>
            </a:r>
          </a:p>
          <a:p>
            <a:r>
              <a:rPr lang="en-US" sz="3700">
                <a:solidFill>
                  <a:srgbClr val="252525"/>
                </a:solidFill>
              </a:rPr>
              <a:t>° Privacy Checkup guides you through key privacy settings for your Google Account </a:t>
            </a:r>
          </a:p>
          <a:p>
            <a:r>
              <a:rPr lang="en-US" sz="3700">
                <a:solidFill>
                  <a:srgbClr val="252525"/>
                </a:solidFill>
              </a:rPr>
              <a:t>° Google's safety center offers advice for staying safe &amp; secure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° Google's privacy site provides more information about how we keep your information private and </a:t>
            </a:r>
          </a:p>
        </p:txBody>
      </p:sp>
    </p:spTree>
  </p:cSld>
  <p:clrMapOvr>
    <a:masterClrMapping/>
  </p:clrMapOvr>
</p:sld>
</file>

<file path=ppt/slides/slide6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34" id="134"/>
          <p:cNvPicPr>
            <a:picLocks noChangeAspect="true"/>
          </p:cNvPicPr>
          <p:nvPr/>
        </p:nvPicPr>
        <p:blipFill>
          <a:blip r:embed="rId13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34" id="135"/>
          <p:cNvSpPr txBox="true"/>
          <p:nvPr/>
        </p:nvSpPr>
        <p:spPr>
          <a:xfrm>
            <a:off x="5930900" y="2082800"/>
            <a:ext cx="11887200" cy="14973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safe </a:t>
            </a:r>
          </a:p>
          <a:p>
            <a:r>
              <a:rPr lang="en-US" sz="3700">
                <a:solidFill>
                  <a:srgbClr val="252525"/>
                </a:solidFill>
              </a:rPr>
              <a:t>° Privacy &amp; Terms provides more context regarding this Privacy Policy and our Terms of Service </a:t>
            </a:r>
          </a:p>
          <a:p>
            <a:r>
              <a:rPr lang="en-US" sz="3700">
                <a:solidFill>
                  <a:srgbClr val="252525"/>
                </a:solidFill>
              </a:rPr>
              <a:t>° Technologies and Principles includes more information about: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o How Google uses cookies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o Technologies used for Advertising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o How Google uses pattern recognition to recognize things like faces in photos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o A page that explains what data is shared with Google when you visit websites that use our </a:t>
            </a:r>
          </a:p>
        </p:txBody>
      </p:sp>
    </p:spTree>
  </p:cSld>
  <p:clrMapOvr>
    <a:masterClrMapping/>
  </p:clrMapOvr>
</p:sld>
</file>

<file path=ppt/slides/slide6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36" id="136"/>
          <p:cNvPicPr>
            <a:picLocks noChangeAspect="true"/>
          </p:cNvPicPr>
          <p:nvPr/>
        </p:nvPicPr>
        <p:blipFill>
          <a:blip r:embed="rId13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36" id="137"/>
          <p:cNvSpPr txBox="true"/>
          <p:nvPr/>
        </p:nvSpPr>
        <p:spPr>
          <a:xfrm>
            <a:off x="5930900" y="1320800"/>
            <a:ext cx="11887200" cy="15735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advertising, analytics and social products.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o How Google uses data when you use our partners' sites or apps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ads you'll find most useful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For example, if you watch videos about baking on YouTube, you may see more ads that relate to baking </a:t>
            </a:r>
          </a:p>
          <a:p>
            <a:r>
              <a:rPr lang="en-US" sz="3700">
                <a:solidFill>
                  <a:srgbClr val="252525"/>
                </a:solidFill>
              </a:rPr>
              <a:t>as you browse the web. We also may use your IP address to determine your approximate location, so that </a:t>
            </a:r>
          </a:p>
          <a:p>
            <a:r>
              <a:rPr lang="en-US" sz="3700">
                <a:solidFill>
                  <a:srgbClr val="252525"/>
                </a:solidFill>
              </a:rPr>
              <a:t>we can serve you ads for a nearby pizza delivery service if you search for “pizza.” Learn more about </a:t>
            </a:r>
          </a:p>
        </p:txBody>
      </p:sp>
    </p:spTree>
  </p:cSld>
  <p:clrMapOvr>
    <a:masterClrMapping/>
  </p:clrMapOvr>
</p:sld>
</file>

<file path=ppt/slides/slide6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38" id="138"/>
          <p:cNvPicPr>
            <a:picLocks noChangeAspect="true"/>
          </p:cNvPicPr>
          <p:nvPr/>
        </p:nvPicPr>
        <p:blipFill>
          <a:blip r:embed="rId13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38" id="139"/>
          <p:cNvSpPr txBox="true"/>
          <p:nvPr/>
        </p:nvSpPr>
        <p:spPr>
          <a:xfrm>
            <a:off x="5930900" y="1320800"/>
            <a:ext cx="11887200" cy="15735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Google ads and why you may see particular ads.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the people who matter most to you online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For example, when you type an address in the To, Cc, or Bcc field of an email you're composing, Gmail will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suggest addresses based on the people you contact most frequently.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phone number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If you add your phone number to your </a:t>
            </a:r>
          </a:p>
        </p:txBody>
      </p:sp>
    </p:spTree>
  </p:cSld>
  <p:clrMapOvr>
    <a:masterClrMapping/>
  </p:clrMapOvr>
</p:sld>
</file>

<file path=ppt/slides/slide6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40" id="140"/>
          <p:cNvPicPr>
            <a:picLocks noChangeAspect="true"/>
          </p:cNvPicPr>
          <p:nvPr/>
        </p:nvPicPr>
        <p:blipFill>
          <a:blip r:embed="rId14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40" id="14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account, it can be used for different purposes across Google </a:t>
            </a:r>
          </a:p>
          <a:p>
            <a:r>
              <a:rPr lang="en-US" sz="3700">
                <a:solidFill>
                  <a:srgbClr val="252525"/>
                </a:solidFill>
              </a:rPr>
              <a:t>services, depending on your settings. For example, your phone number can be used to help you access </a:t>
            </a:r>
          </a:p>
          <a:p>
            <a:r>
              <a:rPr lang="en-US" sz="3700">
                <a:solidFill>
                  <a:srgbClr val="252525"/>
                </a:solidFill>
              </a:rPr>
              <a:t>your account if you forget your password, help people find and connect with you, and make the ads you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see more relevant to you. Learn more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payment information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For example, if you add a credit card or other payment method to your Google Account, you can use it to </a:t>
            </a:r>
          </a:p>
          <a:p>
            <a:r>
              <a:rPr lang="en-US" sz="3700">
                <a:solidFill>
                  <a:srgbClr val="252525"/>
                </a:solidFill>
              </a:rPr>
              <a:t>buy things across our services, like apps in the Play Store. We may also ask for other </a:t>
            </a:r>
          </a:p>
        </p:txBody>
      </p:sp>
    </p:spTree>
  </p:cSld>
  <p:clrMapOvr>
    <a:masterClrMapping/>
  </p:clrMapOvr>
</p:sld>
</file>

<file path=ppt/slides/slide7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42" id="142"/>
          <p:cNvPicPr>
            <a:picLocks noChangeAspect="true"/>
          </p:cNvPicPr>
          <p:nvPr/>
        </p:nvPicPr>
        <p:blipFill>
          <a:blip r:embed="rId14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42" id="14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information, like a </a:t>
            </a:r>
          </a:p>
          <a:p>
            <a:r>
              <a:rPr lang="en-US" sz="3700">
                <a:solidFill>
                  <a:srgbClr val="252525"/>
                </a:solidFill>
              </a:rPr>
              <a:t>business tax ID, to help process your payment. In some cases, we may also need to verify your identity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and may ask you for information to do this.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We may also use payment information to verify that you meet age requirements, if, for example, you enter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an incorrect birthday indicating you’re not old enough to have a Google Account. Learn more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devices </a:t>
            </a:r>
          </a:p>
        </p:txBody>
      </p:sp>
    </p:spTree>
  </p:cSld>
  <p:clrMapOvr>
    <a:masterClrMapping/>
  </p:clrMapOvr>
</p:sld>
</file>

<file path=ppt/slides/slide7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44" id="144"/>
          <p:cNvPicPr>
            <a:picLocks noChangeAspect="true"/>
          </p:cNvPicPr>
          <p:nvPr/>
        </p:nvPicPr>
        <p:blipFill>
          <a:blip r:embed="rId14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44" id="145"/>
          <p:cNvSpPr txBox="true"/>
          <p:nvPr/>
        </p:nvSpPr>
        <p:spPr>
          <a:xfrm>
            <a:off x="5930900" y="1320800"/>
            <a:ext cx="11887200" cy="15735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For example, we can use information from your devices to help you decide which device you'd like to use </a:t>
            </a:r>
          </a:p>
          <a:p>
            <a:r>
              <a:rPr lang="en-US" sz="3700">
                <a:solidFill>
                  <a:srgbClr val="252525"/>
                </a:solidFill>
              </a:rPr>
              <a:t>to install an app or view a movie you buy from Google Play. We also use this information to help protect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your account.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Android device with Google apps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Android devices with Google apps include devices sold by Google or one of our partners and include </a:t>
            </a:r>
          </a:p>
          <a:p>
            <a:r>
              <a:rPr lang="en-US" sz="3700">
                <a:solidFill>
                  <a:srgbClr val="252525"/>
                </a:solidFill>
              </a:rPr>
              <a:t>phones, cameras, vehicles, wearables, and televisions. These devices use Google Play Services and other </a:t>
            </a:r>
          </a:p>
        </p:txBody>
      </p:sp>
    </p:spTree>
  </p:cSld>
  <p:clrMapOvr>
    <a:masterClrMapping/>
  </p:clrMapOvr>
</p:sld>
</file>

<file path=ppt/slides/slide7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46" id="146"/>
          <p:cNvPicPr>
            <a:picLocks noChangeAspect="true"/>
          </p:cNvPicPr>
          <p:nvPr/>
        </p:nvPicPr>
        <p:blipFill>
          <a:blip r:embed="rId14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46" id="14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pre-installed apps that include services like Gmail, Maps, your phone's camera and phone dialer, text-to-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speech conversion, keyboard input, and security features.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Views and interactions with content and ads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For example, we collect information about views and interactions with ads so we can provide aggregated </a:t>
            </a:r>
          </a:p>
          <a:p>
            <a:r>
              <a:rPr lang="en-US" sz="3700">
                <a:solidFill>
                  <a:srgbClr val="252525"/>
                </a:solidFill>
              </a:rPr>
              <a:t>reports to advertisers, like telling them whether we served their ad on a page and whether the ad was </a:t>
            </a:r>
          </a:p>
          <a:p>
            <a:r>
              <a:rPr lang="en-US" sz="3700">
                <a:solidFill>
                  <a:srgbClr val="252525"/>
                </a:solidFill>
              </a:rPr>
              <a:t>likely seen by a viewer. We may also measure other interactions, such as how you move your mouse over </a:t>
            </a:r>
          </a:p>
        </p:txBody>
      </p:sp>
    </p:spTree>
  </p:cSld>
  <p:clrMapOvr>
    <a:masterClrMapping/>
  </p:clrMapOvr>
</p:sld>
</file>

<file path=ppt/slides/slide7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48" id="148"/>
          <p:cNvPicPr>
            <a:picLocks noChangeAspect="true"/>
          </p:cNvPicPr>
          <p:nvPr/>
        </p:nvPicPr>
        <p:blipFill>
          <a:blip r:embed="rId14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48" id="149"/>
          <p:cNvSpPr txBox="true"/>
          <p:nvPr/>
        </p:nvSpPr>
        <p:spPr>
          <a:xfrm>
            <a:off x="5930900" y="2082800"/>
            <a:ext cx="11887200" cy="14973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an ad or if you interact with the page on which the ad appears.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synced with your Google Account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Your Chrome browsing history is only saved to your account if you’ve enabled Chrome synchronization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with your Google Account. Learn more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services to make and receive calls or send and receive messages </a:t>
            </a:r>
          </a:p>
        </p:txBody>
      </p:sp>
    </p:spTree>
  </p:cSld>
  <p:clrMapOvr>
    <a:masterClrMapping/>
  </p:clrMapOvr>
</p:sld>
</file>

<file path=ppt/slides/slide7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50" id="150"/>
          <p:cNvPicPr>
            <a:picLocks noChangeAspect="true"/>
          </p:cNvPicPr>
          <p:nvPr/>
        </p:nvPicPr>
        <p:blipFill>
          <a:blip r:embed="rId15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50" id="15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Examples of these services include: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° Google Hangouts, for making domestic and international calls </a:t>
            </a:r>
          </a:p>
          <a:p>
            <a:r>
              <a:rPr lang="en-US" sz="3700">
                <a:solidFill>
                  <a:srgbClr val="252525"/>
                </a:solidFill>
              </a:rPr>
              <a:t>° Google Voice, for making calls, sending text messages, and managing voicemail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° Project Fi, for a phone plan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Sensor data from your device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Your device may have sensors that can be used to better understand your location and movement. For </a:t>
            </a:r>
          </a:p>
          <a:p>
            <a:r>
              <a:rPr lang="en-US" sz="3700">
                <a:solidFill>
                  <a:srgbClr val="252525"/>
                </a:solidFill>
              </a:rPr>
              <a:t>example, an accelerometer can be used to determine your speed and a gyroscope to figure out your </a:t>
            </a:r>
          </a:p>
        </p:txBody>
      </p:sp>
    </p:spTree>
  </p:cSld>
  <p:clrMapOvr>
    <a:masterClrMapping/>
  </p:clrMapOvr>
</p:sld>
</file>

<file path=ppt/slides/slide7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52" id="152"/>
          <p:cNvPicPr>
            <a:picLocks noChangeAspect="true"/>
          </p:cNvPicPr>
          <p:nvPr/>
        </p:nvPicPr>
        <p:blipFill>
          <a:blip r:embed="rId15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52" id="15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direction of travel.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Information about things near your device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If you use Google's Location services on Android, we can improve the performance of apps that rely on </a:t>
            </a:r>
          </a:p>
          <a:p>
            <a:r>
              <a:rPr lang="en-US" sz="3700">
                <a:solidFill>
                  <a:srgbClr val="252525"/>
                </a:solidFill>
              </a:rPr>
              <a:t>your location, like Google Maps. If you use Google’s Location services, your device sends information to </a:t>
            </a:r>
          </a:p>
          <a:p>
            <a:r>
              <a:rPr lang="en-US" sz="3700">
                <a:solidFill>
                  <a:srgbClr val="252525"/>
                </a:solidFill>
              </a:rPr>
              <a:t>Google about its location, sensors (like accelerometer), and nearby cell towers and Wi-Fi access points </a:t>
            </a:r>
          </a:p>
          <a:p>
            <a:r>
              <a:rPr lang="en-US" sz="3700">
                <a:solidFill>
                  <a:srgbClr val="252525"/>
                </a:solidFill>
              </a:rPr>
              <a:t>(like MAC address and signal strength). All these things help to determine your location. You can use your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device settings to enable Google Location </a:t>
            </a:r>
          </a:p>
        </p:txBody>
      </p:sp>
    </p:spTree>
  </p:cSld>
  <p:clrMapOvr>
    <a:masterClrMapping/>
  </p:clrMapOvr>
</p:sld>
</file>

<file path=ppt/slides/slide7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54" id="154"/>
          <p:cNvPicPr>
            <a:picLocks noChangeAspect="true"/>
          </p:cNvPicPr>
          <p:nvPr/>
        </p:nvPicPr>
        <p:blipFill>
          <a:blip r:embed="rId15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54" id="15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services. Learn more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publicly accessible sources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For example, we may collect information that’s publicly available online or from other public sources to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help train Google's language models and build features like Google Translate.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protect against abuse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For example, information about security threats can help us notify you if we think your account has been </a:t>
            </a:r>
          </a:p>
        </p:txBody>
      </p:sp>
    </p:spTree>
  </p:cSld>
  <p:clrMapOvr>
    <a:masterClrMapping/>
  </p:clrMapOvr>
</p:sld>
</file>

<file path=ppt/slides/slide7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56" id="156"/>
          <p:cNvPicPr>
            <a:picLocks noChangeAspect="true"/>
          </p:cNvPicPr>
          <p:nvPr/>
        </p:nvPicPr>
        <p:blipFill>
          <a:blip r:embed="rId15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56" id="157"/>
          <p:cNvSpPr txBox="true"/>
          <p:nvPr/>
        </p:nvSpPr>
        <p:spPr>
          <a:xfrm>
            <a:off x="5930900" y="2082800"/>
            <a:ext cx="11887200" cy="14973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compromised (at which point we can help you take steps to protect your account).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advertising and research services on their behalf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For example, advertisers may upload data from their loyalty-card programs so that they can better </a:t>
            </a:r>
          </a:p>
          <a:p>
            <a:r>
              <a:rPr lang="en-US" sz="3700">
                <a:solidFill>
                  <a:srgbClr val="252525"/>
                </a:solidFill>
              </a:rPr>
              <a:t>understand the performance of their ad campaigns. We only provide aggregated reports to advertisers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that don’t reveal information about individual people. </a:t>
            </a:r>
          </a:p>
        </p:txBody>
      </p:sp>
    </p:spTree>
  </p:cSld>
  <p:clrMapOvr>
    <a:masterClrMapping/>
  </p:clrMapOvr>
</p:sld>
</file>

<file path=ppt/slides/slide7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58" id="158"/>
          <p:cNvPicPr>
            <a:picLocks noChangeAspect="true"/>
          </p:cNvPicPr>
          <p:nvPr/>
        </p:nvPicPr>
        <p:blipFill>
          <a:blip r:embed="rId15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58" id="159"/>
          <p:cNvSpPr txBox="true"/>
          <p:nvPr/>
        </p:nvSpPr>
        <p:spPr>
          <a:xfrm>
            <a:off x="5930900" y="1320800"/>
            <a:ext cx="11887200" cy="15735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deliver our services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Examples of how we use your information to deliver our services include: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° We use the IP address assigned to your device to send you the data you requested, such as loading a </a:t>
            </a:r>
          </a:p>
          <a:p>
            <a:r>
              <a:rPr lang="en-US" sz="3700">
                <a:solidFill>
                  <a:srgbClr val="252525"/>
                </a:solidFill>
              </a:rPr>
              <a:t>YouTube video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° We use unique identifiers stored in cookies on your device to help us authenticate you as the person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who should have access to your Google Account </a:t>
            </a:r>
          </a:p>
        </p:txBody>
      </p:sp>
    </p:spTree>
  </p:cSld>
  <p:clrMapOvr>
    <a:masterClrMapping/>
  </p:clrMapOvr>
</p:sld>
</file>

<file path=ppt/slides/slide7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60" id="160"/>
          <p:cNvPicPr>
            <a:picLocks noChangeAspect="true"/>
          </p:cNvPicPr>
          <p:nvPr/>
        </p:nvPicPr>
        <p:blipFill>
          <a:blip r:embed="rId16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60" id="161"/>
          <p:cNvSpPr txBox="true"/>
          <p:nvPr/>
        </p:nvSpPr>
        <p:spPr>
          <a:xfrm>
            <a:off x="5930900" y="2082800"/>
            <a:ext cx="11887200" cy="14973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° Photos and videos you upload to Google Photos are used to help you create albums, animations,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and other creations that you can share. Learn more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° A flight confirmation email you receive may be used to create a “check-in” button that appears in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your Gmail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ensure our services are working as intended </a:t>
            </a:r>
          </a:p>
        </p:txBody>
      </p:sp>
    </p:spTree>
  </p:cSld>
  <p:clrMapOvr>
    <a:masterClrMapping/>
  </p:clrMapOvr>
</p:sld>
</file>

<file path=ppt/slides/slide8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62" id="162"/>
          <p:cNvPicPr>
            <a:picLocks noChangeAspect="true"/>
          </p:cNvPicPr>
          <p:nvPr/>
        </p:nvPicPr>
        <p:blipFill>
          <a:blip r:embed="rId16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62" id="163"/>
          <p:cNvSpPr txBox="true"/>
          <p:nvPr/>
        </p:nvSpPr>
        <p:spPr>
          <a:xfrm>
            <a:off x="5930900" y="1320800"/>
            <a:ext cx="11887200" cy="15735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For example, we continuously monitor our systems to look for problems. And if we find something wrong </a:t>
            </a:r>
          </a:p>
          <a:p>
            <a:r>
              <a:rPr lang="en-US" sz="3700">
                <a:solidFill>
                  <a:srgbClr val="252525"/>
                </a:solidFill>
              </a:rPr>
              <a:t>with a specific feature, reviewing activity information collected before the problem started allows us to fix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things more quickly.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make improvements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For example, we use cookies to analyze how people interact with our services. And that analysis can help </a:t>
            </a:r>
          </a:p>
          <a:p>
            <a:r>
              <a:rPr lang="en-US" sz="3700">
                <a:solidFill>
                  <a:srgbClr val="252525"/>
                </a:solidFill>
              </a:rPr>
              <a:t>us build better products. For example, it may help us discover that it’s taking people too long to complete </a:t>
            </a:r>
          </a:p>
        </p:txBody>
      </p:sp>
    </p:spTree>
  </p:cSld>
  <p:clrMapOvr>
    <a:masterClrMapping/>
  </p:clrMapOvr>
</p:sld>
</file>

<file path=ppt/slides/slide8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64" id="164"/>
          <p:cNvPicPr>
            <a:picLocks noChangeAspect="true"/>
          </p:cNvPicPr>
          <p:nvPr/>
        </p:nvPicPr>
        <p:blipFill>
          <a:blip r:embed="rId16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64" id="16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a certain task or that they have trouble finishing steps at all. We can then redesign that feature and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improve the product for everyone.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customized search results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For example, when you're signed in to your Google Account and have the Web &amp; App Activity control </a:t>
            </a:r>
          </a:p>
          <a:p>
            <a:r>
              <a:rPr lang="en-US" sz="3700">
                <a:solidFill>
                  <a:srgbClr val="252525"/>
                </a:solidFill>
              </a:rPr>
              <a:t>enabled, you can get more relevant search results that are based on your previous searches and activity </a:t>
            </a:r>
          </a:p>
          <a:p>
            <a:r>
              <a:rPr lang="en-US" sz="3700">
                <a:solidFill>
                  <a:srgbClr val="252525"/>
                </a:solidFill>
              </a:rPr>
              <a:t>from other Google services. You can learn more here. You may also get customized search results even </a:t>
            </a:r>
          </a:p>
          <a:p>
            <a:r>
              <a:rPr lang="en-US" sz="3700">
                <a:solidFill>
                  <a:srgbClr val="252525"/>
                </a:solidFill>
              </a:rPr>
              <a:t>when you're signed out. If you don’t want </a:t>
            </a:r>
          </a:p>
        </p:txBody>
      </p:sp>
    </p:spTree>
  </p:cSld>
  <p:clrMapOvr>
    <a:masterClrMapping/>
  </p:clrMapOvr>
</p:sld>
</file>

<file path=ppt/slides/slide8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66" id="166"/>
          <p:cNvPicPr>
            <a:picLocks noChangeAspect="true"/>
          </p:cNvPicPr>
          <p:nvPr/>
        </p:nvPicPr>
        <p:blipFill>
          <a:blip r:embed="rId16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66" id="16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this level of search customization, you can search and browse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privately or turn off signed-out search personalization.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personalized ads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You may also see personalized ads based on information from the advertiser. If you shopped on an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advertiser's website, for example, they can use that visit information to show you ads. Learn more </a:t>
            </a:r>
          </a:p>
        </p:txBody>
      </p:sp>
    </p:spTree>
  </p:cSld>
  <p:clrMapOvr>
    <a:masterClrMapping/>
  </p:clrMapOvr>
</p:sld>
</file>

<file path=ppt/slides/slide8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68" id="168"/>
          <p:cNvPicPr>
            <a:picLocks noChangeAspect="true"/>
          </p:cNvPicPr>
          <p:nvPr/>
        </p:nvPicPr>
        <p:blipFill>
          <a:blip r:embed="rId16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68" id="16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sensitive categories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When showing you personalized ads, we use topics that we think might be of interest to you based on </a:t>
            </a:r>
          </a:p>
          <a:p>
            <a:r>
              <a:rPr lang="en-US" sz="3700">
                <a:solidFill>
                  <a:srgbClr val="252525"/>
                </a:solidFill>
              </a:rPr>
              <a:t>your activity. For example, you may see ads for things like "Cooking and Recipes’ or "Air Travel.” We don't </a:t>
            </a:r>
          </a:p>
          <a:p>
            <a:r>
              <a:rPr lang="en-US" sz="3700">
                <a:solidFill>
                  <a:srgbClr val="252525"/>
                </a:solidFill>
              </a:rPr>
              <a:t>use topics or show personalized ads based on sensitive categories like race, religion, sexual orientation, or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health. And we require the same from advertisers that use our services.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may link information </a:t>
            </a:r>
          </a:p>
        </p:txBody>
      </p:sp>
    </p:spTree>
  </p:cSld>
  <p:clrMapOvr>
    <a:masterClrMapping/>
  </p:clrMapOvr>
</p:sld>
</file>

<file path=ppt/slides/slide8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70" id="170"/>
          <p:cNvPicPr>
            <a:picLocks noChangeAspect="true"/>
          </p:cNvPicPr>
          <p:nvPr/>
        </p:nvPicPr>
        <p:blipFill>
          <a:blip r:embed="rId17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70" id="17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Google Analytics relies on first-party cookies, which means the cookies are set by the Google Analytics </a:t>
            </a:r>
          </a:p>
          <a:p>
            <a:r>
              <a:rPr lang="en-US" sz="3700">
                <a:solidFill>
                  <a:srgbClr val="252525"/>
                </a:solidFill>
              </a:rPr>
              <a:t>customer. Using our systems, data generated through Google Analytics can be linked by the Google </a:t>
            </a:r>
          </a:p>
          <a:p>
            <a:r>
              <a:rPr lang="en-US" sz="3700">
                <a:solidFill>
                  <a:srgbClr val="252525"/>
                </a:solidFill>
              </a:rPr>
              <a:t>Analytics customer and by Google to third-party cookies that are related to visits to other websites. For </a:t>
            </a:r>
          </a:p>
          <a:p>
            <a:r>
              <a:rPr lang="en-US" sz="3700">
                <a:solidFill>
                  <a:srgbClr val="252525"/>
                </a:solidFill>
              </a:rPr>
              <a:t>example, an advertiser may want to use its Google Analytics data to create more relevant ads, or to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further analyze its traffic. Learn more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safety and reliability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Some examples of how we use your </a:t>
            </a:r>
          </a:p>
        </p:txBody>
      </p:sp>
    </p:spTree>
  </p:cSld>
  <p:clrMapOvr>
    <a:masterClrMapping/>
  </p:clrMapOvr>
</p:sld>
</file>

<file path=ppt/slides/slide8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72" id="172"/>
          <p:cNvPicPr>
            <a:picLocks noChangeAspect="true"/>
          </p:cNvPicPr>
          <p:nvPr/>
        </p:nvPicPr>
        <p:blipFill>
          <a:blip r:embed="rId17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72" id="17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information to help keep our services safe and reliable include: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° Collecting and analyzing IP addresses and cookie data to protect against automated abuse. This </a:t>
            </a:r>
          </a:p>
          <a:p>
            <a:r>
              <a:rPr lang="en-US" sz="3700">
                <a:solidFill>
                  <a:srgbClr val="252525"/>
                </a:solidFill>
              </a:rPr>
              <a:t>abuse takes many forms, such as sending spam to Gmail users, stealing money from advertisers by </a:t>
            </a:r>
          </a:p>
          <a:p>
            <a:r>
              <a:rPr lang="en-US" sz="3700">
                <a:solidFill>
                  <a:srgbClr val="252525"/>
                </a:solidFill>
              </a:rPr>
              <a:t>fraudulently clicking on ads, or censoring content by launching a Distributed Denial of Service (DDoS) </a:t>
            </a:r>
          </a:p>
          <a:p>
            <a:r>
              <a:rPr lang="en-US" sz="3700">
                <a:solidFill>
                  <a:srgbClr val="252525"/>
                </a:solidFill>
              </a:rPr>
              <a:t>attack.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° The “last account activity” feature in Gmail can help you find out if and when someone accessed </a:t>
            </a:r>
          </a:p>
          <a:p>
            <a:r>
              <a:rPr lang="en-US" sz="3700">
                <a:solidFill>
                  <a:srgbClr val="252525"/>
                </a:solidFill>
              </a:rPr>
              <a:t>your email without your knowledge. This feature shows you information about recent </a:t>
            </a:r>
          </a:p>
        </p:txBody>
      </p:sp>
    </p:spTree>
  </p:cSld>
  <p:clrMapOvr>
    <a:masterClrMapping/>
  </p:clrMapOvr>
</p:sld>
</file>

<file path=ppt/slides/slide8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74" id="174"/>
          <p:cNvPicPr>
            <a:picLocks noChangeAspect="true"/>
          </p:cNvPicPr>
          <p:nvPr/>
        </p:nvPicPr>
        <p:blipFill>
          <a:blip r:embed="rId17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74" id="17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activity in </a:t>
            </a:r>
          </a:p>
          <a:p>
            <a:r>
              <a:rPr lang="en-US" sz="3700">
                <a:solidFill>
                  <a:srgbClr val="252525"/>
                </a:solidFill>
              </a:rPr>
              <a:t>Gmail, such as the IP addresses that accessed your mail, the associated location, and the date and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time of access. Learn more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detect abuse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When we detect spam, malware, illegal content, and other forms of abuse on our systems in violation of </a:t>
            </a:r>
          </a:p>
          <a:p>
            <a:r>
              <a:rPr lang="en-US" sz="3700">
                <a:solidFill>
                  <a:srgbClr val="252525"/>
                </a:solidFill>
              </a:rPr>
              <a:t>our policies, we may disable your account or take other appropriate action. In certain circumstances, we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may also report the violation to appropriate </a:t>
            </a:r>
          </a:p>
        </p:txBody>
      </p:sp>
    </p:spTree>
  </p:cSld>
  <p:clrMapOvr>
    <a:masterClrMapping/>
  </p:clrMapOvr>
</p:sld>
</file>

<file path=ppt/slides/slide8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76" id="176"/>
          <p:cNvPicPr>
            <a:picLocks noChangeAspect="true"/>
          </p:cNvPicPr>
          <p:nvPr/>
        </p:nvPicPr>
        <p:blipFill>
          <a:blip r:embed="rId17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76" id="17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authorities.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combine the information we collect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Some examples of how we combine the information we collect include: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° When you're signed in to your Google Account and search on Google, you can see search results </a:t>
            </a:r>
          </a:p>
          <a:p>
            <a:r>
              <a:rPr lang="en-US" sz="3700">
                <a:solidFill>
                  <a:srgbClr val="252525"/>
                </a:solidFill>
              </a:rPr>
              <a:t>from the public web, along with relevant information from the content you have in other Google </a:t>
            </a:r>
          </a:p>
          <a:p>
            <a:r>
              <a:rPr lang="en-US" sz="3700">
                <a:solidFill>
                  <a:srgbClr val="252525"/>
                </a:solidFill>
              </a:rPr>
              <a:t>products, like Gmail or Google Calendar. This can include things like the status of your upcoming </a:t>
            </a:r>
          </a:p>
        </p:txBody>
      </p:sp>
    </p:spTree>
  </p:cSld>
  <p:clrMapOvr>
    <a:masterClrMapping/>
  </p:clrMapOvr>
</p:sld>
</file>

<file path=ppt/slides/slide8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78" id="178"/>
          <p:cNvPicPr>
            <a:picLocks noChangeAspect="true"/>
          </p:cNvPicPr>
          <p:nvPr/>
        </p:nvPicPr>
        <p:blipFill>
          <a:blip r:embed="rId17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78" id="17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flights, restaurant, and hotel reservations, or your photos. Learn more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° If you have communicated with someone via Gmail and want to add them to a Google Doc or an </a:t>
            </a:r>
          </a:p>
          <a:p>
            <a:r>
              <a:rPr lang="en-US" sz="3700">
                <a:solidFill>
                  <a:srgbClr val="252525"/>
                </a:solidFill>
              </a:rPr>
              <a:t>event in Google Calendar, Google makes it easy to do so by autocompleting their email address when </a:t>
            </a:r>
          </a:p>
          <a:p>
            <a:r>
              <a:rPr lang="en-US" sz="3700">
                <a:solidFill>
                  <a:srgbClr val="252525"/>
                </a:solidFill>
              </a:rPr>
              <a:t>you start to type in their name. This feature makes it easier to share things with people you know.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Learn more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° The Google app can use data that you have stored in other Google products to show you </a:t>
            </a:r>
          </a:p>
          <a:p>
            <a:r>
              <a:rPr lang="en-US" sz="3700">
                <a:solidFill>
                  <a:srgbClr val="252525"/>
                </a:solidFill>
              </a:rPr>
              <a:t>personalized content, depending on your </a:t>
            </a:r>
          </a:p>
        </p:txBody>
      </p:sp>
    </p:spTree>
  </p:cSld>
  <p:clrMapOvr>
    <a:masterClrMapping/>
  </p:clrMapOvr>
</p:sld>
</file>

<file path=ppt/slides/slide8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80" id="180"/>
          <p:cNvPicPr>
            <a:picLocks noChangeAspect="true"/>
          </p:cNvPicPr>
          <p:nvPr/>
        </p:nvPicPr>
        <p:blipFill>
          <a:blip r:embed="rId18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80" id="18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settings. For example, if you have searches stored in your </a:t>
            </a:r>
          </a:p>
          <a:p>
            <a:r>
              <a:rPr lang="en-US" sz="3700">
                <a:solidFill>
                  <a:srgbClr val="252525"/>
                </a:solidFill>
              </a:rPr>
              <a:t>Web &amp; App Activity, the Google app can show you news articles and other information about your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interests, like sports scores, based your activity. Learn more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° If you link your Google Account to your Google Home, you can manage your information and get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things done through the Google Assistant. For example, you can add events to your Google Calendar </a:t>
            </a:r>
          </a:p>
        </p:txBody>
      </p:sp>
    </p:spTree>
  </p:cSld>
  <p:clrMapOvr>
    <a:masterClrMapping/>
  </p:clrMapOvr>
</p:sld>
</file>

<file path=ppt/slides/slide9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82" id="182"/>
          <p:cNvPicPr>
            <a:picLocks noChangeAspect="true"/>
          </p:cNvPicPr>
          <p:nvPr/>
        </p:nvPicPr>
        <p:blipFill>
          <a:blip r:embed="rId18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82" id="18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or get your schedule for the day, ask for status updates on your upcoming flight, or send information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like driving directions to your phone. Learn more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your activity on other sites and apps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This activity might come from your use of Google services, like from syncing your account with Chrome or </a:t>
            </a:r>
          </a:p>
          <a:p>
            <a:r>
              <a:rPr lang="en-US" sz="3700">
                <a:solidFill>
                  <a:srgbClr val="252525"/>
                </a:solidFill>
              </a:rPr>
              <a:t>your visits to sites and apps that partner with Google. Many websites and apps partner with Google to </a:t>
            </a:r>
          </a:p>
          <a:p>
            <a:r>
              <a:rPr lang="en-US" sz="3700">
                <a:solidFill>
                  <a:srgbClr val="252525"/>
                </a:solidFill>
              </a:rPr>
              <a:t>improve their content and services. For example, a website might use our advertising services (like </a:t>
            </a:r>
          </a:p>
        </p:txBody>
      </p:sp>
    </p:spTree>
  </p:cSld>
  <p:clrMapOvr>
    <a:masterClrMapping/>
  </p:clrMapOvr>
</p:sld>
</file>

<file path=ppt/slides/slide9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84" id="184"/>
          <p:cNvPicPr>
            <a:picLocks noChangeAspect="true"/>
          </p:cNvPicPr>
          <p:nvPr/>
        </p:nvPicPr>
        <p:blipFill>
          <a:blip r:embed="rId18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84" id="18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AdSense) or analytics tools (like Google Analytics), or it might embed other content (such as videos from </a:t>
            </a:r>
          </a:p>
          <a:p>
            <a:r>
              <a:rPr lang="en-US" sz="3700">
                <a:solidFill>
                  <a:srgbClr val="252525"/>
                </a:solidFill>
              </a:rPr>
              <a:t>YouTube). These services may share information about your activity with Google and, depending on your </a:t>
            </a:r>
          </a:p>
          <a:p>
            <a:r>
              <a:rPr lang="en-US" sz="3700">
                <a:solidFill>
                  <a:srgbClr val="252525"/>
                </a:solidFill>
              </a:rPr>
              <a:t>account settings and the products in use (for instance, when a partner uses Google Analytics in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conjunction with our advertising services), this data may be associated with your personal information.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Learn more about how Google uses data when you use our partners’ sites or apps.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partner with Google </a:t>
            </a:r>
          </a:p>
        </p:txBody>
      </p:sp>
    </p:spTree>
  </p:cSld>
  <p:clrMapOvr>
    <a:masterClrMapping/>
  </p:clrMapOvr>
</p:sld>
</file>

<file path=ppt/slides/slide9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86" id="186"/>
          <p:cNvPicPr>
            <a:picLocks noChangeAspect="true"/>
          </p:cNvPicPr>
          <p:nvPr/>
        </p:nvPicPr>
        <p:blipFill>
          <a:blip r:embed="rId18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86" id="187"/>
          <p:cNvSpPr txBox="true"/>
          <p:nvPr/>
        </p:nvSpPr>
        <p:spPr>
          <a:xfrm>
            <a:off x="5930900" y="2082800"/>
            <a:ext cx="11887200" cy="14973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There are over 2 million non-Google websites and apps that partner with Google to show ads. Learn more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specific Google services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For example, you can delete your blog from Blogger or a Google Site you own from Google Sites. You can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also delete reviews you've left on apps, games, and other content in the Play Store.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rely on cookies to function properly </a:t>
            </a:r>
          </a:p>
        </p:txBody>
      </p:sp>
    </p:spTree>
  </p:cSld>
  <p:clrMapOvr>
    <a:masterClrMapping/>
  </p:clrMapOvr>
</p:sld>
</file>

<file path=ppt/slides/slide9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88" id="188"/>
          <p:cNvPicPr>
            <a:picLocks noChangeAspect="true"/>
          </p:cNvPicPr>
          <p:nvPr/>
        </p:nvPicPr>
        <p:blipFill>
          <a:blip r:embed="rId18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88" id="189"/>
          <p:cNvSpPr txBox="true"/>
          <p:nvPr/>
        </p:nvSpPr>
        <p:spPr>
          <a:xfrm>
            <a:off x="5930900" y="1320800"/>
            <a:ext cx="11887200" cy="15735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For example, we use a cookie called ‘Ibcs’ that makes it possible for you to open many Google Docs in one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browser. Blocking this cookie would prevent Google Docs from working as expected. Learn more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legal process, or enforceable governmental request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Like other technology and communications companies, Google regularly receives requests from </a:t>
            </a:r>
          </a:p>
          <a:p>
            <a:r>
              <a:rPr lang="en-US" sz="3700">
                <a:solidFill>
                  <a:srgbClr val="252525"/>
                </a:solidFill>
              </a:rPr>
              <a:t>governments and courts around the world to disclose user data. Respect for the privacy and security of </a:t>
            </a:r>
          </a:p>
        </p:txBody>
      </p:sp>
    </p:spTree>
  </p:cSld>
  <p:clrMapOvr>
    <a:masterClrMapping/>
  </p:clrMapOvr>
</p:sld>
</file>

<file path=ppt/slides/slide9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90" id="190"/>
          <p:cNvPicPr>
            <a:picLocks noChangeAspect="true"/>
          </p:cNvPicPr>
          <p:nvPr/>
        </p:nvPicPr>
        <p:blipFill>
          <a:blip r:embed="rId19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90" id="19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data you store with Google underpins our approach to complying with these legal requests. Our legal </a:t>
            </a:r>
          </a:p>
          <a:p>
            <a:r>
              <a:rPr lang="en-US" sz="3700">
                <a:solidFill>
                  <a:srgbClr val="252525"/>
                </a:solidFill>
              </a:rPr>
              <a:t>team reviews each and every request, regardless of type, and we frequently push back when a request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appears to be overly broad or doesn't follow the correct process. Learn more in our Transparency Report.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show trends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When lots of people start searching for something, it can provide useful information about particular </a:t>
            </a:r>
          </a:p>
          <a:p>
            <a:r>
              <a:rPr lang="en-US" sz="3700">
                <a:solidFill>
                  <a:srgbClr val="252525"/>
                </a:solidFill>
              </a:rPr>
              <a:t>trends at that time. Google Trends samples Google web searches to estimate the </a:t>
            </a:r>
          </a:p>
        </p:txBody>
      </p:sp>
    </p:spTree>
  </p:cSld>
  <p:clrMapOvr>
    <a:masterClrMapping/>
  </p:clrMapOvr>
</p:sld>
</file>

<file path=ppt/slides/slide9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92" id="192"/>
          <p:cNvPicPr>
            <a:picLocks noChangeAspect="true"/>
          </p:cNvPicPr>
          <p:nvPr/>
        </p:nvPicPr>
        <p:blipFill>
          <a:blip r:embed="rId19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92" id="19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popularity of searches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over a certain period of time and shares those results publicly in aggregated terms. Learn more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specific partners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For example, we allow YouTube creators and advertisers to work with measurement companies to learn </a:t>
            </a:r>
          </a:p>
          <a:p>
            <a:r>
              <a:rPr lang="en-US" sz="3700">
                <a:solidFill>
                  <a:srgbClr val="252525"/>
                </a:solidFill>
              </a:rPr>
              <a:t>about the audience of their YouTube videos or ads, using cookies or similar technologies. Another </a:t>
            </a:r>
          </a:p>
          <a:p>
            <a:r>
              <a:rPr lang="en-US" sz="3700">
                <a:solidFill>
                  <a:srgbClr val="252525"/>
                </a:solidFill>
              </a:rPr>
              <a:t>example is merchants on our shopping pages, who use cookies to understand how many different people </a:t>
            </a:r>
          </a:p>
        </p:txBody>
      </p:sp>
    </p:spTree>
  </p:cSld>
  <p:clrMapOvr>
    <a:masterClrMapping/>
  </p:clrMapOvr>
</p:sld>
</file>

<file path=ppt/slides/slide9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94" id="194"/>
          <p:cNvPicPr>
            <a:picLocks noChangeAspect="true"/>
          </p:cNvPicPr>
          <p:nvPr/>
        </p:nvPicPr>
        <p:blipFill>
          <a:blip r:embed="rId19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94" id="195"/>
          <p:cNvSpPr txBox="true"/>
          <p:nvPr/>
        </p:nvSpPr>
        <p:spPr>
          <a:xfrm>
            <a:off x="5930900" y="1320800"/>
            <a:ext cx="11887200" cy="15735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see their product listings. Learn more about these partners and how they use your information.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servers around the world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For example, we operate data centers located around the world to help keep our products continuously </a:t>
            </a:r>
          </a:p>
          <a:p>
            <a:r>
              <a:rPr lang="en-US" sz="3700">
                <a:solidFill>
                  <a:srgbClr val="252525"/>
                </a:solidFill>
              </a:rPr>
              <a:t>available for users.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third parties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For example, we process your information to report use statistics to rights holders about how their </a:t>
            </a:r>
          </a:p>
        </p:txBody>
      </p:sp>
    </p:spTree>
  </p:cSld>
  <p:clrMapOvr>
    <a:masterClrMapping/>
  </p:clrMapOvr>
</p:sld>
</file>

<file path=ppt/slides/slide9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96" id="196"/>
          <p:cNvPicPr>
            <a:picLocks noChangeAspect="true"/>
          </p:cNvPicPr>
          <p:nvPr/>
        </p:nvPicPr>
        <p:blipFill>
          <a:blip r:embed="rId19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96" id="19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content was used in our services. We may also process your information if people search for your name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and we display search results for sites containing publicly available information about you.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appropriate safeguards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For example, we may anonymize data, or encrypt data to ensure it can’t be linked to other information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about you. Learn more </a:t>
            </a:r>
          </a:p>
        </p:txBody>
      </p:sp>
    </p:spTree>
  </p:cSld>
  <p:clrMapOvr>
    <a:masterClrMapping/>
  </p:clrMapOvr>
</p:sld>
</file>

<file path=ppt/slides/slide9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98" id="198"/>
          <p:cNvPicPr>
            <a:picLocks noChangeAspect="true"/>
          </p:cNvPicPr>
          <p:nvPr/>
        </p:nvPicPr>
        <p:blipFill>
          <a:blip r:embed="rId19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98" id="19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ensure and improve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For example, we analyze how people interact with advertising to improve the performance of our ads.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Customizing our services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For example, we may display a Google Doodle on the Search homepage to celebrate an event specific to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your country.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Affiliates </a:t>
            </a:r>
          </a:p>
        </p:txBody>
      </p:sp>
    </p:spTree>
  </p:cSld>
  <p:clrMapOvr>
    <a:masterClrMapping/>
  </p:clrMapOvr>
</p:sld>
</file>

<file path=ppt/slides/slide9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00" id="200"/>
          <p:cNvPicPr>
            <a:picLocks noChangeAspect="true"/>
          </p:cNvPicPr>
          <p:nvPr/>
        </p:nvPicPr>
        <p:blipFill>
          <a:blip r:embed="rId20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00" id="201"/>
          <p:cNvSpPr txBox="true"/>
          <p:nvPr/>
        </p:nvSpPr>
        <p:spPr>
          <a:xfrm>
            <a:off x="5930900" y="1320800"/>
            <a:ext cx="11887200" cy="15735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An affiliate is an entity that belongs to the Google group of companies, including the following companies </a:t>
            </a:r>
          </a:p>
          <a:p>
            <a:r>
              <a:rPr lang="en-US" sz="3700">
                <a:solidFill>
                  <a:srgbClr val="252525"/>
                </a:solidFill>
              </a:rPr>
              <a:t>that provide consumer services in the EU: Google Commerce Ltd, Google Payment Corp, and Google Dialer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Inc. Learn more about the companies providing business services in the EU.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Algorithm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A process or set of rules followed by a computer in performing problem-solving operations. </a:t>
            </a:r>
          </a:p>
        </p:txBody>
      </p:sp>
    </p:spTree>
  </p:cSld>
  <p:clrMapOvr>
    <a:masterClrMapping/>
  </p:clrMapOvr>
</p:sld>
</file>

<file path=ppt/slides/slide10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02" id="202"/>
          <p:cNvPicPr>
            <a:picLocks noChangeAspect="true"/>
          </p:cNvPicPr>
          <p:nvPr/>
        </p:nvPicPr>
        <p:blipFill>
          <a:blip r:embed="rId20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02" id="20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Application data cache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An application data cache is a data repository on a device. It can, for example, enable a web application </a:t>
            </a:r>
          </a:p>
          <a:p>
            <a:r>
              <a:rPr lang="en-US" sz="3700">
                <a:solidFill>
                  <a:srgbClr val="252525"/>
                </a:solidFill>
              </a:rPr>
              <a:t>to run without an internet connection and improve the performance of the application by enabling faster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loading of content.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Browser web storage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Browser web storage enables websites to store data in a browser on a device. When used in "local </a:t>
            </a:r>
          </a:p>
          <a:p>
            <a:r>
              <a:rPr lang="en-US" sz="3700">
                <a:solidFill>
                  <a:srgbClr val="252525"/>
                </a:solidFill>
              </a:rPr>
              <a:t>storage" mode, it enables data to be stored </a:t>
            </a:r>
          </a:p>
        </p:txBody>
      </p:sp>
    </p:spTree>
  </p:cSld>
  <p:clrMapOvr>
    <a:masterClrMapping/>
  </p:clrMapOvr>
</p:sld>
</file>

<file path=ppt/slides/slide10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04" id="204"/>
          <p:cNvPicPr>
            <a:picLocks noChangeAspect="true"/>
          </p:cNvPicPr>
          <p:nvPr/>
        </p:nvPicPr>
        <p:blipFill>
          <a:blip r:embed="rId20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04" id="20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across sessions. This makes data retrievable even after a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browser has been closed and reopened. One technology that facilitates web storage is HTML 5.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Cookies and similar technologies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A cookie is a small file containing a string of characters that is sent to your computer when you visit a </a:t>
            </a:r>
          </a:p>
          <a:p>
            <a:r>
              <a:rPr lang="en-US" sz="3700">
                <a:solidFill>
                  <a:srgbClr val="252525"/>
                </a:solidFill>
              </a:rPr>
              <a:t>website. When you visit the site again, the cookie allows that site to recognize your browser. Cookies may </a:t>
            </a:r>
          </a:p>
          <a:p>
            <a:r>
              <a:rPr lang="en-US" sz="3700">
                <a:solidFill>
                  <a:srgbClr val="252525"/>
                </a:solidFill>
              </a:rPr>
              <a:t>store user preferences and other information. You can configure your browser to refuse all cookies or to </a:t>
            </a:r>
          </a:p>
        </p:txBody>
      </p:sp>
    </p:spTree>
  </p:cSld>
  <p:clrMapOvr>
    <a:masterClrMapping/>
  </p:clrMapOvr>
</p:sld>
</file>

<file path=ppt/slides/slide10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06" id="206"/>
          <p:cNvPicPr>
            <a:picLocks noChangeAspect="true"/>
          </p:cNvPicPr>
          <p:nvPr/>
        </p:nvPicPr>
        <p:blipFill>
          <a:blip r:embed="rId20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06" id="207"/>
          <p:cNvSpPr txBox="true"/>
          <p:nvPr/>
        </p:nvSpPr>
        <p:spPr>
          <a:xfrm>
            <a:off x="5930900" y="2082800"/>
            <a:ext cx="11887200" cy="14973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indicate when a cookie is being sent. However, some website features or services may not function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properly without cookies. Learn more about how Google uses cookies and how Google uses data,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including cookies, when you use our partners’ sites or apps.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Device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A device is a computer that can be used to access Google services. For example, desktop </a:t>
            </a:r>
          </a:p>
        </p:txBody>
      </p:sp>
    </p:spTree>
  </p:cSld>
  <p:clrMapOvr>
    <a:masterClrMapping/>
  </p:clrMapOvr>
</p:sld>
</file>

<file path=ppt/slides/slide10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08" id="208"/>
          <p:cNvPicPr>
            <a:picLocks noChangeAspect="true"/>
          </p:cNvPicPr>
          <p:nvPr/>
        </p:nvPicPr>
        <p:blipFill>
          <a:blip r:embed="rId20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08" id="20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computers,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tablets, smart speakers, and smartphones are all considered devices.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Non-personally identifiable information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This is information that is recorded about users so that it no longer reflects or references an individually-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identifiable user.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IP address </a:t>
            </a:r>
          </a:p>
        </p:txBody>
      </p:sp>
    </p:spTree>
  </p:cSld>
  <p:clrMapOvr>
    <a:masterClrMapping/>
  </p:clrMapOvr>
</p:sld>
</file>

<file path=ppt/slides/slide10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10" id="210"/>
          <p:cNvPicPr>
            <a:picLocks noChangeAspect="true"/>
          </p:cNvPicPr>
          <p:nvPr/>
        </p:nvPicPr>
        <p:blipFill>
          <a:blip r:embed="rId21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10" id="21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Every device connected to the Internet is assigned a number known as an Internet protocol (IP) address. </a:t>
            </a:r>
          </a:p>
          <a:p>
            <a:r>
              <a:rPr lang="en-US" sz="3700">
                <a:solidFill>
                  <a:srgbClr val="252525"/>
                </a:solidFill>
              </a:rPr>
              <a:t>These numbers are usually assigned in geographic blocks. An IP address can often be used to identify the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location from which a device is connecting to the Internet.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Pixel tag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A pixel tag is a type of technology placed on a website or within the body of an email for the purpose of </a:t>
            </a:r>
          </a:p>
          <a:p>
            <a:r>
              <a:rPr lang="en-US" sz="3700">
                <a:solidFill>
                  <a:srgbClr val="252525"/>
                </a:solidFill>
              </a:rPr>
              <a:t>tracking certain activity, such as views of a website or when an email is opened. Pixel tags are often used </a:t>
            </a:r>
          </a:p>
        </p:txBody>
      </p:sp>
    </p:spTree>
  </p:cSld>
  <p:clrMapOvr>
    <a:masterClrMapping/>
  </p:clrMapOvr>
</p:sld>
</file>

<file path=ppt/slides/slide10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12" id="212"/>
          <p:cNvPicPr>
            <a:picLocks noChangeAspect="true"/>
          </p:cNvPicPr>
          <p:nvPr/>
        </p:nvPicPr>
        <p:blipFill>
          <a:blip r:embed="rId21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12" id="213"/>
          <p:cNvSpPr txBox="true"/>
          <p:nvPr/>
        </p:nvSpPr>
        <p:spPr>
          <a:xfrm>
            <a:off x="5930900" y="2082800"/>
            <a:ext cx="11887200" cy="14973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in combination with cookies.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Personal information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This is information that you provide to us which personally identifies you, such as your name, email </a:t>
            </a:r>
          </a:p>
          <a:p>
            <a:r>
              <a:rPr lang="en-US" sz="3700">
                <a:solidFill>
                  <a:srgbClr val="252525"/>
                </a:solidFill>
              </a:rPr>
              <a:t>address, or billing information, or other data that can be reasonably linked to such information by Google,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such as information we associate with your Google Account.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Sensitive personal information </a:t>
            </a:r>
          </a:p>
        </p:txBody>
      </p:sp>
    </p:spTree>
  </p:cSld>
  <p:clrMapOvr>
    <a:masterClrMapping/>
  </p:clrMapOvr>
</p:sld>
</file>

<file path=ppt/slides/slide10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14" id="214"/>
          <p:cNvPicPr>
            <a:picLocks noChangeAspect="true"/>
          </p:cNvPicPr>
          <p:nvPr/>
        </p:nvPicPr>
        <p:blipFill>
          <a:blip r:embed="rId21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14" id="215"/>
          <p:cNvSpPr txBox="true"/>
          <p:nvPr/>
        </p:nvSpPr>
        <p:spPr>
          <a:xfrm>
            <a:off x="5930900" y="2082800"/>
            <a:ext cx="11887200" cy="14973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This is a particular category of personal information relating to topics such as confidential medical facts,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racial or ethnic origins, political or religious beliefs, or sexuality.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Server logs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Like most websites, our servers automatically record the page requests made when you visit our sites. </a:t>
            </a:r>
          </a:p>
          <a:p>
            <a:r>
              <a:rPr lang="en-US" sz="3700">
                <a:solidFill>
                  <a:srgbClr val="252525"/>
                </a:solidFill>
              </a:rPr>
              <a:t>These “server logs” typically include your web request, Internet Protocol address, browser type, browser </a:t>
            </a:r>
          </a:p>
          <a:p>
            <a:r>
              <a:rPr lang="en-US" sz="3700">
                <a:solidFill>
                  <a:srgbClr val="252525"/>
                </a:solidFill>
              </a:rPr>
              <a:t>language, the date and time of your request, </a:t>
            </a:r>
          </a:p>
        </p:txBody>
      </p:sp>
    </p:spTree>
  </p:cSld>
  <p:clrMapOvr>
    <a:masterClrMapping/>
  </p:clrMapOvr>
</p:sld>
</file>

<file path=ppt/slides/slide10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16" id="216"/>
          <p:cNvPicPr>
            <a:picLocks noChangeAspect="true"/>
          </p:cNvPicPr>
          <p:nvPr/>
        </p:nvPicPr>
        <p:blipFill>
          <a:blip r:embed="rId21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16" id="21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and one or more cookies that may uniquely identify your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browser.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A typical log entry for a search for “cars” looks like this: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123.45.67.89 - 25/Mar/2003 10:15:32 - </a:t>
            </a:r>
          </a:p>
          <a:p>
            <a:r>
              <a:rPr lang="en-US" sz="3700">
                <a:solidFill>
                  <a:srgbClr val="252525"/>
                </a:solidFill>
              </a:rPr>
              <a:t>http://www.google.com/search?q=cars - </a:t>
            </a:r>
          </a:p>
          <a:p>
            <a:r>
              <a:rPr lang="en-US" sz="3700">
                <a:solidFill>
                  <a:srgbClr val="252525"/>
                </a:solidFill>
              </a:rPr>
              <a:t>Firefox 1.0.7; Windows NT 5.1 - </a:t>
            </a:r>
          </a:p>
          <a:p>
            <a:r>
              <a:rPr lang="en-US" sz="3700">
                <a:solidFill>
                  <a:srgbClr val="252525"/>
                </a:solidFill>
              </a:rPr>
              <a:t>740674ce2123e969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° 123.45.67.89 is the Internet Protocol address assigned to the user by the user’s ISP. Depending on </a:t>
            </a:r>
          </a:p>
          <a:p>
            <a:r>
              <a:rPr lang="en-US" sz="3700">
                <a:solidFill>
                  <a:srgbClr val="252525"/>
                </a:solidFill>
              </a:rPr>
              <a:t>the user’s service, a different address may </a:t>
            </a:r>
          </a:p>
        </p:txBody>
      </p:sp>
    </p:spTree>
  </p:cSld>
  <p:clrMapOvr>
    <a:masterClrMapping/>
  </p:clrMapOvr>
</p:sld>
</file>

<file path=ppt/slides/slide10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18" id="218"/>
          <p:cNvPicPr>
            <a:picLocks noChangeAspect="true"/>
          </p:cNvPicPr>
          <p:nvPr/>
        </p:nvPicPr>
        <p:blipFill>
          <a:blip r:embed="rId21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18" id="21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be assigned to the user by their service provider each time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they connect to the Internet. </a:t>
            </a:r>
          </a:p>
          <a:p>
            <a:r>
              <a:rPr lang="en-US" sz="3700">
                <a:solidFill>
                  <a:srgbClr val="252525"/>
                </a:solidFill>
              </a:rPr>
              <a:t>° 25/Mar/2003 10:15:32 is the date and time of the query. </a:t>
            </a:r>
          </a:p>
          <a:p>
            <a:r>
              <a:rPr lang="en-US" sz="3700">
                <a:solidFill>
                  <a:srgbClr val="252525"/>
                </a:solidFill>
              </a:rPr>
              <a:t>° http: //www.google.com/search?q=cars is the requested URL, including the search query. </a:t>
            </a:r>
          </a:p>
          <a:p>
            <a:r>
              <a:rPr lang="en-US" sz="3700">
                <a:solidFill>
                  <a:srgbClr val="252525"/>
                </a:solidFill>
              </a:rPr>
              <a:t>° Firefox 1.0.7; Windows NT 5.1 isthe browser and operating system being used.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° 740674ce2123a969 is the unique cookie ID assigned to this particular computer the first time it </a:t>
            </a:r>
          </a:p>
          <a:p>
            <a:r>
              <a:rPr lang="en-US" sz="3700">
                <a:solidFill>
                  <a:srgbClr val="252525"/>
                </a:solidFill>
              </a:rPr>
              <a:t>visited Google. (Cookies can be deleted by users. If the user has deleted the cookie from the </a:t>
            </a:r>
          </a:p>
          <a:p>
            <a:r>
              <a:rPr lang="en-US" sz="3700">
                <a:solidFill>
                  <a:srgbClr val="252525"/>
                </a:solidFill>
              </a:rPr>
              <a:t>computer since the last time they’ve visited </a:t>
            </a:r>
          </a:p>
        </p:txBody>
      </p:sp>
    </p:spTree>
  </p:cSld>
  <p:clrMapOvr>
    <a:masterClrMapping/>
  </p:clrMapOvr>
</p:sld>
</file>

<file path=ppt/slides/slide10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20" id="220"/>
          <p:cNvPicPr>
            <a:picLocks noChangeAspect="true"/>
          </p:cNvPicPr>
          <p:nvPr/>
        </p:nvPicPr>
        <p:blipFill>
          <a:blip r:embed="rId22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20" id="22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Google, then it will be the unique cookie ID assigned to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their device the next time they visit Google from that particular device).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Unique identifiers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A unique identifier is a string of characters that can be used to uniquely identify a browser, app, or device. </a:t>
            </a:r>
          </a:p>
          <a:p>
            <a:r>
              <a:rPr lang="en-US" sz="3700">
                <a:solidFill>
                  <a:srgbClr val="252525"/>
                </a:solidFill>
              </a:rPr>
              <a:t>Different identifiers vary in how permanent they are, whether they can be reset by users, and how they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can be accessed. </a:t>
            </a:r>
          </a:p>
        </p:txBody>
      </p:sp>
    </p:spTree>
  </p:cSld>
  <p:clrMapOvr>
    <a:masterClrMapping/>
  </p:clrMapOvr>
</p:sld>
</file>

<file path=ppt/slides/slide1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22" id="222"/>
          <p:cNvPicPr>
            <a:picLocks noChangeAspect="true"/>
          </p:cNvPicPr>
          <p:nvPr/>
        </p:nvPicPr>
        <p:blipFill>
          <a:blip r:embed="rId22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22" id="223"/>
          <p:cNvSpPr txBox="true"/>
          <p:nvPr/>
        </p:nvSpPr>
        <p:spPr>
          <a:xfrm>
            <a:off x="5930900" y="1320800"/>
            <a:ext cx="11887200" cy="15735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Unique identifiers can be used for various purposes, including security and fraud detection, syncing </a:t>
            </a:r>
          </a:p>
          <a:p>
            <a:r>
              <a:rPr lang="en-US" sz="3700">
                <a:solidFill>
                  <a:srgbClr val="252525"/>
                </a:solidFill>
              </a:rPr>
              <a:t>services such as your email inbox, remembering your preferences, and providing personalized advertising.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For example, unique identifiers stored in cookies help sites display content in your browser in your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preferred language. You can configure your browser to refuse all cookies or to indicate when a cookie is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being sent. Learn more about how Google uses cookies. </a:t>
            </a:r>
          </a:p>
        </p:txBody>
      </p:sp>
    </p:spTree>
  </p:cSld>
  <p:clrMapOvr>
    <a:masterClrMapping/>
  </p:clrMapOvr>
</p:sld>
</file>

<file path=ppt/slides/slide1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24" id="224"/>
          <p:cNvPicPr>
            <a:picLocks noChangeAspect="true"/>
          </p:cNvPicPr>
          <p:nvPr/>
        </p:nvPicPr>
        <p:blipFill>
          <a:blip r:embed="rId22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24" id="225"/>
          <p:cNvSpPr txBox="true"/>
          <p:nvPr/>
        </p:nvSpPr>
        <p:spPr>
          <a:xfrm>
            <a:off x="5930900" y="2082800"/>
            <a:ext cx="11887200" cy="14973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On other platforms besides browsers, unique identifiers are used to recognize a specific device or app on </a:t>
            </a:r>
          </a:p>
          <a:p>
            <a:r>
              <a:rPr lang="en-US" sz="3700">
                <a:solidFill>
                  <a:srgbClr val="252525"/>
                </a:solidFill>
              </a:rPr>
              <a:t>that device. For example, a unique identifier such as the Advertising ID is used to provide relevant </a:t>
            </a:r>
          </a:p>
          <a:p>
            <a:r>
              <a:rPr lang="en-US" sz="3700">
                <a:solidFill>
                  <a:srgbClr val="252525"/>
                </a:solidFill>
              </a:rPr>
              <a:t>advertising on Android devices, and can be managed in your device's settings. Unique identifiers may also </a:t>
            </a:r>
          </a:p>
          <a:p>
            <a:r>
              <a:rPr lang="en-US" sz="3700">
                <a:solidFill>
                  <a:srgbClr val="252525"/>
                </a:solidFill>
              </a:rPr>
              <a:t>be incorporated into a device by its manufacturer (sometimes called a universally unique ID or UUID), such </a:t>
            </a:r>
          </a:p>
          <a:p>
            <a:r>
              <a:rPr lang="en-US" sz="3700">
                <a:solidFill>
                  <a:srgbClr val="252525"/>
                </a:solidFill>
              </a:rPr>
              <a:t>as the IMEl-number of a mobile phone. For example, a device's unique identifier can be used to customize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our service to your device or analyze device issues related to our services. </a:t>
            </a:r>
          </a:p>
        </p:txBody>
      </p:sp>
    </p:spTree>
  </p:cSld>
  <p:clrMapOvr>
    <a:masterClrMapping/>
  </p:clrMapOvr>
</p:sld>
</file>

<file path=ppt/slides/slide1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26" id="226"/>
          <p:cNvPicPr>
            <a:picLocks noChangeAspect="true"/>
          </p:cNvPicPr>
          <p:nvPr/>
        </p:nvPicPr>
        <p:blipFill>
          <a:blip r:embed="rId22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